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 오댕국의 쉼표정류장 발표를 시작하겠습니다. 한 문장으로 말씀드리면, 버스를 기다리는 어르신에게 '지금 서 계신 정류장에 그늘이 있는지, 없다면 가장 가까운 무더위쉼터가 어디인지'를 알려주는 서비스입니다.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 정의부터 데이터, 기능 시연, 활용 시나리오, 정책 효과, 확장 계획 순으로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춘천시 인구 285,027명 중 65세 이상이 66,488명, 23.3%입니다. 2023년 7월에 이미 초고령사회에 들어섰고, 1년 반 만에 5천 명이 더 늘었습니다. 특히 읍면 지역은 주민 둘 중 하나가 어르신입니다. 이분들에게 버스는 선택이 아니라 유일한 이동 수단입니다.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정류장의 63.5%인 1,200곳이 기둥에 노선표만 붙은 표지판형입니다. 스마트 정류장은 한 곳당 1억 원이라 전부 세울 수 없습니다. 저희가 공공데이터로 직접 계산해 보니, 그늘이 확인되지 않으면서 쉼터도 300m 밖인 정류장이 1,369곳이었습니다. 쉼터까지 거리의 중앙값은 1.1km입니다. 이 숫자는 어느 공개 데이터에도 없던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서비스는 화면이 세 개뿐입니다. 길찾기, 쉼터, 민원. 어르신이 쓰는 앱에서 가장 위험한 것은 선택지가 많은 것이라고 봤습니다. 핵심은 길을 안내하면서 그 길 위 각 지점의 그늘 여부와 근처 쉼터를 같이 보여주는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중요한 것은 맨 위 무더위쉼터입니다. 좌표 보유율이 100%라 정류장 1,890개 전부에 대해 최근접 쉼터 거리를 계산할 수 있었습니다. 반대로 '이 정류장에 그늘이 있는가'는 어느 공개 데이터에도 없습니다. 그래서 로드뷰로 161개소를 직접 판독해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 작업에서 가장 오래 걸린 부분입니다. 부서마다 데이터 키가 달라서, 네 단계 매칭으로 ID 대응 테이블을 만들어 모든 데이터를 정류장 1,890개 위에 얹었습니다. 그 결과로 폭염 취약 정류장 1,369곳이라는 숫자가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앱이 정보를 다루는 방식을 두 가지로 나눠 말씀드리겠습니다. 쉼터 위치나 정류장 위치처럼 잘 바뀌지 않는 정보는 앱 안에 미리 넣어 뒀습니다. 그래서 인터넷이 느린 곳에서도 바로 뜹니다. 반대로 버스가 몇 분 뒤에 오는지는 1분만 지나도 달라지니까, 그때그때 국토교통부에 물어봅니다. 이때 어르신 휴대폰이 직접 묻지 않고 저희 서버가 대신 묻는데, 인증 열쇠가 휴대폰에 노출되지 않게 하기 위해서입니다. 아래는 시민이 보낸 사진 한 장이 다음 사람의 안내가 되기까지의 과정입니다. 사진을 찍으면 위치로 정류장을 자동으로 찾고, AI가 사진을 읽어 시설 유무를 판단하고, 그 결과가 안내 정보에 반영됩니다. 다만 AI가 읽은 것은 'AI가 읽음'이라고 반드시 밝힙니다. 사람이 확인한 것과 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기능은 네 가지입니다. 1번 쉼터 안내가 서비스의 목적이고, 나머지는 그 안내에 닿기 위한 경로입니다. 특히 2번의 '몰라요'가 중요합니다. 데이터에 없는 것을 있다고 말하지 않는 것이 어르신 대상 서비스에서는 안전 문제입니다. 이제 실제 화면을 보여드리겠습니다.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홈 화면입니다. 출발지는 이미 채워져 있습니다 — GPS 좌표를 주소로 바꿔 넣은 것이라 어르신이 자기 집 주소를 입력할 필요가 없습니다. 도착만 고르면 됩니다. 오른쪽처럼 마이크 버튼을 눌러 말해도 되고, 고른 위치가 맞는지 지도로 한 번 되보여 줍니다. '한림대학교'처럼 비슷한 이름이 여럿일 때 글자만 보고 잘못 고르는 일을 막기 위해서입니다.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확인을 누르면 왼쪽처럼 추천 경로가 하나 나옵니다. 여러 개를 보여주면 고르는 것 자체가 일이 되기 때문입니다. 카드를 누르면 오른쪽 타임라인으로 들어갑니다. 타는 곳 동산A, 한 정류장 뒤 하차, 걸어서 도착 — 이게 전부입니다. 각 지점마다 시설 칩이 붙는데, 점선으로 흐린 '지붕'과 '쉘터'가 없다는 뜻입니다. 그리고 지금 화면에 '지금 오는 버스 없음'이라고 떠 있습니다. 실시간 정보를 못 받으면 못 받았다고 그대로 씁니다. 가짜 숫자를 채워 넣지 않는 것이 저희 원칙입니다.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왼쪽은 시연 모드입니다. 발표장에서 실제로 버스를 탈 수는 없으니, [다음] 버튼으로 위치를 한 칸씩 옮겨가며 승차·하차·도착 화면을 보여드릴 수 있게 만들었습니다. 화면에 뜨는 정류장·시설·거리는 전부 실제 데이터입니다. 오른쪽은 쉼터 탭입니다. 정류장 핀까지 겹치면 어르신에게는 그냥 복잡한 지도가 되기 때문에 쉼터만 초록 핀으로 띄웠습니다. 56m 떨어진 GS25가 지금 '운영 중'이라고 나옵니다. 문을 닫았으면 닫았다고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민원 탭입니다. 화면에 '사진 찍기' 버튼 하나뿐입니다. 정류장이 어디인지, 언제 찍었는지 묻지 않습니다. 위치와 시각은 시스템이 압니다. 찍기 전에 '얼굴과 차량번호는 피해서 찍어 주세요'라고 한 줄 안내합니다. 보내는 사람의 개인정보를 안 받는 것에 더해, 사진에 찍힐 수 있는 남의 정보까지 생각한 문구입니다. 사진이 올라가면 서버에서 AI가 시설 유무와 민원 종류를 읽고, 그 결과가 다음 사람이 보는 안내 정보가 됩니다. 지금 그늘 정보가 없는 정류장이 1,729곳인데, 이 기능이 그 숫자를 줄여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오후 2시 폭염특보 속에서 어르신이 외출합니다. 말로 목적지를 찾고, 그늘이 없다는 것과 버스가 12분 뒤라는 것을 확인하고, 240m 떨어진 경로당에서 기다립니다. 이 경로당은 원래부터 무더위쉼터였습니다. 저희가 한 일은 그 존재를 정류장에 서 있는 어르신에게 알려준 것뿐입니다.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행정 쪽 이야기입니다. 저희 서비스가 만들어 내는 것은 화면이 아니라 목록입니다. 그늘도 없고 쉼터도 300m 밖인 정류장 1,369곳. 이 목록이 있으면 어느 구역부터 손대야 하는지 답이 나옵니다. 그리고 시민 제보가 들어올 때마다 이 목록이 저절로 정확해집니다. 전수 현장조사 용역을 대신하는 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정책 제안의 핵심은 순서입니다. 1억 원짜리 스마트 정류장을 세우기 전에, 그늘막을 놓거나 인근 건물을 쉼터로 추가 지정하는 것만으로 해결되는 정류장이 있습니다. 그 구분을 데이터로 할 수 있게 하는 것이 저희 서비스의 행정 가치입니다.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기대 효과는 시민·행정·데이터 세 축으로 정리했고 각각 측정 지표를 붙였습니다. 저희가 가장 중요하게 보는 효과는, 춘천이 이미 갖고 있는 쉼터 226곳이 비로소 버스 이용자에게 쓰이기 시작한다는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확장 계획입니다. 가장 먼저 할 일은 겨울 버전입니다. 춘천은 겨울 추위도 심하고 한파쉼터·온기쉼터 데이터가 이미 있습니다. 여름에 만든 구조를 데이터만 바꿔 그대로 쓸 수 있습니다. 그리고 이 자리에서 분명히 말씀드리면, 여기 적힌 것은 전부 아직 만들지 않은 것입니다. 오늘 보여드린 화면은 전부 실제로 도는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버스를 기다리는 10분, 어르신을 그늘 아래로. 춘천에 이미 있는 무더위쉼터 226곳을 정류장에 서 있는 어르신에게 연결하는 것, 그것이 쉼표정류장입니다.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[제출 전 확인] 무더위쉼터 데이터셋의 정확한 공개 명칭과 기준시점을 공공데이터포털에서 다시 확인해 '기준시점' 칸을 확정하세요.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[제출 전 확인] 표에 적힌 자료 외에 추가로 사용한 데이터·API가 있다면 반드시 이 별첨에 추가하세요(미기재 시 실격 사유). 실제로 쓰지 않은 항목은 삭제해야 감점을 피할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[제출 전 확인] 디자인 자산(폰트·아이콘·이미지)을 외부에서 가져다 썼다면 이 장에 표를 하나 더 추가하고 라이선스를 명시하세요.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240"/>
        </a:solidFill>
      </p:bgPr>
    </p:bg>
    <p:spTree>
      <p:nvGrpSpPr>
        <p:cNvPr id="1" name=""/>
        <p:cNvGrpSpPr/>
        <p:nvPr/>
      </p:nvGrpSpPr>
      <p:grpSpPr>
        <a:xfrm>
          <a:off x="0" y="0"/>
          <a:ext cx="0" cy="0"/>
          <a:chOff x="0" y="0"/>
          <a:chExt cx="0" cy="0"/>
        </a:xfrm>
      </p:grpSpPr>
      <p:sp>
        <p:nvSpPr>
          <p:cNvPr id="2" name="Text 0"/>
          <p:cNvSpPr/>
          <p:nvPr/>
        </p:nvSpPr>
        <p:spPr>
          <a:xfrm>
            <a:off x="566928" y="1371600"/>
            <a:ext cx="7315200" cy="310896"/>
          </a:xfrm>
          <a:prstGeom prst="rect">
            <a:avLst/>
          </a:prstGeom>
          <a:noFill/>
          <a:ln/>
        </p:spPr>
        <p:txBody>
          <a:bodyPr wrap="square" lIns="0" tIns="0" rIns="0" bIns="0" rtlCol="0" anchor="ctr"/>
          <a:lstStyle/>
          <a:p>
            <a:pPr indent="0" marL="0">
              <a:buNone/>
            </a:pPr>
            <a:r>
              <a:rPr lang="en-US" sz="1300" dirty="0">
                <a:solidFill>
                  <a:srgbClr val="A6B3E6"/>
                </a:solidFill>
                <a:latin typeface="맑은 고딕" pitchFamily="34" charset="0"/>
                <a:ea typeface="맑은 고딕" pitchFamily="34" charset="-122"/>
                <a:cs typeface="맑은 고딕" pitchFamily="34" charset="-120"/>
              </a:rPr>
              <a:t>2026 춘천시 공공데이터 활용 해커톤</a:t>
            </a:r>
            <a:endParaRPr lang="en-US" sz="1300" dirty="0"/>
          </a:p>
        </p:txBody>
      </p:sp>
      <p:sp>
        <p:nvSpPr>
          <p:cNvPr id="3" name="Text 1"/>
          <p:cNvSpPr/>
          <p:nvPr/>
        </p:nvSpPr>
        <p:spPr>
          <a:xfrm>
            <a:off x="566928" y="1783080"/>
            <a:ext cx="7315200" cy="1051560"/>
          </a:xfrm>
          <a:prstGeom prst="rect">
            <a:avLst/>
          </a:prstGeom>
          <a:noFill/>
          <a:ln/>
        </p:spPr>
        <p:txBody>
          <a:bodyPr wrap="square" lIns="0" tIns="0" rIns="0" bIns="0" rtlCol="0" anchor="ctr"/>
          <a:lstStyle/>
          <a:p>
            <a:pPr indent="0" marL="0">
              <a:buNone/>
            </a:pPr>
            <a:r>
              <a:rPr lang="en-US" sz="5600" b="1" dirty="0">
                <a:solidFill>
                  <a:srgbClr val="FFFFFF"/>
                </a:solidFill>
                <a:latin typeface="맑은 고딕" pitchFamily="34" charset="0"/>
                <a:ea typeface="맑은 고딕" pitchFamily="34" charset="-122"/>
                <a:cs typeface="맑은 고딕" pitchFamily="34" charset="-120"/>
              </a:rPr>
              <a:t>쉼표정류장</a:t>
            </a:r>
            <a:endParaRPr lang="en-US" sz="5600" dirty="0"/>
          </a:p>
        </p:txBody>
      </p:sp>
      <p:sp>
        <p:nvSpPr>
          <p:cNvPr id="4" name="Text 2"/>
          <p:cNvSpPr/>
          <p:nvPr/>
        </p:nvSpPr>
        <p:spPr>
          <a:xfrm>
            <a:off x="566928" y="2852928"/>
            <a:ext cx="8229600" cy="457200"/>
          </a:xfrm>
          <a:prstGeom prst="rect">
            <a:avLst/>
          </a:prstGeom>
          <a:noFill/>
          <a:ln/>
        </p:spPr>
        <p:txBody>
          <a:bodyPr wrap="square" lIns="0" tIns="0" rIns="0" bIns="0" rtlCol="0" anchor="ctr"/>
          <a:lstStyle/>
          <a:p>
            <a:pPr indent="0" marL="0">
              <a:buNone/>
            </a:pPr>
            <a:r>
              <a:rPr lang="en-US" sz="2100" dirty="0">
                <a:solidFill>
                  <a:srgbClr val="D4DAEE"/>
                </a:solidFill>
                <a:latin typeface="맑은 고딕" pitchFamily="34" charset="0"/>
                <a:ea typeface="맑은 고딕" pitchFamily="34" charset="-122"/>
                <a:cs typeface="맑은 고딕" pitchFamily="34" charset="-120"/>
              </a:rPr>
              <a:t>버스를 기다리는 10분, 어르신을 그늘 아래로</a:t>
            </a:r>
            <a:endParaRPr lang="en-US" sz="2100" dirty="0"/>
          </a:p>
        </p:txBody>
      </p:sp>
      <p:sp>
        <p:nvSpPr>
          <p:cNvPr id="5" name="Shape 3"/>
          <p:cNvSpPr/>
          <p:nvPr/>
        </p:nvSpPr>
        <p:spPr>
          <a:xfrm>
            <a:off x="566928" y="3794760"/>
            <a:ext cx="3429000" cy="1371600"/>
          </a:xfrm>
          <a:prstGeom prst="roundRect">
            <a:avLst>
              <a:gd name="adj" fmla="val 9333"/>
            </a:avLst>
          </a:prstGeom>
          <a:solidFill>
            <a:srgbClr val="16205C"/>
          </a:solidFill>
          <a:ln w="12700">
            <a:solidFill>
              <a:srgbClr val="2B44A8"/>
            </a:solidFill>
            <a:prstDash val="solid"/>
          </a:ln>
        </p:spPr>
      </p:sp>
      <p:sp>
        <p:nvSpPr>
          <p:cNvPr id="6" name="Text 4"/>
          <p:cNvSpPr/>
          <p:nvPr/>
        </p:nvSpPr>
        <p:spPr>
          <a:xfrm>
            <a:off x="822960" y="3977640"/>
            <a:ext cx="2926080" cy="292608"/>
          </a:xfrm>
          <a:prstGeom prst="rect">
            <a:avLst/>
          </a:prstGeom>
          <a:noFill/>
          <a:ln/>
        </p:spPr>
        <p:txBody>
          <a:bodyPr wrap="square" lIns="0" tIns="0" rIns="0" bIns="0" rtlCol="0" anchor="ctr"/>
          <a:lstStyle/>
          <a:p>
            <a:pPr indent="0" marL="0">
              <a:buNone/>
            </a:pPr>
            <a:r>
              <a:rPr lang="en-US" sz="1300" b="1" dirty="0">
                <a:solidFill>
                  <a:srgbClr val="E8751A"/>
                </a:solidFill>
                <a:latin typeface="맑은 고딕" pitchFamily="34" charset="0"/>
                <a:ea typeface="맑은 고딕" pitchFamily="34" charset="-122"/>
                <a:cs typeface="맑은 고딕" pitchFamily="34" charset="-120"/>
              </a:rPr>
              <a:t>시민</a:t>
            </a:r>
            <a:endParaRPr lang="en-US" sz="1300" dirty="0"/>
          </a:p>
        </p:txBody>
      </p:sp>
      <p:sp>
        <p:nvSpPr>
          <p:cNvPr id="7" name="Text 5"/>
          <p:cNvSpPr/>
          <p:nvPr/>
        </p:nvSpPr>
        <p:spPr>
          <a:xfrm>
            <a:off x="822960" y="4315968"/>
            <a:ext cx="2926080" cy="685800"/>
          </a:xfrm>
          <a:prstGeom prst="rect">
            <a:avLst/>
          </a:prstGeom>
          <a:noFill/>
          <a:ln/>
        </p:spPr>
        <p:txBody>
          <a:bodyPr wrap="square" lIns="0" tIns="0" rIns="0" bIns="0" rtlCol="0" anchor="t"/>
          <a:lstStyle/>
          <a:p>
            <a:pPr indent="0" marL="0">
              <a:lnSpc>
                <a:spcPct val="125000"/>
              </a:lnSpc>
              <a:buNone/>
            </a:pPr>
            <a:r>
              <a:rPr lang="en-US" sz="1050" dirty="0">
                <a:solidFill>
                  <a:srgbClr val="C7D0EE"/>
                </a:solidFill>
                <a:latin typeface="맑은 고딕" pitchFamily="34" charset="0"/>
                <a:ea typeface="맑은 고딕" pitchFamily="34" charset="-122"/>
                <a:cs typeface="맑은 고딕" pitchFamily="34" charset="-120"/>
              </a:rPr>
              <a:t>지금 서 있는 정류장에 그늘이 있는지,</a:t>
            </a:r>
            <a:endParaRPr lang="en-US" sz="1050" dirty="0"/>
          </a:p>
          <a:p>
            <a:pPr indent="0" marL="0">
              <a:lnSpc>
                <a:spcPct val="125000"/>
              </a:lnSpc>
              <a:buNone/>
            </a:pPr>
            <a:r>
              <a:rPr lang="en-US" sz="1050" dirty="0">
                <a:solidFill>
                  <a:srgbClr val="C7D0EE"/>
                </a:solidFill>
                <a:latin typeface="맑은 고딕" pitchFamily="34" charset="0"/>
                <a:ea typeface="맑은 고딕" pitchFamily="34" charset="-122"/>
                <a:cs typeface="맑은 고딕" pitchFamily="34" charset="-120"/>
              </a:rPr>
              <a:t>없다면 가장 가까운 무더위쉼터가 어디인지</a:t>
            </a:r>
            <a:endParaRPr lang="en-US" sz="1050" dirty="0"/>
          </a:p>
        </p:txBody>
      </p:sp>
      <p:sp>
        <p:nvSpPr>
          <p:cNvPr id="8" name="Shape 6"/>
          <p:cNvSpPr/>
          <p:nvPr/>
        </p:nvSpPr>
        <p:spPr>
          <a:xfrm>
            <a:off x="4270248" y="3794760"/>
            <a:ext cx="3429000" cy="1371600"/>
          </a:xfrm>
          <a:prstGeom prst="roundRect">
            <a:avLst>
              <a:gd name="adj" fmla="val 9333"/>
            </a:avLst>
          </a:prstGeom>
          <a:solidFill>
            <a:srgbClr val="16205C"/>
          </a:solidFill>
          <a:ln w="12700">
            <a:solidFill>
              <a:srgbClr val="2B44A8"/>
            </a:solidFill>
            <a:prstDash val="solid"/>
          </a:ln>
        </p:spPr>
      </p:sp>
      <p:sp>
        <p:nvSpPr>
          <p:cNvPr id="9" name="Text 7"/>
          <p:cNvSpPr/>
          <p:nvPr/>
        </p:nvSpPr>
        <p:spPr>
          <a:xfrm>
            <a:off x="4526280" y="3977640"/>
            <a:ext cx="2926080" cy="292608"/>
          </a:xfrm>
          <a:prstGeom prst="rect">
            <a:avLst/>
          </a:prstGeom>
          <a:noFill/>
          <a:ln/>
        </p:spPr>
        <p:txBody>
          <a:bodyPr wrap="square" lIns="0" tIns="0" rIns="0" bIns="0" rtlCol="0" anchor="ctr"/>
          <a:lstStyle/>
          <a:p>
            <a:pPr indent="0" marL="0">
              <a:buNone/>
            </a:pPr>
            <a:r>
              <a:rPr lang="en-US" sz="1300" b="1" dirty="0">
                <a:solidFill>
                  <a:srgbClr val="E8751A"/>
                </a:solidFill>
                <a:latin typeface="맑은 고딕" pitchFamily="34" charset="0"/>
                <a:ea typeface="맑은 고딕" pitchFamily="34" charset="-122"/>
                <a:cs typeface="맑은 고딕" pitchFamily="34" charset="-120"/>
              </a:rPr>
              <a:t>춘천시</a:t>
            </a:r>
            <a:endParaRPr lang="en-US" sz="1300" dirty="0"/>
          </a:p>
        </p:txBody>
      </p:sp>
      <p:sp>
        <p:nvSpPr>
          <p:cNvPr id="10" name="Text 8"/>
          <p:cNvSpPr/>
          <p:nvPr/>
        </p:nvSpPr>
        <p:spPr>
          <a:xfrm>
            <a:off x="4526280" y="4315968"/>
            <a:ext cx="2926080" cy="685800"/>
          </a:xfrm>
          <a:prstGeom prst="rect">
            <a:avLst/>
          </a:prstGeom>
          <a:noFill/>
          <a:ln/>
        </p:spPr>
        <p:txBody>
          <a:bodyPr wrap="square" lIns="0" tIns="0" rIns="0" bIns="0" rtlCol="0" anchor="t"/>
          <a:lstStyle/>
          <a:p>
            <a:pPr indent="0" marL="0">
              <a:lnSpc>
                <a:spcPct val="125000"/>
              </a:lnSpc>
              <a:buNone/>
            </a:pPr>
            <a:r>
              <a:rPr lang="en-US" sz="1050" dirty="0">
                <a:solidFill>
                  <a:srgbClr val="C7D0EE"/>
                </a:solidFill>
                <a:latin typeface="맑은 고딕" pitchFamily="34" charset="0"/>
                <a:ea typeface="맑은 고딕" pitchFamily="34" charset="-122"/>
                <a:cs typeface="맑은 고딕" pitchFamily="34" charset="-120"/>
              </a:rPr>
              <a:t>그늘도 쉼터도 없는 '폭염 취약 정류장'</a:t>
            </a:r>
            <a:endParaRPr lang="en-US" sz="1050" dirty="0"/>
          </a:p>
          <a:p>
            <a:pPr indent="0" marL="0">
              <a:lnSpc>
                <a:spcPct val="125000"/>
              </a:lnSpc>
              <a:buNone/>
            </a:pPr>
            <a:r>
              <a:rPr lang="en-US" sz="1050" dirty="0">
                <a:solidFill>
                  <a:srgbClr val="C7D0EE"/>
                </a:solidFill>
                <a:latin typeface="맑은 고딕" pitchFamily="34" charset="0"/>
                <a:ea typeface="맑은 고딕" pitchFamily="34" charset="-122"/>
                <a:cs typeface="맑은 고딕" pitchFamily="34" charset="-120"/>
              </a:rPr>
              <a:t>1,369곳을 데이터로 식별</a:t>
            </a:r>
            <a:endParaRPr lang="en-US" sz="1050" dirty="0"/>
          </a:p>
        </p:txBody>
      </p:sp>
      <p:sp>
        <p:nvSpPr>
          <p:cNvPr id="11" name="Shape 9"/>
          <p:cNvSpPr/>
          <p:nvPr/>
        </p:nvSpPr>
        <p:spPr>
          <a:xfrm>
            <a:off x="7973568" y="3794760"/>
            <a:ext cx="3429000" cy="1371600"/>
          </a:xfrm>
          <a:prstGeom prst="roundRect">
            <a:avLst>
              <a:gd name="adj" fmla="val 9333"/>
            </a:avLst>
          </a:prstGeom>
          <a:solidFill>
            <a:srgbClr val="16205C"/>
          </a:solidFill>
          <a:ln w="12700">
            <a:solidFill>
              <a:srgbClr val="2B44A8"/>
            </a:solidFill>
            <a:prstDash val="solid"/>
          </a:ln>
        </p:spPr>
      </p:sp>
      <p:sp>
        <p:nvSpPr>
          <p:cNvPr id="12" name="Text 10"/>
          <p:cNvSpPr/>
          <p:nvPr/>
        </p:nvSpPr>
        <p:spPr>
          <a:xfrm>
            <a:off x="8229600" y="3977640"/>
            <a:ext cx="2926080" cy="292608"/>
          </a:xfrm>
          <a:prstGeom prst="rect">
            <a:avLst/>
          </a:prstGeom>
          <a:noFill/>
          <a:ln/>
        </p:spPr>
        <p:txBody>
          <a:bodyPr wrap="square" lIns="0" tIns="0" rIns="0" bIns="0" rtlCol="0" anchor="ctr"/>
          <a:lstStyle/>
          <a:p>
            <a:pPr indent="0" marL="0">
              <a:buNone/>
            </a:pPr>
            <a:r>
              <a:rPr lang="en-US" sz="1300" b="1" dirty="0">
                <a:solidFill>
                  <a:srgbClr val="E8751A"/>
                </a:solidFill>
                <a:latin typeface="맑은 고딕" pitchFamily="34" charset="0"/>
                <a:ea typeface="맑은 고딕" pitchFamily="34" charset="-122"/>
                <a:cs typeface="맑은 고딕" pitchFamily="34" charset="-120"/>
              </a:rPr>
              <a:t>팀 오댕국</a:t>
            </a:r>
            <a:endParaRPr lang="en-US" sz="1300" dirty="0"/>
          </a:p>
        </p:txBody>
      </p:sp>
      <p:sp>
        <p:nvSpPr>
          <p:cNvPr id="13" name="Text 11"/>
          <p:cNvSpPr/>
          <p:nvPr/>
        </p:nvSpPr>
        <p:spPr>
          <a:xfrm>
            <a:off x="8229600" y="4315968"/>
            <a:ext cx="2926080" cy="685800"/>
          </a:xfrm>
          <a:prstGeom prst="rect">
            <a:avLst/>
          </a:prstGeom>
          <a:noFill/>
          <a:ln/>
        </p:spPr>
        <p:txBody>
          <a:bodyPr wrap="square" lIns="0" tIns="0" rIns="0" bIns="0" rtlCol="0" anchor="t"/>
          <a:lstStyle/>
          <a:p>
            <a:pPr indent="0" marL="0">
              <a:lnSpc>
                <a:spcPct val="125000"/>
              </a:lnSpc>
              <a:buNone/>
            </a:pPr>
            <a:r>
              <a:rPr lang="en-US" sz="1050" dirty="0">
                <a:solidFill>
                  <a:srgbClr val="C7D0EE"/>
                </a:solidFill>
                <a:latin typeface="맑은 고딕" pitchFamily="34" charset="0"/>
                <a:ea typeface="맑은 고딕" pitchFamily="34" charset="-122"/>
                <a:cs typeface="맑은 고딕" pitchFamily="34" charset="-120"/>
              </a:rPr>
              <a:t>1인 개발 · 실제 동작하는 서비스</a:t>
            </a:r>
            <a:endParaRPr lang="en-US" sz="1050" dirty="0"/>
          </a:p>
          <a:p>
            <a:pPr indent="0" marL="0">
              <a:lnSpc>
                <a:spcPct val="125000"/>
              </a:lnSpc>
              <a:buNone/>
            </a:pPr>
            <a:r>
              <a:rPr lang="en-US" sz="1050" dirty="0">
                <a:solidFill>
                  <a:srgbClr val="C7D0EE"/>
                </a:solidFill>
                <a:latin typeface="맑은 고딕" pitchFamily="34" charset="0"/>
                <a:ea typeface="맑은 고딕" pitchFamily="34" charset="-122"/>
                <a:cs typeface="맑은 고딕" pitchFamily="34" charset="-120"/>
              </a:rPr>
              <a:t>(목업 없음)</a:t>
            </a:r>
            <a:endParaRPr lang="en-US" sz="1050" dirty="0"/>
          </a:p>
        </p:txBody>
      </p:sp>
      <p:sp>
        <p:nvSpPr>
          <p:cNvPr id="14" name="Text 12"/>
          <p:cNvSpPr/>
          <p:nvPr/>
        </p:nvSpPr>
        <p:spPr>
          <a:xfrm>
            <a:off x="566928" y="5532120"/>
            <a:ext cx="5486400" cy="329184"/>
          </a:xfrm>
          <a:prstGeom prst="rect">
            <a:avLst/>
          </a:prstGeom>
          <a:noFill/>
          <a:ln/>
        </p:spPr>
        <p:txBody>
          <a:bodyPr wrap="square" lIns="0" tIns="0" rIns="0" bIns="0"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팀 오댕국 (13번 팀)</a:t>
            </a:r>
            <a:endParaRPr lang="en-US" sz="1300" dirty="0"/>
          </a:p>
        </p:txBody>
      </p:sp>
      <p:sp>
        <p:nvSpPr>
          <p:cNvPr id="15" name="Text 13"/>
          <p:cNvSpPr/>
          <p:nvPr/>
        </p:nvSpPr>
        <p:spPr>
          <a:xfrm>
            <a:off x="566928" y="6327648"/>
            <a:ext cx="4572000" cy="274320"/>
          </a:xfrm>
          <a:prstGeom prst="rect">
            <a:avLst/>
          </a:prstGeom>
          <a:noFill/>
          <a:ln/>
        </p:spPr>
        <p:txBody>
          <a:bodyPr wrap="square" lIns="0" tIns="0" rIns="0" bIns="0" rtlCol="0" anchor="ctr"/>
          <a:lstStyle/>
          <a:p>
            <a:pPr algn="l" indent="0" marL="0">
              <a:buNone/>
            </a:pPr>
            <a:r>
              <a:rPr lang="en-US" sz="900" dirty="0">
                <a:solidFill>
                  <a:srgbClr val="8B9CDD"/>
                </a:solidFill>
                <a:latin typeface="맑은 고딕" pitchFamily="34" charset="0"/>
                <a:ea typeface="맑은 고딕" pitchFamily="34" charset="-122"/>
                <a:cs typeface="맑은 고딕" pitchFamily="34" charset="-120"/>
              </a:rPr>
              <a:t>쉼표정류장  ·  팀 오댕국</a:t>
            </a:r>
            <a:endParaRPr lang="en-US" sz="900" dirty="0"/>
          </a:p>
        </p:txBody>
      </p:sp>
      <p:sp>
        <p:nvSpPr>
          <p:cNvPr id="16" name="Text 14"/>
          <p:cNvSpPr/>
          <p:nvPr/>
        </p:nvSpPr>
        <p:spPr>
          <a:xfrm>
            <a:off x="10710367" y="6327648"/>
            <a:ext cx="914400" cy="274320"/>
          </a:xfrm>
          <a:prstGeom prst="rect">
            <a:avLst/>
          </a:prstGeom>
          <a:noFill/>
          <a:ln/>
        </p:spPr>
        <p:txBody>
          <a:bodyPr wrap="square" lIns="0" tIns="0" rIns="0" bIns="0" rtlCol="0" anchor="ctr"/>
          <a:lstStyle/>
          <a:p>
            <a:pPr algn="r" indent="0" marL="0">
              <a:buNone/>
            </a:pPr>
            <a:r>
              <a:rPr lang="en-US" sz="900" dirty="0">
                <a:solidFill>
                  <a:srgbClr val="8B9CDD"/>
                </a:solidFill>
                <a:latin typeface="맑은 고딕" pitchFamily="34" charset="0"/>
                <a:ea typeface="맑은 고딕" pitchFamily="34" charset="-122"/>
                <a:cs typeface="맑은 고딕"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749808"/>
            <a:ext cx="11057839" cy="566928"/>
          </a:xfrm>
          <a:prstGeom prst="rect">
            <a:avLst/>
          </a:prstGeom>
          <a:noFill/>
          <a:ln/>
        </p:spPr>
        <p:txBody>
          <a:bodyPr wrap="square" lIns="0" tIns="0" rIns="0" bIns="0" rtlCol="0" anchor="ctr"/>
          <a:lstStyle/>
          <a:p>
            <a:pPr indent="0" marL="0">
              <a:buNone/>
            </a:pPr>
            <a:r>
              <a:rPr lang="en-US" sz="2700" b="1" dirty="0">
                <a:solidFill>
                  <a:srgbClr val="141B33"/>
                </a:solidFill>
                <a:latin typeface="맑은 고딕" pitchFamily="34" charset="0"/>
                <a:ea typeface="맑은 고딕" pitchFamily="34" charset="-122"/>
                <a:cs typeface="맑은 고딕" pitchFamily="34" charset="-120"/>
              </a:rPr>
              <a:t>발표 순서</a:t>
            </a:r>
            <a:endParaRPr lang="en-US" sz="2700" dirty="0"/>
          </a:p>
        </p:txBody>
      </p:sp>
      <p:sp>
        <p:nvSpPr>
          <p:cNvPr id="3" name="Text 1"/>
          <p:cNvSpPr/>
          <p:nvPr/>
        </p:nvSpPr>
        <p:spPr>
          <a:xfrm>
            <a:off x="566928" y="402336"/>
            <a:ext cx="3657600" cy="274320"/>
          </a:xfrm>
          <a:prstGeom prst="rect">
            <a:avLst/>
          </a:prstGeom>
          <a:noFill/>
          <a:ln/>
        </p:spPr>
        <p:txBody>
          <a:bodyPr wrap="square" lIns="0" tIns="0" rIns="0" bIns="0" rtlCol="0" anchor="ctr"/>
          <a:lstStyle/>
          <a:p>
            <a:pPr indent="0" marL="0">
              <a:buNone/>
            </a:pPr>
            <a:r>
              <a:rPr lang="en-US" sz="1100" b="1" spc="200" kern="0" dirty="0">
                <a:solidFill>
                  <a:srgbClr val="E8751A"/>
                </a:solidFill>
                <a:latin typeface="맑은 고딕" pitchFamily="34" charset="0"/>
                <a:ea typeface="맑은 고딕" pitchFamily="34" charset="-122"/>
                <a:cs typeface="맑은 고딕" pitchFamily="34" charset="-120"/>
              </a:rPr>
              <a:t>CONTENTS</a:t>
            </a:r>
            <a:endParaRPr lang="en-US" sz="1100" dirty="0"/>
          </a:p>
        </p:txBody>
      </p:sp>
      <p:sp>
        <p:nvSpPr>
          <p:cNvPr id="4" name="Shape 2"/>
          <p:cNvSpPr/>
          <p:nvPr/>
        </p:nvSpPr>
        <p:spPr>
          <a:xfrm>
            <a:off x="566928" y="1783080"/>
            <a:ext cx="5532120" cy="1207008"/>
          </a:xfrm>
          <a:prstGeom prst="roundRect">
            <a:avLst>
              <a:gd name="adj" fmla="val 10606"/>
            </a:avLst>
          </a:prstGeom>
          <a:solidFill>
            <a:srgbClr val="F4F6FC"/>
          </a:solidFill>
          <a:ln w="12700">
            <a:solidFill>
              <a:srgbClr val="D4DAEE"/>
            </a:solidFill>
            <a:prstDash val="solid"/>
          </a:ln>
        </p:spPr>
      </p:sp>
      <p:sp>
        <p:nvSpPr>
          <p:cNvPr id="5" name="Text 3"/>
          <p:cNvSpPr/>
          <p:nvPr/>
        </p:nvSpPr>
        <p:spPr>
          <a:xfrm>
            <a:off x="859536" y="1984248"/>
            <a:ext cx="685800" cy="457200"/>
          </a:xfrm>
          <a:prstGeom prst="rect">
            <a:avLst/>
          </a:prstGeom>
          <a:noFill/>
          <a:ln/>
        </p:spPr>
        <p:txBody>
          <a:bodyPr wrap="square" lIns="0" tIns="0" rIns="0" bIns="0" rtlCol="0" anchor="ctr"/>
          <a:lstStyle/>
          <a:p>
            <a:pPr indent="0" marL="0">
              <a:buNone/>
            </a:pPr>
            <a:r>
              <a:rPr lang="en-US" sz="2600" b="1" dirty="0">
                <a:solidFill>
                  <a:srgbClr val="B9C4EE"/>
                </a:solidFill>
                <a:latin typeface="맑은 고딕" pitchFamily="34" charset="0"/>
                <a:ea typeface="맑은 고딕" pitchFamily="34" charset="-122"/>
                <a:cs typeface="맑은 고딕" pitchFamily="34" charset="-120"/>
              </a:rPr>
              <a:t>01</a:t>
            </a:r>
            <a:endParaRPr lang="en-US" sz="2600" dirty="0"/>
          </a:p>
        </p:txBody>
      </p:sp>
      <p:sp>
        <p:nvSpPr>
          <p:cNvPr id="6" name="Text 4"/>
          <p:cNvSpPr/>
          <p:nvPr/>
        </p:nvSpPr>
        <p:spPr>
          <a:xfrm>
            <a:off x="1591056" y="2002536"/>
            <a:ext cx="4297680" cy="365760"/>
          </a:xfrm>
          <a:prstGeom prst="rect">
            <a:avLst/>
          </a:prstGeom>
          <a:noFill/>
          <a:ln/>
        </p:spPr>
        <p:txBody>
          <a:bodyPr wrap="square" lIns="0" tIns="0" rIns="0" bIns="0" rtlCol="0" anchor="ctr"/>
          <a:lstStyle/>
          <a:p>
            <a:pPr indent="0" marL="0">
              <a:buNone/>
            </a:pPr>
            <a:r>
              <a:rPr lang="en-US" sz="1500" b="1" dirty="0">
                <a:solidFill>
                  <a:srgbClr val="141B33"/>
                </a:solidFill>
                <a:latin typeface="맑은 고딕" pitchFamily="34" charset="0"/>
                <a:ea typeface="맑은 고딕" pitchFamily="34" charset="-122"/>
                <a:cs typeface="맑은 고딕" pitchFamily="34" charset="-120"/>
              </a:rPr>
              <a:t>문제 정의 및 해결방안 제시</a:t>
            </a:r>
            <a:endParaRPr lang="en-US" sz="1500" dirty="0"/>
          </a:p>
        </p:txBody>
      </p:sp>
      <p:sp>
        <p:nvSpPr>
          <p:cNvPr id="7" name="Text 5"/>
          <p:cNvSpPr/>
          <p:nvPr/>
        </p:nvSpPr>
        <p:spPr>
          <a:xfrm>
            <a:off x="1591056" y="2404872"/>
            <a:ext cx="4297680" cy="384048"/>
          </a:xfrm>
          <a:prstGeom prst="rect">
            <a:avLst/>
          </a:prstGeom>
          <a:noFill/>
          <a:ln/>
        </p:spPr>
        <p:txBody>
          <a:bodyPr wrap="square" lIns="0" tIns="0" rIns="0" bIns="0" rtlCol="0" anchor="t"/>
          <a:lstStyle/>
          <a:p>
            <a:pPr indent="0" marL="0">
              <a:buNone/>
            </a:pPr>
            <a:r>
              <a:rPr lang="en-US" sz="1050" dirty="0">
                <a:solidFill>
                  <a:srgbClr val="6E7796"/>
                </a:solidFill>
                <a:latin typeface="맑은 고딕" pitchFamily="34" charset="0"/>
                <a:ea typeface="맑은 고딕" pitchFamily="34" charset="-122"/>
                <a:cs typeface="맑은 고딕" pitchFamily="34" charset="-120"/>
              </a:rPr>
              <a:t>초고령 도시 · 지붕 없는 정류장 · 쉼터까지 1.1km</a:t>
            </a:r>
            <a:endParaRPr lang="en-US" sz="1050" dirty="0"/>
          </a:p>
        </p:txBody>
      </p:sp>
      <p:sp>
        <p:nvSpPr>
          <p:cNvPr id="8" name="Shape 6"/>
          <p:cNvSpPr/>
          <p:nvPr/>
        </p:nvSpPr>
        <p:spPr>
          <a:xfrm>
            <a:off x="6281928" y="1783080"/>
            <a:ext cx="5532120" cy="1207008"/>
          </a:xfrm>
          <a:prstGeom prst="roundRect">
            <a:avLst>
              <a:gd name="adj" fmla="val 10606"/>
            </a:avLst>
          </a:prstGeom>
          <a:solidFill>
            <a:srgbClr val="F4F6FC"/>
          </a:solidFill>
          <a:ln w="12700">
            <a:solidFill>
              <a:srgbClr val="D4DAEE"/>
            </a:solidFill>
            <a:prstDash val="solid"/>
          </a:ln>
        </p:spPr>
      </p:sp>
      <p:sp>
        <p:nvSpPr>
          <p:cNvPr id="9" name="Text 7"/>
          <p:cNvSpPr/>
          <p:nvPr/>
        </p:nvSpPr>
        <p:spPr>
          <a:xfrm>
            <a:off x="6574536" y="1984248"/>
            <a:ext cx="685800" cy="457200"/>
          </a:xfrm>
          <a:prstGeom prst="rect">
            <a:avLst/>
          </a:prstGeom>
          <a:noFill/>
          <a:ln/>
        </p:spPr>
        <p:txBody>
          <a:bodyPr wrap="square" lIns="0" tIns="0" rIns="0" bIns="0" rtlCol="0" anchor="ctr"/>
          <a:lstStyle/>
          <a:p>
            <a:pPr indent="0" marL="0">
              <a:buNone/>
            </a:pPr>
            <a:r>
              <a:rPr lang="en-US" sz="2600" b="1" dirty="0">
                <a:solidFill>
                  <a:srgbClr val="B9C4EE"/>
                </a:solidFill>
                <a:latin typeface="맑은 고딕" pitchFamily="34" charset="0"/>
                <a:ea typeface="맑은 고딕" pitchFamily="34" charset="-122"/>
                <a:cs typeface="맑은 고딕" pitchFamily="34" charset="-120"/>
              </a:rPr>
              <a:t>02</a:t>
            </a:r>
            <a:endParaRPr lang="en-US" sz="2600" dirty="0"/>
          </a:p>
        </p:txBody>
      </p:sp>
      <p:sp>
        <p:nvSpPr>
          <p:cNvPr id="10" name="Text 8"/>
          <p:cNvSpPr/>
          <p:nvPr/>
        </p:nvSpPr>
        <p:spPr>
          <a:xfrm>
            <a:off x="7306056" y="2002536"/>
            <a:ext cx="4297680" cy="365760"/>
          </a:xfrm>
          <a:prstGeom prst="rect">
            <a:avLst/>
          </a:prstGeom>
          <a:noFill/>
          <a:ln/>
        </p:spPr>
        <p:txBody>
          <a:bodyPr wrap="square" lIns="0" tIns="0" rIns="0" bIns="0" rtlCol="0" anchor="ctr"/>
          <a:lstStyle/>
          <a:p>
            <a:pPr indent="0" marL="0">
              <a:buNone/>
            </a:pPr>
            <a:r>
              <a:rPr lang="en-US" sz="1500" b="1" dirty="0">
                <a:solidFill>
                  <a:srgbClr val="141B33"/>
                </a:solidFill>
                <a:latin typeface="맑은 고딕" pitchFamily="34" charset="0"/>
                <a:ea typeface="맑은 고딕" pitchFamily="34" charset="-122"/>
                <a:cs typeface="맑은 고딕" pitchFamily="34" charset="-120"/>
              </a:rPr>
              <a:t>활용한 데이터와 처리 구조</a:t>
            </a:r>
            <a:endParaRPr lang="en-US" sz="1500" dirty="0"/>
          </a:p>
        </p:txBody>
      </p:sp>
      <p:sp>
        <p:nvSpPr>
          <p:cNvPr id="11" name="Text 9"/>
          <p:cNvSpPr/>
          <p:nvPr/>
        </p:nvSpPr>
        <p:spPr>
          <a:xfrm>
            <a:off x="7306056" y="2404872"/>
            <a:ext cx="4297680" cy="384048"/>
          </a:xfrm>
          <a:prstGeom prst="rect">
            <a:avLst/>
          </a:prstGeom>
          <a:noFill/>
          <a:ln/>
        </p:spPr>
        <p:txBody>
          <a:bodyPr wrap="square" lIns="0" tIns="0" rIns="0" bIns="0" rtlCol="0" anchor="t"/>
          <a:lstStyle/>
          <a:p>
            <a:pPr indent="0" marL="0">
              <a:buNone/>
            </a:pPr>
            <a:r>
              <a:rPr lang="en-US" sz="1050" dirty="0">
                <a:solidFill>
                  <a:srgbClr val="6E7796"/>
                </a:solidFill>
                <a:latin typeface="맑은 고딕" pitchFamily="34" charset="0"/>
                <a:ea typeface="맑은 고딕" pitchFamily="34" charset="-122"/>
                <a:cs typeface="맑은 고딕" pitchFamily="34" charset="-120"/>
              </a:rPr>
              <a:t>정류장 1,890개 위에 공공데이터 9종 결합</a:t>
            </a:r>
            <a:endParaRPr lang="en-US" sz="1050" dirty="0"/>
          </a:p>
        </p:txBody>
      </p:sp>
      <p:sp>
        <p:nvSpPr>
          <p:cNvPr id="12" name="Shape 10"/>
          <p:cNvSpPr/>
          <p:nvPr/>
        </p:nvSpPr>
        <p:spPr>
          <a:xfrm>
            <a:off x="566928" y="3246120"/>
            <a:ext cx="5532120" cy="1207008"/>
          </a:xfrm>
          <a:prstGeom prst="roundRect">
            <a:avLst>
              <a:gd name="adj" fmla="val 10606"/>
            </a:avLst>
          </a:prstGeom>
          <a:solidFill>
            <a:srgbClr val="F4F6FC"/>
          </a:solidFill>
          <a:ln w="12700">
            <a:solidFill>
              <a:srgbClr val="D4DAEE"/>
            </a:solidFill>
            <a:prstDash val="solid"/>
          </a:ln>
        </p:spPr>
      </p:sp>
      <p:sp>
        <p:nvSpPr>
          <p:cNvPr id="13" name="Text 11"/>
          <p:cNvSpPr/>
          <p:nvPr/>
        </p:nvSpPr>
        <p:spPr>
          <a:xfrm>
            <a:off x="859536" y="3447288"/>
            <a:ext cx="685800" cy="457200"/>
          </a:xfrm>
          <a:prstGeom prst="rect">
            <a:avLst/>
          </a:prstGeom>
          <a:noFill/>
          <a:ln/>
        </p:spPr>
        <p:txBody>
          <a:bodyPr wrap="square" lIns="0" tIns="0" rIns="0" bIns="0" rtlCol="0" anchor="ctr"/>
          <a:lstStyle/>
          <a:p>
            <a:pPr indent="0" marL="0">
              <a:buNone/>
            </a:pPr>
            <a:r>
              <a:rPr lang="en-US" sz="2600" b="1" dirty="0">
                <a:solidFill>
                  <a:srgbClr val="B9C4EE"/>
                </a:solidFill>
                <a:latin typeface="맑은 고딕" pitchFamily="34" charset="0"/>
                <a:ea typeface="맑은 고딕" pitchFamily="34" charset="-122"/>
                <a:cs typeface="맑은 고딕" pitchFamily="34" charset="-120"/>
              </a:rPr>
              <a:t>03</a:t>
            </a:r>
            <a:endParaRPr lang="en-US" sz="2600" dirty="0"/>
          </a:p>
        </p:txBody>
      </p:sp>
      <p:sp>
        <p:nvSpPr>
          <p:cNvPr id="14" name="Text 12"/>
          <p:cNvSpPr/>
          <p:nvPr/>
        </p:nvSpPr>
        <p:spPr>
          <a:xfrm>
            <a:off x="1591056" y="3465576"/>
            <a:ext cx="4297680" cy="365760"/>
          </a:xfrm>
          <a:prstGeom prst="rect">
            <a:avLst/>
          </a:prstGeom>
          <a:noFill/>
          <a:ln/>
        </p:spPr>
        <p:txBody>
          <a:bodyPr wrap="square" lIns="0" tIns="0" rIns="0" bIns="0" rtlCol="0" anchor="ctr"/>
          <a:lstStyle/>
          <a:p>
            <a:pPr indent="0" marL="0">
              <a:buNone/>
            </a:pPr>
            <a:r>
              <a:rPr lang="en-US" sz="1500" b="1" dirty="0">
                <a:solidFill>
                  <a:srgbClr val="141B33"/>
                </a:solidFill>
                <a:latin typeface="맑은 고딕" pitchFamily="34" charset="0"/>
                <a:ea typeface="맑은 고딕" pitchFamily="34" charset="-122"/>
                <a:cs typeface="맑은 고딕" pitchFamily="34" charset="-120"/>
              </a:rPr>
              <a:t>서비스 핵심 기능 설명 및 시연</a:t>
            </a:r>
            <a:endParaRPr lang="en-US" sz="1500" dirty="0"/>
          </a:p>
        </p:txBody>
      </p:sp>
      <p:sp>
        <p:nvSpPr>
          <p:cNvPr id="15" name="Text 13"/>
          <p:cNvSpPr/>
          <p:nvPr/>
        </p:nvSpPr>
        <p:spPr>
          <a:xfrm>
            <a:off x="1591056" y="3867912"/>
            <a:ext cx="4297680" cy="384048"/>
          </a:xfrm>
          <a:prstGeom prst="rect">
            <a:avLst/>
          </a:prstGeom>
          <a:noFill/>
          <a:ln/>
        </p:spPr>
        <p:txBody>
          <a:bodyPr wrap="square" lIns="0" tIns="0" rIns="0" bIns="0" rtlCol="0" anchor="t"/>
          <a:lstStyle/>
          <a:p>
            <a:pPr indent="0" marL="0">
              <a:buNone/>
            </a:pPr>
            <a:r>
              <a:rPr lang="en-US" sz="1050" dirty="0">
                <a:solidFill>
                  <a:srgbClr val="6E7796"/>
                </a:solidFill>
                <a:latin typeface="맑은 고딕" pitchFamily="34" charset="0"/>
                <a:ea typeface="맑은 고딕" pitchFamily="34" charset="-122"/>
                <a:cs typeface="맑은 고딕" pitchFamily="34" charset="-120"/>
              </a:rPr>
              <a:t>가는 길 찾기 · 실시간 안내 · 쉼터 지도 · 사진 민원</a:t>
            </a:r>
            <a:endParaRPr lang="en-US" sz="1050" dirty="0"/>
          </a:p>
        </p:txBody>
      </p:sp>
      <p:sp>
        <p:nvSpPr>
          <p:cNvPr id="16" name="Shape 14"/>
          <p:cNvSpPr/>
          <p:nvPr/>
        </p:nvSpPr>
        <p:spPr>
          <a:xfrm>
            <a:off x="6281928" y="3246120"/>
            <a:ext cx="5532120" cy="1207008"/>
          </a:xfrm>
          <a:prstGeom prst="roundRect">
            <a:avLst>
              <a:gd name="adj" fmla="val 10606"/>
            </a:avLst>
          </a:prstGeom>
          <a:solidFill>
            <a:srgbClr val="F4F6FC"/>
          </a:solidFill>
          <a:ln w="12700">
            <a:solidFill>
              <a:srgbClr val="D4DAEE"/>
            </a:solidFill>
            <a:prstDash val="solid"/>
          </a:ln>
        </p:spPr>
      </p:sp>
      <p:sp>
        <p:nvSpPr>
          <p:cNvPr id="17" name="Text 15"/>
          <p:cNvSpPr/>
          <p:nvPr/>
        </p:nvSpPr>
        <p:spPr>
          <a:xfrm>
            <a:off x="6574536" y="3447288"/>
            <a:ext cx="685800" cy="457200"/>
          </a:xfrm>
          <a:prstGeom prst="rect">
            <a:avLst/>
          </a:prstGeom>
          <a:noFill/>
          <a:ln/>
        </p:spPr>
        <p:txBody>
          <a:bodyPr wrap="square" lIns="0" tIns="0" rIns="0" bIns="0" rtlCol="0" anchor="ctr"/>
          <a:lstStyle/>
          <a:p>
            <a:pPr indent="0" marL="0">
              <a:buNone/>
            </a:pPr>
            <a:r>
              <a:rPr lang="en-US" sz="2600" b="1" dirty="0">
                <a:solidFill>
                  <a:srgbClr val="B9C4EE"/>
                </a:solidFill>
                <a:latin typeface="맑은 고딕" pitchFamily="34" charset="0"/>
                <a:ea typeface="맑은 고딕" pitchFamily="34" charset="-122"/>
                <a:cs typeface="맑은 고딕" pitchFamily="34" charset="-120"/>
              </a:rPr>
              <a:t>04</a:t>
            </a:r>
            <a:endParaRPr lang="en-US" sz="2600" dirty="0"/>
          </a:p>
        </p:txBody>
      </p:sp>
      <p:sp>
        <p:nvSpPr>
          <p:cNvPr id="18" name="Text 16"/>
          <p:cNvSpPr/>
          <p:nvPr/>
        </p:nvSpPr>
        <p:spPr>
          <a:xfrm>
            <a:off x="7306056" y="3465576"/>
            <a:ext cx="4297680" cy="365760"/>
          </a:xfrm>
          <a:prstGeom prst="rect">
            <a:avLst/>
          </a:prstGeom>
          <a:noFill/>
          <a:ln/>
        </p:spPr>
        <p:txBody>
          <a:bodyPr wrap="square" lIns="0" tIns="0" rIns="0" bIns="0" rtlCol="0" anchor="ctr"/>
          <a:lstStyle/>
          <a:p>
            <a:pPr indent="0" marL="0">
              <a:buNone/>
            </a:pPr>
            <a:r>
              <a:rPr lang="en-US" sz="1500" b="1" dirty="0">
                <a:solidFill>
                  <a:srgbClr val="141B33"/>
                </a:solidFill>
                <a:latin typeface="맑은 고딕" pitchFamily="34" charset="0"/>
                <a:ea typeface="맑은 고딕" pitchFamily="34" charset="-122"/>
                <a:cs typeface="맑은 고딕" pitchFamily="34" charset="-120"/>
              </a:rPr>
              <a:t>사용자 예상 시나리오</a:t>
            </a:r>
            <a:endParaRPr lang="en-US" sz="1500" dirty="0"/>
          </a:p>
        </p:txBody>
      </p:sp>
      <p:sp>
        <p:nvSpPr>
          <p:cNvPr id="19" name="Text 17"/>
          <p:cNvSpPr/>
          <p:nvPr/>
        </p:nvSpPr>
        <p:spPr>
          <a:xfrm>
            <a:off x="7306056" y="3867912"/>
            <a:ext cx="4297680" cy="384048"/>
          </a:xfrm>
          <a:prstGeom prst="rect">
            <a:avLst/>
          </a:prstGeom>
          <a:noFill/>
          <a:ln/>
        </p:spPr>
        <p:txBody>
          <a:bodyPr wrap="square" lIns="0" tIns="0" rIns="0" bIns="0" rtlCol="0" anchor="t"/>
          <a:lstStyle/>
          <a:p>
            <a:pPr indent="0" marL="0">
              <a:buNone/>
            </a:pPr>
            <a:r>
              <a:rPr lang="en-US" sz="1050" dirty="0">
                <a:solidFill>
                  <a:srgbClr val="6E7796"/>
                </a:solidFill>
                <a:latin typeface="맑은 고딕" pitchFamily="34" charset="0"/>
                <a:ea typeface="맑은 고딕" pitchFamily="34" charset="-122"/>
                <a:cs typeface="맑은 고딕" pitchFamily="34" charset="-120"/>
              </a:rPr>
              <a:t>어르신의 폭염 오후 / 제보가 쌓이면 생기는 것</a:t>
            </a:r>
            <a:endParaRPr lang="en-US" sz="1050" dirty="0"/>
          </a:p>
        </p:txBody>
      </p:sp>
      <p:sp>
        <p:nvSpPr>
          <p:cNvPr id="20" name="Shape 18"/>
          <p:cNvSpPr/>
          <p:nvPr/>
        </p:nvSpPr>
        <p:spPr>
          <a:xfrm>
            <a:off x="566928" y="4709160"/>
            <a:ext cx="5532120" cy="1207008"/>
          </a:xfrm>
          <a:prstGeom prst="roundRect">
            <a:avLst>
              <a:gd name="adj" fmla="val 10606"/>
            </a:avLst>
          </a:prstGeom>
          <a:solidFill>
            <a:srgbClr val="F4F6FC"/>
          </a:solidFill>
          <a:ln w="12700">
            <a:solidFill>
              <a:srgbClr val="D4DAEE"/>
            </a:solidFill>
            <a:prstDash val="solid"/>
          </a:ln>
        </p:spPr>
      </p:sp>
      <p:sp>
        <p:nvSpPr>
          <p:cNvPr id="21" name="Text 19"/>
          <p:cNvSpPr/>
          <p:nvPr/>
        </p:nvSpPr>
        <p:spPr>
          <a:xfrm>
            <a:off x="859536" y="4910328"/>
            <a:ext cx="685800" cy="457200"/>
          </a:xfrm>
          <a:prstGeom prst="rect">
            <a:avLst/>
          </a:prstGeom>
          <a:noFill/>
          <a:ln/>
        </p:spPr>
        <p:txBody>
          <a:bodyPr wrap="square" lIns="0" tIns="0" rIns="0" bIns="0" rtlCol="0" anchor="ctr"/>
          <a:lstStyle/>
          <a:p>
            <a:pPr indent="0" marL="0">
              <a:buNone/>
            </a:pPr>
            <a:r>
              <a:rPr lang="en-US" sz="2600" b="1" dirty="0">
                <a:solidFill>
                  <a:srgbClr val="B9C4EE"/>
                </a:solidFill>
                <a:latin typeface="맑은 고딕" pitchFamily="34" charset="0"/>
                <a:ea typeface="맑은 고딕" pitchFamily="34" charset="-122"/>
                <a:cs typeface="맑은 고딕" pitchFamily="34" charset="-120"/>
              </a:rPr>
              <a:t>05</a:t>
            </a:r>
            <a:endParaRPr lang="en-US" sz="2600" dirty="0"/>
          </a:p>
        </p:txBody>
      </p:sp>
      <p:sp>
        <p:nvSpPr>
          <p:cNvPr id="22" name="Text 20"/>
          <p:cNvSpPr/>
          <p:nvPr/>
        </p:nvSpPr>
        <p:spPr>
          <a:xfrm>
            <a:off x="1591056" y="4928616"/>
            <a:ext cx="4297680" cy="365760"/>
          </a:xfrm>
          <a:prstGeom prst="rect">
            <a:avLst/>
          </a:prstGeom>
          <a:noFill/>
          <a:ln/>
        </p:spPr>
        <p:txBody>
          <a:bodyPr wrap="square" lIns="0" tIns="0" rIns="0" bIns="0" rtlCol="0" anchor="ctr"/>
          <a:lstStyle/>
          <a:p>
            <a:pPr indent="0" marL="0">
              <a:buNone/>
            </a:pPr>
            <a:r>
              <a:rPr lang="en-US" sz="1500" b="1" dirty="0">
                <a:solidFill>
                  <a:srgbClr val="141B33"/>
                </a:solidFill>
                <a:latin typeface="맑은 고딕" pitchFamily="34" charset="0"/>
                <a:ea typeface="맑은 고딕" pitchFamily="34" charset="-122"/>
                <a:cs typeface="맑은 고딕" pitchFamily="34" charset="-120"/>
              </a:rPr>
              <a:t>정책 적용 및 기대 효과</a:t>
            </a:r>
            <a:endParaRPr lang="en-US" sz="1500" dirty="0"/>
          </a:p>
        </p:txBody>
      </p:sp>
      <p:sp>
        <p:nvSpPr>
          <p:cNvPr id="23" name="Text 21"/>
          <p:cNvSpPr/>
          <p:nvPr/>
        </p:nvSpPr>
        <p:spPr>
          <a:xfrm>
            <a:off x="1591056" y="5330952"/>
            <a:ext cx="4297680" cy="384048"/>
          </a:xfrm>
          <a:prstGeom prst="rect">
            <a:avLst/>
          </a:prstGeom>
          <a:noFill/>
          <a:ln/>
        </p:spPr>
        <p:txBody>
          <a:bodyPr wrap="square" lIns="0" tIns="0" rIns="0" bIns="0" rtlCol="0" anchor="t"/>
          <a:lstStyle/>
          <a:p>
            <a:pPr indent="0" marL="0">
              <a:buNone/>
            </a:pPr>
            <a:r>
              <a:rPr lang="en-US" sz="1050" dirty="0">
                <a:solidFill>
                  <a:srgbClr val="6E7796"/>
                </a:solidFill>
                <a:latin typeface="맑은 고딕" pitchFamily="34" charset="0"/>
                <a:ea typeface="맑은 고딕" pitchFamily="34" charset="-122"/>
                <a:cs typeface="맑은 고딕" pitchFamily="34" charset="-120"/>
              </a:rPr>
              <a:t>새로 짓기 전에, 이미 있는 것부터 연결하기</a:t>
            </a:r>
            <a:endParaRPr lang="en-US" sz="1050" dirty="0"/>
          </a:p>
        </p:txBody>
      </p:sp>
      <p:sp>
        <p:nvSpPr>
          <p:cNvPr id="24" name="Shape 22"/>
          <p:cNvSpPr/>
          <p:nvPr/>
        </p:nvSpPr>
        <p:spPr>
          <a:xfrm>
            <a:off x="6281928" y="4709160"/>
            <a:ext cx="5532120" cy="1207008"/>
          </a:xfrm>
          <a:prstGeom prst="roundRect">
            <a:avLst>
              <a:gd name="adj" fmla="val 10606"/>
            </a:avLst>
          </a:prstGeom>
          <a:solidFill>
            <a:srgbClr val="F4F6FC"/>
          </a:solidFill>
          <a:ln w="12700">
            <a:solidFill>
              <a:srgbClr val="D4DAEE"/>
            </a:solidFill>
            <a:prstDash val="solid"/>
          </a:ln>
        </p:spPr>
      </p:sp>
      <p:sp>
        <p:nvSpPr>
          <p:cNvPr id="25" name="Text 23"/>
          <p:cNvSpPr/>
          <p:nvPr/>
        </p:nvSpPr>
        <p:spPr>
          <a:xfrm>
            <a:off x="6574536" y="4910328"/>
            <a:ext cx="685800" cy="457200"/>
          </a:xfrm>
          <a:prstGeom prst="rect">
            <a:avLst/>
          </a:prstGeom>
          <a:noFill/>
          <a:ln/>
        </p:spPr>
        <p:txBody>
          <a:bodyPr wrap="square" lIns="0" tIns="0" rIns="0" bIns="0" rtlCol="0" anchor="ctr"/>
          <a:lstStyle/>
          <a:p>
            <a:pPr indent="0" marL="0">
              <a:buNone/>
            </a:pPr>
            <a:r>
              <a:rPr lang="en-US" sz="2600" b="1" dirty="0">
                <a:solidFill>
                  <a:srgbClr val="B9C4EE"/>
                </a:solidFill>
                <a:latin typeface="맑은 고딕" pitchFamily="34" charset="0"/>
                <a:ea typeface="맑은 고딕" pitchFamily="34" charset="-122"/>
                <a:cs typeface="맑은 고딕" pitchFamily="34" charset="-120"/>
              </a:rPr>
              <a:t>06</a:t>
            </a:r>
            <a:endParaRPr lang="en-US" sz="2600" dirty="0"/>
          </a:p>
        </p:txBody>
      </p:sp>
      <p:sp>
        <p:nvSpPr>
          <p:cNvPr id="26" name="Text 24"/>
          <p:cNvSpPr/>
          <p:nvPr/>
        </p:nvSpPr>
        <p:spPr>
          <a:xfrm>
            <a:off x="7306056" y="4928616"/>
            <a:ext cx="4297680" cy="365760"/>
          </a:xfrm>
          <a:prstGeom prst="rect">
            <a:avLst/>
          </a:prstGeom>
          <a:noFill/>
          <a:ln/>
        </p:spPr>
        <p:txBody>
          <a:bodyPr wrap="square" lIns="0" tIns="0" rIns="0" bIns="0" rtlCol="0" anchor="ctr"/>
          <a:lstStyle/>
          <a:p>
            <a:pPr indent="0" marL="0">
              <a:buNone/>
            </a:pPr>
            <a:r>
              <a:rPr lang="en-US" sz="1500" b="1" dirty="0">
                <a:solidFill>
                  <a:srgbClr val="141B33"/>
                </a:solidFill>
                <a:latin typeface="맑은 고딕" pitchFamily="34" charset="0"/>
                <a:ea typeface="맑은 고딕" pitchFamily="34" charset="-122"/>
                <a:cs typeface="맑은 고딕" pitchFamily="34" charset="-120"/>
              </a:rPr>
              <a:t>확장 계획 및 마무리</a:t>
            </a:r>
            <a:endParaRPr lang="en-US" sz="1500" dirty="0"/>
          </a:p>
        </p:txBody>
      </p:sp>
      <p:sp>
        <p:nvSpPr>
          <p:cNvPr id="27" name="Text 25"/>
          <p:cNvSpPr/>
          <p:nvPr/>
        </p:nvSpPr>
        <p:spPr>
          <a:xfrm>
            <a:off x="7306056" y="5330952"/>
            <a:ext cx="4297680" cy="384048"/>
          </a:xfrm>
          <a:prstGeom prst="rect">
            <a:avLst/>
          </a:prstGeom>
          <a:noFill/>
          <a:ln/>
        </p:spPr>
        <p:txBody>
          <a:bodyPr wrap="square" lIns="0" tIns="0" rIns="0" bIns="0" rtlCol="0" anchor="t"/>
          <a:lstStyle/>
          <a:p>
            <a:pPr indent="0" marL="0">
              <a:buNone/>
            </a:pPr>
            <a:r>
              <a:rPr lang="en-US" sz="1050" dirty="0">
                <a:solidFill>
                  <a:srgbClr val="6E7796"/>
                </a:solidFill>
                <a:latin typeface="맑은 고딕" pitchFamily="34" charset="0"/>
                <a:ea typeface="맑은 고딕" pitchFamily="34" charset="-122"/>
                <a:cs typeface="맑은 고딕" pitchFamily="34" charset="-120"/>
              </a:rPr>
              <a:t>겨울 버전 · 예산 우선순위 · 타 시군 이식</a:t>
            </a:r>
            <a:endParaRPr lang="en-US" sz="1050" dirty="0"/>
          </a:p>
        </p:txBody>
      </p:sp>
      <p:sp>
        <p:nvSpPr>
          <p:cNvPr id="28" name="Text 26"/>
          <p:cNvSpPr/>
          <p:nvPr/>
        </p:nvSpPr>
        <p:spPr>
          <a:xfrm>
            <a:off x="566928" y="6327648"/>
            <a:ext cx="4572000" cy="274320"/>
          </a:xfrm>
          <a:prstGeom prst="rect">
            <a:avLst/>
          </a:prstGeom>
          <a:noFill/>
          <a:ln/>
        </p:spPr>
        <p:txBody>
          <a:bodyPr wrap="square" lIns="0" tIns="0" rIns="0" bIns="0" rtlCol="0" anchor="ctr"/>
          <a:lstStyle/>
          <a:p>
            <a:pPr algn="l" indent="0" marL="0">
              <a:buNone/>
            </a:pPr>
            <a:r>
              <a:rPr lang="en-US" sz="900" dirty="0">
                <a:solidFill>
                  <a:srgbClr val="6E7796"/>
                </a:solidFill>
                <a:latin typeface="맑은 고딕" pitchFamily="34" charset="0"/>
                <a:ea typeface="맑은 고딕" pitchFamily="34" charset="-122"/>
                <a:cs typeface="맑은 고딕" pitchFamily="34" charset="-120"/>
              </a:rPr>
              <a:t>쉼표정류장  ·  팀 오댕국</a:t>
            </a:r>
            <a:endParaRPr lang="en-US" sz="900" dirty="0"/>
          </a:p>
        </p:txBody>
      </p:sp>
      <p:sp>
        <p:nvSpPr>
          <p:cNvPr id="29" name="Text 27"/>
          <p:cNvSpPr/>
          <p:nvPr/>
        </p:nvSpPr>
        <p:spPr>
          <a:xfrm>
            <a:off x="10710367" y="6327648"/>
            <a:ext cx="914400" cy="274320"/>
          </a:xfrm>
          <a:prstGeom prst="rect">
            <a:avLst/>
          </a:prstGeom>
          <a:noFill/>
          <a:ln/>
        </p:spPr>
        <p:txBody>
          <a:bodyPr wrap="square" lIns="0" tIns="0" rIns="0" bIns="0" rtlCol="0" anchor="ctr"/>
          <a:lstStyle/>
          <a:p>
            <a:pPr algn="r" indent="0" marL="0">
              <a:buNone/>
            </a:pPr>
            <a:r>
              <a:rPr lang="en-US" sz="900" dirty="0">
                <a:solidFill>
                  <a:srgbClr val="6E7796"/>
                </a:solidFill>
                <a:latin typeface="맑은 고딕" pitchFamily="34" charset="0"/>
                <a:ea typeface="맑은 고딕" pitchFamily="34" charset="-122"/>
                <a:cs typeface="맑은 고딕"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11057839" cy="274320"/>
          </a:xfrm>
          <a:prstGeom prst="rect">
            <a:avLst/>
          </a:prstGeom>
          <a:noFill/>
          <a:ln/>
        </p:spPr>
        <p:txBody>
          <a:bodyPr wrap="square" lIns="0" tIns="0" rIns="0" bIns="0" rtlCol="0" anchor="ctr"/>
          <a:lstStyle/>
          <a:p>
            <a:pPr indent="0" marL="0">
              <a:buNone/>
            </a:pPr>
            <a:r>
              <a:rPr lang="en-US" sz="1100" b="1" dirty="0">
                <a:solidFill>
                  <a:srgbClr val="E8751A"/>
                </a:solidFill>
                <a:latin typeface="맑은 고딕" pitchFamily="34" charset="0"/>
                <a:ea typeface="맑은 고딕" pitchFamily="34" charset="-122"/>
                <a:cs typeface="맑은 고딕" pitchFamily="34" charset="-120"/>
              </a:rPr>
              <a:t>01</a:t>
            </a:r>
            <a:pPr indent="0" marL="0">
              <a:buNone/>
            </a:pPr>
            <a:r>
              <a:rPr lang="en-US" sz="1100" b="1" dirty="0">
                <a:solidFill>
                  <a:srgbClr val="6E7796"/>
                </a:solidFill>
                <a:latin typeface="맑은 고딕" pitchFamily="34" charset="0"/>
                <a:ea typeface="맑은 고딕" pitchFamily="34" charset="-122"/>
                <a:cs typeface="맑은 고딕" pitchFamily="34" charset="-120"/>
              </a:rPr>
              <a:t>   문제 정의 및 해결방안 제시</a:t>
            </a:r>
            <a:endParaRPr lang="en-US" sz="1100" dirty="0"/>
          </a:p>
        </p:txBody>
      </p:sp>
      <p:sp>
        <p:nvSpPr>
          <p:cNvPr id="3" name="Text 1"/>
          <p:cNvSpPr/>
          <p:nvPr/>
        </p:nvSpPr>
        <p:spPr>
          <a:xfrm>
            <a:off x="566928" y="749808"/>
            <a:ext cx="11057839" cy="566928"/>
          </a:xfrm>
          <a:prstGeom prst="rect">
            <a:avLst/>
          </a:prstGeom>
          <a:noFill/>
          <a:ln/>
        </p:spPr>
        <p:txBody>
          <a:bodyPr wrap="square" lIns="0" tIns="0" rIns="0" bIns="0" rtlCol="0" anchor="ctr"/>
          <a:lstStyle/>
          <a:p>
            <a:pPr indent="0" marL="0">
              <a:buNone/>
            </a:pPr>
            <a:r>
              <a:rPr lang="en-US" sz="2700" b="1" dirty="0">
                <a:solidFill>
                  <a:srgbClr val="141B33"/>
                </a:solidFill>
                <a:latin typeface="맑은 고딕" pitchFamily="34" charset="0"/>
                <a:ea typeface="맑은 고딕" pitchFamily="34" charset="-122"/>
                <a:cs typeface="맑은 고딕" pitchFamily="34" charset="-120"/>
              </a:rPr>
              <a:t>춘천은 이미 초고령 도시입니다</a:t>
            </a:r>
            <a:endParaRPr lang="en-US" sz="2700" dirty="0"/>
          </a:p>
        </p:txBody>
      </p:sp>
      <p:sp>
        <p:nvSpPr>
          <p:cNvPr id="4" name="Shape 2"/>
          <p:cNvSpPr/>
          <p:nvPr/>
        </p:nvSpPr>
        <p:spPr>
          <a:xfrm>
            <a:off x="566928" y="1600200"/>
            <a:ext cx="4663440" cy="2331720"/>
          </a:xfrm>
          <a:prstGeom prst="roundRect">
            <a:avLst>
              <a:gd name="adj" fmla="val 5490"/>
            </a:avLst>
          </a:prstGeom>
          <a:solidFill>
            <a:srgbClr val="001871"/>
          </a:solidFill>
          <a:ln w="12700">
            <a:solidFill>
              <a:srgbClr val="001871"/>
            </a:solidFill>
            <a:prstDash val="solid"/>
          </a:ln>
        </p:spPr>
      </p:sp>
      <p:sp>
        <p:nvSpPr>
          <p:cNvPr id="5" name="Text 3"/>
          <p:cNvSpPr/>
          <p:nvPr/>
        </p:nvSpPr>
        <p:spPr>
          <a:xfrm>
            <a:off x="932688" y="1874520"/>
            <a:ext cx="3931920" cy="914400"/>
          </a:xfrm>
          <a:prstGeom prst="rect">
            <a:avLst/>
          </a:prstGeom>
          <a:noFill/>
          <a:ln/>
        </p:spPr>
        <p:txBody>
          <a:bodyPr wrap="square" lIns="0" tIns="0" rIns="0" bIns="0" rtlCol="0" anchor="ctr"/>
          <a:lstStyle/>
          <a:p>
            <a:pPr indent="0" marL="0">
              <a:buNone/>
            </a:pPr>
            <a:r>
              <a:rPr lang="en-US" sz="6200" b="1" dirty="0">
                <a:solidFill>
                  <a:srgbClr val="FFFFFF"/>
                </a:solidFill>
                <a:latin typeface="맑은 고딕" pitchFamily="34" charset="0"/>
                <a:ea typeface="맑은 고딕" pitchFamily="34" charset="-122"/>
                <a:cs typeface="맑은 고딕" pitchFamily="34" charset="-120"/>
              </a:rPr>
              <a:t>23.3%</a:t>
            </a:r>
            <a:endParaRPr lang="en-US" sz="6200" dirty="0"/>
          </a:p>
        </p:txBody>
      </p:sp>
      <p:sp>
        <p:nvSpPr>
          <p:cNvPr id="6" name="Text 4"/>
          <p:cNvSpPr/>
          <p:nvPr/>
        </p:nvSpPr>
        <p:spPr>
          <a:xfrm>
            <a:off x="950976" y="2788920"/>
            <a:ext cx="3931920" cy="274320"/>
          </a:xfrm>
          <a:prstGeom prst="rect">
            <a:avLst/>
          </a:prstGeom>
          <a:noFill/>
          <a:ln/>
        </p:spPr>
        <p:txBody>
          <a:bodyPr wrap="square" lIns="0" tIns="0" rIns="0" bIns="0" rtlCol="0" anchor="ctr"/>
          <a:lstStyle/>
          <a:p>
            <a:pPr indent="0" marL="0">
              <a:buNone/>
            </a:pPr>
            <a:r>
              <a:rPr lang="en-US" sz="1300" b="1" dirty="0">
                <a:solidFill>
                  <a:srgbClr val="A6B3E6"/>
                </a:solidFill>
                <a:latin typeface="맑은 고딕" pitchFamily="34" charset="0"/>
                <a:ea typeface="맑은 고딕" pitchFamily="34" charset="-122"/>
                <a:cs typeface="맑은 고딕" pitchFamily="34" charset="-120"/>
              </a:rPr>
              <a:t>춘천시 65세 이상 인구 비율</a:t>
            </a:r>
            <a:endParaRPr lang="en-US" sz="1300" dirty="0"/>
          </a:p>
        </p:txBody>
      </p:sp>
      <p:sp>
        <p:nvSpPr>
          <p:cNvPr id="7" name="Text 5"/>
          <p:cNvSpPr/>
          <p:nvPr/>
        </p:nvSpPr>
        <p:spPr>
          <a:xfrm>
            <a:off x="950976" y="3108960"/>
            <a:ext cx="3931920" cy="274320"/>
          </a:xfrm>
          <a:prstGeom prst="rect">
            <a:avLst/>
          </a:prstGeom>
          <a:noFill/>
          <a:ln/>
        </p:spPr>
        <p:txBody>
          <a:bodyPr wrap="square" lIns="0" tIns="0" rIns="0" bIns="0" rtlCol="0" anchor="ctr"/>
          <a:lstStyle/>
          <a:p>
            <a:pPr indent="0" marL="0">
              <a:buNone/>
            </a:pPr>
            <a:r>
              <a:rPr lang="en-US" sz="1100" dirty="0">
                <a:solidFill>
                  <a:srgbClr val="8B9CDD"/>
                </a:solidFill>
                <a:latin typeface="맑은 고딕" pitchFamily="34" charset="0"/>
                <a:ea typeface="맑은 고딕" pitchFamily="34" charset="-122"/>
                <a:cs typeface="맑은 고딕" pitchFamily="34" charset="-120"/>
              </a:rPr>
              <a:t>2026년 6월 기준 · 285,027명 중 66,488명</a:t>
            </a:r>
            <a:endParaRPr lang="en-US" sz="1100" dirty="0"/>
          </a:p>
        </p:txBody>
      </p:sp>
      <p:sp>
        <p:nvSpPr>
          <p:cNvPr id="8" name="Shape 6"/>
          <p:cNvSpPr/>
          <p:nvPr/>
        </p:nvSpPr>
        <p:spPr>
          <a:xfrm>
            <a:off x="5522976" y="1600200"/>
            <a:ext cx="6101791" cy="713232"/>
          </a:xfrm>
          <a:prstGeom prst="roundRect">
            <a:avLst>
              <a:gd name="adj" fmla="val 17949"/>
            </a:avLst>
          </a:prstGeom>
          <a:solidFill>
            <a:srgbClr val="F4F6FC"/>
          </a:solidFill>
          <a:ln w="12700">
            <a:solidFill>
              <a:srgbClr val="D4DAEE"/>
            </a:solidFill>
            <a:prstDash val="solid"/>
          </a:ln>
        </p:spPr>
      </p:sp>
      <p:sp>
        <p:nvSpPr>
          <p:cNvPr id="9" name="Text 7"/>
          <p:cNvSpPr/>
          <p:nvPr/>
        </p:nvSpPr>
        <p:spPr>
          <a:xfrm>
            <a:off x="5797296" y="1691640"/>
            <a:ext cx="2743200" cy="256032"/>
          </a:xfrm>
          <a:prstGeom prst="rect">
            <a:avLst/>
          </a:prstGeom>
          <a:noFill/>
          <a:ln/>
        </p:spPr>
        <p:txBody>
          <a:bodyPr wrap="square" lIns="0" tIns="0" rIns="0" bIns="0" rtlCol="0" anchor="ctr"/>
          <a:lstStyle/>
          <a:p>
            <a:pPr indent="0" marL="0">
              <a:buNone/>
            </a:pPr>
            <a:r>
              <a:rPr lang="en-US" sz="1300" b="1" dirty="0">
                <a:solidFill>
                  <a:srgbClr val="E8751A"/>
                </a:solidFill>
                <a:latin typeface="맑은 고딕" pitchFamily="34" charset="0"/>
                <a:ea typeface="맑은 고딕" pitchFamily="34" charset="-122"/>
                <a:cs typeface="맑은 고딕" pitchFamily="34" charset="-120"/>
              </a:rPr>
              <a:t>2023년 7월</a:t>
            </a:r>
            <a:endParaRPr lang="en-US" sz="1300" dirty="0"/>
          </a:p>
        </p:txBody>
      </p:sp>
      <p:sp>
        <p:nvSpPr>
          <p:cNvPr id="10" name="Text 8"/>
          <p:cNvSpPr/>
          <p:nvPr/>
        </p:nvSpPr>
        <p:spPr>
          <a:xfrm>
            <a:off x="5797296" y="1965960"/>
            <a:ext cx="2743200" cy="256032"/>
          </a:xfrm>
          <a:prstGeom prst="rect">
            <a:avLst/>
          </a:prstGeom>
          <a:noFill/>
          <a:ln/>
        </p:spPr>
        <p:txBody>
          <a:bodyPr wrap="square" lIns="0" tIns="0" rIns="0" bIns="0" rtlCol="0" anchor="ctr"/>
          <a:lstStyle/>
          <a:p>
            <a:pPr indent="0" marL="0">
              <a:buNone/>
            </a:pPr>
            <a:r>
              <a:rPr lang="en-US" sz="1200" b="1" dirty="0">
                <a:solidFill>
                  <a:srgbClr val="141B33"/>
                </a:solidFill>
                <a:latin typeface="맑은 고딕" pitchFamily="34" charset="0"/>
                <a:ea typeface="맑은 고딕" pitchFamily="34" charset="-122"/>
                <a:cs typeface="맑은 고딕" pitchFamily="34" charset="-120"/>
              </a:rPr>
              <a:t>초고령사회 진입</a:t>
            </a:r>
            <a:endParaRPr lang="en-US" sz="1200" dirty="0"/>
          </a:p>
        </p:txBody>
      </p:sp>
      <p:sp>
        <p:nvSpPr>
          <p:cNvPr id="11" name="Text 9"/>
          <p:cNvSpPr/>
          <p:nvPr/>
        </p:nvSpPr>
        <p:spPr>
          <a:xfrm>
            <a:off x="8659368" y="1691640"/>
            <a:ext cx="2834640" cy="530352"/>
          </a:xfrm>
          <a:prstGeom prst="rect">
            <a:avLst/>
          </a:prstGeom>
          <a:noFill/>
          <a:ln/>
        </p:spPr>
        <p:txBody>
          <a:bodyPr wrap="square" lIns="0" tIns="0" rIns="0" bIns="0" rtlCol="0" anchor="ctr"/>
          <a:lstStyle/>
          <a:p>
            <a:pPr indent="0" marL="0">
              <a:buNone/>
            </a:pPr>
            <a:r>
              <a:rPr lang="en-US" sz="1000" dirty="0">
                <a:solidFill>
                  <a:srgbClr val="6E7796"/>
                </a:solidFill>
                <a:latin typeface="맑은 고딕" pitchFamily="34" charset="0"/>
                <a:ea typeface="맑은 고딕" pitchFamily="34" charset="-122"/>
                <a:cs typeface="맑은 고딕" pitchFamily="34" charset="-120"/>
              </a:rPr>
              <a:t>노인 인구가 전체의 20%를 넘어선 시점</a:t>
            </a:r>
            <a:endParaRPr lang="en-US" sz="1000" dirty="0"/>
          </a:p>
        </p:txBody>
      </p:sp>
      <p:sp>
        <p:nvSpPr>
          <p:cNvPr id="12" name="Shape 10"/>
          <p:cNvSpPr/>
          <p:nvPr/>
        </p:nvSpPr>
        <p:spPr>
          <a:xfrm>
            <a:off x="5522976" y="2423160"/>
            <a:ext cx="6101791" cy="713232"/>
          </a:xfrm>
          <a:prstGeom prst="roundRect">
            <a:avLst>
              <a:gd name="adj" fmla="val 17949"/>
            </a:avLst>
          </a:prstGeom>
          <a:solidFill>
            <a:srgbClr val="F4F6FC"/>
          </a:solidFill>
          <a:ln w="12700">
            <a:solidFill>
              <a:srgbClr val="D4DAEE"/>
            </a:solidFill>
            <a:prstDash val="solid"/>
          </a:ln>
        </p:spPr>
      </p:sp>
      <p:sp>
        <p:nvSpPr>
          <p:cNvPr id="13" name="Text 11"/>
          <p:cNvSpPr/>
          <p:nvPr/>
        </p:nvSpPr>
        <p:spPr>
          <a:xfrm>
            <a:off x="5797296" y="2514600"/>
            <a:ext cx="2743200" cy="256032"/>
          </a:xfrm>
          <a:prstGeom prst="rect">
            <a:avLst/>
          </a:prstGeom>
          <a:noFill/>
          <a:ln/>
        </p:spPr>
        <p:txBody>
          <a:bodyPr wrap="square" lIns="0" tIns="0" rIns="0" bIns="0" rtlCol="0" anchor="ctr"/>
          <a:lstStyle/>
          <a:p>
            <a:pPr indent="0" marL="0">
              <a:buNone/>
            </a:pPr>
            <a:r>
              <a:rPr lang="en-US" sz="1300" b="1" dirty="0">
                <a:solidFill>
                  <a:srgbClr val="E8751A"/>
                </a:solidFill>
                <a:latin typeface="맑은 고딕" pitchFamily="34" charset="0"/>
                <a:ea typeface="맑은 고딕" pitchFamily="34" charset="-122"/>
                <a:cs typeface="맑은 고딕" pitchFamily="34" charset="-120"/>
              </a:rPr>
              <a:t>1년 반 만에 +5,118명</a:t>
            </a:r>
            <a:endParaRPr lang="en-US" sz="1300" dirty="0"/>
          </a:p>
        </p:txBody>
      </p:sp>
      <p:sp>
        <p:nvSpPr>
          <p:cNvPr id="14" name="Text 12"/>
          <p:cNvSpPr/>
          <p:nvPr/>
        </p:nvSpPr>
        <p:spPr>
          <a:xfrm>
            <a:off x="5797296" y="2788920"/>
            <a:ext cx="2743200" cy="256032"/>
          </a:xfrm>
          <a:prstGeom prst="rect">
            <a:avLst/>
          </a:prstGeom>
          <a:noFill/>
          <a:ln/>
        </p:spPr>
        <p:txBody>
          <a:bodyPr wrap="square" lIns="0" tIns="0" rIns="0" bIns="0" rtlCol="0" anchor="ctr"/>
          <a:lstStyle/>
          <a:p>
            <a:pPr indent="0" marL="0">
              <a:buNone/>
            </a:pPr>
            <a:r>
              <a:rPr lang="en-US" sz="1200" b="1" dirty="0">
                <a:solidFill>
                  <a:srgbClr val="141B33"/>
                </a:solidFill>
                <a:latin typeface="맑은 고딕" pitchFamily="34" charset="0"/>
                <a:ea typeface="맑은 고딕" pitchFamily="34" charset="-122"/>
                <a:cs typeface="맑은 고딕" pitchFamily="34" charset="-120"/>
              </a:rPr>
              <a:t>21.4% → 23.3%</a:t>
            </a:r>
            <a:endParaRPr lang="en-US" sz="1200" dirty="0"/>
          </a:p>
        </p:txBody>
      </p:sp>
      <p:sp>
        <p:nvSpPr>
          <p:cNvPr id="15" name="Text 13"/>
          <p:cNvSpPr/>
          <p:nvPr/>
        </p:nvSpPr>
        <p:spPr>
          <a:xfrm>
            <a:off x="8659368" y="2514600"/>
            <a:ext cx="2834640" cy="530352"/>
          </a:xfrm>
          <a:prstGeom prst="rect">
            <a:avLst/>
          </a:prstGeom>
          <a:noFill/>
          <a:ln/>
        </p:spPr>
        <p:txBody>
          <a:bodyPr wrap="square" lIns="0" tIns="0" rIns="0" bIns="0" rtlCol="0" anchor="ctr"/>
          <a:lstStyle/>
          <a:p>
            <a:pPr indent="0" marL="0">
              <a:buNone/>
            </a:pPr>
            <a:r>
              <a:rPr lang="en-US" sz="1000" dirty="0">
                <a:solidFill>
                  <a:srgbClr val="6E7796"/>
                </a:solidFill>
                <a:latin typeface="맑은 고딕" pitchFamily="34" charset="0"/>
                <a:ea typeface="맑은 고딕" pitchFamily="34" charset="-122"/>
                <a:cs typeface="맑은 고딕" pitchFamily="34" charset="-120"/>
              </a:rPr>
              <a:t>2024년 말 61,370명 → 2026년 6월 66,488명</a:t>
            </a:r>
            <a:endParaRPr lang="en-US" sz="1000" dirty="0"/>
          </a:p>
        </p:txBody>
      </p:sp>
      <p:sp>
        <p:nvSpPr>
          <p:cNvPr id="16" name="Shape 14"/>
          <p:cNvSpPr/>
          <p:nvPr/>
        </p:nvSpPr>
        <p:spPr>
          <a:xfrm>
            <a:off x="5522976" y="3246120"/>
            <a:ext cx="6101791" cy="713232"/>
          </a:xfrm>
          <a:prstGeom prst="roundRect">
            <a:avLst>
              <a:gd name="adj" fmla="val 17949"/>
            </a:avLst>
          </a:prstGeom>
          <a:solidFill>
            <a:srgbClr val="F4F6FC"/>
          </a:solidFill>
          <a:ln w="12700">
            <a:solidFill>
              <a:srgbClr val="D4DAEE"/>
            </a:solidFill>
            <a:prstDash val="solid"/>
          </a:ln>
        </p:spPr>
      </p:sp>
      <p:sp>
        <p:nvSpPr>
          <p:cNvPr id="17" name="Text 15"/>
          <p:cNvSpPr/>
          <p:nvPr/>
        </p:nvSpPr>
        <p:spPr>
          <a:xfrm>
            <a:off x="5797296" y="3337560"/>
            <a:ext cx="2743200" cy="256032"/>
          </a:xfrm>
          <a:prstGeom prst="rect">
            <a:avLst/>
          </a:prstGeom>
          <a:noFill/>
          <a:ln/>
        </p:spPr>
        <p:txBody>
          <a:bodyPr wrap="square" lIns="0" tIns="0" rIns="0" bIns="0" rtlCol="0" anchor="ctr"/>
          <a:lstStyle/>
          <a:p>
            <a:pPr indent="0" marL="0">
              <a:buNone/>
            </a:pPr>
            <a:r>
              <a:rPr lang="en-US" sz="1300" b="1" dirty="0">
                <a:solidFill>
                  <a:srgbClr val="E8751A"/>
                </a:solidFill>
                <a:latin typeface="맑은 고딕" pitchFamily="34" charset="0"/>
                <a:ea typeface="맑은 고딕" pitchFamily="34" charset="-122"/>
                <a:cs typeface="맑은 고딕" pitchFamily="34" charset="-120"/>
              </a:rPr>
              <a:t>2,545억 원 · 53개 사업</a:t>
            </a:r>
            <a:endParaRPr lang="en-US" sz="1300" dirty="0"/>
          </a:p>
        </p:txBody>
      </p:sp>
      <p:sp>
        <p:nvSpPr>
          <p:cNvPr id="18" name="Text 16"/>
          <p:cNvSpPr/>
          <p:nvPr/>
        </p:nvSpPr>
        <p:spPr>
          <a:xfrm>
            <a:off x="5797296" y="3611880"/>
            <a:ext cx="2743200" cy="256032"/>
          </a:xfrm>
          <a:prstGeom prst="rect">
            <a:avLst/>
          </a:prstGeom>
          <a:noFill/>
          <a:ln/>
        </p:spPr>
        <p:txBody>
          <a:bodyPr wrap="square" lIns="0" tIns="0" rIns="0" bIns="0" rtlCol="0" anchor="ctr"/>
          <a:lstStyle/>
          <a:p>
            <a:pPr indent="0" marL="0">
              <a:buNone/>
            </a:pPr>
            <a:r>
              <a:rPr lang="en-US" sz="1200" b="1" dirty="0">
                <a:solidFill>
                  <a:srgbClr val="141B33"/>
                </a:solidFill>
                <a:latin typeface="맑은 고딕" pitchFamily="34" charset="0"/>
                <a:ea typeface="맑은 고딕" pitchFamily="34" charset="-122"/>
                <a:cs typeface="맑은 고딕" pitchFamily="34" charset="-120"/>
              </a:rPr>
              <a:t>2025년 노인복지정책</a:t>
            </a:r>
            <a:endParaRPr lang="en-US" sz="1200" dirty="0"/>
          </a:p>
        </p:txBody>
      </p:sp>
      <p:sp>
        <p:nvSpPr>
          <p:cNvPr id="19" name="Text 17"/>
          <p:cNvSpPr/>
          <p:nvPr/>
        </p:nvSpPr>
        <p:spPr>
          <a:xfrm>
            <a:off x="8659368" y="3337560"/>
            <a:ext cx="2834640" cy="530352"/>
          </a:xfrm>
          <a:prstGeom prst="rect">
            <a:avLst/>
          </a:prstGeom>
          <a:noFill/>
          <a:ln/>
        </p:spPr>
        <p:txBody>
          <a:bodyPr wrap="square" lIns="0" tIns="0" rIns="0" bIns="0" rtlCol="0" anchor="ctr"/>
          <a:lstStyle/>
          <a:p>
            <a:pPr indent="0" marL="0">
              <a:buNone/>
            </a:pPr>
            <a:r>
              <a:rPr lang="en-US" sz="1000" dirty="0">
                <a:solidFill>
                  <a:srgbClr val="6E7796"/>
                </a:solidFill>
                <a:latin typeface="맑은 고딕" pitchFamily="34" charset="0"/>
                <a:ea typeface="맑은 고딕" pitchFamily="34" charset="-122"/>
                <a:cs typeface="맑은 고딕" pitchFamily="34" charset="-120"/>
              </a:rPr>
              <a:t>8개 부서가 함께 집행하는 규모</a:t>
            </a:r>
            <a:endParaRPr lang="en-US" sz="1000" dirty="0"/>
          </a:p>
        </p:txBody>
      </p:sp>
      <p:sp>
        <p:nvSpPr>
          <p:cNvPr id="20" name="Shape 18"/>
          <p:cNvSpPr/>
          <p:nvPr/>
        </p:nvSpPr>
        <p:spPr>
          <a:xfrm>
            <a:off x="566928" y="4114800"/>
            <a:ext cx="11057839" cy="1691640"/>
          </a:xfrm>
          <a:prstGeom prst="roundRect">
            <a:avLst>
              <a:gd name="adj" fmla="val 7568"/>
            </a:avLst>
          </a:prstGeom>
          <a:solidFill>
            <a:srgbClr val="FFFFFF"/>
          </a:solidFill>
          <a:ln w="12700">
            <a:solidFill>
              <a:srgbClr val="D4DAEE"/>
            </a:solidFill>
            <a:prstDash val="solid"/>
          </a:ln>
        </p:spPr>
      </p:sp>
      <p:sp>
        <p:nvSpPr>
          <p:cNvPr id="21" name="Text 19"/>
          <p:cNvSpPr/>
          <p:nvPr/>
        </p:nvSpPr>
        <p:spPr>
          <a:xfrm>
            <a:off x="886968" y="4279392"/>
            <a:ext cx="7315200" cy="310896"/>
          </a:xfrm>
          <a:prstGeom prst="rect">
            <a:avLst/>
          </a:prstGeom>
          <a:noFill/>
          <a:ln/>
        </p:spPr>
        <p:txBody>
          <a:bodyPr wrap="square" lIns="0" tIns="0" rIns="0" bIns="0" rtlCol="0" anchor="ctr"/>
          <a:lstStyle/>
          <a:p>
            <a:pPr indent="0" marL="0">
              <a:buNone/>
            </a:pPr>
            <a:r>
              <a:rPr lang="en-US" sz="1400" b="1" dirty="0">
                <a:solidFill>
                  <a:srgbClr val="141B33"/>
                </a:solidFill>
                <a:latin typeface="맑은 고딕" pitchFamily="34" charset="0"/>
                <a:ea typeface="맑은 고딕" pitchFamily="34" charset="-122"/>
                <a:cs typeface="맑은 고딕" pitchFamily="34" charset="-120"/>
              </a:rPr>
              <a:t>그리고 읍·면은 이미 주민 둘 중 하나가 어르신입니다</a:t>
            </a:r>
            <a:endParaRPr lang="en-US" sz="1400" dirty="0"/>
          </a:p>
        </p:txBody>
      </p:sp>
      <p:sp>
        <p:nvSpPr>
          <p:cNvPr id="22" name="Text 20"/>
          <p:cNvSpPr/>
          <p:nvPr/>
        </p:nvSpPr>
        <p:spPr>
          <a:xfrm>
            <a:off x="886968" y="4709160"/>
            <a:ext cx="1645920" cy="438912"/>
          </a:xfrm>
          <a:prstGeom prst="rect">
            <a:avLst/>
          </a:prstGeom>
          <a:noFill/>
          <a:ln/>
        </p:spPr>
        <p:txBody>
          <a:bodyPr wrap="square" lIns="0" tIns="0" rIns="0" bIns="0" rtlCol="0" anchor="ctr"/>
          <a:lstStyle/>
          <a:p>
            <a:pPr indent="0" marL="0">
              <a:buNone/>
            </a:pPr>
            <a:r>
              <a:rPr lang="en-US" sz="2400" b="1" dirty="0">
                <a:solidFill>
                  <a:srgbClr val="001871"/>
                </a:solidFill>
                <a:latin typeface="맑은 고딕" pitchFamily="34" charset="0"/>
                <a:ea typeface="맑은 고딕" pitchFamily="34" charset="-122"/>
                <a:cs typeface="맑은 고딕" pitchFamily="34" charset="-120"/>
              </a:rPr>
              <a:t>59.0%</a:t>
            </a:r>
            <a:endParaRPr lang="en-US" sz="2400" dirty="0"/>
          </a:p>
        </p:txBody>
      </p:sp>
      <p:sp>
        <p:nvSpPr>
          <p:cNvPr id="23" name="Text 21"/>
          <p:cNvSpPr/>
          <p:nvPr/>
        </p:nvSpPr>
        <p:spPr>
          <a:xfrm>
            <a:off x="886968" y="5148072"/>
            <a:ext cx="1645920" cy="256032"/>
          </a:xfrm>
          <a:prstGeom prst="rect">
            <a:avLst/>
          </a:prstGeom>
          <a:noFill/>
          <a:ln/>
        </p:spPr>
        <p:txBody>
          <a:bodyPr wrap="square" lIns="0" tIns="0" rIns="0" bIns="0" rtlCol="0" anchor="ctr"/>
          <a:lstStyle/>
          <a:p>
            <a:pPr indent="0" marL="0">
              <a:buNone/>
            </a:pPr>
            <a:r>
              <a:rPr lang="en-US" sz="1100" dirty="0">
                <a:solidFill>
                  <a:srgbClr val="6E7796"/>
                </a:solidFill>
                <a:latin typeface="맑은 고딕" pitchFamily="34" charset="0"/>
                <a:ea typeface="맑은 고딕" pitchFamily="34" charset="-122"/>
                <a:cs typeface="맑은 고딕" pitchFamily="34" charset="-120"/>
              </a:rPr>
              <a:t>북산면</a:t>
            </a:r>
            <a:endParaRPr lang="en-US" sz="1100" dirty="0"/>
          </a:p>
        </p:txBody>
      </p:sp>
      <p:sp>
        <p:nvSpPr>
          <p:cNvPr id="24" name="Text 22"/>
          <p:cNvSpPr/>
          <p:nvPr/>
        </p:nvSpPr>
        <p:spPr>
          <a:xfrm>
            <a:off x="2670048" y="4709160"/>
            <a:ext cx="1645920" cy="438912"/>
          </a:xfrm>
          <a:prstGeom prst="rect">
            <a:avLst/>
          </a:prstGeom>
          <a:noFill/>
          <a:ln/>
        </p:spPr>
        <p:txBody>
          <a:bodyPr wrap="square" lIns="0" tIns="0" rIns="0" bIns="0" rtlCol="0" anchor="ctr"/>
          <a:lstStyle/>
          <a:p>
            <a:pPr indent="0" marL="0">
              <a:buNone/>
            </a:pPr>
            <a:r>
              <a:rPr lang="en-US" sz="2400" b="1" dirty="0">
                <a:solidFill>
                  <a:srgbClr val="001871"/>
                </a:solidFill>
                <a:latin typeface="맑은 고딕" pitchFamily="34" charset="0"/>
                <a:ea typeface="맑은 고딕" pitchFamily="34" charset="-122"/>
                <a:cs typeface="맑은 고딕" pitchFamily="34" charset="-120"/>
              </a:rPr>
              <a:t>54.6%</a:t>
            </a:r>
            <a:endParaRPr lang="en-US" sz="2400" dirty="0"/>
          </a:p>
        </p:txBody>
      </p:sp>
      <p:sp>
        <p:nvSpPr>
          <p:cNvPr id="25" name="Text 23"/>
          <p:cNvSpPr/>
          <p:nvPr/>
        </p:nvSpPr>
        <p:spPr>
          <a:xfrm>
            <a:off x="2670048" y="5148072"/>
            <a:ext cx="1645920" cy="256032"/>
          </a:xfrm>
          <a:prstGeom prst="rect">
            <a:avLst/>
          </a:prstGeom>
          <a:noFill/>
          <a:ln/>
        </p:spPr>
        <p:txBody>
          <a:bodyPr wrap="square" lIns="0" tIns="0" rIns="0" bIns="0" rtlCol="0" anchor="ctr"/>
          <a:lstStyle/>
          <a:p>
            <a:pPr indent="0" marL="0">
              <a:buNone/>
            </a:pPr>
            <a:r>
              <a:rPr lang="en-US" sz="1100" dirty="0">
                <a:solidFill>
                  <a:srgbClr val="6E7796"/>
                </a:solidFill>
                <a:latin typeface="맑은 고딕" pitchFamily="34" charset="0"/>
                <a:ea typeface="맑은 고딕" pitchFamily="34" charset="-122"/>
                <a:cs typeface="맑은 고딕" pitchFamily="34" charset="-120"/>
              </a:rPr>
              <a:t>남면</a:t>
            </a:r>
            <a:endParaRPr lang="en-US" sz="1100" dirty="0"/>
          </a:p>
        </p:txBody>
      </p:sp>
      <p:sp>
        <p:nvSpPr>
          <p:cNvPr id="26" name="Text 24"/>
          <p:cNvSpPr/>
          <p:nvPr/>
        </p:nvSpPr>
        <p:spPr>
          <a:xfrm>
            <a:off x="4453128" y="4709160"/>
            <a:ext cx="1645920" cy="438912"/>
          </a:xfrm>
          <a:prstGeom prst="rect">
            <a:avLst/>
          </a:prstGeom>
          <a:noFill/>
          <a:ln/>
        </p:spPr>
        <p:txBody>
          <a:bodyPr wrap="square" lIns="0" tIns="0" rIns="0" bIns="0" rtlCol="0" anchor="ctr"/>
          <a:lstStyle/>
          <a:p>
            <a:pPr indent="0" marL="0">
              <a:buNone/>
            </a:pPr>
            <a:r>
              <a:rPr lang="en-US" sz="2400" b="1" dirty="0">
                <a:solidFill>
                  <a:srgbClr val="001871"/>
                </a:solidFill>
                <a:latin typeface="맑은 고딕" pitchFamily="34" charset="0"/>
                <a:ea typeface="맑은 고딕" pitchFamily="34" charset="-122"/>
                <a:cs typeface="맑은 고딕" pitchFamily="34" charset="-120"/>
              </a:rPr>
              <a:t>52.0%</a:t>
            </a:r>
            <a:endParaRPr lang="en-US" sz="2400" dirty="0"/>
          </a:p>
        </p:txBody>
      </p:sp>
      <p:sp>
        <p:nvSpPr>
          <p:cNvPr id="27" name="Text 25"/>
          <p:cNvSpPr/>
          <p:nvPr/>
        </p:nvSpPr>
        <p:spPr>
          <a:xfrm>
            <a:off x="4453128" y="5148072"/>
            <a:ext cx="1645920" cy="256032"/>
          </a:xfrm>
          <a:prstGeom prst="rect">
            <a:avLst/>
          </a:prstGeom>
          <a:noFill/>
          <a:ln/>
        </p:spPr>
        <p:txBody>
          <a:bodyPr wrap="square" lIns="0" tIns="0" rIns="0" bIns="0" rtlCol="0" anchor="ctr"/>
          <a:lstStyle/>
          <a:p>
            <a:pPr indent="0" marL="0">
              <a:buNone/>
            </a:pPr>
            <a:r>
              <a:rPr lang="en-US" sz="1100" dirty="0">
                <a:solidFill>
                  <a:srgbClr val="6E7796"/>
                </a:solidFill>
                <a:latin typeface="맑은 고딕" pitchFamily="34" charset="0"/>
                <a:ea typeface="맑은 고딕" pitchFamily="34" charset="-122"/>
                <a:cs typeface="맑은 고딕" pitchFamily="34" charset="-120"/>
              </a:rPr>
              <a:t>사북면</a:t>
            </a:r>
            <a:endParaRPr lang="en-US" sz="1100" dirty="0"/>
          </a:p>
        </p:txBody>
      </p:sp>
      <p:sp>
        <p:nvSpPr>
          <p:cNvPr id="28" name="Text 26"/>
          <p:cNvSpPr/>
          <p:nvPr/>
        </p:nvSpPr>
        <p:spPr>
          <a:xfrm>
            <a:off x="6236208" y="4709160"/>
            <a:ext cx="1645920" cy="438912"/>
          </a:xfrm>
          <a:prstGeom prst="rect">
            <a:avLst/>
          </a:prstGeom>
          <a:noFill/>
          <a:ln/>
        </p:spPr>
        <p:txBody>
          <a:bodyPr wrap="square" lIns="0" tIns="0" rIns="0" bIns="0" rtlCol="0" anchor="ctr"/>
          <a:lstStyle/>
          <a:p>
            <a:pPr indent="0" marL="0">
              <a:buNone/>
            </a:pPr>
            <a:r>
              <a:rPr lang="en-US" sz="2400" b="1" dirty="0">
                <a:solidFill>
                  <a:srgbClr val="001871"/>
                </a:solidFill>
                <a:latin typeface="맑은 고딕" pitchFamily="34" charset="0"/>
                <a:ea typeface="맑은 고딕" pitchFamily="34" charset="-122"/>
                <a:cs typeface="맑은 고딕" pitchFamily="34" charset="-120"/>
              </a:rPr>
              <a:t>51.8%</a:t>
            </a:r>
            <a:endParaRPr lang="en-US" sz="2400" dirty="0"/>
          </a:p>
        </p:txBody>
      </p:sp>
      <p:sp>
        <p:nvSpPr>
          <p:cNvPr id="29" name="Text 27"/>
          <p:cNvSpPr/>
          <p:nvPr/>
        </p:nvSpPr>
        <p:spPr>
          <a:xfrm>
            <a:off x="6236208" y="5148072"/>
            <a:ext cx="1645920" cy="256032"/>
          </a:xfrm>
          <a:prstGeom prst="rect">
            <a:avLst/>
          </a:prstGeom>
          <a:noFill/>
          <a:ln/>
        </p:spPr>
        <p:txBody>
          <a:bodyPr wrap="square" lIns="0" tIns="0" rIns="0" bIns="0" rtlCol="0" anchor="ctr"/>
          <a:lstStyle/>
          <a:p>
            <a:pPr indent="0" marL="0">
              <a:buNone/>
            </a:pPr>
            <a:r>
              <a:rPr lang="en-US" sz="1100" dirty="0">
                <a:solidFill>
                  <a:srgbClr val="6E7796"/>
                </a:solidFill>
                <a:latin typeface="맑은 고딕" pitchFamily="34" charset="0"/>
                <a:ea typeface="맑은 고딕" pitchFamily="34" charset="-122"/>
                <a:cs typeface="맑은 고딕" pitchFamily="34" charset="-120"/>
              </a:rPr>
              <a:t>동산면</a:t>
            </a:r>
            <a:endParaRPr lang="en-US" sz="1100" dirty="0"/>
          </a:p>
        </p:txBody>
      </p:sp>
      <p:sp>
        <p:nvSpPr>
          <p:cNvPr id="30" name="Text 28"/>
          <p:cNvSpPr/>
          <p:nvPr/>
        </p:nvSpPr>
        <p:spPr>
          <a:xfrm>
            <a:off x="8019288" y="4709160"/>
            <a:ext cx="1645920" cy="438912"/>
          </a:xfrm>
          <a:prstGeom prst="rect">
            <a:avLst/>
          </a:prstGeom>
          <a:noFill/>
          <a:ln/>
        </p:spPr>
        <p:txBody>
          <a:bodyPr wrap="square" lIns="0" tIns="0" rIns="0" bIns="0" rtlCol="0" anchor="ctr"/>
          <a:lstStyle/>
          <a:p>
            <a:pPr indent="0" marL="0">
              <a:buNone/>
            </a:pPr>
            <a:r>
              <a:rPr lang="en-US" sz="2400" b="1" dirty="0">
                <a:solidFill>
                  <a:srgbClr val="001871"/>
                </a:solidFill>
                <a:latin typeface="맑은 고딕" pitchFamily="34" charset="0"/>
                <a:ea typeface="맑은 고딕" pitchFamily="34" charset="-122"/>
                <a:cs typeface="맑은 고딕" pitchFamily="34" charset="-120"/>
              </a:rPr>
              <a:t>50.1%</a:t>
            </a:r>
            <a:endParaRPr lang="en-US" sz="2400" dirty="0"/>
          </a:p>
        </p:txBody>
      </p:sp>
      <p:sp>
        <p:nvSpPr>
          <p:cNvPr id="31" name="Text 29"/>
          <p:cNvSpPr/>
          <p:nvPr/>
        </p:nvSpPr>
        <p:spPr>
          <a:xfrm>
            <a:off x="8019288" y="5148072"/>
            <a:ext cx="1645920" cy="256032"/>
          </a:xfrm>
          <a:prstGeom prst="rect">
            <a:avLst/>
          </a:prstGeom>
          <a:noFill/>
          <a:ln/>
        </p:spPr>
        <p:txBody>
          <a:bodyPr wrap="square" lIns="0" tIns="0" rIns="0" bIns="0" rtlCol="0" anchor="ctr"/>
          <a:lstStyle/>
          <a:p>
            <a:pPr indent="0" marL="0">
              <a:buNone/>
            </a:pPr>
            <a:r>
              <a:rPr lang="en-US" sz="1100" dirty="0">
                <a:solidFill>
                  <a:srgbClr val="6E7796"/>
                </a:solidFill>
                <a:latin typeface="맑은 고딕" pitchFamily="34" charset="0"/>
                <a:ea typeface="맑은 고딕" pitchFamily="34" charset="-122"/>
                <a:cs typeface="맑은 고딕" pitchFamily="34" charset="-120"/>
              </a:rPr>
              <a:t>서면</a:t>
            </a:r>
            <a:endParaRPr lang="en-US" sz="1100" dirty="0"/>
          </a:p>
        </p:txBody>
      </p:sp>
      <p:sp>
        <p:nvSpPr>
          <p:cNvPr id="32" name="Text 30"/>
          <p:cNvSpPr/>
          <p:nvPr/>
        </p:nvSpPr>
        <p:spPr>
          <a:xfrm>
            <a:off x="9802368" y="4709160"/>
            <a:ext cx="1645920" cy="438912"/>
          </a:xfrm>
          <a:prstGeom prst="rect">
            <a:avLst/>
          </a:prstGeom>
          <a:noFill/>
          <a:ln/>
        </p:spPr>
        <p:txBody>
          <a:bodyPr wrap="square" lIns="0" tIns="0" rIns="0" bIns="0" rtlCol="0" anchor="ctr"/>
          <a:lstStyle/>
          <a:p>
            <a:pPr indent="0" marL="0">
              <a:buNone/>
            </a:pPr>
            <a:r>
              <a:rPr lang="en-US" sz="2400" b="1" dirty="0">
                <a:solidFill>
                  <a:srgbClr val="001871"/>
                </a:solidFill>
                <a:latin typeface="맑은 고딕" pitchFamily="34" charset="0"/>
                <a:ea typeface="맑은 고딕" pitchFamily="34" charset="-122"/>
                <a:cs typeface="맑은 고딕" pitchFamily="34" charset="-120"/>
              </a:rPr>
              <a:t>48.5%</a:t>
            </a:r>
            <a:endParaRPr lang="en-US" sz="2400" dirty="0"/>
          </a:p>
        </p:txBody>
      </p:sp>
      <p:sp>
        <p:nvSpPr>
          <p:cNvPr id="33" name="Text 31"/>
          <p:cNvSpPr/>
          <p:nvPr/>
        </p:nvSpPr>
        <p:spPr>
          <a:xfrm>
            <a:off x="9802368" y="5148072"/>
            <a:ext cx="1645920" cy="256032"/>
          </a:xfrm>
          <a:prstGeom prst="rect">
            <a:avLst/>
          </a:prstGeom>
          <a:noFill/>
          <a:ln/>
        </p:spPr>
        <p:txBody>
          <a:bodyPr wrap="square" lIns="0" tIns="0" rIns="0" bIns="0" rtlCol="0" anchor="ctr"/>
          <a:lstStyle/>
          <a:p>
            <a:pPr indent="0" marL="0">
              <a:buNone/>
            </a:pPr>
            <a:r>
              <a:rPr lang="en-US" sz="1100" dirty="0">
                <a:solidFill>
                  <a:srgbClr val="6E7796"/>
                </a:solidFill>
                <a:latin typeface="맑은 고딕" pitchFamily="34" charset="0"/>
                <a:ea typeface="맑은 고딕" pitchFamily="34" charset="-122"/>
                <a:cs typeface="맑은 고딕" pitchFamily="34" charset="-120"/>
              </a:rPr>
              <a:t>남산면</a:t>
            </a:r>
            <a:endParaRPr lang="en-US" sz="1100" dirty="0"/>
          </a:p>
        </p:txBody>
      </p:sp>
      <p:sp>
        <p:nvSpPr>
          <p:cNvPr id="34" name="Text 32"/>
          <p:cNvSpPr/>
          <p:nvPr/>
        </p:nvSpPr>
        <p:spPr>
          <a:xfrm>
            <a:off x="886968" y="5440680"/>
            <a:ext cx="10417759" cy="274320"/>
          </a:xfrm>
          <a:prstGeom prst="rect">
            <a:avLst/>
          </a:prstGeom>
          <a:noFill/>
          <a:ln/>
        </p:spPr>
        <p:txBody>
          <a:bodyPr wrap="square" lIns="0" tIns="0" rIns="0" bIns="0" rtlCol="0" anchor="ctr"/>
          <a:lstStyle/>
          <a:p>
            <a:pPr indent="0" marL="0">
              <a:buNone/>
            </a:pPr>
            <a:r>
              <a:rPr lang="en-US" sz="1050" dirty="0">
                <a:solidFill>
                  <a:srgbClr val="6E7796"/>
                </a:solidFill>
                <a:latin typeface="맑은 고딕" pitchFamily="34" charset="0"/>
                <a:ea typeface="맑은 고딕" pitchFamily="34" charset="-122"/>
                <a:cs typeface="맑은 고딕" pitchFamily="34" charset="-120"/>
              </a:rPr>
              <a:t>버스가 유일한 이동 수단인 지역일수록 고령 비율이 높습니다. 폭염 특보 속에서 10분 넘게 뙤약볕에 서 있는 일은 온열질환으로 이어질 수 있습니다.</a:t>
            </a:r>
            <a:endParaRPr lang="en-US" sz="1050" dirty="0"/>
          </a:p>
        </p:txBody>
      </p:sp>
      <p:sp>
        <p:nvSpPr>
          <p:cNvPr id="35" name="Text 33"/>
          <p:cNvSpPr/>
          <p:nvPr/>
        </p:nvSpPr>
        <p:spPr>
          <a:xfrm>
            <a:off x="566928" y="5961888"/>
            <a:ext cx="11057839" cy="310896"/>
          </a:xfrm>
          <a:prstGeom prst="rect">
            <a:avLst/>
          </a:prstGeom>
          <a:noFill/>
          <a:ln/>
        </p:spPr>
        <p:txBody>
          <a:bodyPr wrap="square" lIns="0" tIns="0" rIns="0" bIns="0" rtlCol="0" anchor="ctr"/>
          <a:lstStyle/>
          <a:p>
            <a:pPr indent="0" marL="0">
              <a:buNone/>
            </a:pPr>
            <a:r>
              <a:rPr lang="en-US" sz="850" dirty="0">
                <a:solidFill>
                  <a:srgbClr val="6E7796"/>
                </a:solidFill>
                <a:latin typeface="맑은 고딕" pitchFamily="34" charset="0"/>
                <a:ea typeface="맑은 고딕" pitchFamily="34" charset="-122"/>
                <a:cs typeface="맑은 고딕" pitchFamily="34" charset="-120"/>
              </a:rPr>
              <a:t>출처 : 춘천시 「2026년 6월 인구통계(연령별)」, 강원일보 2025-02-25 「초고령사회 진입한 춘천시 2,545억원 투입 노인복지정책 편다」</a:t>
            </a:r>
            <a:endParaRPr lang="en-US" sz="850" dirty="0"/>
          </a:p>
        </p:txBody>
      </p:sp>
      <p:sp>
        <p:nvSpPr>
          <p:cNvPr id="36" name="Text 34"/>
          <p:cNvSpPr/>
          <p:nvPr/>
        </p:nvSpPr>
        <p:spPr>
          <a:xfrm>
            <a:off x="566928" y="6327648"/>
            <a:ext cx="4572000" cy="274320"/>
          </a:xfrm>
          <a:prstGeom prst="rect">
            <a:avLst/>
          </a:prstGeom>
          <a:noFill/>
          <a:ln/>
        </p:spPr>
        <p:txBody>
          <a:bodyPr wrap="square" lIns="0" tIns="0" rIns="0" bIns="0" rtlCol="0" anchor="ctr"/>
          <a:lstStyle/>
          <a:p>
            <a:pPr algn="l" indent="0" marL="0">
              <a:buNone/>
            </a:pPr>
            <a:r>
              <a:rPr lang="en-US" sz="900" dirty="0">
                <a:solidFill>
                  <a:srgbClr val="6E7796"/>
                </a:solidFill>
                <a:latin typeface="맑은 고딕" pitchFamily="34" charset="0"/>
                <a:ea typeface="맑은 고딕" pitchFamily="34" charset="-122"/>
                <a:cs typeface="맑은 고딕" pitchFamily="34" charset="-120"/>
              </a:rPr>
              <a:t>쉼표정류장  ·  팀 오댕국</a:t>
            </a:r>
            <a:endParaRPr lang="en-US" sz="900" dirty="0"/>
          </a:p>
        </p:txBody>
      </p:sp>
      <p:sp>
        <p:nvSpPr>
          <p:cNvPr id="37" name="Text 35"/>
          <p:cNvSpPr/>
          <p:nvPr/>
        </p:nvSpPr>
        <p:spPr>
          <a:xfrm>
            <a:off x="10710367" y="6327648"/>
            <a:ext cx="914400" cy="274320"/>
          </a:xfrm>
          <a:prstGeom prst="rect">
            <a:avLst/>
          </a:prstGeom>
          <a:noFill/>
          <a:ln/>
        </p:spPr>
        <p:txBody>
          <a:bodyPr wrap="square" lIns="0" tIns="0" rIns="0" bIns="0" rtlCol="0" anchor="ctr"/>
          <a:lstStyle/>
          <a:p>
            <a:pPr algn="r" indent="0" marL="0">
              <a:buNone/>
            </a:pPr>
            <a:r>
              <a:rPr lang="en-US" sz="900" dirty="0">
                <a:solidFill>
                  <a:srgbClr val="6E7796"/>
                </a:solidFill>
                <a:latin typeface="맑은 고딕" pitchFamily="34" charset="0"/>
                <a:ea typeface="맑은 고딕" pitchFamily="34" charset="-122"/>
                <a:cs typeface="맑은 고딕"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11057839" cy="274320"/>
          </a:xfrm>
          <a:prstGeom prst="rect">
            <a:avLst/>
          </a:prstGeom>
          <a:noFill/>
          <a:ln/>
        </p:spPr>
        <p:txBody>
          <a:bodyPr wrap="square" lIns="0" tIns="0" rIns="0" bIns="0" rtlCol="0" anchor="ctr"/>
          <a:lstStyle/>
          <a:p>
            <a:pPr indent="0" marL="0">
              <a:buNone/>
            </a:pPr>
            <a:r>
              <a:rPr lang="en-US" sz="1100" b="1" dirty="0">
                <a:solidFill>
                  <a:srgbClr val="E8751A"/>
                </a:solidFill>
                <a:latin typeface="맑은 고딕" pitchFamily="34" charset="0"/>
                <a:ea typeface="맑은 고딕" pitchFamily="34" charset="-122"/>
                <a:cs typeface="맑은 고딕" pitchFamily="34" charset="-120"/>
              </a:rPr>
              <a:t>01</a:t>
            </a:r>
            <a:pPr indent="0" marL="0">
              <a:buNone/>
            </a:pPr>
            <a:r>
              <a:rPr lang="en-US" sz="1100" b="1" dirty="0">
                <a:solidFill>
                  <a:srgbClr val="6E7796"/>
                </a:solidFill>
                <a:latin typeface="맑은 고딕" pitchFamily="34" charset="0"/>
                <a:ea typeface="맑은 고딕" pitchFamily="34" charset="-122"/>
                <a:cs typeface="맑은 고딕" pitchFamily="34" charset="-120"/>
              </a:rPr>
              <a:t>   문제 정의 및 해결방안 제시</a:t>
            </a:r>
            <a:endParaRPr lang="en-US" sz="1100" dirty="0"/>
          </a:p>
        </p:txBody>
      </p:sp>
      <p:sp>
        <p:nvSpPr>
          <p:cNvPr id="3" name="Text 1"/>
          <p:cNvSpPr/>
          <p:nvPr/>
        </p:nvSpPr>
        <p:spPr>
          <a:xfrm>
            <a:off x="566928" y="749808"/>
            <a:ext cx="11057839" cy="566928"/>
          </a:xfrm>
          <a:prstGeom prst="rect">
            <a:avLst/>
          </a:prstGeom>
          <a:noFill/>
          <a:ln/>
        </p:spPr>
        <p:txBody>
          <a:bodyPr wrap="square" lIns="0" tIns="0" rIns="0" bIns="0" rtlCol="0" anchor="ctr"/>
          <a:lstStyle/>
          <a:p>
            <a:pPr indent="0" marL="0">
              <a:buNone/>
            </a:pPr>
            <a:r>
              <a:rPr lang="en-US" sz="2700" b="1" dirty="0">
                <a:solidFill>
                  <a:srgbClr val="141B33"/>
                </a:solidFill>
                <a:latin typeface="맑은 고딕" pitchFamily="34" charset="0"/>
                <a:ea typeface="맑은 고딕" pitchFamily="34" charset="-122"/>
                <a:cs typeface="맑은 고딕" pitchFamily="34" charset="-120"/>
              </a:rPr>
              <a:t>그런데 춘천 정류장 10곳 중 6곳은 지붕조차 없습니다</a:t>
            </a:r>
            <a:endParaRPr lang="en-US" sz="2700" dirty="0"/>
          </a:p>
        </p:txBody>
      </p:sp>
      <p:sp>
        <p:nvSpPr>
          <p:cNvPr id="4" name="Shape 2"/>
          <p:cNvSpPr/>
          <p:nvPr/>
        </p:nvSpPr>
        <p:spPr>
          <a:xfrm>
            <a:off x="566928" y="1600200"/>
            <a:ext cx="4663440" cy="2011680"/>
          </a:xfrm>
          <a:prstGeom prst="roundRect">
            <a:avLst>
              <a:gd name="adj" fmla="val 6364"/>
            </a:avLst>
          </a:prstGeom>
          <a:solidFill>
            <a:srgbClr val="001871"/>
          </a:solidFill>
          <a:ln w="12700">
            <a:solidFill>
              <a:srgbClr val="001871"/>
            </a:solidFill>
            <a:prstDash val="solid"/>
          </a:ln>
        </p:spPr>
      </p:sp>
      <p:sp>
        <p:nvSpPr>
          <p:cNvPr id="5" name="Text 3"/>
          <p:cNvSpPr/>
          <p:nvPr/>
        </p:nvSpPr>
        <p:spPr>
          <a:xfrm>
            <a:off x="932688" y="1810512"/>
            <a:ext cx="3931920" cy="868680"/>
          </a:xfrm>
          <a:prstGeom prst="rect">
            <a:avLst/>
          </a:prstGeom>
          <a:noFill/>
          <a:ln/>
        </p:spPr>
        <p:txBody>
          <a:bodyPr wrap="square" lIns="0" tIns="0" rIns="0" bIns="0" rtlCol="0" anchor="ctr"/>
          <a:lstStyle/>
          <a:p>
            <a:pPr indent="0" marL="0">
              <a:buNone/>
            </a:pPr>
            <a:r>
              <a:rPr lang="en-US" sz="5800" b="1" dirty="0">
                <a:solidFill>
                  <a:srgbClr val="FFFFFF"/>
                </a:solidFill>
                <a:latin typeface="맑은 고딕" pitchFamily="34" charset="0"/>
                <a:ea typeface="맑은 고딕" pitchFamily="34" charset="-122"/>
                <a:cs typeface="맑은 고딕" pitchFamily="34" charset="-120"/>
              </a:rPr>
              <a:t>63.5%</a:t>
            </a:r>
            <a:endParaRPr lang="en-US" sz="5800" dirty="0"/>
          </a:p>
        </p:txBody>
      </p:sp>
      <p:sp>
        <p:nvSpPr>
          <p:cNvPr id="6" name="Text 4"/>
          <p:cNvSpPr/>
          <p:nvPr/>
        </p:nvSpPr>
        <p:spPr>
          <a:xfrm>
            <a:off x="950976" y="2670048"/>
            <a:ext cx="3931920" cy="274320"/>
          </a:xfrm>
          <a:prstGeom prst="rect">
            <a:avLst/>
          </a:prstGeom>
          <a:noFill/>
          <a:ln/>
        </p:spPr>
        <p:txBody>
          <a:bodyPr wrap="square" lIns="0" tIns="0" rIns="0" bIns="0" rtlCol="0" anchor="ctr"/>
          <a:lstStyle/>
          <a:p>
            <a:pPr indent="0" marL="0">
              <a:buNone/>
            </a:pPr>
            <a:r>
              <a:rPr lang="en-US" sz="1250" b="1" dirty="0">
                <a:solidFill>
                  <a:srgbClr val="A6B3E6"/>
                </a:solidFill>
                <a:latin typeface="맑은 고딕" pitchFamily="34" charset="0"/>
                <a:ea typeface="맑은 고딕" pitchFamily="34" charset="-122"/>
                <a:cs typeface="맑은 고딕" pitchFamily="34" charset="-120"/>
              </a:rPr>
              <a:t>표지판형 정류장 1,200곳 / 전체 1,890곳</a:t>
            </a:r>
            <a:endParaRPr lang="en-US" sz="1250" dirty="0"/>
          </a:p>
        </p:txBody>
      </p:sp>
      <p:sp>
        <p:nvSpPr>
          <p:cNvPr id="7" name="Text 5"/>
          <p:cNvSpPr/>
          <p:nvPr/>
        </p:nvSpPr>
        <p:spPr>
          <a:xfrm>
            <a:off x="950976" y="2962656"/>
            <a:ext cx="3931920" cy="457200"/>
          </a:xfrm>
          <a:prstGeom prst="rect">
            <a:avLst/>
          </a:prstGeom>
          <a:noFill/>
          <a:ln/>
        </p:spPr>
        <p:txBody>
          <a:bodyPr wrap="square" lIns="0" tIns="0" rIns="0" bIns="0" rtlCol="0" anchor="t"/>
          <a:lstStyle/>
          <a:p>
            <a:pPr indent="0" marL="0">
              <a:buNone/>
            </a:pPr>
            <a:r>
              <a:rPr lang="en-US" sz="1050" dirty="0">
                <a:solidFill>
                  <a:srgbClr val="8B9CDD"/>
                </a:solidFill>
                <a:latin typeface="맑은 고딕" pitchFamily="34" charset="0"/>
                <a:ea typeface="맑은 고딕" pitchFamily="34" charset="-122"/>
                <a:cs typeface="맑은 고딕" pitchFamily="34" charset="-120"/>
              </a:rPr>
              <a:t>기둥에 노선표만 붙어 있는 정류장 — 그늘도, 의자도 없습니다</a:t>
            </a:r>
            <a:endParaRPr lang="en-US" sz="1050" dirty="0"/>
          </a:p>
        </p:txBody>
      </p:sp>
      <p:sp>
        <p:nvSpPr>
          <p:cNvPr id="8" name="Shape 6"/>
          <p:cNvSpPr/>
          <p:nvPr/>
        </p:nvSpPr>
        <p:spPr>
          <a:xfrm>
            <a:off x="5522976" y="1600200"/>
            <a:ext cx="6101791" cy="932688"/>
          </a:xfrm>
          <a:prstGeom prst="roundRect">
            <a:avLst>
              <a:gd name="adj" fmla="val 13725"/>
            </a:avLst>
          </a:prstGeom>
          <a:solidFill>
            <a:srgbClr val="F4F6FC"/>
          </a:solidFill>
          <a:ln w="12700">
            <a:solidFill>
              <a:srgbClr val="D4DAEE"/>
            </a:solidFill>
            <a:prstDash val="solid"/>
          </a:ln>
        </p:spPr>
      </p:sp>
      <p:sp>
        <p:nvSpPr>
          <p:cNvPr id="9" name="Text 7"/>
          <p:cNvSpPr/>
          <p:nvPr/>
        </p:nvSpPr>
        <p:spPr>
          <a:xfrm>
            <a:off x="5824728" y="1728216"/>
            <a:ext cx="5852160" cy="274320"/>
          </a:xfrm>
          <a:prstGeom prst="rect">
            <a:avLst/>
          </a:prstGeom>
          <a:noFill/>
          <a:ln/>
        </p:spPr>
        <p:txBody>
          <a:bodyPr wrap="square" lIns="0" tIns="0" rIns="0" bIns="0" rtlCol="0" anchor="ctr"/>
          <a:lstStyle/>
          <a:p>
            <a:pPr indent="0" marL="0">
              <a:buNone/>
            </a:pPr>
            <a:r>
              <a:rPr lang="en-US" sz="1400" b="1" dirty="0">
                <a:solidFill>
                  <a:srgbClr val="E8751A"/>
                </a:solidFill>
                <a:latin typeface="맑은 고딕" pitchFamily="34" charset="0"/>
                <a:ea typeface="맑은 고딕" pitchFamily="34" charset="-122"/>
                <a:cs typeface="맑은 고딕" pitchFamily="34" charset="-120"/>
              </a:rPr>
              <a:t>스마트 정류장은 16곳</a:t>
            </a:r>
            <a:endParaRPr lang="en-US" sz="1400" dirty="0"/>
          </a:p>
        </p:txBody>
      </p:sp>
      <p:sp>
        <p:nvSpPr>
          <p:cNvPr id="10" name="Text 8"/>
          <p:cNvSpPr/>
          <p:nvPr/>
        </p:nvSpPr>
        <p:spPr>
          <a:xfrm>
            <a:off x="5824728" y="2002536"/>
            <a:ext cx="5852160" cy="256032"/>
          </a:xfrm>
          <a:prstGeom prst="rect">
            <a:avLst/>
          </a:prstGeom>
          <a:noFill/>
          <a:ln/>
        </p:spPr>
        <p:txBody>
          <a:bodyPr wrap="square" lIns="0" tIns="0" rIns="0" bIns="0" rtlCol="0" anchor="ctr"/>
          <a:lstStyle/>
          <a:p>
            <a:pPr indent="0" marL="0">
              <a:buNone/>
            </a:pPr>
            <a:r>
              <a:rPr lang="en-US" sz="1200" b="1" dirty="0">
                <a:solidFill>
                  <a:srgbClr val="141B33"/>
                </a:solidFill>
                <a:latin typeface="맑은 고딕" pitchFamily="34" charset="0"/>
                <a:ea typeface="맑은 고딕" pitchFamily="34" charset="-122"/>
                <a:cs typeface="맑은 고딕" pitchFamily="34" charset="-120"/>
              </a:rPr>
              <a:t>1곳당 약 1억 원</a:t>
            </a:r>
            <a:endParaRPr lang="en-US" sz="1200" dirty="0"/>
          </a:p>
        </p:txBody>
      </p:sp>
      <p:sp>
        <p:nvSpPr>
          <p:cNvPr id="11" name="Text 9"/>
          <p:cNvSpPr/>
          <p:nvPr/>
        </p:nvSpPr>
        <p:spPr>
          <a:xfrm>
            <a:off x="5824728" y="2249424"/>
            <a:ext cx="5852160" cy="237744"/>
          </a:xfrm>
          <a:prstGeom prst="rect">
            <a:avLst/>
          </a:prstGeom>
          <a:noFill/>
          <a:ln/>
        </p:spPr>
        <p:txBody>
          <a:bodyPr wrap="square" lIns="0" tIns="0" rIns="0" bIns="0" rtlCol="0" anchor="ctr"/>
          <a:lstStyle/>
          <a:p>
            <a:pPr indent="0" marL="0">
              <a:buNone/>
            </a:pPr>
            <a:r>
              <a:rPr lang="en-US" sz="1000" dirty="0">
                <a:solidFill>
                  <a:srgbClr val="6E7796"/>
                </a:solidFill>
                <a:latin typeface="맑은 고딕" pitchFamily="34" charset="0"/>
                <a:ea typeface="맑은 고딕" pitchFamily="34" charset="-122"/>
                <a:cs typeface="맑은 고딕" pitchFamily="34" charset="-120"/>
              </a:rPr>
              <a:t>냉난방 쉘터를 1,200곳에 세우는 것은 예산상 불가능합니다.</a:t>
            </a:r>
            <a:endParaRPr lang="en-US" sz="1000" dirty="0"/>
          </a:p>
        </p:txBody>
      </p:sp>
      <p:sp>
        <p:nvSpPr>
          <p:cNvPr id="12" name="Shape 10"/>
          <p:cNvSpPr/>
          <p:nvPr/>
        </p:nvSpPr>
        <p:spPr>
          <a:xfrm>
            <a:off x="5522976" y="2651760"/>
            <a:ext cx="6101791" cy="932688"/>
          </a:xfrm>
          <a:prstGeom prst="roundRect">
            <a:avLst>
              <a:gd name="adj" fmla="val 13725"/>
            </a:avLst>
          </a:prstGeom>
          <a:solidFill>
            <a:srgbClr val="F4F6FC"/>
          </a:solidFill>
          <a:ln w="12700">
            <a:solidFill>
              <a:srgbClr val="D4DAEE"/>
            </a:solidFill>
            <a:prstDash val="solid"/>
          </a:ln>
        </p:spPr>
      </p:sp>
      <p:sp>
        <p:nvSpPr>
          <p:cNvPr id="13" name="Text 11"/>
          <p:cNvSpPr/>
          <p:nvPr/>
        </p:nvSpPr>
        <p:spPr>
          <a:xfrm>
            <a:off x="5824728" y="2779776"/>
            <a:ext cx="5852160" cy="274320"/>
          </a:xfrm>
          <a:prstGeom prst="rect">
            <a:avLst/>
          </a:prstGeom>
          <a:noFill/>
          <a:ln/>
        </p:spPr>
        <p:txBody>
          <a:bodyPr wrap="square" lIns="0" tIns="0" rIns="0" bIns="0" rtlCol="0" anchor="ctr"/>
          <a:lstStyle/>
          <a:p>
            <a:pPr indent="0" marL="0">
              <a:buNone/>
            </a:pPr>
            <a:r>
              <a:rPr lang="en-US" sz="1400" b="1" dirty="0">
                <a:solidFill>
                  <a:srgbClr val="E8751A"/>
                </a:solidFill>
                <a:latin typeface="맑은 고딕" pitchFamily="34" charset="0"/>
                <a:ea typeface="맑은 고딕" pitchFamily="34" charset="-122"/>
                <a:cs typeface="맑은 고딕" pitchFamily="34" charset="-120"/>
              </a:rPr>
              <a:t>시설이 갖춰지기까지 몇 년</a:t>
            </a:r>
            <a:endParaRPr lang="en-US" sz="1400" dirty="0"/>
          </a:p>
        </p:txBody>
      </p:sp>
      <p:sp>
        <p:nvSpPr>
          <p:cNvPr id="14" name="Text 12"/>
          <p:cNvSpPr/>
          <p:nvPr/>
        </p:nvSpPr>
        <p:spPr>
          <a:xfrm>
            <a:off x="5824728" y="3054096"/>
            <a:ext cx="5852160" cy="256032"/>
          </a:xfrm>
          <a:prstGeom prst="rect">
            <a:avLst/>
          </a:prstGeom>
          <a:noFill/>
          <a:ln/>
        </p:spPr>
        <p:txBody>
          <a:bodyPr wrap="square" lIns="0" tIns="0" rIns="0" bIns="0" rtlCol="0" anchor="ctr"/>
          <a:lstStyle/>
          <a:p>
            <a:pPr indent="0" marL="0">
              <a:buNone/>
            </a:pPr>
            <a:r>
              <a:rPr lang="en-US" sz="1200" b="1" dirty="0">
                <a:solidFill>
                  <a:srgbClr val="141B33"/>
                </a:solidFill>
                <a:latin typeface="맑은 고딕" pitchFamily="34" charset="0"/>
                <a:ea typeface="맑은 고딕" pitchFamily="34" charset="-122"/>
                <a:cs typeface="맑은 고딕" pitchFamily="34" charset="-120"/>
              </a:rPr>
              <a:t>그 사이에도 어르신은 매일 버스를 탑니다</a:t>
            </a:r>
            <a:endParaRPr lang="en-US" sz="1200" dirty="0"/>
          </a:p>
        </p:txBody>
      </p:sp>
      <p:sp>
        <p:nvSpPr>
          <p:cNvPr id="15" name="Text 13"/>
          <p:cNvSpPr/>
          <p:nvPr/>
        </p:nvSpPr>
        <p:spPr>
          <a:xfrm>
            <a:off x="5824728" y="3300984"/>
            <a:ext cx="5852160" cy="237744"/>
          </a:xfrm>
          <a:prstGeom prst="rect">
            <a:avLst/>
          </a:prstGeom>
          <a:noFill/>
          <a:ln/>
        </p:spPr>
        <p:txBody>
          <a:bodyPr wrap="square" lIns="0" tIns="0" rIns="0" bIns="0" rtlCol="0" anchor="ctr"/>
          <a:lstStyle/>
          <a:p>
            <a:pPr indent="0" marL="0">
              <a:buNone/>
            </a:pPr>
            <a:r>
              <a:rPr lang="en-US" sz="1000" dirty="0">
                <a:solidFill>
                  <a:srgbClr val="6E7796"/>
                </a:solidFill>
                <a:latin typeface="맑은 고딕" pitchFamily="34" charset="0"/>
                <a:ea typeface="맑은 고딕" pitchFamily="34" charset="-122"/>
                <a:cs typeface="맑은 고딕" pitchFamily="34" charset="-120"/>
              </a:rPr>
              <a:t>새로 짓기 전에, 지금 있는 자원으로 도울 방법이 필요합니다.</a:t>
            </a:r>
            <a:endParaRPr lang="en-US" sz="1000" dirty="0"/>
          </a:p>
        </p:txBody>
      </p:sp>
      <p:sp>
        <p:nvSpPr>
          <p:cNvPr id="16" name="Shape 14"/>
          <p:cNvSpPr/>
          <p:nvPr/>
        </p:nvSpPr>
        <p:spPr>
          <a:xfrm>
            <a:off x="566928" y="3840480"/>
            <a:ext cx="11057839" cy="1965960"/>
          </a:xfrm>
          <a:prstGeom prst="roundRect">
            <a:avLst>
              <a:gd name="adj" fmla="val 6512"/>
            </a:avLst>
          </a:prstGeom>
          <a:solidFill>
            <a:srgbClr val="FCF3EA"/>
          </a:solidFill>
          <a:ln w="12700">
            <a:solidFill>
              <a:srgbClr val="F2C99E"/>
            </a:solidFill>
            <a:prstDash val="solid"/>
          </a:ln>
        </p:spPr>
      </p:sp>
      <p:sp>
        <p:nvSpPr>
          <p:cNvPr id="17" name="Text 15"/>
          <p:cNvSpPr/>
          <p:nvPr/>
        </p:nvSpPr>
        <p:spPr>
          <a:xfrm>
            <a:off x="886968" y="4005072"/>
            <a:ext cx="5486400" cy="292608"/>
          </a:xfrm>
          <a:prstGeom prst="rect">
            <a:avLst/>
          </a:prstGeom>
          <a:noFill/>
          <a:ln/>
        </p:spPr>
        <p:txBody>
          <a:bodyPr wrap="square" lIns="0" tIns="0" rIns="0" bIns="0" rtlCol="0" anchor="ctr"/>
          <a:lstStyle/>
          <a:p>
            <a:pPr indent="0" marL="0">
              <a:buNone/>
            </a:pPr>
            <a:r>
              <a:rPr lang="en-US" sz="1300" b="1" dirty="0">
                <a:solidFill>
                  <a:srgbClr val="B3560A"/>
                </a:solidFill>
                <a:latin typeface="맑은 고딕" pitchFamily="34" charset="0"/>
                <a:ea typeface="맑은 고딕" pitchFamily="34" charset="-122"/>
                <a:cs typeface="맑은 고딕" pitchFamily="34" charset="-120"/>
              </a:rPr>
              <a:t>그래서 우리가 데이터로 확인한 것</a:t>
            </a:r>
            <a:endParaRPr lang="en-US" sz="1300" dirty="0"/>
          </a:p>
        </p:txBody>
      </p:sp>
      <p:sp>
        <p:nvSpPr>
          <p:cNvPr id="18" name="Text 16"/>
          <p:cNvSpPr/>
          <p:nvPr/>
        </p:nvSpPr>
        <p:spPr>
          <a:xfrm>
            <a:off x="886968" y="4370832"/>
            <a:ext cx="2560320" cy="457200"/>
          </a:xfrm>
          <a:prstGeom prst="rect">
            <a:avLst/>
          </a:prstGeom>
          <a:noFill/>
          <a:ln/>
        </p:spPr>
        <p:txBody>
          <a:bodyPr wrap="square" lIns="0" tIns="0" rIns="0" bIns="0" rtlCol="0" anchor="ctr"/>
          <a:lstStyle/>
          <a:p>
            <a:pPr indent="0" marL="0">
              <a:buNone/>
            </a:pPr>
            <a:r>
              <a:rPr lang="en-US" sz="2700" b="1" dirty="0">
                <a:solidFill>
                  <a:srgbClr val="E8751A"/>
                </a:solidFill>
                <a:latin typeface="맑은 고딕" pitchFamily="34" charset="0"/>
                <a:ea typeface="맑은 고딕" pitchFamily="34" charset="-122"/>
                <a:cs typeface="맑은 고딕" pitchFamily="34" charset="-120"/>
              </a:rPr>
              <a:t>1,369곳</a:t>
            </a:r>
            <a:endParaRPr lang="en-US" sz="2700" dirty="0"/>
          </a:p>
        </p:txBody>
      </p:sp>
      <p:sp>
        <p:nvSpPr>
          <p:cNvPr id="19" name="Text 17"/>
          <p:cNvSpPr/>
          <p:nvPr/>
        </p:nvSpPr>
        <p:spPr>
          <a:xfrm>
            <a:off x="886968" y="4828032"/>
            <a:ext cx="2560320" cy="256032"/>
          </a:xfrm>
          <a:prstGeom prst="rect">
            <a:avLst/>
          </a:prstGeom>
          <a:noFill/>
          <a:ln/>
        </p:spPr>
        <p:txBody>
          <a:bodyPr wrap="square" lIns="0" tIns="0" rIns="0" bIns="0" rtlCol="0" anchor="ctr"/>
          <a:lstStyle/>
          <a:p>
            <a:pPr indent="0" marL="0">
              <a:buNone/>
            </a:pPr>
            <a:r>
              <a:rPr lang="en-US" sz="1150" b="1" dirty="0">
                <a:solidFill>
                  <a:srgbClr val="141B33"/>
                </a:solidFill>
                <a:latin typeface="맑은 고딕" pitchFamily="34" charset="0"/>
                <a:ea typeface="맑은 고딕" pitchFamily="34" charset="-122"/>
                <a:cs typeface="맑은 고딕" pitchFamily="34" charset="-120"/>
              </a:rPr>
              <a:t>폭염 취약 정류장</a:t>
            </a:r>
            <a:endParaRPr lang="en-US" sz="1150" dirty="0"/>
          </a:p>
        </p:txBody>
      </p:sp>
      <p:sp>
        <p:nvSpPr>
          <p:cNvPr id="20" name="Text 18"/>
          <p:cNvSpPr/>
          <p:nvPr/>
        </p:nvSpPr>
        <p:spPr>
          <a:xfrm>
            <a:off x="886968" y="5102352"/>
            <a:ext cx="2560320" cy="548640"/>
          </a:xfrm>
          <a:prstGeom prst="rect">
            <a:avLst/>
          </a:prstGeom>
          <a:noFill/>
          <a:ln/>
        </p:spPr>
        <p:txBody>
          <a:bodyPr wrap="square" lIns="0" tIns="0" rIns="0" bIns="0" rtlCol="0" anchor="t"/>
          <a:lstStyle/>
          <a:p>
            <a:pPr indent="0" marL="0">
              <a:lnSpc>
                <a:spcPct val="120000"/>
              </a:lnSpc>
              <a:buNone/>
            </a:pPr>
            <a:r>
              <a:rPr lang="en-US" sz="950" dirty="0">
                <a:solidFill>
                  <a:srgbClr val="8A6A4A"/>
                </a:solidFill>
                <a:latin typeface="맑은 고딕" pitchFamily="34" charset="0"/>
                <a:ea typeface="맑은 고딕" pitchFamily="34" charset="-122"/>
                <a:cs typeface="맑은 고딕" pitchFamily="34" charset="-120"/>
              </a:rPr>
              <a:t>그늘 확인 안 됨 AND</a:t>
            </a:r>
            <a:endParaRPr lang="en-US" sz="950" dirty="0"/>
          </a:p>
          <a:p>
            <a:pPr indent="0" marL="0">
              <a:lnSpc>
                <a:spcPct val="120000"/>
              </a:lnSpc>
              <a:buNone/>
            </a:pPr>
            <a:r>
              <a:rPr lang="en-US" sz="950" dirty="0">
                <a:solidFill>
                  <a:srgbClr val="8A6A4A"/>
                </a:solidFill>
                <a:latin typeface="맑은 고딕" pitchFamily="34" charset="0"/>
                <a:ea typeface="맑은 고딕" pitchFamily="34" charset="-122"/>
                <a:cs typeface="맑은 고딕" pitchFamily="34" charset="-120"/>
              </a:rPr>
              <a:t>최근접 쉼터 300m 밖</a:t>
            </a:r>
            <a:endParaRPr lang="en-US" sz="950" dirty="0"/>
          </a:p>
        </p:txBody>
      </p:sp>
      <p:sp>
        <p:nvSpPr>
          <p:cNvPr id="21" name="Text 19"/>
          <p:cNvSpPr/>
          <p:nvPr/>
        </p:nvSpPr>
        <p:spPr>
          <a:xfrm>
            <a:off x="3611880" y="4370832"/>
            <a:ext cx="2560320" cy="457200"/>
          </a:xfrm>
          <a:prstGeom prst="rect">
            <a:avLst/>
          </a:prstGeom>
          <a:noFill/>
          <a:ln/>
        </p:spPr>
        <p:txBody>
          <a:bodyPr wrap="square" lIns="0" tIns="0" rIns="0" bIns="0" rtlCol="0" anchor="ctr"/>
          <a:lstStyle/>
          <a:p>
            <a:pPr indent="0" marL="0">
              <a:buNone/>
            </a:pPr>
            <a:r>
              <a:rPr lang="en-US" sz="2700" b="1" dirty="0">
                <a:solidFill>
                  <a:srgbClr val="E8751A"/>
                </a:solidFill>
                <a:latin typeface="맑은 고딕" pitchFamily="34" charset="0"/>
                <a:ea typeface="맑은 고딕" pitchFamily="34" charset="-122"/>
                <a:cs typeface="맑은 고딕" pitchFamily="34" charset="-120"/>
              </a:rPr>
              <a:t>1,102m</a:t>
            </a:r>
            <a:endParaRPr lang="en-US" sz="2700" dirty="0"/>
          </a:p>
        </p:txBody>
      </p:sp>
      <p:sp>
        <p:nvSpPr>
          <p:cNvPr id="22" name="Text 20"/>
          <p:cNvSpPr/>
          <p:nvPr/>
        </p:nvSpPr>
        <p:spPr>
          <a:xfrm>
            <a:off x="3611880" y="4828032"/>
            <a:ext cx="2560320" cy="256032"/>
          </a:xfrm>
          <a:prstGeom prst="rect">
            <a:avLst/>
          </a:prstGeom>
          <a:noFill/>
          <a:ln/>
        </p:spPr>
        <p:txBody>
          <a:bodyPr wrap="square" lIns="0" tIns="0" rIns="0" bIns="0" rtlCol="0" anchor="ctr"/>
          <a:lstStyle/>
          <a:p>
            <a:pPr indent="0" marL="0">
              <a:buNone/>
            </a:pPr>
            <a:r>
              <a:rPr lang="en-US" sz="1150" b="1" dirty="0">
                <a:solidFill>
                  <a:srgbClr val="141B33"/>
                </a:solidFill>
                <a:latin typeface="맑은 고딕" pitchFamily="34" charset="0"/>
                <a:ea typeface="맑은 고딕" pitchFamily="34" charset="-122"/>
                <a:cs typeface="맑은 고딕" pitchFamily="34" charset="-120"/>
              </a:rPr>
              <a:t>쉼터까지 거리 중앙값</a:t>
            </a:r>
            <a:endParaRPr lang="en-US" sz="1150" dirty="0"/>
          </a:p>
        </p:txBody>
      </p:sp>
      <p:sp>
        <p:nvSpPr>
          <p:cNvPr id="23" name="Text 21"/>
          <p:cNvSpPr/>
          <p:nvPr/>
        </p:nvSpPr>
        <p:spPr>
          <a:xfrm>
            <a:off x="3611880" y="5102352"/>
            <a:ext cx="2560320" cy="548640"/>
          </a:xfrm>
          <a:prstGeom prst="rect">
            <a:avLst/>
          </a:prstGeom>
          <a:noFill/>
          <a:ln/>
        </p:spPr>
        <p:txBody>
          <a:bodyPr wrap="square" lIns="0" tIns="0" rIns="0" bIns="0" rtlCol="0" anchor="t"/>
          <a:lstStyle/>
          <a:p>
            <a:pPr indent="0" marL="0">
              <a:lnSpc>
                <a:spcPct val="120000"/>
              </a:lnSpc>
              <a:buNone/>
            </a:pPr>
            <a:r>
              <a:rPr lang="en-US" sz="950" dirty="0">
                <a:solidFill>
                  <a:srgbClr val="8A6A4A"/>
                </a:solidFill>
                <a:latin typeface="맑은 고딕" pitchFamily="34" charset="0"/>
                <a:ea typeface="맑은 고딕" pitchFamily="34" charset="-122"/>
                <a:cs typeface="맑은 고딕" pitchFamily="34" charset="-120"/>
              </a:rPr>
              <a:t>정류장에 서서 대피할 곳이</a:t>
            </a:r>
            <a:endParaRPr lang="en-US" sz="950" dirty="0"/>
          </a:p>
          <a:p>
            <a:pPr indent="0" marL="0">
              <a:lnSpc>
                <a:spcPct val="120000"/>
              </a:lnSpc>
              <a:buNone/>
            </a:pPr>
            <a:r>
              <a:rPr lang="en-US" sz="950" dirty="0">
                <a:solidFill>
                  <a:srgbClr val="8A6A4A"/>
                </a:solidFill>
                <a:latin typeface="맑은 고딕" pitchFamily="34" charset="0"/>
                <a:ea typeface="맑은 고딕" pitchFamily="34" charset="-122"/>
                <a:cs typeface="맑은 고딕" pitchFamily="34" charset="-120"/>
              </a:rPr>
              <a:t>1km 넘게 떨어져 있습니다</a:t>
            </a:r>
            <a:endParaRPr lang="en-US" sz="950" dirty="0"/>
          </a:p>
        </p:txBody>
      </p:sp>
      <p:sp>
        <p:nvSpPr>
          <p:cNvPr id="24" name="Text 22"/>
          <p:cNvSpPr/>
          <p:nvPr/>
        </p:nvSpPr>
        <p:spPr>
          <a:xfrm>
            <a:off x="6336792" y="4370832"/>
            <a:ext cx="2560320" cy="457200"/>
          </a:xfrm>
          <a:prstGeom prst="rect">
            <a:avLst/>
          </a:prstGeom>
          <a:noFill/>
          <a:ln/>
        </p:spPr>
        <p:txBody>
          <a:bodyPr wrap="square" lIns="0" tIns="0" rIns="0" bIns="0" rtlCol="0" anchor="ctr"/>
          <a:lstStyle/>
          <a:p>
            <a:pPr indent="0" marL="0">
              <a:buNone/>
            </a:pPr>
            <a:r>
              <a:rPr lang="en-US" sz="2700" b="1" dirty="0">
                <a:solidFill>
                  <a:srgbClr val="E8751A"/>
                </a:solidFill>
                <a:latin typeface="맑은 고딕" pitchFamily="34" charset="0"/>
                <a:ea typeface="맑은 고딕" pitchFamily="34" charset="-122"/>
                <a:cs typeface="맑은 고딕" pitchFamily="34" charset="-120"/>
              </a:rPr>
              <a:t>503곳</a:t>
            </a:r>
            <a:endParaRPr lang="en-US" sz="2700" dirty="0"/>
          </a:p>
        </p:txBody>
      </p:sp>
      <p:sp>
        <p:nvSpPr>
          <p:cNvPr id="25" name="Text 23"/>
          <p:cNvSpPr/>
          <p:nvPr/>
        </p:nvSpPr>
        <p:spPr>
          <a:xfrm>
            <a:off x="6336792" y="4828032"/>
            <a:ext cx="2560320" cy="256032"/>
          </a:xfrm>
          <a:prstGeom prst="rect">
            <a:avLst/>
          </a:prstGeom>
          <a:noFill/>
          <a:ln/>
        </p:spPr>
        <p:txBody>
          <a:bodyPr wrap="square" lIns="0" tIns="0" rIns="0" bIns="0" rtlCol="0" anchor="ctr"/>
          <a:lstStyle/>
          <a:p>
            <a:pPr indent="0" marL="0">
              <a:buNone/>
            </a:pPr>
            <a:r>
              <a:rPr lang="en-US" sz="1150" b="1" dirty="0">
                <a:solidFill>
                  <a:srgbClr val="141B33"/>
                </a:solidFill>
                <a:latin typeface="맑은 고딕" pitchFamily="34" charset="0"/>
                <a:ea typeface="맑은 고딕" pitchFamily="34" charset="-122"/>
                <a:cs typeface="맑은 고딕" pitchFamily="34" charset="-120"/>
              </a:rPr>
              <a:t>쉼터 300m 이내는 26.6%</a:t>
            </a:r>
            <a:endParaRPr lang="en-US" sz="1150" dirty="0"/>
          </a:p>
        </p:txBody>
      </p:sp>
      <p:sp>
        <p:nvSpPr>
          <p:cNvPr id="26" name="Text 24"/>
          <p:cNvSpPr/>
          <p:nvPr/>
        </p:nvSpPr>
        <p:spPr>
          <a:xfrm>
            <a:off x="6336792" y="5102352"/>
            <a:ext cx="2560320" cy="548640"/>
          </a:xfrm>
          <a:prstGeom prst="rect">
            <a:avLst/>
          </a:prstGeom>
          <a:noFill/>
          <a:ln/>
        </p:spPr>
        <p:txBody>
          <a:bodyPr wrap="square" lIns="0" tIns="0" rIns="0" bIns="0" rtlCol="0" anchor="t"/>
          <a:lstStyle/>
          <a:p>
            <a:pPr indent="0" marL="0">
              <a:lnSpc>
                <a:spcPct val="120000"/>
              </a:lnSpc>
              <a:buNone/>
            </a:pPr>
            <a:r>
              <a:rPr lang="en-US" sz="950" dirty="0">
                <a:solidFill>
                  <a:srgbClr val="8A6A4A"/>
                </a:solidFill>
                <a:latin typeface="맑은 고딕" pitchFamily="34" charset="0"/>
                <a:ea typeface="맑은 고딕" pitchFamily="34" charset="-122"/>
                <a:cs typeface="맑은 고딕" pitchFamily="34" charset="-120"/>
              </a:rPr>
              <a:t>나머지 1,387곳은</a:t>
            </a:r>
            <a:endParaRPr lang="en-US" sz="950" dirty="0"/>
          </a:p>
          <a:p>
            <a:pPr indent="0" marL="0">
              <a:lnSpc>
                <a:spcPct val="120000"/>
              </a:lnSpc>
              <a:buNone/>
            </a:pPr>
            <a:r>
              <a:rPr lang="en-US" sz="950" dirty="0">
                <a:solidFill>
                  <a:srgbClr val="8A6A4A"/>
                </a:solidFill>
                <a:latin typeface="맑은 고딕" pitchFamily="34" charset="0"/>
                <a:ea typeface="맑은 고딕" pitchFamily="34" charset="-122"/>
                <a:cs typeface="맑은 고딕" pitchFamily="34" charset="-120"/>
              </a:rPr>
              <a:t>걸어서 갈 그늘이 없습니다</a:t>
            </a:r>
            <a:endParaRPr lang="en-US" sz="950" dirty="0"/>
          </a:p>
        </p:txBody>
      </p:sp>
      <p:sp>
        <p:nvSpPr>
          <p:cNvPr id="27" name="Text 25"/>
          <p:cNvSpPr/>
          <p:nvPr/>
        </p:nvSpPr>
        <p:spPr>
          <a:xfrm>
            <a:off x="9061704" y="4370832"/>
            <a:ext cx="2560320" cy="457200"/>
          </a:xfrm>
          <a:prstGeom prst="rect">
            <a:avLst/>
          </a:prstGeom>
          <a:noFill/>
          <a:ln/>
        </p:spPr>
        <p:txBody>
          <a:bodyPr wrap="square" lIns="0" tIns="0" rIns="0" bIns="0" rtlCol="0" anchor="ctr"/>
          <a:lstStyle/>
          <a:p>
            <a:pPr indent="0" marL="0">
              <a:buNone/>
            </a:pPr>
            <a:r>
              <a:rPr lang="en-US" sz="2700" b="1" dirty="0">
                <a:solidFill>
                  <a:srgbClr val="E8751A"/>
                </a:solidFill>
                <a:latin typeface="맑은 고딕" pitchFamily="34" charset="0"/>
                <a:ea typeface="맑은 고딕" pitchFamily="34" charset="-122"/>
                <a:cs typeface="맑은 고딕" pitchFamily="34" charset="-120"/>
              </a:rPr>
              <a:t>45.7%</a:t>
            </a:r>
            <a:endParaRPr lang="en-US" sz="2700" dirty="0"/>
          </a:p>
        </p:txBody>
      </p:sp>
      <p:sp>
        <p:nvSpPr>
          <p:cNvPr id="28" name="Text 26"/>
          <p:cNvSpPr/>
          <p:nvPr/>
        </p:nvSpPr>
        <p:spPr>
          <a:xfrm>
            <a:off x="9061704" y="4828032"/>
            <a:ext cx="2560320" cy="256032"/>
          </a:xfrm>
          <a:prstGeom prst="rect">
            <a:avLst/>
          </a:prstGeom>
          <a:noFill/>
          <a:ln/>
        </p:spPr>
        <p:txBody>
          <a:bodyPr wrap="square" lIns="0" tIns="0" rIns="0" bIns="0" rtlCol="0" anchor="ctr"/>
          <a:lstStyle/>
          <a:p>
            <a:pPr indent="0" marL="0">
              <a:buNone/>
            </a:pPr>
            <a:r>
              <a:rPr lang="en-US" sz="1150" b="1" dirty="0">
                <a:solidFill>
                  <a:srgbClr val="141B33"/>
                </a:solidFill>
                <a:latin typeface="맑은 고딕" pitchFamily="34" charset="0"/>
                <a:ea typeface="맑은 고딕" pitchFamily="34" charset="-122"/>
                <a:cs typeface="맑은 고딕" pitchFamily="34" charset="-120"/>
              </a:rPr>
              <a:t>버스 이용이 몰리는 시간</a:t>
            </a:r>
            <a:endParaRPr lang="en-US" sz="1150" dirty="0"/>
          </a:p>
        </p:txBody>
      </p:sp>
      <p:sp>
        <p:nvSpPr>
          <p:cNvPr id="29" name="Text 27"/>
          <p:cNvSpPr/>
          <p:nvPr/>
        </p:nvSpPr>
        <p:spPr>
          <a:xfrm>
            <a:off x="9061704" y="5102352"/>
            <a:ext cx="2560320" cy="548640"/>
          </a:xfrm>
          <a:prstGeom prst="rect">
            <a:avLst/>
          </a:prstGeom>
          <a:noFill/>
          <a:ln/>
        </p:spPr>
        <p:txBody>
          <a:bodyPr wrap="square" lIns="0" tIns="0" rIns="0" bIns="0" rtlCol="0" anchor="t"/>
          <a:lstStyle/>
          <a:p>
            <a:pPr indent="0" marL="0">
              <a:lnSpc>
                <a:spcPct val="120000"/>
              </a:lnSpc>
              <a:buNone/>
            </a:pPr>
            <a:r>
              <a:rPr lang="en-US" sz="950" dirty="0">
                <a:solidFill>
                  <a:srgbClr val="8A6A4A"/>
                </a:solidFill>
                <a:latin typeface="맑은 고딕" pitchFamily="34" charset="0"/>
                <a:ea typeface="맑은 고딕" pitchFamily="34" charset="-122"/>
                <a:cs typeface="맑은 고딕" pitchFamily="34" charset="-120"/>
              </a:rPr>
              <a:t>낮 12시~오후 6시 —</a:t>
            </a:r>
            <a:endParaRPr lang="en-US" sz="950" dirty="0"/>
          </a:p>
          <a:p>
            <a:pPr indent="0" marL="0">
              <a:lnSpc>
                <a:spcPct val="120000"/>
              </a:lnSpc>
              <a:buNone/>
            </a:pPr>
            <a:r>
              <a:rPr lang="en-US" sz="950" dirty="0">
                <a:solidFill>
                  <a:srgbClr val="8A6A4A"/>
                </a:solidFill>
                <a:latin typeface="맑은 고딕" pitchFamily="34" charset="0"/>
                <a:ea typeface="맑은 고딕" pitchFamily="34" charset="-122"/>
                <a:cs typeface="맑은 고딕" pitchFamily="34" charset="-120"/>
              </a:rPr>
              <a:t>하루 중 가장 더운 때</a:t>
            </a:r>
            <a:endParaRPr lang="en-US" sz="950" dirty="0"/>
          </a:p>
        </p:txBody>
      </p:sp>
      <p:sp>
        <p:nvSpPr>
          <p:cNvPr id="30" name="Text 28"/>
          <p:cNvSpPr/>
          <p:nvPr/>
        </p:nvSpPr>
        <p:spPr>
          <a:xfrm>
            <a:off x="566928" y="5961888"/>
            <a:ext cx="11057839" cy="310896"/>
          </a:xfrm>
          <a:prstGeom prst="rect">
            <a:avLst/>
          </a:prstGeom>
          <a:noFill/>
          <a:ln/>
        </p:spPr>
        <p:txBody>
          <a:bodyPr wrap="square" lIns="0" tIns="0" rIns="0" bIns="0" rtlCol="0" anchor="ctr"/>
          <a:lstStyle/>
          <a:p>
            <a:pPr indent="0" marL="0">
              <a:buNone/>
            </a:pPr>
            <a:r>
              <a:rPr lang="en-US" sz="850" dirty="0">
                <a:solidFill>
                  <a:srgbClr val="6E7796"/>
                </a:solidFill>
                <a:latin typeface="맑은 고딕" pitchFamily="34" charset="0"/>
                <a:ea typeface="맑은 고딕" pitchFamily="34" charset="-122"/>
                <a:cs typeface="맑은 고딕" pitchFamily="34" charset="-120"/>
              </a:rPr>
              <a:t>출처 : 강원일보 2026-02-05 「도내 버스정류장 표지판이 '대부분'…편의시설 확충 과제」 · 하단 4개 수치는 본 서비스가 춘천시 공공데이터로 직접 산출</a:t>
            </a:r>
            <a:endParaRPr lang="en-US" sz="850" dirty="0"/>
          </a:p>
        </p:txBody>
      </p:sp>
      <p:sp>
        <p:nvSpPr>
          <p:cNvPr id="31" name="Text 29"/>
          <p:cNvSpPr/>
          <p:nvPr/>
        </p:nvSpPr>
        <p:spPr>
          <a:xfrm>
            <a:off x="566928" y="6327648"/>
            <a:ext cx="4572000" cy="274320"/>
          </a:xfrm>
          <a:prstGeom prst="rect">
            <a:avLst/>
          </a:prstGeom>
          <a:noFill/>
          <a:ln/>
        </p:spPr>
        <p:txBody>
          <a:bodyPr wrap="square" lIns="0" tIns="0" rIns="0" bIns="0" rtlCol="0" anchor="ctr"/>
          <a:lstStyle/>
          <a:p>
            <a:pPr algn="l" indent="0" marL="0">
              <a:buNone/>
            </a:pPr>
            <a:r>
              <a:rPr lang="en-US" sz="900" dirty="0">
                <a:solidFill>
                  <a:srgbClr val="6E7796"/>
                </a:solidFill>
                <a:latin typeface="맑은 고딕" pitchFamily="34" charset="0"/>
                <a:ea typeface="맑은 고딕" pitchFamily="34" charset="-122"/>
                <a:cs typeface="맑은 고딕" pitchFamily="34" charset="-120"/>
              </a:rPr>
              <a:t>쉼표정류장  ·  팀 오댕국</a:t>
            </a:r>
            <a:endParaRPr lang="en-US" sz="900" dirty="0"/>
          </a:p>
        </p:txBody>
      </p:sp>
      <p:sp>
        <p:nvSpPr>
          <p:cNvPr id="32" name="Text 30"/>
          <p:cNvSpPr/>
          <p:nvPr/>
        </p:nvSpPr>
        <p:spPr>
          <a:xfrm>
            <a:off x="10710367" y="6327648"/>
            <a:ext cx="914400" cy="274320"/>
          </a:xfrm>
          <a:prstGeom prst="rect">
            <a:avLst/>
          </a:prstGeom>
          <a:noFill/>
          <a:ln/>
        </p:spPr>
        <p:txBody>
          <a:bodyPr wrap="square" lIns="0" tIns="0" rIns="0" bIns="0" rtlCol="0" anchor="ctr"/>
          <a:lstStyle/>
          <a:p>
            <a:pPr algn="r" indent="0" marL="0">
              <a:buNone/>
            </a:pPr>
            <a:r>
              <a:rPr lang="en-US" sz="900" dirty="0">
                <a:solidFill>
                  <a:srgbClr val="6E7796"/>
                </a:solidFill>
                <a:latin typeface="맑은 고딕" pitchFamily="34" charset="0"/>
                <a:ea typeface="맑은 고딕" pitchFamily="34" charset="-122"/>
                <a:cs typeface="맑은 고딕"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11057839" cy="274320"/>
          </a:xfrm>
          <a:prstGeom prst="rect">
            <a:avLst/>
          </a:prstGeom>
          <a:noFill/>
          <a:ln/>
        </p:spPr>
        <p:txBody>
          <a:bodyPr wrap="square" lIns="0" tIns="0" rIns="0" bIns="0" rtlCol="0" anchor="ctr"/>
          <a:lstStyle/>
          <a:p>
            <a:pPr indent="0" marL="0">
              <a:buNone/>
            </a:pPr>
            <a:r>
              <a:rPr lang="en-US" sz="1100" b="1" dirty="0">
                <a:solidFill>
                  <a:srgbClr val="E8751A"/>
                </a:solidFill>
                <a:latin typeface="맑은 고딕" pitchFamily="34" charset="0"/>
                <a:ea typeface="맑은 고딕" pitchFamily="34" charset="-122"/>
                <a:cs typeface="맑은 고딕" pitchFamily="34" charset="-120"/>
              </a:rPr>
              <a:t>01</a:t>
            </a:r>
            <a:pPr indent="0" marL="0">
              <a:buNone/>
            </a:pPr>
            <a:r>
              <a:rPr lang="en-US" sz="1100" b="1" dirty="0">
                <a:solidFill>
                  <a:srgbClr val="6E7796"/>
                </a:solidFill>
                <a:latin typeface="맑은 고딕" pitchFamily="34" charset="0"/>
                <a:ea typeface="맑은 고딕" pitchFamily="34" charset="-122"/>
                <a:cs typeface="맑은 고딕" pitchFamily="34" charset="-120"/>
              </a:rPr>
              <a:t>   문제 정의 및 해결방안 제시</a:t>
            </a:r>
            <a:endParaRPr lang="en-US" sz="1100" dirty="0"/>
          </a:p>
        </p:txBody>
      </p:sp>
      <p:sp>
        <p:nvSpPr>
          <p:cNvPr id="3" name="Text 1"/>
          <p:cNvSpPr/>
          <p:nvPr/>
        </p:nvSpPr>
        <p:spPr>
          <a:xfrm>
            <a:off x="566928" y="749808"/>
            <a:ext cx="11057839" cy="566928"/>
          </a:xfrm>
          <a:prstGeom prst="rect">
            <a:avLst/>
          </a:prstGeom>
          <a:noFill/>
          <a:ln/>
        </p:spPr>
        <p:txBody>
          <a:bodyPr wrap="square" lIns="0" tIns="0" rIns="0" bIns="0" rtlCol="0" anchor="ctr"/>
          <a:lstStyle/>
          <a:p>
            <a:pPr indent="0" marL="0">
              <a:buNone/>
            </a:pPr>
            <a:r>
              <a:rPr lang="en-US" sz="2700" b="1" dirty="0">
                <a:solidFill>
                  <a:srgbClr val="141B33"/>
                </a:solidFill>
                <a:latin typeface="맑은 고딕" pitchFamily="34" charset="0"/>
                <a:ea typeface="맑은 고딕" pitchFamily="34" charset="-122"/>
                <a:cs typeface="맑은 고딕" pitchFamily="34" charset="-120"/>
              </a:rPr>
              <a:t>해법 : 가는 길을 안내하면서, 그 길 위의 그늘을 같이 알려드립니다</a:t>
            </a:r>
            <a:endParaRPr lang="en-US" sz="2700" dirty="0"/>
          </a:p>
        </p:txBody>
      </p:sp>
      <p:sp>
        <p:nvSpPr>
          <p:cNvPr id="4" name="Text 2"/>
          <p:cNvSpPr/>
          <p:nvPr/>
        </p:nvSpPr>
        <p:spPr>
          <a:xfrm>
            <a:off x="566928" y="1335024"/>
            <a:ext cx="11057839" cy="310896"/>
          </a:xfrm>
          <a:prstGeom prst="rect">
            <a:avLst/>
          </a:prstGeom>
          <a:noFill/>
          <a:ln/>
        </p:spPr>
        <p:txBody>
          <a:bodyPr wrap="square" lIns="0" tIns="0" rIns="0" bIns="0" rtlCol="0" anchor="ctr"/>
          <a:lstStyle/>
          <a:p>
            <a:pPr indent="0" marL="0">
              <a:buNone/>
            </a:pPr>
            <a:r>
              <a:rPr lang="en-US" sz="1300" dirty="0">
                <a:solidFill>
                  <a:srgbClr val="6E7796"/>
                </a:solidFill>
                <a:latin typeface="맑은 고딕" pitchFamily="34" charset="0"/>
                <a:ea typeface="맑은 고딕" pitchFamily="34" charset="-122"/>
                <a:cs typeface="맑은 고딕" pitchFamily="34" charset="-120"/>
              </a:rPr>
              <a:t>화면을 세 개로 줄였습니다 — 어르신이 헤맬 곳이 없도록</a:t>
            </a:r>
            <a:endParaRPr lang="en-US" sz="1300" dirty="0"/>
          </a:p>
        </p:txBody>
      </p:sp>
      <p:sp>
        <p:nvSpPr>
          <p:cNvPr id="5" name="Shape 3"/>
          <p:cNvSpPr/>
          <p:nvPr/>
        </p:nvSpPr>
        <p:spPr>
          <a:xfrm>
            <a:off x="566928" y="1828800"/>
            <a:ext cx="3566160" cy="3886200"/>
          </a:xfrm>
          <a:prstGeom prst="roundRect">
            <a:avLst>
              <a:gd name="adj" fmla="val 3590"/>
            </a:avLst>
          </a:prstGeom>
          <a:solidFill>
            <a:srgbClr val="FFFFFF"/>
          </a:solidFill>
          <a:ln w="12700">
            <a:solidFill>
              <a:srgbClr val="D4DAEE"/>
            </a:solidFill>
            <a:prstDash val="solid"/>
          </a:ln>
          <a:effectLst>
            <a:outerShdw sx="100000" sy="100000" kx="0" ky="0" algn="bl" rotWithShape="0" blurRad="101600" dist="25400" dir="5400000">
              <a:srgbClr val="001871">
                <a:alpha val="7000"/>
              </a:srgbClr>
            </a:outerShdw>
          </a:effectLst>
        </p:spPr>
      </p:sp>
      <p:sp>
        <p:nvSpPr>
          <p:cNvPr id="6" name="Shape 4"/>
          <p:cNvSpPr/>
          <p:nvPr/>
        </p:nvSpPr>
        <p:spPr>
          <a:xfrm>
            <a:off x="841248" y="2084832"/>
            <a:ext cx="1051560" cy="384048"/>
          </a:xfrm>
          <a:prstGeom prst="roundRect">
            <a:avLst>
              <a:gd name="adj" fmla="val 23810"/>
            </a:avLst>
          </a:prstGeom>
          <a:solidFill>
            <a:srgbClr val="001871"/>
          </a:solidFill>
          <a:ln w="12700">
            <a:solidFill>
              <a:srgbClr val="001871"/>
            </a:solidFill>
            <a:prstDash val="solid"/>
          </a:ln>
        </p:spPr>
      </p:sp>
      <p:sp>
        <p:nvSpPr>
          <p:cNvPr id="7" name="Text 5"/>
          <p:cNvSpPr/>
          <p:nvPr/>
        </p:nvSpPr>
        <p:spPr>
          <a:xfrm>
            <a:off x="841248" y="2084832"/>
            <a:ext cx="105156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길찾기</a:t>
            </a:r>
            <a:endParaRPr lang="en-US" sz="1200" dirty="0"/>
          </a:p>
        </p:txBody>
      </p:sp>
      <p:sp>
        <p:nvSpPr>
          <p:cNvPr id="8" name="Text 6"/>
          <p:cNvSpPr/>
          <p:nvPr/>
        </p:nvSpPr>
        <p:spPr>
          <a:xfrm>
            <a:off x="3355848" y="2048256"/>
            <a:ext cx="502920" cy="457200"/>
          </a:xfrm>
          <a:prstGeom prst="rect">
            <a:avLst/>
          </a:prstGeom>
          <a:noFill/>
          <a:ln/>
        </p:spPr>
        <p:txBody>
          <a:bodyPr wrap="square" lIns="0" tIns="0" rIns="0" bIns="0" rtlCol="0" anchor="ctr"/>
          <a:lstStyle/>
          <a:p>
            <a:pPr algn="r" indent="0" marL="0">
              <a:buNone/>
            </a:pPr>
            <a:r>
              <a:rPr lang="en-US" sz="2600" b="1" dirty="0">
                <a:solidFill>
                  <a:srgbClr val="E7EBF8"/>
                </a:solidFill>
                <a:latin typeface="맑은 고딕" pitchFamily="34" charset="0"/>
                <a:ea typeface="맑은 고딕" pitchFamily="34" charset="-122"/>
                <a:cs typeface="맑은 고딕" pitchFamily="34" charset="-120"/>
              </a:rPr>
              <a:t>1</a:t>
            </a:r>
            <a:endParaRPr lang="en-US" sz="2600" dirty="0"/>
          </a:p>
        </p:txBody>
      </p:sp>
      <p:sp>
        <p:nvSpPr>
          <p:cNvPr id="9" name="Text 7"/>
          <p:cNvSpPr/>
          <p:nvPr/>
        </p:nvSpPr>
        <p:spPr>
          <a:xfrm>
            <a:off x="841248" y="2615184"/>
            <a:ext cx="3017520" cy="548640"/>
          </a:xfrm>
          <a:prstGeom prst="rect">
            <a:avLst/>
          </a:prstGeom>
          <a:noFill/>
          <a:ln/>
        </p:spPr>
        <p:txBody>
          <a:bodyPr wrap="square" lIns="0" tIns="0" rIns="0" bIns="0" rtlCol="0" anchor="t"/>
          <a:lstStyle/>
          <a:p>
            <a:pPr indent="0" marL="0">
              <a:buNone/>
            </a:pPr>
            <a:r>
              <a:rPr lang="en-US" sz="1600" b="1" dirty="0">
                <a:solidFill>
                  <a:srgbClr val="141B33"/>
                </a:solidFill>
                <a:latin typeface="맑은 고딕" pitchFamily="34" charset="0"/>
                <a:ea typeface="맑은 고딕" pitchFamily="34" charset="-122"/>
                <a:cs typeface="맑은 고딕" pitchFamily="34" charset="-120"/>
              </a:rPr>
              <a:t>어디로 가시나요?</a:t>
            </a:r>
            <a:endParaRPr lang="en-US" sz="1600" dirty="0"/>
          </a:p>
        </p:txBody>
      </p:sp>
      <p:sp>
        <p:nvSpPr>
          <p:cNvPr id="10" name="Text 8"/>
          <p:cNvSpPr/>
          <p:nvPr/>
        </p:nvSpPr>
        <p:spPr>
          <a:xfrm>
            <a:off x="841248" y="3246120"/>
            <a:ext cx="3017520" cy="566928"/>
          </a:xfrm>
          <a:prstGeom prst="rect">
            <a:avLst/>
          </a:prstGeom>
          <a:noFill/>
          <a:ln/>
        </p:spPr>
        <p:txBody>
          <a:bodyPr wrap="square" lIns="0" tIns="0" rIns="0" bIns="0" rtlCol="0" anchor="t"/>
          <a:lstStyle/>
          <a:p>
            <a:pPr indent="0" marL="0">
              <a:lnSpc>
                <a:spcPct val="125000"/>
              </a:lnSpc>
              <a:buNone/>
            </a:pPr>
            <a:r>
              <a:rPr lang="en-US" sz="1050" b="1" dirty="0">
                <a:solidFill>
                  <a:srgbClr val="E8751A"/>
                </a:solidFill>
                <a:latin typeface="맑은 고딕" pitchFamily="34" charset="0"/>
                <a:ea typeface="맑은 고딕" pitchFamily="34" charset="-122"/>
                <a:cs typeface="맑은 고딕" pitchFamily="34" charset="-120"/>
              </a:rPr>
              <a:t>·  </a:t>
            </a:r>
            <a:pPr indent="0" marL="0">
              <a:lnSpc>
                <a:spcPct val="125000"/>
              </a:lnSpc>
              <a:buNone/>
            </a:pPr>
            <a:r>
              <a:rPr lang="en-US" sz="1050" dirty="0">
                <a:solidFill>
                  <a:srgbClr val="3A4160"/>
                </a:solidFill>
                <a:latin typeface="맑은 고딕" pitchFamily="34" charset="0"/>
                <a:ea typeface="맑은 고딕" pitchFamily="34" charset="-122"/>
                <a:cs typeface="맑은 고딕" pitchFamily="34" charset="-120"/>
              </a:rPr>
              <a:t>출발·도착만 고르면 탈 버스와 내릴 곳을 정해 드립니다</a:t>
            </a:r>
            <a:endParaRPr lang="en-US" sz="1050" dirty="0"/>
          </a:p>
        </p:txBody>
      </p:sp>
      <p:sp>
        <p:nvSpPr>
          <p:cNvPr id="11" name="Text 9"/>
          <p:cNvSpPr/>
          <p:nvPr/>
        </p:nvSpPr>
        <p:spPr>
          <a:xfrm>
            <a:off x="841248" y="3849624"/>
            <a:ext cx="3017520" cy="566928"/>
          </a:xfrm>
          <a:prstGeom prst="rect">
            <a:avLst/>
          </a:prstGeom>
          <a:noFill/>
          <a:ln/>
        </p:spPr>
        <p:txBody>
          <a:bodyPr wrap="square" lIns="0" tIns="0" rIns="0" bIns="0" rtlCol="0" anchor="t"/>
          <a:lstStyle/>
          <a:p>
            <a:pPr indent="0" marL="0">
              <a:lnSpc>
                <a:spcPct val="125000"/>
              </a:lnSpc>
              <a:buNone/>
            </a:pPr>
            <a:r>
              <a:rPr lang="en-US" sz="1050" b="1" dirty="0">
                <a:solidFill>
                  <a:srgbClr val="E8751A"/>
                </a:solidFill>
                <a:latin typeface="맑은 고딕" pitchFamily="34" charset="0"/>
                <a:ea typeface="맑은 고딕" pitchFamily="34" charset="-122"/>
                <a:cs typeface="맑은 고딕" pitchFamily="34" charset="-120"/>
              </a:rPr>
              <a:t>·  </a:t>
            </a:r>
            <a:pPr indent="0" marL="0">
              <a:lnSpc>
                <a:spcPct val="125000"/>
              </a:lnSpc>
              <a:buNone/>
            </a:pPr>
            <a:r>
              <a:rPr lang="en-US" sz="1050" dirty="0">
                <a:solidFill>
                  <a:srgbClr val="3A4160"/>
                </a:solidFill>
                <a:latin typeface="맑은 고딕" pitchFamily="34" charset="0"/>
                <a:ea typeface="맑은 고딕" pitchFamily="34" charset="-122"/>
                <a:cs typeface="맑은 고딕" pitchFamily="34" charset="-120"/>
              </a:rPr>
              <a:t>출발지는 GPS 주소가 자동으로 채워집니다</a:t>
            </a:r>
            <a:endParaRPr lang="en-US" sz="1050" dirty="0"/>
          </a:p>
        </p:txBody>
      </p:sp>
      <p:sp>
        <p:nvSpPr>
          <p:cNvPr id="12" name="Text 10"/>
          <p:cNvSpPr/>
          <p:nvPr/>
        </p:nvSpPr>
        <p:spPr>
          <a:xfrm>
            <a:off x="841248" y="4453128"/>
            <a:ext cx="3017520" cy="566928"/>
          </a:xfrm>
          <a:prstGeom prst="rect">
            <a:avLst/>
          </a:prstGeom>
          <a:noFill/>
          <a:ln/>
        </p:spPr>
        <p:txBody>
          <a:bodyPr wrap="square" lIns="0" tIns="0" rIns="0" bIns="0" rtlCol="0" anchor="t"/>
          <a:lstStyle/>
          <a:p>
            <a:pPr indent="0" marL="0">
              <a:lnSpc>
                <a:spcPct val="125000"/>
              </a:lnSpc>
              <a:buNone/>
            </a:pPr>
            <a:r>
              <a:rPr lang="en-US" sz="1050" b="1" dirty="0">
                <a:solidFill>
                  <a:srgbClr val="E8751A"/>
                </a:solidFill>
                <a:latin typeface="맑은 고딕" pitchFamily="34" charset="0"/>
                <a:ea typeface="맑은 고딕" pitchFamily="34" charset="-122"/>
                <a:cs typeface="맑은 고딕" pitchFamily="34" charset="-120"/>
              </a:rPr>
              <a:t>·  </a:t>
            </a:r>
            <a:pPr indent="0" marL="0">
              <a:lnSpc>
                <a:spcPct val="125000"/>
              </a:lnSpc>
              <a:buNone/>
            </a:pPr>
            <a:r>
              <a:rPr lang="en-US" sz="1050" dirty="0">
                <a:solidFill>
                  <a:srgbClr val="3A4160"/>
                </a:solidFill>
                <a:latin typeface="맑은 고딕" pitchFamily="34" charset="0"/>
                <a:ea typeface="맑은 고딕" pitchFamily="34" charset="-122"/>
                <a:cs typeface="맑은 고딕" pitchFamily="34" charset="-120"/>
              </a:rPr>
              <a:t>말로도 찾을 수 있습니다 — [음성으로 찾기]</a:t>
            </a:r>
            <a:endParaRPr lang="en-US" sz="1050" dirty="0"/>
          </a:p>
        </p:txBody>
      </p:sp>
      <p:sp>
        <p:nvSpPr>
          <p:cNvPr id="13" name="Text 11"/>
          <p:cNvSpPr/>
          <p:nvPr/>
        </p:nvSpPr>
        <p:spPr>
          <a:xfrm>
            <a:off x="841248" y="5056632"/>
            <a:ext cx="3017520" cy="566928"/>
          </a:xfrm>
          <a:prstGeom prst="rect">
            <a:avLst/>
          </a:prstGeom>
          <a:noFill/>
          <a:ln/>
        </p:spPr>
        <p:txBody>
          <a:bodyPr wrap="square" lIns="0" tIns="0" rIns="0" bIns="0" rtlCol="0" anchor="t"/>
          <a:lstStyle/>
          <a:p>
            <a:pPr indent="0" marL="0">
              <a:lnSpc>
                <a:spcPct val="125000"/>
              </a:lnSpc>
              <a:buNone/>
            </a:pPr>
            <a:r>
              <a:rPr lang="en-US" sz="1050" b="1" dirty="0">
                <a:solidFill>
                  <a:srgbClr val="E8751A"/>
                </a:solidFill>
                <a:latin typeface="맑은 고딕" pitchFamily="34" charset="0"/>
                <a:ea typeface="맑은 고딕" pitchFamily="34" charset="-122"/>
                <a:cs typeface="맑은 고딕" pitchFamily="34" charset="-120"/>
              </a:rPr>
              <a:t>·  </a:t>
            </a:r>
            <a:pPr indent="0" marL="0">
              <a:lnSpc>
                <a:spcPct val="125000"/>
              </a:lnSpc>
              <a:buNone/>
            </a:pPr>
            <a:r>
              <a:rPr lang="en-US" sz="1050" dirty="0">
                <a:solidFill>
                  <a:srgbClr val="3A4160"/>
                </a:solidFill>
                <a:latin typeface="맑은 고딕" pitchFamily="34" charset="0"/>
                <a:ea typeface="맑은 고딕" pitchFamily="34" charset="-122"/>
                <a:cs typeface="맑은 고딕" pitchFamily="34" charset="-120"/>
              </a:rPr>
              <a:t>타고 가는 동안 지금 어디쯤인지 화면이 따라옵니다</a:t>
            </a:r>
            <a:endParaRPr lang="en-US" sz="1050" dirty="0"/>
          </a:p>
        </p:txBody>
      </p:sp>
      <p:sp>
        <p:nvSpPr>
          <p:cNvPr id="14" name="Shape 12"/>
          <p:cNvSpPr/>
          <p:nvPr/>
        </p:nvSpPr>
        <p:spPr>
          <a:xfrm>
            <a:off x="4370832" y="1828800"/>
            <a:ext cx="3566160" cy="3886200"/>
          </a:xfrm>
          <a:prstGeom prst="roundRect">
            <a:avLst>
              <a:gd name="adj" fmla="val 3590"/>
            </a:avLst>
          </a:prstGeom>
          <a:solidFill>
            <a:srgbClr val="FFFFFF"/>
          </a:solidFill>
          <a:ln w="12700">
            <a:solidFill>
              <a:srgbClr val="D4DAEE"/>
            </a:solidFill>
            <a:prstDash val="solid"/>
          </a:ln>
          <a:effectLst>
            <a:outerShdw sx="100000" sy="100000" kx="0" ky="0" algn="bl" rotWithShape="0" blurRad="101600" dist="25400" dir="5400000">
              <a:srgbClr val="001871">
                <a:alpha val="7000"/>
              </a:srgbClr>
            </a:outerShdw>
          </a:effectLst>
        </p:spPr>
      </p:sp>
      <p:sp>
        <p:nvSpPr>
          <p:cNvPr id="15" name="Shape 13"/>
          <p:cNvSpPr/>
          <p:nvPr/>
        </p:nvSpPr>
        <p:spPr>
          <a:xfrm>
            <a:off x="4645152" y="2084832"/>
            <a:ext cx="1051560" cy="384048"/>
          </a:xfrm>
          <a:prstGeom prst="roundRect">
            <a:avLst>
              <a:gd name="adj" fmla="val 23810"/>
            </a:avLst>
          </a:prstGeom>
          <a:solidFill>
            <a:srgbClr val="2B7A3E"/>
          </a:solidFill>
          <a:ln w="12700">
            <a:solidFill>
              <a:srgbClr val="2B7A3E"/>
            </a:solidFill>
            <a:prstDash val="solid"/>
          </a:ln>
        </p:spPr>
      </p:sp>
      <p:sp>
        <p:nvSpPr>
          <p:cNvPr id="16" name="Text 14"/>
          <p:cNvSpPr/>
          <p:nvPr/>
        </p:nvSpPr>
        <p:spPr>
          <a:xfrm>
            <a:off x="4645152" y="2084832"/>
            <a:ext cx="105156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쉼터</a:t>
            </a:r>
            <a:endParaRPr lang="en-US" sz="1200" dirty="0"/>
          </a:p>
        </p:txBody>
      </p:sp>
      <p:sp>
        <p:nvSpPr>
          <p:cNvPr id="17" name="Text 15"/>
          <p:cNvSpPr/>
          <p:nvPr/>
        </p:nvSpPr>
        <p:spPr>
          <a:xfrm>
            <a:off x="7159752" y="2048256"/>
            <a:ext cx="502920" cy="457200"/>
          </a:xfrm>
          <a:prstGeom prst="rect">
            <a:avLst/>
          </a:prstGeom>
          <a:noFill/>
          <a:ln/>
        </p:spPr>
        <p:txBody>
          <a:bodyPr wrap="square" lIns="0" tIns="0" rIns="0" bIns="0" rtlCol="0" anchor="ctr"/>
          <a:lstStyle/>
          <a:p>
            <a:pPr algn="r" indent="0" marL="0">
              <a:buNone/>
            </a:pPr>
            <a:r>
              <a:rPr lang="en-US" sz="2600" b="1" dirty="0">
                <a:solidFill>
                  <a:srgbClr val="E7EBF8"/>
                </a:solidFill>
                <a:latin typeface="맑은 고딕" pitchFamily="34" charset="0"/>
                <a:ea typeface="맑은 고딕" pitchFamily="34" charset="-122"/>
                <a:cs typeface="맑은 고딕" pitchFamily="34" charset="-120"/>
              </a:rPr>
              <a:t>2</a:t>
            </a:r>
            <a:endParaRPr lang="en-US" sz="2600" dirty="0"/>
          </a:p>
        </p:txBody>
      </p:sp>
      <p:sp>
        <p:nvSpPr>
          <p:cNvPr id="18" name="Text 16"/>
          <p:cNvSpPr/>
          <p:nvPr/>
        </p:nvSpPr>
        <p:spPr>
          <a:xfrm>
            <a:off x="4645152" y="2615184"/>
            <a:ext cx="3017520" cy="548640"/>
          </a:xfrm>
          <a:prstGeom prst="rect">
            <a:avLst/>
          </a:prstGeom>
          <a:noFill/>
          <a:ln/>
        </p:spPr>
        <p:txBody>
          <a:bodyPr wrap="square" lIns="0" tIns="0" rIns="0" bIns="0" rtlCol="0" anchor="t"/>
          <a:lstStyle/>
          <a:p>
            <a:pPr indent="0" marL="0">
              <a:buNone/>
            </a:pPr>
            <a:r>
              <a:rPr lang="en-US" sz="1600" b="1" dirty="0">
                <a:solidFill>
                  <a:srgbClr val="141B33"/>
                </a:solidFill>
                <a:latin typeface="맑은 고딕" pitchFamily="34" charset="0"/>
                <a:ea typeface="맑은 고딕" pitchFamily="34" charset="-122"/>
                <a:cs typeface="맑은 고딕" pitchFamily="34" charset="-120"/>
              </a:rPr>
              <a:t>가까운 무더위쉼터</a:t>
            </a:r>
            <a:endParaRPr lang="en-US" sz="1600" dirty="0"/>
          </a:p>
        </p:txBody>
      </p:sp>
      <p:sp>
        <p:nvSpPr>
          <p:cNvPr id="19" name="Text 17"/>
          <p:cNvSpPr/>
          <p:nvPr/>
        </p:nvSpPr>
        <p:spPr>
          <a:xfrm>
            <a:off x="4645152" y="3246120"/>
            <a:ext cx="3017520" cy="566928"/>
          </a:xfrm>
          <a:prstGeom prst="rect">
            <a:avLst/>
          </a:prstGeom>
          <a:noFill/>
          <a:ln/>
        </p:spPr>
        <p:txBody>
          <a:bodyPr wrap="square" lIns="0" tIns="0" rIns="0" bIns="0" rtlCol="0" anchor="t"/>
          <a:lstStyle/>
          <a:p>
            <a:pPr indent="0" marL="0">
              <a:lnSpc>
                <a:spcPct val="125000"/>
              </a:lnSpc>
              <a:buNone/>
            </a:pPr>
            <a:r>
              <a:rPr lang="en-US" sz="1050" b="1" dirty="0">
                <a:solidFill>
                  <a:srgbClr val="E8751A"/>
                </a:solidFill>
                <a:latin typeface="맑은 고딕" pitchFamily="34" charset="0"/>
                <a:ea typeface="맑은 고딕" pitchFamily="34" charset="-122"/>
                <a:cs typeface="맑은 고딕" pitchFamily="34" charset="-120"/>
              </a:rPr>
              <a:t>·  </a:t>
            </a:r>
            <a:pPr indent="0" marL="0">
              <a:lnSpc>
                <a:spcPct val="125000"/>
              </a:lnSpc>
              <a:buNone/>
            </a:pPr>
            <a:r>
              <a:rPr lang="en-US" sz="1050" dirty="0">
                <a:solidFill>
                  <a:srgbClr val="3A4160"/>
                </a:solidFill>
                <a:latin typeface="맑은 고딕" pitchFamily="34" charset="0"/>
                <a:ea typeface="맑은 고딕" pitchFamily="34" charset="-122"/>
                <a:cs typeface="맑은 고딕" pitchFamily="34" charset="-120"/>
              </a:rPr>
              <a:t>춘천의 무더위쉼터 226곳을 지도에 초록 핀으로</a:t>
            </a:r>
            <a:endParaRPr lang="en-US" sz="1050" dirty="0"/>
          </a:p>
        </p:txBody>
      </p:sp>
      <p:sp>
        <p:nvSpPr>
          <p:cNvPr id="20" name="Text 18"/>
          <p:cNvSpPr/>
          <p:nvPr/>
        </p:nvSpPr>
        <p:spPr>
          <a:xfrm>
            <a:off x="4645152" y="3849624"/>
            <a:ext cx="3017520" cy="566928"/>
          </a:xfrm>
          <a:prstGeom prst="rect">
            <a:avLst/>
          </a:prstGeom>
          <a:noFill/>
          <a:ln/>
        </p:spPr>
        <p:txBody>
          <a:bodyPr wrap="square" lIns="0" tIns="0" rIns="0" bIns="0" rtlCol="0" anchor="t"/>
          <a:lstStyle/>
          <a:p>
            <a:pPr indent="0" marL="0">
              <a:lnSpc>
                <a:spcPct val="125000"/>
              </a:lnSpc>
              <a:buNone/>
            </a:pPr>
            <a:r>
              <a:rPr lang="en-US" sz="1050" b="1" dirty="0">
                <a:solidFill>
                  <a:srgbClr val="E8751A"/>
                </a:solidFill>
                <a:latin typeface="맑은 고딕" pitchFamily="34" charset="0"/>
                <a:ea typeface="맑은 고딕" pitchFamily="34" charset="-122"/>
                <a:cs typeface="맑은 고딕" pitchFamily="34" charset="-120"/>
              </a:rPr>
              <a:t>·  </a:t>
            </a:r>
            <a:pPr indent="0" marL="0">
              <a:lnSpc>
                <a:spcPct val="125000"/>
              </a:lnSpc>
              <a:buNone/>
            </a:pPr>
            <a:r>
              <a:rPr lang="en-US" sz="1050" dirty="0">
                <a:solidFill>
                  <a:srgbClr val="3A4160"/>
                </a:solidFill>
                <a:latin typeface="맑은 고딕" pitchFamily="34" charset="0"/>
                <a:ea typeface="맑은 고딕" pitchFamily="34" charset="-122"/>
                <a:cs typeface="맑은 고딕" pitchFamily="34" charset="-120"/>
              </a:rPr>
              <a:t>지금 문을 열었는지 운영요일·시간으로 판정합니다</a:t>
            </a:r>
            <a:endParaRPr lang="en-US" sz="1050" dirty="0"/>
          </a:p>
        </p:txBody>
      </p:sp>
      <p:sp>
        <p:nvSpPr>
          <p:cNvPr id="21" name="Text 19"/>
          <p:cNvSpPr/>
          <p:nvPr/>
        </p:nvSpPr>
        <p:spPr>
          <a:xfrm>
            <a:off x="4645152" y="4453128"/>
            <a:ext cx="3017520" cy="566928"/>
          </a:xfrm>
          <a:prstGeom prst="rect">
            <a:avLst/>
          </a:prstGeom>
          <a:noFill/>
          <a:ln/>
        </p:spPr>
        <p:txBody>
          <a:bodyPr wrap="square" lIns="0" tIns="0" rIns="0" bIns="0" rtlCol="0" anchor="t"/>
          <a:lstStyle/>
          <a:p>
            <a:pPr indent="0" marL="0">
              <a:lnSpc>
                <a:spcPct val="125000"/>
              </a:lnSpc>
              <a:buNone/>
            </a:pPr>
            <a:r>
              <a:rPr lang="en-US" sz="1050" b="1" dirty="0">
                <a:solidFill>
                  <a:srgbClr val="E8751A"/>
                </a:solidFill>
                <a:latin typeface="맑은 고딕" pitchFamily="34" charset="0"/>
                <a:ea typeface="맑은 고딕" pitchFamily="34" charset="-122"/>
                <a:cs typeface="맑은 고딕" pitchFamily="34" charset="-120"/>
              </a:rPr>
              <a:t>·  </a:t>
            </a:r>
            <a:pPr indent="0" marL="0">
              <a:lnSpc>
                <a:spcPct val="125000"/>
              </a:lnSpc>
              <a:buNone/>
            </a:pPr>
            <a:r>
              <a:rPr lang="en-US" sz="1050" dirty="0">
                <a:solidFill>
                  <a:srgbClr val="3A4160"/>
                </a:solidFill>
                <a:latin typeface="맑은 고딕" pitchFamily="34" charset="0"/>
                <a:ea typeface="맑은 고딕" pitchFamily="34" charset="-122"/>
                <a:cs typeface="맑은 고딕" pitchFamily="34" charset="-120"/>
              </a:rPr>
              <a:t>정류장 상세에서도 최근접 쉼터를 거리로 안내</a:t>
            </a:r>
            <a:endParaRPr lang="en-US" sz="1050" dirty="0"/>
          </a:p>
        </p:txBody>
      </p:sp>
      <p:sp>
        <p:nvSpPr>
          <p:cNvPr id="22" name="Text 20"/>
          <p:cNvSpPr/>
          <p:nvPr/>
        </p:nvSpPr>
        <p:spPr>
          <a:xfrm>
            <a:off x="4645152" y="5056632"/>
            <a:ext cx="3017520" cy="566928"/>
          </a:xfrm>
          <a:prstGeom prst="rect">
            <a:avLst/>
          </a:prstGeom>
          <a:noFill/>
          <a:ln/>
        </p:spPr>
        <p:txBody>
          <a:bodyPr wrap="square" lIns="0" tIns="0" rIns="0" bIns="0" rtlCol="0" anchor="t"/>
          <a:lstStyle/>
          <a:p>
            <a:pPr indent="0" marL="0">
              <a:lnSpc>
                <a:spcPct val="125000"/>
              </a:lnSpc>
              <a:buNone/>
            </a:pPr>
            <a:r>
              <a:rPr lang="en-US" sz="1050" b="1" dirty="0">
                <a:solidFill>
                  <a:srgbClr val="E8751A"/>
                </a:solidFill>
                <a:latin typeface="맑은 고딕" pitchFamily="34" charset="0"/>
                <a:ea typeface="맑은 고딕" pitchFamily="34" charset="-122"/>
                <a:cs typeface="맑은 고딕" pitchFamily="34" charset="-120"/>
              </a:rPr>
              <a:t>·  </a:t>
            </a:r>
            <a:pPr indent="0" marL="0">
              <a:lnSpc>
                <a:spcPct val="125000"/>
              </a:lnSpc>
              <a:buNone/>
            </a:pPr>
            <a:r>
              <a:rPr lang="en-US" sz="1050" dirty="0">
                <a:solidFill>
                  <a:srgbClr val="3A4160"/>
                </a:solidFill>
                <a:latin typeface="맑은 고딕" pitchFamily="34" charset="0"/>
                <a:ea typeface="맑은 고딕" pitchFamily="34" charset="-122"/>
                <a:cs typeface="맑은 고딕" pitchFamily="34" charset="-120"/>
              </a:rPr>
              <a:t>이미 있는 쉼터를, 비로소 버스 이용자가 씁니다</a:t>
            </a:r>
            <a:endParaRPr lang="en-US" sz="1050" dirty="0"/>
          </a:p>
        </p:txBody>
      </p:sp>
      <p:sp>
        <p:nvSpPr>
          <p:cNvPr id="23" name="Shape 21"/>
          <p:cNvSpPr/>
          <p:nvPr/>
        </p:nvSpPr>
        <p:spPr>
          <a:xfrm>
            <a:off x="8174736" y="1828800"/>
            <a:ext cx="3566160" cy="3886200"/>
          </a:xfrm>
          <a:prstGeom prst="roundRect">
            <a:avLst>
              <a:gd name="adj" fmla="val 3590"/>
            </a:avLst>
          </a:prstGeom>
          <a:solidFill>
            <a:srgbClr val="FFFFFF"/>
          </a:solidFill>
          <a:ln w="12700">
            <a:solidFill>
              <a:srgbClr val="D4DAEE"/>
            </a:solidFill>
            <a:prstDash val="solid"/>
          </a:ln>
          <a:effectLst>
            <a:outerShdw sx="100000" sy="100000" kx="0" ky="0" algn="bl" rotWithShape="0" blurRad="101600" dist="25400" dir="5400000">
              <a:srgbClr val="001871">
                <a:alpha val="7000"/>
              </a:srgbClr>
            </a:outerShdw>
          </a:effectLst>
        </p:spPr>
      </p:sp>
      <p:sp>
        <p:nvSpPr>
          <p:cNvPr id="24" name="Shape 22"/>
          <p:cNvSpPr/>
          <p:nvPr/>
        </p:nvSpPr>
        <p:spPr>
          <a:xfrm>
            <a:off x="8449056" y="2084832"/>
            <a:ext cx="1051560" cy="384048"/>
          </a:xfrm>
          <a:prstGeom prst="roundRect">
            <a:avLst>
              <a:gd name="adj" fmla="val 23810"/>
            </a:avLst>
          </a:prstGeom>
          <a:solidFill>
            <a:srgbClr val="E8751A"/>
          </a:solidFill>
          <a:ln w="12700">
            <a:solidFill>
              <a:srgbClr val="E8751A"/>
            </a:solidFill>
            <a:prstDash val="solid"/>
          </a:ln>
        </p:spPr>
      </p:sp>
      <p:sp>
        <p:nvSpPr>
          <p:cNvPr id="25" name="Text 23"/>
          <p:cNvSpPr/>
          <p:nvPr/>
        </p:nvSpPr>
        <p:spPr>
          <a:xfrm>
            <a:off x="8449056" y="2084832"/>
            <a:ext cx="105156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민원</a:t>
            </a:r>
            <a:endParaRPr lang="en-US" sz="1200" dirty="0"/>
          </a:p>
        </p:txBody>
      </p:sp>
      <p:sp>
        <p:nvSpPr>
          <p:cNvPr id="26" name="Text 24"/>
          <p:cNvSpPr/>
          <p:nvPr/>
        </p:nvSpPr>
        <p:spPr>
          <a:xfrm>
            <a:off x="10963656" y="2048256"/>
            <a:ext cx="502920" cy="457200"/>
          </a:xfrm>
          <a:prstGeom prst="rect">
            <a:avLst/>
          </a:prstGeom>
          <a:noFill/>
          <a:ln/>
        </p:spPr>
        <p:txBody>
          <a:bodyPr wrap="square" lIns="0" tIns="0" rIns="0" bIns="0" rtlCol="0" anchor="ctr"/>
          <a:lstStyle/>
          <a:p>
            <a:pPr algn="r" indent="0" marL="0">
              <a:buNone/>
            </a:pPr>
            <a:r>
              <a:rPr lang="en-US" sz="2600" b="1" dirty="0">
                <a:solidFill>
                  <a:srgbClr val="E7EBF8"/>
                </a:solidFill>
                <a:latin typeface="맑은 고딕" pitchFamily="34" charset="0"/>
                <a:ea typeface="맑은 고딕" pitchFamily="34" charset="-122"/>
                <a:cs typeface="맑은 고딕" pitchFamily="34" charset="-120"/>
              </a:rPr>
              <a:t>3</a:t>
            </a:r>
            <a:endParaRPr lang="en-US" sz="2600" dirty="0"/>
          </a:p>
        </p:txBody>
      </p:sp>
      <p:sp>
        <p:nvSpPr>
          <p:cNvPr id="27" name="Text 25"/>
          <p:cNvSpPr/>
          <p:nvPr/>
        </p:nvSpPr>
        <p:spPr>
          <a:xfrm>
            <a:off x="8449056" y="2615184"/>
            <a:ext cx="3017520" cy="548640"/>
          </a:xfrm>
          <a:prstGeom prst="rect">
            <a:avLst/>
          </a:prstGeom>
          <a:noFill/>
          <a:ln/>
        </p:spPr>
        <p:txBody>
          <a:bodyPr wrap="square" lIns="0" tIns="0" rIns="0" bIns="0" rtlCol="0" anchor="t"/>
          <a:lstStyle/>
          <a:p>
            <a:pPr indent="0" marL="0">
              <a:buNone/>
            </a:pPr>
            <a:r>
              <a:rPr lang="en-US" sz="1600" b="1" dirty="0">
                <a:solidFill>
                  <a:srgbClr val="141B33"/>
                </a:solidFill>
                <a:latin typeface="맑은 고딕" pitchFamily="34" charset="0"/>
                <a:ea typeface="맑은 고딕" pitchFamily="34" charset="-122"/>
                <a:cs typeface="맑은 고딕" pitchFamily="34" charset="-120"/>
              </a:rPr>
              <a:t>사진 찍어서 보내주세요</a:t>
            </a:r>
            <a:endParaRPr lang="en-US" sz="1600" dirty="0"/>
          </a:p>
        </p:txBody>
      </p:sp>
      <p:sp>
        <p:nvSpPr>
          <p:cNvPr id="28" name="Text 26"/>
          <p:cNvSpPr/>
          <p:nvPr/>
        </p:nvSpPr>
        <p:spPr>
          <a:xfrm>
            <a:off x="8449056" y="3246120"/>
            <a:ext cx="3017520" cy="566928"/>
          </a:xfrm>
          <a:prstGeom prst="rect">
            <a:avLst/>
          </a:prstGeom>
          <a:noFill/>
          <a:ln/>
        </p:spPr>
        <p:txBody>
          <a:bodyPr wrap="square" lIns="0" tIns="0" rIns="0" bIns="0" rtlCol="0" anchor="t"/>
          <a:lstStyle/>
          <a:p>
            <a:pPr indent="0" marL="0">
              <a:lnSpc>
                <a:spcPct val="125000"/>
              </a:lnSpc>
              <a:buNone/>
            </a:pPr>
            <a:r>
              <a:rPr lang="en-US" sz="1050" b="1" dirty="0">
                <a:solidFill>
                  <a:srgbClr val="E8751A"/>
                </a:solidFill>
                <a:latin typeface="맑은 고딕" pitchFamily="34" charset="0"/>
                <a:ea typeface="맑은 고딕" pitchFamily="34" charset="-122"/>
                <a:cs typeface="맑은 고딕" pitchFamily="34" charset="-120"/>
              </a:rPr>
              <a:t>·  </a:t>
            </a:r>
            <a:pPr indent="0" marL="0">
              <a:lnSpc>
                <a:spcPct val="125000"/>
              </a:lnSpc>
              <a:buNone/>
            </a:pPr>
            <a:r>
              <a:rPr lang="en-US" sz="1050" dirty="0">
                <a:solidFill>
                  <a:srgbClr val="3A4160"/>
                </a:solidFill>
                <a:latin typeface="맑은 고딕" pitchFamily="34" charset="0"/>
                <a:ea typeface="맑은 고딕" pitchFamily="34" charset="-122"/>
                <a:cs typeface="맑은 고딕" pitchFamily="34" charset="-120"/>
              </a:rPr>
              <a:t>버튼 하나 · 글자 입력 0타</a:t>
            </a:r>
            <a:endParaRPr lang="en-US" sz="1050" dirty="0"/>
          </a:p>
        </p:txBody>
      </p:sp>
      <p:sp>
        <p:nvSpPr>
          <p:cNvPr id="29" name="Text 27"/>
          <p:cNvSpPr/>
          <p:nvPr/>
        </p:nvSpPr>
        <p:spPr>
          <a:xfrm>
            <a:off x="8449056" y="3849624"/>
            <a:ext cx="3017520" cy="566928"/>
          </a:xfrm>
          <a:prstGeom prst="rect">
            <a:avLst/>
          </a:prstGeom>
          <a:noFill/>
          <a:ln/>
        </p:spPr>
        <p:txBody>
          <a:bodyPr wrap="square" lIns="0" tIns="0" rIns="0" bIns="0" rtlCol="0" anchor="t"/>
          <a:lstStyle/>
          <a:p>
            <a:pPr indent="0" marL="0">
              <a:lnSpc>
                <a:spcPct val="125000"/>
              </a:lnSpc>
              <a:buNone/>
            </a:pPr>
            <a:r>
              <a:rPr lang="en-US" sz="1050" b="1" dirty="0">
                <a:solidFill>
                  <a:srgbClr val="E8751A"/>
                </a:solidFill>
                <a:latin typeface="맑은 고딕" pitchFamily="34" charset="0"/>
                <a:ea typeface="맑은 고딕" pitchFamily="34" charset="-122"/>
                <a:cs typeface="맑은 고딕" pitchFamily="34" charset="-120"/>
              </a:rPr>
              <a:t>·  </a:t>
            </a:r>
            <a:pPr indent="0" marL="0">
              <a:lnSpc>
                <a:spcPct val="125000"/>
              </a:lnSpc>
              <a:buNone/>
            </a:pPr>
            <a:r>
              <a:rPr lang="en-US" sz="1050" dirty="0">
                <a:solidFill>
                  <a:srgbClr val="3A4160"/>
                </a:solidFill>
                <a:latin typeface="맑은 고딕" pitchFamily="34" charset="0"/>
                <a:ea typeface="맑은 고딕" pitchFamily="34" charset="-122"/>
                <a:cs typeface="맑은 고딕" pitchFamily="34" charset="-120"/>
              </a:rPr>
              <a:t>촬영 위치로 정류장을 자동 매칭합니다</a:t>
            </a:r>
            <a:endParaRPr lang="en-US" sz="1050" dirty="0"/>
          </a:p>
        </p:txBody>
      </p:sp>
      <p:sp>
        <p:nvSpPr>
          <p:cNvPr id="30" name="Text 28"/>
          <p:cNvSpPr/>
          <p:nvPr/>
        </p:nvSpPr>
        <p:spPr>
          <a:xfrm>
            <a:off x="8449056" y="4453128"/>
            <a:ext cx="3017520" cy="566928"/>
          </a:xfrm>
          <a:prstGeom prst="rect">
            <a:avLst/>
          </a:prstGeom>
          <a:noFill/>
          <a:ln/>
        </p:spPr>
        <p:txBody>
          <a:bodyPr wrap="square" lIns="0" tIns="0" rIns="0" bIns="0" rtlCol="0" anchor="t"/>
          <a:lstStyle/>
          <a:p>
            <a:pPr indent="0" marL="0">
              <a:lnSpc>
                <a:spcPct val="125000"/>
              </a:lnSpc>
              <a:buNone/>
            </a:pPr>
            <a:r>
              <a:rPr lang="en-US" sz="1050" b="1" dirty="0">
                <a:solidFill>
                  <a:srgbClr val="E8751A"/>
                </a:solidFill>
                <a:latin typeface="맑은 고딕" pitchFamily="34" charset="0"/>
                <a:ea typeface="맑은 고딕" pitchFamily="34" charset="-122"/>
                <a:cs typeface="맑은 고딕" pitchFamily="34" charset="-120"/>
              </a:rPr>
              <a:t>·  </a:t>
            </a:r>
            <a:pPr indent="0" marL="0">
              <a:lnSpc>
                <a:spcPct val="125000"/>
              </a:lnSpc>
              <a:buNone/>
            </a:pPr>
            <a:r>
              <a:rPr lang="en-US" sz="1050" dirty="0">
                <a:solidFill>
                  <a:srgbClr val="3A4160"/>
                </a:solidFill>
                <a:latin typeface="맑은 고딕" pitchFamily="34" charset="0"/>
                <a:ea typeface="맑은 고딕" pitchFamily="34" charset="-122"/>
                <a:cs typeface="맑은 고딕" pitchFamily="34" charset="-120"/>
              </a:rPr>
              <a:t>얼굴·차량번호는 피해서 찍도록 안내합니다</a:t>
            </a:r>
            <a:endParaRPr lang="en-US" sz="1050" dirty="0"/>
          </a:p>
        </p:txBody>
      </p:sp>
      <p:sp>
        <p:nvSpPr>
          <p:cNvPr id="31" name="Text 29"/>
          <p:cNvSpPr/>
          <p:nvPr/>
        </p:nvSpPr>
        <p:spPr>
          <a:xfrm>
            <a:off x="8449056" y="5056632"/>
            <a:ext cx="3017520" cy="566928"/>
          </a:xfrm>
          <a:prstGeom prst="rect">
            <a:avLst/>
          </a:prstGeom>
          <a:noFill/>
          <a:ln/>
        </p:spPr>
        <p:txBody>
          <a:bodyPr wrap="square" lIns="0" tIns="0" rIns="0" bIns="0" rtlCol="0" anchor="t"/>
          <a:lstStyle/>
          <a:p>
            <a:pPr indent="0" marL="0">
              <a:lnSpc>
                <a:spcPct val="125000"/>
              </a:lnSpc>
              <a:buNone/>
            </a:pPr>
            <a:r>
              <a:rPr lang="en-US" sz="1050" b="1" dirty="0">
                <a:solidFill>
                  <a:srgbClr val="E8751A"/>
                </a:solidFill>
                <a:latin typeface="맑은 고딕" pitchFamily="34" charset="0"/>
                <a:ea typeface="맑은 고딕" pitchFamily="34" charset="-122"/>
                <a:cs typeface="맑은 고딕" pitchFamily="34" charset="-120"/>
              </a:rPr>
              <a:t>·  </a:t>
            </a:r>
            <a:pPr indent="0" marL="0">
              <a:lnSpc>
                <a:spcPct val="125000"/>
              </a:lnSpc>
              <a:buNone/>
            </a:pPr>
            <a:r>
              <a:rPr lang="en-US" sz="1050" dirty="0">
                <a:solidFill>
                  <a:srgbClr val="3A4160"/>
                </a:solidFill>
                <a:latin typeface="맑은 고딕" pitchFamily="34" charset="0"/>
                <a:ea typeface="맑은 고딕" pitchFamily="34" charset="-122"/>
                <a:cs typeface="맑은 고딕" pitchFamily="34" charset="-120"/>
              </a:rPr>
              <a:t>AI가 읽은 결과가 다음 사람의 안내가 됩니다</a:t>
            </a:r>
            <a:endParaRPr lang="en-US" sz="1050" dirty="0"/>
          </a:p>
        </p:txBody>
      </p:sp>
      <p:sp>
        <p:nvSpPr>
          <p:cNvPr id="32" name="Text 30"/>
          <p:cNvSpPr/>
          <p:nvPr/>
        </p:nvSpPr>
        <p:spPr>
          <a:xfrm>
            <a:off x="566928" y="6327648"/>
            <a:ext cx="4572000" cy="274320"/>
          </a:xfrm>
          <a:prstGeom prst="rect">
            <a:avLst/>
          </a:prstGeom>
          <a:noFill/>
          <a:ln/>
        </p:spPr>
        <p:txBody>
          <a:bodyPr wrap="square" lIns="0" tIns="0" rIns="0" bIns="0" rtlCol="0" anchor="ctr"/>
          <a:lstStyle/>
          <a:p>
            <a:pPr algn="l" indent="0" marL="0">
              <a:buNone/>
            </a:pPr>
            <a:r>
              <a:rPr lang="en-US" sz="900" dirty="0">
                <a:solidFill>
                  <a:srgbClr val="6E7796"/>
                </a:solidFill>
                <a:latin typeface="맑은 고딕" pitchFamily="34" charset="0"/>
                <a:ea typeface="맑은 고딕" pitchFamily="34" charset="-122"/>
                <a:cs typeface="맑은 고딕" pitchFamily="34" charset="-120"/>
              </a:rPr>
              <a:t>쉼표정류장  ·  팀 오댕국</a:t>
            </a:r>
            <a:endParaRPr lang="en-US" sz="900" dirty="0"/>
          </a:p>
        </p:txBody>
      </p:sp>
      <p:sp>
        <p:nvSpPr>
          <p:cNvPr id="33" name="Text 31"/>
          <p:cNvSpPr/>
          <p:nvPr/>
        </p:nvSpPr>
        <p:spPr>
          <a:xfrm>
            <a:off x="10710367" y="6327648"/>
            <a:ext cx="914400" cy="274320"/>
          </a:xfrm>
          <a:prstGeom prst="rect">
            <a:avLst/>
          </a:prstGeom>
          <a:noFill/>
          <a:ln/>
        </p:spPr>
        <p:txBody>
          <a:bodyPr wrap="square" lIns="0" tIns="0" rIns="0" bIns="0" rtlCol="0" anchor="ctr"/>
          <a:lstStyle/>
          <a:p>
            <a:pPr algn="r" indent="0" marL="0">
              <a:buNone/>
            </a:pPr>
            <a:r>
              <a:rPr lang="en-US" sz="900" dirty="0">
                <a:solidFill>
                  <a:srgbClr val="6E7796"/>
                </a:solidFill>
                <a:latin typeface="맑은 고딕" pitchFamily="34" charset="0"/>
                <a:ea typeface="맑은 고딕" pitchFamily="34" charset="-122"/>
                <a:cs typeface="맑은 고딕"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11057839" cy="274320"/>
          </a:xfrm>
          <a:prstGeom prst="rect">
            <a:avLst/>
          </a:prstGeom>
          <a:noFill/>
          <a:ln/>
        </p:spPr>
        <p:txBody>
          <a:bodyPr wrap="square" lIns="0" tIns="0" rIns="0" bIns="0" rtlCol="0" anchor="ctr"/>
          <a:lstStyle/>
          <a:p>
            <a:pPr indent="0" marL="0">
              <a:buNone/>
            </a:pPr>
            <a:r>
              <a:rPr lang="en-US" sz="1100" b="1" dirty="0">
                <a:solidFill>
                  <a:srgbClr val="E8751A"/>
                </a:solidFill>
                <a:latin typeface="맑은 고딕" pitchFamily="34" charset="0"/>
                <a:ea typeface="맑은 고딕" pitchFamily="34" charset="-122"/>
                <a:cs typeface="맑은 고딕" pitchFamily="34" charset="-120"/>
              </a:rPr>
              <a:t>02</a:t>
            </a:r>
            <a:pPr indent="0" marL="0">
              <a:buNone/>
            </a:pPr>
            <a:r>
              <a:rPr lang="en-US" sz="1100" b="1" dirty="0">
                <a:solidFill>
                  <a:srgbClr val="6E7796"/>
                </a:solidFill>
                <a:latin typeface="맑은 고딕" pitchFamily="34" charset="0"/>
                <a:ea typeface="맑은 고딕" pitchFamily="34" charset="-122"/>
                <a:cs typeface="맑은 고딕" pitchFamily="34" charset="-120"/>
              </a:rPr>
              <a:t>   활용한 데이터와 처리 구조</a:t>
            </a:r>
            <a:endParaRPr lang="en-US" sz="1100" dirty="0"/>
          </a:p>
        </p:txBody>
      </p:sp>
      <p:sp>
        <p:nvSpPr>
          <p:cNvPr id="3" name="Text 1"/>
          <p:cNvSpPr/>
          <p:nvPr/>
        </p:nvSpPr>
        <p:spPr>
          <a:xfrm>
            <a:off x="566928" y="749808"/>
            <a:ext cx="11057839" cy="566928"/>
          </a:xfrm>
          <a:prstGeom prst="rect">
            <a:avLst/>
          </a:prstGeom>
          <a:noFill/>
          <a:ln/>
        </p:spPr>
        <p:txBody>
          <a:bodyPr wrap="square" lIns="0" tIns="0" rIns="0" bIns="0" rtlCol="0" anchor="ctr"/>
          <a:lstStyle/>
          <a:p>
            <a:pPr indent="0" marL="0">
              <a:buNone/>
            </a:pPr>
            <a:r>
              <a:rPr lang="en-US" sz="2700" b="1" dirty="0">
                <a:solidFill>
                  <a:srgbClr val="141B33"/>
                </a:solidFill>
                <a:latin typeface="맑은 고딕" pitchFamily="34" charset="0"/>
                <a:ea typeface="맑은 고딕" pitchFamily="34" charset="-122"/>
                <a:cs typeface="맑은 고딕" pitchFamily="34" charset="-120"/>
              </a:rPr>
              <a:t>춘천 공공데이터 9종을 정류장 단위로 결합했습니다</a:t>
            </a:r>
            <a:endParaRPr lang="en-US" sz="2700" dirty="0"/>
          </a:p>
        </p:txBody>
      </p:sp>
      <p:sp>
        <p:nvSpPr>
          <p:cNvPr id="4" name="Shape 2"/>
          <p:cNvSpPr/>
          <p:nvPr/>
        </p:nvSpPr>
        <p:spPr>
          <a:xfrm>
            <a:off x="566928" y="1691640"/>
            <a:ext cx="5715000" cy="3977640"/>
          </a:xfrm>
          <a:prstGeom prst="roundRect">
            <a:avLst>
              <a:gd name="adj" fmla="val 3218"/>
            </a:avLst>
          </a:prstGeom>
          <a:solidFill>
            <a:srgbClr val="FFFFFF"/>
          </a:solidFill>
          <a:ln w="12700">
            <a:solidFill>
              <a:srgbClr val="D4DAEE"/>
            </a:solidFill>
            <a:prstDash val="solid"/>
          </a:ln>
          <a:effectLst>
            <a:outerShdw sx="100000" sy="100000" kx="0" ky="0" algn="bl" rotWithShape="0" blurRad="101600" dist="25400" dir="5400000">
              <a:srgbClr val="001871">
                <a:alpha val="7000"/>
              </a:srgbClr>
            </a:outerShdw>
          </a:effectLst>
        </p:spPr>
      </p:sp>
      <p:sp>
        <p:nvSpPr>
          <p:cNvPr id="5" name="Text 3"/>
          <p:cNvSpPr/>
          <p:nvPr/>
        </p:nvSpPr>
        <p:spPr>
          <a:xfrm>
            <a:off x="804672" y="1847088"/>
            <a:ext cx="4892040" cy="274320"/>
          </a:xfrm>
          <a:prstGeom prst="rect">
            <a:avLst/>
          </a:prstGeom>
          <a:noFill/>
          <a:ln/>
        </p:spPr>
        <p:txBody>
          <a:bodyPr wrap="square" lIns="0" tIns="0" rIns="0" bIns="0" rtlCol="0" anchor="ctr"/>
          <a:lstStyle/>
          <a:p>
            <a:pPr indent="0" marL="0">
              <a:buNone/>
            </a:pPr>
            <a:r>
              <a:rPr lang="en-US" sz="1200" b="1" dirty="0">
                <a:solidFill>
                  <a:srgbClr val="001871"/>
                </a:solidFill>
                <a:latin typeface="맑은 고딕" pitchFamily="34" charset="0"/>
                <a:ea typeface="맑은 고딕" pitchFamily="34" charset="-122"/>
                <a:cs typeface="맑은 고딕" pitchFamily="34" charset="-120"/>
              </a:rPr>
              <a:t>춘천시 · 국토부 공공데이터</a:t>
            </a:r>
            <a:endParaRPr lang="en-US" sz="1200" dirty="0"/>
          </a:p>
        </p:txBody>
      </p:sp>
      <p:sp>
        <p:nvSpPr>
          <p:cNvPr id="6" name="Text 4"/>
          <p:cNvSpPr/>
          <p:nvPr/>
        </p:nvSpPr>
        <p:spPr>
          <a:xfrm>
            <a:off x="5504688" y="1847088"/>
            <a:ext cx="548640" cy="274320"/>
          </a:xfrm>
          <a:prstGeom prst="rect">
            <a:avLst/>
          </a:prstGeom>
          <a:noFill/>
          <a:ln/>
        </p:spPr>
        <p:txBody>
          <a:bodyPr wrap="square" lIns="0" tIns="0" rIns="0" bIns="0" rtlCol="0" anchor="ctr"/>
          <a:lstStyle/>
          <a:p>
            <a:pPr algn="r" indent="0" marL="0">
              <a:buNone/>
            </a:pPr>
            <a:r>
              <a:rPr lang="en-US" sz="1050" b="1" dirty="0">
                <a:solidFill>
                  <a:srgbClr val="6E7796"/>
                </a:solidFill>
                <a:latin typeface="맑은 고딕" pitchFamily="34" charset="0"/>
                <a:ea typeface="맑은 고딕" pitchFamily="34" charset="-122"/>
                <a:cs typeface="맑은 고딕" pitchFamily="34" charset="-120"/>
              </a:rPr>
              <a:t>9종</a:t>
            </a:r>
            <a:endParaRPr lang="en-US" sz="1050" dirty="0"/>
          </a:p>
        </p:txBody>
      </p:sp>
      <p:sp>
        <p:nvSpPr>
          <p:cNvPr id="7" name="Text 5"/>
          <p:cNvSpPr/>
          <p:nvPr/>
        </p:nvSpPr>
        <p:spPr>
          <a:xfrm>
            <a:off x="804672" y="2249424"/>
            <a:ext cx="2331720" cy="310896"/>
          </a:xfrm>
          <a:prstGeom prst="rect">
            <a:avLst/>
          </a:prstGeom>
          <a:noFill/>
          <a:ln/>
        </p:spPr>
        <p:txBody>
          <a:bodyPr wrap="square" lIns="0" tIns="0" rIns="0" bIns="0" rtlCol="0" anchor="ctr"/>
          <a:lstStyle/>
          <a:p>
            <a:pPr indent="0" marL="0">
              <a:buNone/>
            </a:pPr>
            <a:r>
              <a:rPr lang="en-US" sz="1050" b="1" dirty="0">
                <a:solidFill>
                  <a:srgbClr val="141B33"/>
                </a:solidFill>
                <a:latin typeface="맑은 고딕" pitchFamily="34" charset="0"/>
                <a:ea typeface="맑은 고딕" pitchFamily="34" charset="-122"/>
                <a:cs typeface="맑은 고딕" pitchFamily="34" charset="-120"/>
              </a:rPr>
              <a:t>무더위쉼터  ★</a:t>
            </a:r>
            <a:endParaRPr lang="en-US" sz="1050" dirty="0"/>
          </a:p>
        </p:txBody>
      </p:sp>
      <p:sp>
        <p:nvSpPr>
          <p:cNvPr id="8" name="Text 6"/>
          <p:cNvSpPr/>
          <p:nvPr/>
        </p:nvSpPr>
        <p:spPr>
          <a:xfrm>
            <a:off x="3172968" y="2249424"/>
            <a:ext cx="2880360" cy="310896"/>
          </a:xfrm>
          <a:prstGeom prst="rect">
            <a:avLst/>
          </a:prstGeom>
          <a:noFill/>
          <a:ln/>
        </p:spPr>
        <p:txBody>
          <a:bodyPr wrap="square" lIns="0" tIns="0" rIns="0" bIns="0" rtlCol="0" anchor="ctr"/>
          <a:lstStyle/>
          <a:p>
            <a:pPr indent="0" marL="0">
              <a:buNone/>
            </a:pPr>
            <a:r>
              <a:rPr lang="en-US" sz="950" dirty="0">
                <a:solidFill>
                  <a:srgbClr val="6E7796"/>
                </a:solidFill>
                <a:latin typeface="맑은 고딕" pitchFamily="34" charset="0"/>
                <a:ea typeface="맑은 고딕" pitchFamily="34" charset="-122"/>
                <a:cs typeface="맑은 고딕" pitchFamily="34" charset="-120"/>
              </a:rPr>
              <a:t>228개소 (운영 226) · 좌표 100%</a:t>
            </a:r>
            <a:endParaRPr lang="en-US" sz="950" dirty="0"/>
          </a:p>
        </p:txBody>
      </p:sp>
      <p:sp>
        <p:nvSpPr>
          <p:cNvPr id="9" name="Text 7"/>
          <p:cNvSpPr/>
          <p:nvPr/>
        </p:nvSpPr>
        <p:spPr>
          <a:xfrm>
            <a:off x="804672" y="2615184"/>
            <a:ext cx="2331720" cy="310896"/>
          </a:xfrm>
          <a:prstGeom prst="rect">
            <a:avLst/>
          </a:prstGeom>
          <a:noFill/>
          <a:ln/>
        </p:spPr>
        <p:txBody>
          <a:bodyPr wrap="square" lIns="0" tIns="0" rIns="0" bIns="0" rtlCol="0" anchor="ctr"/>
          <a:lstStyle/>
          <a:p>
            <a:pPr indent="0" marL="0">
              <a:buNone/>
            </a:pPr>
            <a:r>
              <a:rPr lang="en-US" sz="1050" b="1" dirty="0">
                <a:solidFill>
                  <a:srgbClr val="141B33"/>
                </a:solidFill>
                <a:latin typeface="맑은 고딕" pitchFamily="34" charset="0"/>
                <a:ea typeface="맑은 고딕" pitchFamily="34" charset="-122"/>
                <a:cs typeface="맑은 고딕" pitchFamily="34" charset="-120"/>
              </a:rPr>
              <a:t>폭염저감시설</a:t>
            </a:r>
            <a:endParaRPr lang="en-US" sz="1050" dirty="0"/>
          </a:p>
        </p:txBody>
      </p:sp>
      <p:sp>
        <p:nvSpPr>
          <p:cNvPr id="10" name="Text 8"/>
          <p:cNvSpPr/>
          <p:nvPr/>
        </p:nvSpPr>
        <p:spPr>
          <a:xfrm>
            <a:off x="3172968" y="2615184"/>
            <a:ext cx="2880360" cy="310896"/>
          </a:xfrm>
          <a:prstGeom prst="rect">
            <a:avLst/>
          </a:prstGeom>
          <a:noFill/>
          <a:ln/>
        </p:spPr>
        <p:txBody>
          <a:bodyPr wrap="square" lIns="0" tIns="0" rIns="0" bIns="0" rtlCol="0" anchor="ctr"/>
          <a:lstStyle/>
          <a:p>
            <a:pPr indent="0" marL="0">
              <a:buNone/>
            </a:pPr>
            <a:r>
              <a:rPr lang="en-US" sz="950" dirty="0">
                <a:solidFill>
                  <a:srgbClr val="6E7796"/>
                </a:solidFill>
                <a:latin typeface="맑은 고딕" pitchFamily="34" charset="0"/>
                <a:ea typeface="맑은 고딕" pitchFamily="34" charset="-122"/>
                <a:cs typeface="맑은 고딕" pitchFamily="34" charset="-120"/>
              </a:rPr>
              <a:t>319개소 · 그늘막 281 + 스마트 25 + 쿨링포그 13</a:t>
            </a:r>
            <a:endParaRPr lang="en-US" sz="950" dirty="0"/>
          </a:p>
        </p:txBody>
      </p:sp>
      <p:sp>
        <p:nvSpPr>
          <p:cNvPr id="11" name="Text 9"/>
          <p:cNvSpPr/>
          <p:nvPr/>
        </p:nvSpPr>
        <p:spPr>
          <a:xfrm>
            <a:off x="804672" y="2980944"/>
            <a:ext cx="2331720" cy="310896"/>
          </a:xfrm>
          <a:prstGeom prst="rect">
            <a:avLst/>
          </a:prstGeom>
          <a:noFill/>
          <a:ln/>
        </p:spPr>
        <p:txBody>
          <a:bodyPr wrap="square" lIns="0" tIns="0" rIns="0" bIns="0" rtlCol="0" anchor="ctr"/>
          <a:lstStyle/>
          <a:p>
            <a:pPr indent="0" marL="0">
              <a:buNone/>
            </a:pPr>
            <a:r>
              <a:rPr lang="en-US" sz="1050" b="1" dirty="0">
                <a:solidFill>
                  <a:srgbClr val="141B33"/>
                </a:solidFill>
                <a:latin typeface="맑은 고딕" pitchFamily="34" charset="0"/>
                <a:ea typeface="맑은 고딕" pitchFamily="34" charset="-122"/>
                <a:cs typeface="맑은 고딕" pitchFamily="34" charset="-120"/>
              </a:rPr>
              <a:t>버스정류장 위치정보</a:t>
            </a:r>
            <a:endParaRPr lang="en-US" sz="1050" dirty="0"/>
          </a:p>
        </p:txBody>
      </p:sp>
      <p:sp>
        <p:nvSpPr>
          <p:cNvPr id="12" name="Text 10"/>
          <p:cNvSpPr/>
          <p:nvPr/>
        </p:nvSpPr>
        <p:spPr>
          <a:xfrm>
            <a:off x="3172968" y="2980944"/>
            <a:ext cx="2880360" cy="310896"/>
          </a:xfrm>
          <a:prstGeom prst="rect">
            <a:avLst/>
          </a:prstGeom>
          <a:noFill/>
          <a:ln/>
        </p:spPr>
        <p:txBody>
          <a:bodyPr wrap="square" lIns="0" tIns="0" rIns="0" bIns="0" rtlCol="0" anchor="ctr"/>
          <a:lstStyle/>
          <a:p>
            <a:pPr indent="0" marL="0">
              <a:buNone/>
            </a:pPr>
            <a:r>
              <a:rPr lang="en-US" sz="950" dirty="0">
                <a:solidFill>
                  <a:srgbClr val="6E7796"/>
                </a:solidFill>
                <a:latin typeface="맑은 고딕" pitchFamily="34" charset="0"/>
                <a:ea typeface="맑은 고딕" pitchFamily="34" charset="-122"/>
                <a:cs typeface="맑은 고딕" pitchFamily="34" charset="-120"/>
              </a:rPr>
              <a:t>1,890개 · 좌표/정류장번호/관리번호</a:t>
            </a:r>
            <a:endParaRPr lang="en-US" sz="950" dirty="0"/>
          </a:p>
        </p:txBody>
      </p:sp>
      <p:sp>
        <p:nvSpPr>
          <p:cNvPr id="13" name="Text 11"/>
          <p:cNvSpPr/>
          <p:nvPr/>
        </p:nvSpPr>
        <p:spPr>
          <a:xfrm>
            <a:off x="804672" y="3346704"/>
            <a:ext cx="2331720" cy="310896"/>
          </a:xfrm>
          <a:prstGeom prst="rect">
            <a:avLst/>
          </a:prstGeom>
          <a:noFill/>
          <a:ln/>
        </p:spPr>
        <p:txBody>
          <a:bodyPr wrap="square" lIns="0" tIns="0" rIns="0" bIns="0" rtlCol="0" anchor="ctr"/>
          <a:lstStyle/>
          <a:p>
            <a:pPr indent="0" marL="0">
              <a:buNone/>
            </a:pPr>
            <a:r>
              <a:rPr lang="en-US" sz="1050" b="1" dirty="0">
                <a:solidFill>
                  <a:srgbClr val="141B33"/>
                </a:solidFill>
                <a:latin typeface="맑은 고딕" pitchFamily="34" charset="0"/>
                <a:ea typeface="맑은 고딕" pitchFamily="34" charset="-122"/>
                <a:cs typeface="맑은 고딕" pitchFamily="34" charset="-120"/>
              </a:rPr>
              <a:t>버스정류장 노선정보</a:t>
            </a:r>
            <a:endParaRPr lang="en-US" sz="1050" dirty="0"/>
          </a:p>
        </p:txBody>
      </p:sp>
      <p:sp>
        <p:nvSpPr>
          <p:cNvPr id="14" name="Text 12"/>
          <p:cNvSpPr/>
          <p:nvPr/>
        </p:nvSpPr>
        <p:spPr>
          <a:xfrm>
            <a:off x="3172968" y="3346704"/>
            <a:ext cx="2880360" cy="310896"/>
          </a:xfrm>
          <a:prstGeom prst="rect">
            <a:avLst/>
          </a:prstGeom>
          <a:noFill/>
          <a:ln/>
        </p:spPr>
        <p:txBody>
          <a:bodyPr wrap="square" lIns="0" tIns="0" rIns="0" bIns="0" rtlCol="0" anchor="ctr"/>
          <a:lstStyle/>
          <a:p>
            <a:pPr indent="0" marL="0">
              <a:buNone/>
            </a:pPr>
            <a:r>
              <a:rPr lang="en-US" sz="950" dirty="0">
                <a:solidFill>
                  <a:srgbClr val="6E7796"/>
                </a:solidFill>
                <a:latin typeface="맑은 고딕" pitchFamily="34" charset="0"/>
                <a:ea typeface="맑은 고딕" pitchFamily="34" charset="-122"/>
                <a:cs typeface="맑은 고딕" pitchFamily="34" charset="-120"/>
              </a:rPr>
              <a:t>223개 노선 · 정류장-노선 16,168행</a:t>
            </a:r>
            <a:endParaRPr lang="en-US" sz="950" dirty="0"/>
          </a:p>
        </p:txBody>
      </p:sp>
      <p:sp>
        <p:nvSpPr>
          <p:cNvPr id="15" name="Text 13"/>
          <p:cNvSpPr/>
          <p:nvPr/>
        </p:nvSpPr>
        <p:spPr>
          <a:xfrm>
            <a:off x="804672" y="3712464"/>
            <a:ext cx="2331720" cy="310896"/>
          </a:xfrm>
          <a:prstGeom prst="rect">
            <a:avLst/>
          </a:prstGeom>
          <a:noFill/>
          <a:ln/>
        </p:spPr>
        <p:txBody>
          <a:bodyPr wrap="square" lIns="0" tIns="0" rIns="0" bIns="0" rtlCol="0" anchor="ctr"/>
          <a:lstStyle/>
          <a:p>
            <a:pPr indent="0" marL="0">
              <a:buNone/>
            </a:pPr>
            <a:r>
              <a:rPr lang="en-US" sz="1050" b="1" dirty="0">
                <a:solidFill>
                  <a:srgbClr val="141B33"/>
                </a:solidFill>
                <a:latin typeface="맑은 고딕" pitchFamily="34" charset="0"/>
                <a:ea typeface="맑은 고딕" pitchFamily="34" charset="-122"/>
                <a:cs typeface="맑은 고딕" pitchFamily="34" charset="-120"/>
              </a:rPr>
              <a:t>벤치 현황</a:t>
            </a:r>
            <a:endParaRPr lang="en-US" sz="1050" dirty="0"/>
          </a:p>
        </p:txBody>
      </p:sp>
      <p:sp>
        <p:nvSpPr>
          <p:cNvPr id="16" name="Text 14"/>
          <p:cNvSpPr/>
          <p:nvPr/>
        </p:nvSpPr>
        <p:spPr>
          <a:xfrm>
            <a:off x="3172968" y="3712464"/>
            <a:ext cx="2880360" cy="310896"/>
          </a:xfrm>
          <a:prstGeom prst="rect">
            <a:avLst/>
          </a:prstGeom>
          <a:noFill/>
          <a:ln/>
        </p:spPr>
        <p:txBody>
          <a:bodyPr wrap="square" lIns="0" tIns="0" rIns="0" bIns="0" rtlCol="0" anchor="ctr"/>
          <a:lstStyle/>
          <a:p>
            <a:pPr indent="0" marL="0">
              <a:buNone/>
            </a:pPr>
            <a:r>
              <a:rPr lang="en-US" sz="950" dirty="0">
                <a:solidFill>
                  <a:srgbClr val="6E7796"/>
                </a:solidFill>
                <a:latin typeface="맑은 고딕" pitchFamily="34" charset="0"/>
                <a:ea typeface="맑은 고딕" pitchFamily="34" charset="-122"/>
                <a:cs typeface="맑은 고딕" pitchFamily="34" charset="-120"/>
              </a:rPr>
              <a:t>681건 → 의자 있음 819개 정류장</a:t>
            </a:r>
            <a:endParaRPr lang="en-US" sz="950" dirty="0"/>
          </a:p>
        </p:txBody>
      </p:sp>
      <p:sp>
        <p:nvSpPr>
          <p:cNvPr id="17" name="Text 15"/>
          <p:cNvSpPr/>
          <p:nvPr/>
        </p:nvSpPr>
        <p:spPr>
          <a:xfrm>
            <a:off x="804672" y="4078224"/>
            <a:ext cx="2331720" cy="310896"/>
          </a:xfrm>
          <a:prstGeom prst="rect">
            <a:avLst/>
          </a:prstGeom>
          <a:noFill/>
          <a:ln/>
        </p:spPr>
        <p:txBody>
          <a:bodyPr wrap="square" lIns="0" tIns="0" rIns="0" bIns="0" rtlCol="0" anchor="ctr"/>
          <a:lstStyle/>
          <a:p>
            <a:pPr indent="0" marL="0">
              <a:buNone/>
            </a:pPr>
            <a:r>
              <a:rPr lang="en-US" sz="1050" b="1" dirty="0">
                <a:solidFill>
                  <a:srgbClr val="141B33"/>
                </a:solidFill>
                <a:latin typeface="맑은 고딕" pitchFamily="34" charset="0"/>
                <a:ea typeface="맑은 고딕" pitchFamily="34" charset="-122"/>
                <a:cs typeface="맑은 고딕" pitchFamily="34" charset="-120"/>
              </a:rPr>
              <a:t>버스정보안내단말기(BIT)</a:t>
            </a:r>
            <a:endParaRPr lang="en-US" sz="1050" dirty="0"/>
          </a:p>
        </p:txBody>
      </p:sp>
      <p:sp>
        <p:nvSpPr>
          <p:cNvPr id="18" name="Text 16"/>
          <p:cNvSpPr/>
          <p:nvPr/>
        </p:nvSpPr>
        <p:spPr>
          <a:xfrm>
            <a:off x="3172968" y="4078224"/>
            <a:ext cx="2880360" cy="310896"/>
          </a:xfrm>
          <a:prstGeom prst="rect">
            <a:avLst/>
          </a:prstGeom>
          <a:noFill/>
          <a:ln/>
        </p:spPr>
        <p:txBody>
          <a:bodyPr wrap="square" lIns="0" tIns="0" rIns="0" bIns="0" rtlCol="0" anchor="ctr"/>
          <a:lstStyle/>
          <a:p>
            <a:pPr indent="0" marL="0">
              <a:buNone/>
            </a:pPr>
            <a:r>
              <a:rPr lang="en-US" sz="950" dirty="0">
                <a:solidFill>
                  <a:srgbClr val="6E7796"/>
                </a:solidFill>
                <a:latin typeface="맑은 고딕" pitchFamily="34" charset="0"/>
                <a:ea typeface="맑은 고딕" pitchFamily="34" charset="-122"/>
                <a:cs typeface="맑은 고딕" pitchFamily="34" charset="-120"/>
              </a:rPr>
              <a:t>345건 → 안내기 있음 307개 정류장</a:t>
            </a:r>
            <a:endParaRPr lang="en-US" sz="950" dirty="0"/>
          </a:p>
        </p:txBody>
      </p:sp>
      <p:sp>
        <p:nvSpPr>
          <p:cNvPr id="19" name="Text 17"/>
          <p:cNvSpPr/>
          <p:nvPr/>
        </p:nvSpPr>
        <p:spPr>
          <a:xfrm>
            <a:off x="804672" y="4443984"/>
            <a:ext cx="2331720" cy="310896"/>
          </a:xfrm>
          <a:prstGeom prst="rect">
            <a:avLst/>
          </a:prstGeom>
          <a:noFill/>
          <a:ln/>
        </p:spPr>
        <p:txBody>
          <a:bodyPr wrap="square" lIns="0" tIns="0" rIns="0" bIns="0" rtlCol="0" anchor="ctr"/>
          <a:lstStyle/>
          <a:p>
            <a:pPr indent="0" marL="0">
              <a:buNone/>
            </a:pPr>
            <a:r>
              <a:rPr lang="en-US" sz="1050" b="1" dirty="0">
                <a:solidFill>
                  <a:srgbClr val="141B33"/>
                </a:solidFill>
                <a:latin typeface="맑은 고딕" pitchFamily="34" charset="0"/>
                <a:ea typeface="맑은 고딕" pitchFamily="34" charset="-122"/>
                <a:cs typeface="맑은 고딕" pitchFamily="34" charset="-120"/>
              </a:rPr>
              <a:t>가로등정보</a:t>
            </a:r>
            <a:endParaRPr lang="en-US" sz="1050" dirty="0"/>
          </a:p>
        </p:txBody>
      </p:sp>
      <p:sp>
        <p:nvSpPr>
          <p:cNvPr id="20" name="Text 18"/>
          <p:cNvSpPr/>
          <p:nvPr/>
        </p:nvSpPr>
        <p:spPr>
          <a:xfrm>
            <a:off x="3172968" y="4443984"/>
            <a:ext cx="2880360" cy="310896"/>
          </a:xfrm>
          <a:prstGeom prst="rect">
            <a:avLst/>
          </a:prstGeom>
          <a:noFill/>
          <a:ln/>
        </p:spPr>
        <p:txBody>
          <a:bodyPr wrap="square" lIns="0" tIns="0" rIns="0" bIns="0" rtlCol="0" anchor="ctr"/>
          <a:lstStyle/>
          <a:p>
            <a:pPr indent="0" marL="0">
              <a:buNone/>
            </a:pPr>
            <a:r>
              <a:rPr lang="en-US" sz="950" dirty="0">
                <a:solidFill>
                  <a:srgbClr val="6E7796"/>
                </a:solidFill>
                <a:latin typeface="맑은 고딕" pitchFamily="34" charset="0"/>
                <a:ea typeface="맑은 고딕" pitchFamily="34" charset="-122"/>
                <a:cs typeface="맑은 고딕" pitchFamily="34" charset="-120"/>
              </a:rPr>
              <a:t>13,713건 → 30m 이내 조명 778개 정류장</a:t>
            </a:r>
            <a:endParaRPr lang="en-US" sz="950" dirty="0"/>
          </a:p>
        </p:txBody>
      </p:sp>
      <p:sp>
        <p:nvSpPr>
          <p:cNvPr id="21" name="Text 19"/>
          <p:cNvSpPr/>
          <p:nvPr/>
        </p:nvSpPr>
        <p:spPr>
          <a:xfrm>
            <a:off x="804672" y="4809744"/>
            <a:ext cx="2331720" cy="310896"/>
          </a:xfrm>
          <a:prstGeom prst="rect">
            <a:avLst/>
          </a:prstGeom>
          <a:noFill/>
          <a:ln/>
        </p:spPr>
        <p:txBody>
          <a:bodyPr wrap="square" lIns="0" tIns="0" rIns="0" bIns="0" rtlCol="0" anchor="ctr"/>
          <a:lstStyle/>
          <a:p>
            <a:pPr indent="0" marL="0">
              <a:buNone/>
            </a:pPr>
            <a:r>
              <a:rPr lang="en-US" sz="1050" b="1" dirty="0">
                <a:solidFill>
                  <a:srgbClr val="141B33"/>
                </a:solidFill>
                <a:latin typeface="맑은 고딕" pitchFamily="34" charset="0"/>
                <a:ea typeface="맑은 고딕" pitchFamily="34" charset="-122"/>
                <a:cs typeface="맑은 고딕" pitchFamily="34" charset="-120"/>
              </a:rPr>
              <a:t>시간대별 승하차 인원</a:t>
            </a:r>
            <a:endParaRPr lang="en-US" sz="1050" dirty="0"/>
          </a:p>
        </p:txBody>
      </p:sp>
      <p:sp>
        <p:nvSpPr>
          <p:cNvPr id="22" name="Text 20"/>
          <p:cNvSpPr/>
          <p:nvPr/>
        </p:nvSpPr>
        <p:spPr>
          <a:xfrm>
            <a:off x="3172968" y="4809744"/>
            <a:ext cx="2880360" cy="310896"/>
          </a:xfrm>
          <a:prstGeom prst="rect">
            <a:avLst/>
          </a:prstGeom>
          <a:noFill/>
          <a:ln/>
        </p:spPr>
        <p:txBody>
          <a:bodyPr wrap="square" lIns="0" tIns="0" rIns="0" bIns="0" rtlCol="0" anchor="ctr"/>
          <a:lstStyle/>
          <a:p>
            <a:pPr indent="0" marL="0">
              <a:buNone/>
            </a:pPr>
            <a:r>
              <a:rPr lang="en-US" sz="950" dirty="0">
                <a:solidFill>
                  <a:srgbClr val="6E7796"/>
                </a:solidFill>
                <a:latin typeface="맑은 고딕" pitchFamily="34" charset="0"/>
                <a:ea typeface="맑은 고딕" pitchFamily="34" charset="-122"/>
                <a:cs typeface="맑은 고딕" pitchFamily="34" charset="-120"/>
              </a:rPr>
              <a:t>1,595개 정류장에 24시간 이용량</a:t>
            </a:r>
            <a:endParaRPr lang="en-US" sz="950" dirty="0"/>
          </a:p>
        </p:txBody>
      </p:sp>
      <p:sp>
        <p:nvSpPr>
          <p:cNvPr id="23" name="Text 21"/>
          <p:cNvSpPr/>
          <p:nvPr/>
        </p:nvSpPr>
        <p:spPr>
          <a:xfrm>
            <a:off x="804672" y="5175504"/>
            <a:ext cx="2331720" cy="310896"/>
          </a:xfrm>
          <a:prstGeom prst="rect">
            <a:avLst/>
          </a:prstGeom>
          <a:noFill/>
          <a:ln/>
        </p:spPr>
        <p:txBody>
          <a:bodyPr wrap="square" lIns="0" tIns="0" rIns="0" bIns="0" rtlCol="0" anchor="ctr"/>
          <a:lstStyle/>
          <a:p>
            <a:pPr indent="0" marL="0">
              <a:buNone/>
            </a:pPr>
            <a:r>
              <a:rPr lang="en-US" sz="1050" b="1" dirty="0">
                <a:solidFill>
                  <a:srgbClr val="141B33"/>
                </a:solidFill>
                <a:latin typeface="맑은 고딕" pitchFamily="34" charset="0"/>
                <a:ea typeface="맑은 고딕" pitchFamily="34" charset="-122"/>
                <a:cs typeface="맑은 고딕" pitchFamily="34" charset="-120"/>
              </a:rPr>
              <a:t>국토교통부 정류장 현황</a:t>
            </a:r>
            <a:endParaRPr lang="en-US" sz="1050" dirty="0"/>
          </a:p>
        </p:txBody>
      </p:sp>
      <p:sp>
        <p:nvSpPr>
          <p:cNvPr id="24" name="Text 22"/>
          <p:cNvSpPr/>
          <p:nvPr/>
        </p:nvSpPr>
        <p:spPr>
          <a:xfrm>
            <a:off x="3172968" y="5175504"/>
            <a:ext cx="2880360" cy="310896"/>
          </a:xfrm>
          <a:prstGeom prst="rect">
            <a:avLst/>
          </a:prstGeom>
          <a:noFill/>
          <a:ln/>
        </p:spPr>
        <p:txBody>
          <a:bodyPr wrap="square" lIns="0" tIns="0" rIns="0" bIns="0" rtlCol="0" anchor="ctr"/>
          <a:lstStyle/>
          <a:p>
            <a:pPr indent="0" marL="0">
              <a:buNone/>
            </a:pPr>
            <a:r>
              <a:rPr lang="en-US" sz="950" dirty="0">
                <a:solidFill>
                  <a:srgbClr val="6E7796"/>
                </a:solidFill>
                <a:latin typeface="맑은 고딕" pitchFamily="34" charset="0"/>
                <a:ea typeface="맑은 고딕" pitchFamily="34" charset="-122"/>
                <a:cs typeface="맑은 고딕" pitchFamily="34" charset="-120"/>
              </a:rPr>
              <a:t>승차ID ↔ 정류장번호 대응</a:t>
            </a:r>
            <a:endParaRPr lang="en-US" sz="950" dirty="0"/>
          </a:p>
        </p:txBody>
      </p:sp>
      <p:sp>
        <p:nvSpPr>
          <p:cNvPr id="25" name="Shape 23"/>
          <p:cNvSpPr/>
          <p:nvPr/>
        </p:nvSpPr>
        <p:spPr>
          <a:xfrm>
            <a:off x="6510528" y="1691640"/>
            <a:ext cx="2441448" cy="3977640"/>
          </a:xfrm>
          <a:prstGeom prst="roundRect">
            <a:avLst>
              <a:gd name="adj" fmla="val 5243"/>
            </a:avLst>
          </a:prstGeom>
          <a:solidFill>
            <a:srgbClr val="F4F6FC"/>
          </a:solidFill>
          <a:ln w="12700">
            <a:solidFill>
              <a:srgbClr val="D4DAEE"/>
            </a:solidFill>
            <a:prstDash val="solid"/>
          </a:ln>
        </p:spPr>
      </p:sp>
      <p:sp>
        <p:nvSpPr>
          <p:cNvPr id="26" name="Text 24"/>
          <p:cNvSpPr/>
          <p:nvPr/>
        </p:nvSpPr>
        <p:spPr>
          <a:xfrm>
            <a:off x="6748272" y="1847088"/>
            <a:ext cx="1618488" cy="274320"/>
          </a:xfrm>
          <a:prstGeom prst="rect">
            <a:avLst/>
          </a:prstGeom>
          <a:noFill/>
          <a:ln/>
        </p:spPr>
        <p:txBody>
          <a:bodyPr wrap="square" lIns="0" tIns="0" rIns="0" bIns="0" rtlCol="0" anchor="ctr"/>
          <a:lstStyle/>
          <a:p>
            <a:pPr indent="0" marL="0">
              <a:buNone/>
            </a:pPr>
            <a:r>
              <a:rPr lang="en-US" sz="1200" b="1" dirty="0">
                <a:solidFill>
                  <a:srgbClr val="2B44A8"/>
                </a:solidFill>
                <a:latin typeface="맑은 고딕" pitchFamily="34" charset="0"/>
                <a:ea typeface="맑은 고딕" pitchFamily="34" charset="-122"/>
                <a:cs typeface="맑은 고딕" pitchFamily="34" charset="-120"/>
              </a:rPr>
              <a:t>외부 API</a:t>
            </a:r>
            <a:endParaRPr lang="en-US" sz="1200" dirty="0"/>
          </a:p>
        </p:txBody>
      </p:sp>
      <p:sp>
        <p:nvSpPr>
          <p:cNvPr id="27" name="Text 25"/>
          <p:cNvSpPr/>
          <p:nvPr/>
        </p:nvSpPr>
        <p:spPr>
          <a:xfrm>
            <a:off x="8174736" y="1847088"/>
            <a:ext cx="548640" cy="274320"/>
          </a:xfrm>
          <a:prstGeom prst="rect">
            <a:avLst/>
          </a:prstGeom>
          <a:noFill/>
          <a:ln/>
        </p:spPr>
        <p:txBody>
          <a:bodyPr wrap="square" lIns="0" tIns="0" rIns="0" bIns="0" rtlCol="0" anchor="ctr"/>
          <a:lstStyle/>
          <a:p>
            <a:pPr algn="r" indent="0" marL="0">
              <a:buNone/>
            </a:pPr>
            <a:r>
              <a:rPr lang="en-US" sz="1050" b="1" dirty="0">
                <a:solidFill>
                  <a:srgbClr val="6E7796"/>
                </a:solidFill>
                <a:latin typeface="맑은 고딕" pitchFamily="34" charset="0"/>
                <a:ea typeface="맑은 고딕" pitchFamily="34" charset="-122"/>
                <a:cs typeface="맑은 고딕" pitchFamily="34" charset="-120"/>
              </a:rPr>
              <a:t>4종</a:t>
            </a:r>
            <a:endParaRPr lang="en-US" sz="1050" dirty="0"/>
          </a:p>
        </p:txBody>
      </p:sp>
      <p:sp>
        <p:nvSpPr>
          <p:cNvPr id="28" name="Text 26"/>
          <p:cNvSpPr/>
          <p:nvPr/>
        </p:nvSpPr>
        <p:spPr>
          <a:xfrm>
            <a:off x="6748272" y="2249424"/>
            <a:ext cx="1984248" cy="237744"/>
          </a:xfrm>
          <a:prstGeom prst="rect">
            <a:avLst/>
          </a:prstGeom>
          <a:noFill/>
          <a:ln/>
        </p:spPr>
        <p:txBody>
          <a:bodyPr wrap="square" lIns="0" tIns="0" rIns="0" bIns="0" rtlCol="0" anchor="ctr"/>
          <a:lstStyle/>
          <a:p>
            <a:pPr indent="0" marL="0">
              <a:buNone/>
            </a:pPr>
            <a:r>
              <a:rPr lang="en-US" sz="1000" b="1" dirty="0">
                <a:solidFill>
                  <a:srgbClr val="141B33"/>
                </a:solidFill>
                <a:latin typeface="맑은 고딕" pitchFamily="34" charset="0"/>
                <a:ea typeface="맑은 고딕" pitchFamily="34" charset="-122"/>
                <a:cs typeface="맑은 고딕" pitchFamily="34" charset="-120"/>
              </a:rPr>
              <a:t>TAGO 버스도착정보</a:t>
            </a:r>
            <a:endParaRPr lang="en-US" sz="1000" dirty="0"/>
          </a:p>
        </p:txBody>
      </p:sp>
      <p:sp>
        <p:nvSpPr>
          <p:cNvPr id="29" name="Text 27"/>
          <p:cNvSpPr/>
          <p:nvPr/>
        </p:nvSpPr>
        <p:spPr>
          <a:xfrm>
            <a:off x="6748272" y="2478024"/>
            <a:ext cx="1984248" cy="274320"/>
          </a:xfrm>
          <a:prstGeom prst="rect">
            <a:avLst/>
          </a:prstGeom>
          <a:noFill/>
          <a:ln/>
        </p:spPr>
        <p:txBody>
          <a:bodyPr wrap="square" lIns="0" tIns="0" rIns="0" bIns="0" rtlCol="0" anchor="t"/>
          <a:lstStyle/>
          <a:p>
            <a:pPr indent="0" marL="0">
              <a:buNone/>
            </a:pPr>
            <a:r>
              <a:rPr lang="en-US" sz="900" dirty="0">
                <a:solidFill>
                  <a:srgbClr val="6E7796"/>
                </a:solidFill>
                <a:latin typeface="맑은 고딕" pitchFamily="34" charset="0"/>
                <a:ea typeface="맑은 고딕" pitchFamily="34" charset="-122"/>
                <a:cs typeface="맑은 고딕" pitchFamily="34" charset="-120"/>
              </a:rPr>
              <a:t>실시간 도착 예정 (서버 프록시)</a:t>
            </a:r>
            <a:endParaRPr lang="en-US" sz="900" dirty="0"/>
          </a:p>
        </p:txBody>
      </p:sp>
      <p:sp>
        <p:nvSpPr>
          <p:cNvPr id="30" name="Text 28"/>
          <p:cNvSpPr/>
          <p:nvPr/>
        </p:nvSpPr>
        <p:spPr>
          <a:xfrm>
            <a:off x="6748272" y="3054096"/>
            <a:ext cx="1984248" cy="237744"/>
          </a:xfrm>
          <a:prstGeom prst="rect">
            <a:avLst/>
          </a:prstGeom>
          <a:noFill/>
          <a:ln/>
        </p:spPr>
        <p:txBody>
          <a:bodyPr wrap="square" lIns="0" tIns="0" rIns="0" bIns="0" rtlCol="0" anchor="ctr"/>
          <a:lstStyle/>
          <a:p>
            <a:pPr indent="0" marL="0">
              <a:buNone/>
            </a:pPr>
            <a:r>
              <a:rPr lang="en-US" sz="1000" b="1" dirty="0">
                <a:solidFill>
                  <a:srgbClr val="141B33"/>
                </a:solidFill>
                <a:latin typeface="맑은 고딕" pitchFamily="34" charset="0"/>
                <a:ea typeface="맑은 고딕" pitchFamily="34" charset="-122"/>
                <a:cs typeface="맑은 고딕" pitchFamily="34" charset="-120"/>
              </a:rPr>
              <a:t>TAGO 버스정류소정보</a:t>
            </a:r>
            <a:endParaRPr lang="en-US" sz="1000" dirty="0"/>
          </a:p>
        </p:txBody>
      </p:sp>
      <p:sp>
        <p:nvSpPr>
          <p:cNvPr id="31" name="Text 29"/>
          <p:cNvSpPr/>
          <p:nvPr/>
        </p:nvSpPr>
        <p:spPr>
          <a:xfrm>
            <a:off x="6748272" y="3282696"/>
            <a:ext cx="1984248" cy="274320"/>
          </a:xfrm>
          <a:prstGeom prst="rect">
            <a:avLst/>
          </a:prstGeom>
          <a:noFill/>
          <a:ln/>
        </p:spPr>
        <p:txBody>
          <a:bodyPr wrap="square" lIns="0" tIns="0" rIns="0" bIns="0" rtlCol="0" anchor="t"/>
          <a:lstStyle/>
          <a:p>
            <a:pPr indent="0" marL="0">
              <a:buNone/>
            </a:pPr>
            <a:r>
              <a:rPr lang="en-US" sz="900" dirty="0">
                <a:solidFill>
                  <a:srgbClr val="6E7796"/>
                </a:solidFill>
                <a:latin typeface="맑은 고딕" pitchFamily="34" charset="0"/>
                <a:ea typeface="맑은 고딕" pitchFamily="34" charset="-122"/>
                <a:cs typeface="맑은 고딕" pitchFamily="34" charset="-120"/>
              </a:rPr>
              <a:t>nodeId 대응 1,845곳</a:t>
            </a:r>
            <a:endParaRPr lang="en-US" sz="900" dirty="0"/>
          </a:p>
        </p:txBody>
      </p:sp>
      <p:sp>
        <p:nvSpPr>
          <p:cNvPr id="32" name="Text 30"/>
          <p:cNvSpPr/>
          <p:nvPr/>
        </p:nvSpPr>
        <p:spPr>
          <a:xfrm>
            <a:off x="6748272" y="3858768"/>
            <a:ext cx="1984248" cy="237744"/>
          </a:xfrm>
          <a:prstGeom prst="rect">
            <a:avLst/>
          </a:prstGeom>
          <a:noFill/>
          <a:ln/>
        </p:spPr>
        <p:txBody>
          <a:bodyPr wrap="square" lIns="0" tIns="0" rIns="0" bIns="0" rtlCol="0" anchor="ctr"/>
          <a:lstStyle/>
          <a:p>
            <a:pPr indent="0" marL="0">
              <a:buNone/>
            </a:pPr>
            <a:r>
              <a:rPr lang="en-US" sz="1000" b="1" dirty="0">
                <a:solidFill>
                  <a:srgbClr val="141B33"/>
                </a:solidFill>
                <a:latin typeface="맑은 고딕" pitchFamily="34" charset="0"/>
                <a:ea typeface="맑은 고딕" pitchFamily="34" charset="-122"/>
                <a:cs typeface="맑은 고딕" pitchFamily="34" charset="-120"/>
              </a:rPr>
              <a:t>카카오맵 JavaScript SDK</a:t>
            </a:r>
            <a:endParaRPr lang="en-US" sz="1000" dirty="0"/>
          </a:p>
        </p:txBody>
      </p:sp>
      <p:sp>
        <p:nvSpPr>
          <p:cNvPr id="33" name="Text 31"/>
          <p:cNvSpPr/>
          <p:nvPr/>
        </p:nvSpPr>
        <p:spPr>
          <a:xfrm>
            <a:off x="6748272" y="4087368"/>
            <a:ext cx="1984248" cy="274320"/>
          </a:xfrm>
          <a:prstGeom prst="rect">
            <a:avLst/>
          </a:prstGeom>
          <a:noFill/>
          <a:ln/>
        </p:spPr>
        <p:txBody>
          <a:bodyPr wrap="square" lIns="0" tIns="0" rIns="0" bIns="0" rtlCol="0" anchor="t"/>
          <a:lstStyle/>
          <a:p>
            <a:pPr indent="0" marL="0">
              <a:buNone/>
            </a:pPr>
            <a:r>
              <a:rPr lang="en-US" sz="900" dirty="0">
                <a:solidFill>
                  <a:srgbClr val="6E7796"/>
                </a:solidFill>
                <a:latin typeface="맑은 고딕" pitchFamily="34" charset="0"/>
                <a:ea typeface="맑은 고딕" pitchFamily="34" charset="-122"/>
                <a:cs typeface="맑은 고딕" pitchFamily="34" charset="-120"/>
              </a:rPr>
              <a:t>지도·장소검색·역지오코딩</a:t>
            </a:r>
            <a:endParaRPr lang="en-US" sz="900" dirty="0"/>
          </a:p>
        </p:txBody>
      </p:sp>
      <p:sp>
        <p:nvSpPr>
          <p:cNvPr id="34" name="Text 32"/>
          <p:cNvSpPr/>
          <p:nvPr/>
        </p:nvSpPr>
        <p:spPr>
          <a:xfrm>
            <a:off x="6748272" y="4663440"/>
            <a:ext cx="1984248" cy="237744"/>
          </a:xfrm>
          <a:prstGeom prst="rect">
            <a:avLst/>
          </a:prstGeom>
          <a:noFill/>
          <a:ln/>
        </p:spPr>
        <p:txBody>
          <a:bodyPr wrap="square" lIns="0" tIns="0" rIns="0" bIns="0" rtlCol="0" anchor="ctr"/>
          <a:lstStyle/>
          <a:p>
            <a:pPr indent="0" marL="0">
              <a:buNone/>
            </a:pPr>
            <a:r>
              <a:rPr lang="en-US" sz="1000" b="1" dirty="0">
                <a:solidFill>
                  <a:srgbClr val="141B33"/>
                </a:solidFill>
                <a:latin typeface="맑은 고딕" pitchFamily="34" charset="0"/>
                <a:ea typeface="맑은 고딕" pitchFamily="34" charset="-122"/>
                <a:cs typeface="맑은 고딕" pitchFamily="34" charset="-120"/>
              </a:rPr>
              <a:t>카카오맵 로드뷰</a:t>
            </a:r>
            <a:endParaRPr lang="en-US" sz="1000" dirty="0"/>
          </a:p>
        </p:txBody>
      </p:sp>
      <p:sp>
        <p:nvSpPr>
          <p:cNvPr id="35" name="Text 33"/>
          <p:cNvSpPr/>
          <p:nvPr/>
        </p:nvSpPr>
        <p:spPr>
          <a:xfrm>
            <a:off x="6748272" y="4892040"/>
            <a:ext cx="1984248" cy="274320"/>
          </a:xfrm>
          <a:prstGeom prst="rect">
            <a:avLst/>
          </a:prstGeom>
          <a:noFill/>
          <a:ln/>
        </p:spPr>
        <p:txBody>
          <a:bodyPr wrap="square" lIns="0" tIns="0" rIns="0" bIns="0" rtlCol="0" anchor="t"/>
          <a:lstStyle/>
          <a:p>
            <a:pPr indent="0" marL="0">
              <a:buNone/>
            </a:pPr>
            <a:r>
              <a:rPr lang="en-US" sz="900" dirty="0">
                <a:solidFill>
                  <a:srgbClr val="6E7796"/>
                </a:solidFill>
                <a:latin typeface="맑은 고딕" pitchFamily="34" charset="0"/>
                <a:ea typeface="맑은 고딕" pitchFamily="34" charset="-122"/>
                <a:cs typeface="맑은 고딕" pitchFamily="34" charset="-120"/>
              </a:rPr>
              <a:t>시설 육안 조사 시 참조</a:t>
            </a:r>
            <a:endParaRPr lang="en-US" sz="900" dirty="0"/>
          </a:p>
        </p:txBody>
      </p:sp>
      <p:sp>
        <p:nvSpPr>
          <p:cNvPr id="36" name="Shape 34"/>
          <p:cNvSpPr/>
          <p:nvPr/>
        </p:nvSpPr>
        <p:spPr>
          <a:xfrm>
            <a:off x="9180576" y="1691640"/>
            <a:ext cx="2444191" cy="3977640"/>
          </a:xfrm>
          <a:prstGeom prst="roundRect">
            <a:avLst>
              <a:gd name="adj" fmla="val 5238"/>
            </a:avLst>
          </a:prstGeom>
          <a:solidFill>
            <a:srgbClr val="F4F6FC"/>
          </a:solidFill>
          <a:ln w="12700">
            <a:solidFill>
              <a:srgbClr val="D4DAEE"/>
            </a:solidFill>
            <a:prstDash val="solid"/>
          </a:ln>
        </p:spPr>
      </p:sp>
      <p:sp>
        <p:nvSpPr>
          <p:cNvPr id="37" name="Text 35"/>
          <p:cNvSpPr/>
          <p:nvPr/>
        </p:nvSpPr>
        <p:spPr>
          <a:xfrm>
            <a:off x="9418320" y="1847088"/>
            <a:ext cx="1621231" cy="274320"/>
          </a:xfrm>
          <a:prstGeom prst="rect">
            <a:avLst/>
          </a:prstGeom>
          <a:noFill/>
          <a:ln/>
        </p:spPr>
        <p:txBody>
          <a:bodyPr wrap="square" lIns="0" tIns="0" rIns="0" bIns="0" rtlCol="0" anchor="ctr"/>
          <a:lstStyle/>
          <a:p>
            <a:pPr indent="0" marL="0">
              <a:buNone/>
            </a:pPr>
            <a:r>
              <a:rPr lang="en-US" sz="1200" b="1" dirty="0">
                <a:solidFill>
                  <a:srgbClr val="E8751A"/>
                </a:solidFill>
                <a:latin typeface="맑은 고딕" pitchFamily="34" charset="0"/>
                <a:ea typeface="맑은 고딕" pitchFamily="34" charset="-122"/>
                <a:cs typeface="맑은 고딕" pitchFamily="34" charset="-120"/>
              </a:rPr>
              <a:t>자체 구축 데이터</a:t>
            </a:r>
            <a:endParaRPr lang="en-US" sz="1200" dirty="0"/>
          </a:p>
        </p:txBody>
      </p:sp>
      <p:sp>
        <p:nvSpPr>
          <p:cNvPr id="38" name="Text 36"/>
          <p:cNvSpPr/>
          <p:nvPr/>
        </p:nvSpPr>
        <p:spPr>
          <a:xfrm>
            <a:off x="10847527" y="1847088"/>
            <a:ext cx="548640" cy="274320"/>
          </a:xfrm>
          <a:prstGeom prst="rect">
            <a:avLst/>
          </a:prstGeom>
          <a:noFill/>
          <a:ln/>
        </p:spPr>
        <p:txBody>
          <a:bodyPr wrap="square" lIns="0" tIns="0" rIns="0" bIns="0" rtlCol="0" anchor="ctr"/>
          <a:lstStyle/>
          <a:p>
            <a:pPr algn="r" indent="0" marL="0">
              <a:buNone/>
            </a:pPr>
            <a:r>
              <a:rPr lang="en-US" sz="1050" b="1" dirty="0">
                <a:solidFill>
                  <a:srgbClr val="6E7796"/>
                </a:solidFill>
                <a:latin typeface="맑은 고딕" pitchFamily="34" charset="0"/>
                <a:ea typeface="맑은 고딕" pitchFamily="34" charset="-122"/>
                <a:cs typeface="맑은 고딕" pitchFamily="34" charset="-120"/>
              </a:rPr>
              <a:t>3종</a:t>
            </a:r>
            <a:endParaRPr lang="en-US" sz="1050" dirty="0"/>
          </a:p>
        </p:txBody>
      </p:sp>
      <p:sp>
        <p:nvSpPr>
          <p:cNvPr id="39" name="Text 37"/>
          <p:cNvSpPr/>
          <p:nvPr/>
        </p:nvSpPr>
        <p:spPr>
          <a:xfrm>
            <a:off x="9418320" y="2249424"/>
            <a:ext cx="1986991" cy="237744"/>
          </a:xfrm>
          <a:prstGeom prst="rect">
            <a:avLst/>
          </a:prstGeom>
          <a:noFill/>
          <a:ln/>
        </p:spPr>
        <p:txBody>
          <a:bodyPr wrap="square" lIns="0" tIns="0" rIns="0" bIns="0" rtlCol="0" anchor="ctr"/>
          <a:lstStyle/>
          <a:p>
            <a:pPr indent="0" marL="0">
              <a:buNone/>
            </a:pPr>
            <a:r>
              <a:rPr lang="en-US" sz="1000" b="1" dirty="0">
                <a:solidFill>
                  <a:srgbClr val="141B33"/>
                </a:solidFill>
                <a:latin typeface="맑은 고딕" pitchFamily="34" charset="0"/>
                <a:ea typeface="맑은 고딕" pitchFamily="34" charset="-122"/>
                <a:cs typeface="맑은 고딕" pitchFamily="34" charset="-120"/>
              </a:rPr>
              <a:t>정류장 시설 현황 조사</a:t>
            </a:r>
            <a:endParaRPr lang="en-US" sz="1000" dirty="0"/>
          </a:p>
        </p:txBody>
      </p:sp>
      <p:sp>
        <p:nvSpPr>
          <p:cNvPr id="40" name="Text 38"/>
          <p:cNvSpPr/>
          <p:nvPr/>
        </p:nvSpPr>
        <p:spPr>
          <a:xfrm>
            <a:off x="9418320" y="2478024"/>
            <a:ext cx="1986991" cy="274320"/>
          </a:xfrm>
          <a:prstGeom prst="rect">
            <a:avLst/>
          </a:prstGeom>
          <a:noFill/>
          <a:ln/>
        </p:spPr>
        <p:txBody>
          <a:bodyPr wrap="square" lIns="0" tIns="0" rIns="0" bIns="0" rtlCol="0" anchor="t"/>
          <a:lstStyle/>
          <a:p>
            <a:pPr indent="0" marL="0">
              <a:buNone/>
            </a:pPr>
            <a:r>
              <a:rPr lang="en-US" sz="900" dirty="0">
                <a:solidFill>
                  <a:srgbClr val="6E7796"/>
                </a:solidFill>
                <a:latin typeface="맑은 고딕" pitchFamily="34" charset="0"/>
                <a:ea typeface="맑은 고딕" pitchFamily="34" charset="-122"/>
                <a:cs typeface="맑은 고딕" pitchFamily="34" charset="-120"/>
              </a:rPr>
              <a:t>161개 정류장 · 로드뷰 육안 판독</a:t>
            </a:r>
            <a:endParaRPr lang="en-US" sz="900" dirty="0"/>
          </a:p>
        </p:txBody>
      </p:sp>
      <p:sp>
        <p:nvSpPr>
          <p:cNvPr id="41" name="Text 39"/>
          <p:cNvSpPr/>
          <p:nvPr/>
        </p:nvSpPr>
        <p:spPr>
          <a:xfrm>
            <a:off x="9418320" y="3300984"/>
            <a:ext cx="1986991" cy="237744"/>
          </a:xfrm>
          <a:prstGeom prst="rect">
            <a:avLst/>
          </a:prstGeom>
          <a:noFill/>
          <a:ln/>
        </p:spPr>
        <p:txBody>
          <a:bodyPr wrap="square" lIns="0" tIns="0" rIns="0" bIns="0" rtlCol="0" anchor="ctr"/>
          <a:lstStyle/>
          <a:p>
            <a:pPr indent="0" marL="0">
              <a:buNone/>
            </a:pPr>
            <a:r>
              <a:rPr lang="en-US" sz="1000" b="1" dirty="0">
                <a:solidFill>
                  <a:srgbClr val="141B33"/>
                </a:solidFill>
                <a:latin typeface="맑은 고딕" pitchFamily="34" charset="0"/>
                <a:ea typeface="맑은 고딕" pitchFamily="34" charset="-122"/>
                <a:cs typeface="맑은 고딕" pitchFamily="34" charset="-120"/>
              </a:rPr>
              <a:t>정류장 ID 대응 테이블</a:t>
            </a:r>
            <a:endParaRPr lang="en-US" sz="1000" dirty="0"/>
          </a:p>
        </p:txBody>
      </p:sp>
      <p:sp>
        <p:nvSpPr>
          <p:cNvPr id="42" name="Text 40"/>
          <p:cNvSpPr/>
          <p:nvPr/>
        </p:nvSpPr>
        <p:spPr>
          <a:xfrm>
            <a:off x="9418320" y="3529584"/>
            <a:ext cx="1986991" cy="274320"/>
          </a:xfrm>
          <a:prstGeom prst="rect">
            <a:avLst/>
          </a:prstGeom>
          <a:noFill/>
          <a:ln/>
        </p:spPr>
        <p:txBody>
          <a:bodyPr wrap="square" lIns="0" tIns="0" rIns="0" bIns="0" rtlCol="0" anchor="t"/>
          <a:lstStyle/>
          <a:p>
            <a:pPr indent="0" marL="0">
              <a:buNone/>
            </a:pPr>
            <a:r>
              <a:rPr lang="en-US" sz="900" dirty="0">
                <a:solidFill>
                  <a:srgbClr val="6E7796"/>
                </a:solidFill>
                <a:latin typeface="맑은 고딕" pitchFamily="34" charset="0"/>
                <a:ea typeface="맑은 고딕" pitchFamily="34" charset="-122"/>
                <a:cs typeface="맑은 고딕" pitchFamily="34" charset="-120"/>
              </a:rPr>
              <a:t>4개 ID 체계 연결</a:t>
            </a:r>
            <a:endParaRPr lang="en-US" sz="900" dirty="0"/>
          </a:p>
        </p:txBody>
      </p:sp>
      <p:sp>
        <p:nvSpPr>
          <p:cNvPr id="43" name="Text 41"/>
          <p:cNvSpPr/>
          <p:nvPr/>
        </p:nvSpPr>
        <p:spPr>
          <a:xfrm>
            <a:off x="9418320" y="4352544"/>
            <a:ext cx="1986991" cy="237744"/>
          </a:xfrm>
          <a:prstGeom prst="rect">
            <a:avLst/>
          </a:prstGeom>
          <a:noFill/>
          <a:ln/>
        </p:spPr>
        <p:txBody>
          <a:bodyPr wrap="square" lIns="0" tIns="0" rIns="0" bIns="0" rtlCol="0" anchor="ctr"/>
          <a:lstStyle/>
          <a:p>
            <a:pPr indent="0" marL="0">
              <a:buNone/>
            </a:pPr>
            <a:r>
              <a:rPr lang="en-US" sz="1000" b="1" dirty="0">
                <a:solidFill>
                  <a:srgbClr val="141B33"/>
                </a:solidFill>
                <a:latin typeface="맑은 고딕" pitchFamily="34" charset="0"/>
                <a:ea typeface="맑은 고딕" pitchFamily="34" charset="-122"/>
                <a:cs typeface="맑은 고딕" pitchFamily="34" charset="-120"/>
              </a:rPr>
              <a:t>시민 사진 제보 + AI 판독</a:t>
            </a:r>
            <a:endParaRPr lang="en-US" sz="1000" dirty="0"/>
          </a:p>
        </p:txBody>
      </p:sp>
      <p:sp>
        <p:nvSpPr>
          <p:cNvPr id="44" name="Text 42"/>
          <p:cNvSpPr/>
          <p:nvPr/>
        </p:nvSpPr>
        <p:spPr>
          <a:xfrm>
            <a:off x="9418320" y="4581144"/>
            <a:ext cx="1986991" cy="274320"/>
          </a:xfrm>
          <a:prstGeom prst="rect">
            <a:avLst/>
          </a:prstGeom>
          <a:noFill/>
          <a:ln/>
        </p:spPr>
        <p:txBody>
          <a:bodyPr wrap="square" lIns="0" tIns="0" rIns="0" bIns="0" rtlCol="0" anchor="t"/>
          <a:lstStyle/>
          <a:p>
            <a:pPr indent="0" marL="0">
              <a:buNone/>
            </a:pPr>
            <a:r>
              <a:rPr lang="en-US" sz="900" dirty="0">
                <a:solidFill>
                  <a:srgbClr val="6E7796"/>
                </a:solidFill>
                <a:latin typeface="맑은 고딕" pitchFamily="34" charset="0"/>
                <a:ea typeface="맑은 고딕" pitchFamily="34" charset="-122"/>
                <a:cs typeface="맑은 고딕" pitchFamily="34" charset="-120"/>
              </a:rPr>
              <a:t>런타임 생성 · 미확인 보완</a:t>
            </a:r>
            <a:endParaRPr lang="en-US" sz="900" dirty="0"/>
          </a:p>
        </p:txBody>
      </p:sp>
      <p:sp>
        <p:nvSpPr>
          <p:cNvPr id="45" name="Shape 43"/>
          <p:cNvSpPr/>
          <p:nvPr/>
        </p:nvSpPr>
        <p:spPr>
          <a:xfrm>
            <a:off x="566928" y="5760720"/>
            <a:ext cx="11057839" cy="457200"/>
          </a:xfrm>
          <a:prstGeom prst="roundRect">
            <a:avLst>
              <a:gd name="adj" fmla="val 28000"/>
            </a:avLst>
          </a:prstGeom>
          <a:solidFill>
            <a:srgbClr val="E7EBF8"/>
          </a:solidFill>
          <a:ln w="12700">
            <a:solidFill>
              <a:srgbClr val="E7EBF8"/>
            </a:solidFill>
            <a:prstDash val="solid"/>
          </a:ln>
        </p:spPr>
      </p:sp>
      <p:sp>
        <p:nvSpPr>
          <p:cNvPr id="46" name="Text 44"/>
          <p:cNvSpPr/>
          <p:nvPr/>
        </p:nvSpPr>
        <p:spPr>
          <a:xfrm>
            <a:off x="841248" y="5760720"/>
            <a:ext cx="10509199" cy="457200"/>
          </a:xfrm>
          <a:prstGeom prst="rect">
            <a:avLst/>
          </a:prstGeom>
          <a:noFill/>
          <a:ln/>
        </p:spPr>
        <p:txBody>
          <a:bodyPr wrap="square" lIns="0" tIns="0" rIns="0" bIns="0" rtlCol="0" anchor="ctr"/>
          <a:lstStyle/>
          <a:p>
            <a:pPr indent="0" marL="0">
              <a:buNone/>
            </a:pPr>
            <a:r>
              <a:rPr lang="en-US" sz="950" b="1" dirty="0">
                <a:solidFill>
                  <a:srgbClr val="001871"/>
                </a:solidFill>
                <a:latin typeface="맑은 고딕" pitchFamily="34" charset="0"/>
                <a:ea typeface="맑은 고딕" pitchFamily="34" charset="-122"/>
                <a:cs typeface="맑은 고딕" pitchFamily="34" charset="-120"/>
              </a:rPr>
              <a:t>① 무더위쉼터 좌표 100% — 정류장 1,890개 전부에 최근접 쉼터 거리 계산      ② 그늘 유무는 어느 공개 데이터에도 없어 로드뷰로 161개소 직접 판독</a:t>
            </a:r>
            <a:endParaRPr lang="en-US" sz="950" dirty="0"/>
          </a:p>
        </p:txBody>
      </p:sp>
      <p:sp>
        <p:nvSpPr>
          <p:cNvPr id="47" name="Text 45"/>
          <p:cNvSpPr/>
          <p:nvPr/>
        </p:nvSpPr>
        <p:spPr>
          <a:xfrm>
            <a:off x="566928" y="6327648"/>
            <a:ext cx="4572000" cy="274320"/>
          </a:xfrm>
          <a:prstGeom prst="rect">
            <a:avLst/>
          </a:prstGeom>
          <a:noFill/>
          <a:ln/>
        </p:spPr>
        <p:txBody>
          <a:bodyPr wrap="square" lIns="0" tIns="0" rIns="0" bIns="0" rtlCol="0" anchor="ctr"/>
          <a:lstStyle/>
          <a:p>
            <a:pPr algn="l" indent="0" marL="0">
              <a:buNone/>
            </a:pPr>
            <a:r>
              <a:rPr lang="en-US" sz="900" dirty="0">
                <a:solidFill>
                  <a:srgbClr val="6E7796"/>
                </a:solidFill>
                <a:latin typeface="맑은 고딕" pitchFamily="34" charset="0"/>
                <a:ea typeface="맑은 고딕" pitchFamily="34" charset="-122"/>
                <a:cs typeface="맑은 고딕" pitchFamily="34" charset="-120"/>
              </a:rPr>
              <a:t>쉼표정류장  ·  팀 오댕국</a:t>
            </a:r>
            <a:endParaRPr lang="en-US" sz="900" dirty="0"/>
          </a:p>
        </p:txBody>
      </p:sp>
      <p:sp>
        <p:nvSpPr>
          <p:cNvPr id="48" name="Text 46"/>
          <p:cNvSpPr/>
          <p:nvPr/>
        </p:nvSpPr>
        <p:spPr>
          <a:xfrm>
            <a:off x="10710367" y="6327648"/>
            <a:ext cx="914400" cy="274320"/>
          </a:xfrm>
          <a:prstGeom prst="rect">
            <a:avLst/>
          </a:prstGeom>
          <a:noFill/>
          <a:ln/>
        </p:spPr>
        <p:txBody>
          <a:bodyPr wrap="square" lIns="0" tIns="0" rIns="0" bIns="0" rtlCol="0" anchor="ctr"/>
          <a:lstStyle/>
          <a:p>
            <a:pPr algn="r" indent="0" marL="0">
              <a:buNone/>
            </a:pPr>
            <a:r>
              <a:rPr lang="en-US" sz="900" dirty="0">
                <a:solidFill>
                  <a:srgbClr val="6E7796"/>
                </a:solidFill>
                <a:latin typeface="맑은 고딕" pitchFamily="34" charset="0"/>
                <a:ea typeface="맑은 고딕" pitchFamily="34" charset="-122"/>
                <a:cs typeface="맑은 고딕"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11057839" cy="274320"/>
          </a:xfrm>
          <a:prstGeom prst="rect">
            <a:avLst/>
          </a:prstGeom>
          <a:noFill/>
          <a:ln/>
        </p:spPr>
        <p:txBody>
          <a:bodyPr wrap="square" lIns="0" tIns="0" rIns="0" bIns="0" rtlCol="0" anchor="ctr"/>
          <a:lstStyle/>
          <a:p>
            <a:pPr indent="0" marL="0">
              <a:buNone/>
            </a:pPr>
            <a:r>
              <a:rPr lang="en-US" sz="1100" b="1" dirty="0">
                <a:solidFill>
                  <a:srgbClr val="E8751A"/>
                </a:solidFill>
                <a:latin typeface="맑은 고딕" pitchFamily="34" charset="0"/>
                <a:ea typeface="맑은 고딕" pitchFamily="34" charset="-122"/>
                <a:cs typeface="맑은 고딕" pitchFamily="34" charset="-120"/>
              </a:rPr>
              <a:t>02</a:t>
            </a:r>
            <a:pPr indent="0" marL="0">
              <a:buNone/>
            </a:pPr>
            <a:r>
              <a:rPr lang="en-US" sz="1100" b="1" dirty="0">
                <a:solidFill>
                  <a:srgbClr val="6E7796"/>
                </a:solidFill>
                <a:latin typeface="맑은 고딕" pitchFamily="34" charset="0"/>
                <a:ea typeface="맑은 고딕" pitchFamily="34" charset="-122"/>
                <a:cs typeface="맑은 고딕" pitchFamily="34" charset="-120"/>
              </a:rPr>
              <a:t>   활용한 데이터와 처리 구조</a:t>
            </a:r>
            <a:endParaRPr lang="en-US" sz="1100" dirty="0"/>
          </a:p>
        </p:txBody>
      </p:sp>
      <p:sp>
        <p:nvSpPr>
          <p:cNvPr id="3" name="Text 1"/>
          <p:cNvSpPr/>
          <p:nvPr/>
        </p:nvSpPr>
        <p:spPr>
          <a:xfrm>
            <a:off x="566928" y="749808"/>
            <a:ext cx="11057839" cy="566928"/>
          </a:xfrm>
          <a:prstGeom prst="rect">
            <a:avLst/>
          </a:prstGeom>
          <a:noFill/>
          <a:ln/>
        </p:spPr>
        <p:txBody>
          <a:bodyPr wrap="square" lIns="0" tIns="0" rIns="0" bIns="0" rtlCol="0" anchor="ctr"/>
          <a:lstStyle/>
          <a:p>
            <a:pPr indent="0" marL="0">
              <a:buNone/>
            </a:pPr>
            <a:r>
              <a:rPr lang="en-US" sz="2700" b="1" dirty="0">
                <a:solidFill>
                  <a:srgbClr val="141B33"/>
                </a:solidFill>
                <a:latin typeface="맑은 고딕" pitchFamily="34" charset="0"/>
                <a:ea typeface="맑은 고딕" pitchFamily="34" charset="-122"/>
                <a:cs typeface="맑은 고딕" pitchFamily="34" charset="-120"/>
              </a:rPr>
              <a:t>흩어진 데이터를 '정류장 단위'로 붙였습니다</a:t>
            </a:r>
            <a:endParaRPr lang="en-US" sz="2700" dirty="0"/>
          </a:p>
        </p:txBody>
      </p:sp>
      <p:sp>
        <p:nvSpPr>
          <p:cNvPr id="4" name="Text 2"/>
          <p:cNvSpPr/>
          <p:nvPr/>
        </p:nvSpPr>
        <p:spPr>
          <a:xfrm>
            <a:off x="566928" y="1335024"/>
            <a:ext cx="11057839" cy="310896"/>
          </a:xfrm>
          <a:prstGeom prst="rect">
            <a:avLst/>
          </a:prstGeom>
          <a:noFill/>
          <a:ln/>
        </p:spPr>
        <p:txBody>
          <a:bodyPr wrap="square" lIns="0" tIns="0" rIns="0" bIns="0" rtlCol="0" anchor="ctr"/>
          <a:lstStyle/>
          <a:p>
            <a:pPr indent="0" marL="0">
              <a:buNone/>
            </a:pPr>
            <a:r>
              <a:rPr lang="en-US" sz="1300" dirty="0">
                <a:solidFill>
                  <a:srgbClr val="6E7796"/>
                </a:solidFill>
                <a:latin typeface="맑은 고딕" pitchFamily="34" charset="0"/>
                <a:ea typeface="맑은 고딕" pitchFamily="34" charset="-122"/>
                <a:cs typeface="맑은 고딕" pitchFamily="34" charset="-120"/>
              </a:rPr>
              <a:t>쉼터는 안전 부서, 벤치는 교통 부서, 가로등은 도로 부서 — 연결 키가 전부 다릅니다</a:t>
            </a:r>
            <a:endParaRPr lang="en-US" sz="1300" dirty="0"/>
          </a:p>
        </p:txBody>
      </p:sp>
      <p:sp>
        <p:nvSpPr>
          <p:cNvPr id="5" name="Shape 3"/>
          <p:cNvSpPr/>
          <p:nvPr/>
        </p:nvSpPr>
        <p:spPr>
          <a:xfrm>
            <a:off x="566928" y="1965960"/>
            <a:ext cx="3063240" cy="3246120"/>
          </a:xfrm>
          <a:prstGeom prst="roundRect">
            <a:avLst>
              <a:gd name="adj" fmla="val 4179"/>
            </a:avLst>
          </a:prstGeom>
          <a:solidFill>
            <a:srgbClr val="F4F6FC"/>
          </a:solidFill>
          <a:ln w="12700">
            <a:solidFill>
              <a:srgbClr val="D4DAEE"/>
            </a:solidFill>
            <a:prstDash val="solid"/>
          </a:ln>
        </p:spPr>
      </p:sp>
      <p:sp>
        <p:nvSpPr>
          <p:cNvPr id="6" name="Text 4"/>
          <p:cNvSpPr/>
          <p:nvPr/>
        </p:nvSpPr>
        <p:spPr>
          <a:xfrm>
            <a:off x="822960" y="2121408"/>
            <a:ext cx="2560320" cy="274320"/>
          </a:xfrm>
          <a:prstGeom prst="rect">
            <a:avLst/>
          </a:prstGeom>
          <a:noFill/>
          <a:ln/>
        </p:spPr>
        <p:txBody>
          <a:bodyPr wrap="square" lIns="0" tIns="0" rIns="0" bIns="0" rtlCol="0" anchor="ctr"/>
          <a:lstStyle/>
          <a:p>
            <a:pPr indent="0" marL="0">
              <a:buNone/>
            </a:pPr>
            <a:r>
              <a:rPr lang="en-US" sz="1150" b="1" dirty="0">
                <a:solidFill>
                  <a:srgbClr val="6E7796"/>
                </a:solidFill>
                <a:latin typeface="맑은 고딕" pitchFamily="34" charset="0"/>
                <a:ea typeface="맑은 고딕" pitchFamily="34" charset="-122"/>
                <a:cs typeface="맑은 고딕" pitchFamily="34" charset="-120"/>
              </a:rPr>
              <a:t>분산된 원천 데이터</a:t>
            </a:r>
            <a:endParaRPr lang="en-US" sz="1150" dirty="0"/>
          </a:p>
        </p:txBody>
      </p:sp>
      <p:sp>
        <p:nvSpPr>
          <p:cNvPr id="7" name="Shape 5"/>
          <p:cNvSpPr/>
          <p:nvPr/>
        </p:nvSpPr>
        <p:spPr>
          <a:xfrm>
            <a:off x="804672" y="2487168"/>
            <a:ext cx="2606040" cy="347472"/>
          </a:xfrm>
          <a:prstGeom prst="roundRect">
            <a:avLst>
              <a:gd name="adj" fmla="val 21053"/>
            </a:avLst>
          </a:prstGeom>
          <a:solidFill>
            <a:srgbClr val="FFFFFF"/>
          </a:solidFill>
          <a:ln w="12700">
            <a:solidFill>
              <a:srgbClr val="D4DAEE"/>
            </a:solidFill>
            <a:prstDash val="solid"/>
          </a:ln>
        </p:spPr>
      </p:sp>
      <p:sp>
        <p:nvSpPr>
          <p:cNvPr id="8" name="Text 6"/>
          <p:cNvSpPr/>
          <p:nvPr/>
        </p:nvSpPr>
        <p:spPr>
          <a:xfrm>
            <a:off x="950976" y="2487168"/>
            <a:ext cx="1463040" cy="347472"/>
          </a:xfrm>
          <a:prstGeom prst="rect">
            <a:avLst/>
          </a:prstGeom>
          <a:noFill/>
          <a:ln/>
        </p:spPr>
        <p:txBody>
          <a:bodyPr wrap="square" lIns="0" tIns="0" rIns="0" bIns="0" rtlCol="0" anchor="ctr"/>
          <a:lstStyle/>
          <a:p>
            <a:pPr indent="0" marL="0">
              <a:buNone/>
            </a:pPr>
            <a:r>
              <a:rPr lang="en-US" sz="1000" b="1" dirty="0">
                <a:solidFill>
                  <a:srgbClr val="141B33"/>
                </a:solidFill>
                <a:latin typeface="맑은 고딕" pitchFamily="34" charset="0"/>
                <a:ea typeface="맑은 고딕" pitchFamily="34" charset="-122"/>
                <a:cs typeface="맑은 고딕" pitchFamily="34" charset="-120"/>
              </a:rPr>
              <a:t>무더위쉼터</a:t>
            </a:r>
            <a:endParaRPr lang="en-US" sz="1000" dirty="0"/>
          </a:p>
        </p:txBody>
      </p:sp>
      <p:sp>
        <p:nvSpPr>
          <p:cNvPr id="9" name="Text 7"/>
          <p:cNvSpPr/>
          <p:nvPr/>
        </p:nvSpPr>
        <p:spPr>
          <a:xfrm>
            <a:off x="2395728" y="2487168"/>
            <a:ext cx="868680" cy="347472"/>
          </a:xfrm>
          <a:prstGeom prst="rect">
            <a:avLst/>
          </a:prstGeom>
          <a:noFill/>
          <a:ln/>
        </p:spPr>
        <p:txBody>
          <a:bodyPr wrap="square" lIns="0" tIns="0" rIns="0" bIns="0" rtlCol="0" anchor="ctr"/>
          <a:lstStyle/>
          <a:p>
            <a:pPr algn="r" indent="0" marL="0">
              <a:buNone/>
            </a:pPr>
            <a:r>
              <a:rPr lang="en-US" sz="950" dirty="0">
                <a:solidFill>
                  <a:srgbClr val="6E7796"/>
                </a:solidFill>
                <a:latin typeface="맑은 고딕" pitchFamily="34" charset="0"/>
                <a:ea typeface="맑은 고딕" pitchFamily="34" charset="-122"/>
                <a:cs typeface="맑은 고딕" pitchFamily="34" charset="-120"/>
              </a:rPr>
              <a:t>228개소</a:t>
            </a:r>
            <a:endParaRPr lang="en-US" sz="950" dirty="0"/>
          </a:p>
        </p:txBody>
      </p:sp>
      <p:sp>
        <p:nvSpPr>
          <p:cNvPr id="10" name="Shape 8"/>
          <p:cNvSpPr/>
          <p:nvPr/>
        </p:nvSpPr>
        <p:spPr>
          <a:xfrm>
            <a:off x="804672" y="2916936"/>
            <a:ext cx="2606040" cy="347472"/>
          </a:xfrm>
          <a:prstGeom prst="roundRect">
            <a:avLst>
              <a:gd name="adj" fmla="val 21053"/>
            </a:avLst>
          </a:prstGeom>
          <a:solidFill>
            <a:srgbClr val="FFFFFF"/>
          </a:solidFill>
          <a:ln w="12700">
            <a:solidFill>
              <a:srgbClr val="D4DAEE"/>
            </a:solidFill>
            <a:prstDash val="solid"/>
          </a:ln>
        </p:spPr>
      </p:sp>
      <p:sp>
        <p:nvSpPr>
          <p:cNvPr id="11" name="Text 9"/>
          <p:cNvSpPr/>
          <p:nvPr/>
        </p:nvSpPr>
        <p:spPr>
          <a:xfrm>
            <a:off x="950976" y="2916936"/>
            <a:ext cx="1463040" cy="347472"/>
          </a:xfrm>
          <a:prstGeom prst="rect">
            <a:avLst/>
          </a:prstGeom>
          <a:noFill/>
          <a:ln/>
        </p:spPr>
        <p:txBody>
          <a:bodyPr wrap="square" lIns="0" tIns="0" rIns="0" bIns="0" rtlCol="0" anchor="ctr"/>
          <a:lstStyle/>
          <a:p>
            <a:pPr indent="0" marL="0">
              <a:buNone/>
            </a:pPr>
            <a:r>
              <a:rPr lang="en-US" sz="1000" b="1" dirty="0">
                <a:solidFill>
                  <a:srgbClr val="141B33"/>
                </a:solidFill>
                <a:latin typeface="맑은 고딕" pitchFamily="34" charset="0"/>
                <a:ea typeface="맑은 고딕" pitchFamily="34" charset="-122"/>
                <a:cs typeface="맑은 고딕" pitchFamily="34" charset="-120"/>
              </a:rPr>
              <a:t>폭염저감시설</a:t>
            </a:r>
            <a:endParaRPr lang="en-US" sz="1000" dirty="0"/>
          </a:p>
        </p:txBody>
      </p:sp>
      <p:sp>
        <p:nvSpPr>
          <p:cNvPr id="12" name="Text 10"/>
          <p:cNvSpPr/>
          <p:nvPr/>
        </p:nvSpPr>
        <p:spPr>
          <a:xfrm>
            <a:off x="2395728" y="2916936"/>
            <a:ext cx="868680" cy="347472"/>
          </a:xfrm>
          <a:prstGeom prst="rect">
            <a:avLst/>
          </a:prstGeom>
          <a:noFill/>
          <a:ln/>
        </p:spPr>
        <p:txBody>
          <a:bodyPr wrap="square" lIns="0" tIns="0" rIns="0" bIns="0" rtlCol="0" anchor="ctr"/>
          <a:lstStyle/>
          <a:p>
            <a:pPr algn="r" indent="0" marL="0">
              <a:buNone/>
            </a:pPr>
            <a:r>
              <a:rPr lang="en-US" sz="950" dirty="0">
                <a:solidFill>
                  <a:srgbClr val="6E7796"/>
                </a:solidFill>
                <a:latin typeface="맑은 고딕" pitchFamily="34" charset="0"/>
                <a:ea typeface="맑은 고딕" pitchFamily="34" charset="-122"/>
                <a:cs typeface="맑은 고딕" pitchFamily="34" charset="-120"/>
              </a:rPr>
              <a:t>319개소</a:t>
            </a:r>
            <a:endParaRPr lang="en-US" sz="950" dirty="0"/>
          </a:p>
        </p:txBody>
      </p:sp>
      <p:sp>
        <p:nvSpPr>
          <p:cNvPr id="13" name="Shape 11"/>
          <p:cNvSpPr/>
          <p:nvPr/>
        </p:nvSpPr>
        <p:spPr>
          <a:xfrm>
            <a:off x="804672" y="3346704"/>
            <a:ext cx="2606040" cy="347472"/>
          </a:xfrm>
          <a:prstGeom prst="roundRect">
            <a:avLst>
              <a:gd name="adj" fmla="val 21053"/>
            </a:avLst>
          </a:prstGeom>
          <a:solidFill>
            <a:srgbClr val="FFFFFF"/>
          </a:solidFill>
          <a:ln w="12700">
            <a:solidFill>
              <a:srgbClr val="D4DAEE"/>
            </a:solidFill>
            <a:prstDash val="solid"/>
          </a:ln>
        </p:spPr>
      </p:sp>
      <p:sp>
        <p:nvSpPr>
          <p:cNvPr id="14" name="Text 12"/>
          <p:cNvSpPr/>
          <p:nvPr/>
        </p:nvSpPr>
        <p:spPr>
          <a:xfrm>
            <a:off x="950976" y="3346704"/>
            <a:ext cx="1463040" cy="347472"/>
          </a:xfrm>
          <a:prstGeom prst="rect">
            <a:avLst/>
          </a:prstGeom>
          <a:noFill/>
          <a:ln/>
        </p:spPr>
        <p:txBody>
          <a:bodyPr wrap="square" lIns="0" tIns="0" rIns="0" bIns="0" rtlCol="0" anchor="ctr"/>
          <a:lstStyle/>
          <a:p>
            <a:pPr indent="0" marL="0">
              <a:buNone/>
            </a:pPr>
            <a:r>
              <a:rPr lang="en-US" sz="1000" b="1" dirty="0">
                <a:solidFill>
                  <a:srgbClr val="141B33"/>
                </a:solidFill>
                <a:latin typeface="맑은 고딕" pitchFamily="34" charset="0"/>
                <a:ea typeface="맑은 고딕" pitchFamily="34" charset="-122"/>
                <a:cs typeface="맑은 고딕" pitchFamily="34" charset="-120"/>
              </a:rPr>
              <a:t>벤치 현황</a:t>
            </a:r>
            <a:endParaRPr lang="en-US" sz="1000" dirty="0"/>
          </a:p>
        </p:txBody>
      </p:sp>
      <p:sp>
        <p:nvSpPr>
          <p:cNvPr id="15" name="Text 13"/>
          <p:cNvSpPr/>
          <p:nvPr/>
        </p:nvSpPr>
        <p:spPr>
          <a:xfrm>
            <a:off x="2395728" y="3346704"/>
            <a:ext cx="868680" cy="347472"/>
          </a:xfrm>
          <a:prstGeom prst="rect">
            <a:avLst/>
          </a:prstGeom>
          <a:noFill/>
          <a:ln/>
        </p:spPr>
        <p:txBody>
          <a:bodyPr wrap="square" lIns="0" tIns="0" rIns="0" bIns="0" rtlCol="0" anchor="ctr"/>
          <a:lstStyle/>
          <a:p>
            <a:pPr algn="r" indent="0" marL="0">
              <a:buNone/>
            </a:pPr>
            <a:r>
              <a:rPr lang="en-US" sz="950" dirty="0">
                <a:solidFill>
                  <a:srgbClr val="6E7796"/>
                </a:solidFill>
                <a:latin typeface="맑은 고딕" pitchFamily="34" charset="0"/>
                <a:ea typeface="맑은 고딕" pitchFamily="34" charset="-122"/>
                <a:cs typeface="맑은 고딕" pitchFamily="34" charset="-120"/>
              </a:rPr>
              <a:t>681건</a:t>
            </a:r>
            <a:endParaRPr lang="en-US" sz="950" dirty="0"/>
          </a:p>
        </p:txBody>
      </p:sp>
      <p:sp>
        <p:nvSpPr>
          <p:cNvPr id="16" name="Shape 14"/>
          <p:cNvSpPr/>
          <p:nvPr/>
        </p:nvSpPr>
        <p:spPr>
          <a:xfrm>
            <a:off x="804672" y="3776472"/>
            <a:ext cx="2606040" cy="347472"/>
          </a:xfrm>
          <a:prstGeom prst="roundRect">
            <a:avLst>
              <a:gd name="adj" fmla="val 21053"/>
            </a:avLst>
          </a:prstGeom>
          <a:solidFill>
            <a:srgbClr val="FFFFFF"/>
          </a:solidFill>
          <a:ln w="12700">
            <a:solidFill>
              <a:srgbClr val="D4DAEE"/>
            </a:solidFill>
            <a:prstDash val="solid"/>
          </a:ln>
        </p:spPr>
      </p:sp>
      <p:sp>
        <p:nvSpPr>
          <p:cNvPr id="17" name="Text 15"/>
          <p:cNvSpPr/>
          <p:nvPr/>
        </p:nvSpPr>
        <p:spPr>
          <a:xfrm>
            <a:off x="950976" y="3776472"/>
            <a:ext cx="1463040" cy="347472"/>
          </a:xfrm>
          <a:prstGeom prst="rect">
            <a:avLst/>
          </a:prstGeom>
          <a:noFill/>
          <a:ln/>
        </p:spPr>
        <p:txBody>
          <a:bodyPr wrap="square" lIns="0" tIns="0" rIns="0" bIns="0" rtlCol="0" anchor="ctr"/>
          <a:lstStyle/>
          <a:p>
            <a:pPr indent="0" marL="0">
              <a:buNone/>
            </a:pPr>
            <a:r>
              <a:rPr lang="en-US" sz="1000" b="1" dirty="0">
                <a:solidFill>
                  <a:srgbClr val="141B33"/>
                </a:solidFill>
                <a:latin typeface="맑은 고딕" pitchFamily="34" charset="0"/>
                <a:ea typeface="맑은 고딕" pitchFamily="34" charset="-122"/>
                <a:cs typeface="맑은 고딕" pitchFamily="34" charset="-120"/>
              </a:rPr>
              <a:t>BIT 현황</a:t>
            </a:r>
            <a:endParaRPr lang="en-US" sz="1000" dirty="0"/>
          </a:p>
        </p:txBody>
      </p:sp>
      <p:sp>
        <p:nvSpPr>
          <p:cNvPr id="18" name="Text 16"/>
          <p:cNvSpPr/>
          <p:nvPr/>
        </p:nvSpPr>
        <p:spPr>
          <a:xfrm>
            <a:off x="2395728" y="3776472"/>
            <a:ext cx="868680" cy="347472"/>
          </a:xfrm>
          <a:prstGeom prst="rect">
            <a:avLst/>
          </a:prstGeom>
          <a:noFill/>
          <a:ln/>
        </p:spPr>
        <p:txBody>
          <a:bodyPr wrap="square" lIns="0" tIns="0" rIns="0" bIns="0" rtlCol="0" anchor="ctr"/>
          <a:lstStyle/>
          <a:p>
            <a:pPr algn="r" indent="0" marL="0">
              <a:buNone/>
            </a:pPr>
            <a:r>
              <a:rPr lang="en-US" sz="950" dirty="0">
                <a:solidFill>
                  <a:srgbClr val="6E7796"/>
                </a:solidFill>
                <a:latin typeface="맑은 고딕" pitchFamily="34" charset="0"/>
                <a:ea typeface="맑은 고딕" pitchFamily="34" charset="-122"/>
                <a:cs typeface="맑은 고딕" pitchFamily="34" charset="-120"/>
              </a:rPr>
              <a:t>345건</a:t>
            </a:r>
            <a:endParaRPr lang="en-US" sz="950" dirty="0"/>
          </a:p>
        </p:txBody>
      </p:sp>
      <p:sp>
        <p:nvSpPr>
          <p:cNvPr id="19" name="Shape 17"/>
          <p:cNvSpPr/>
          <p:nvPr/>
        </p:nvSpPr>
        <p:spPr>
          <a:xfrm>
            <a:off x="804672" y="4206240"/>
            <a:ext cx="2606040" cy="347472"/>
          </a:xfrm>
          <a:prstGeom prst="roundRect">
            <a:avLst>
              <a:gd name="adj" fmla="val 21053"/>
            </a:avLst>
          </a:prstGeom>
          <a:solidFill>
            <a:srgbClr val="FFFFFF"/>
          </a:solidFill>
          <a:ln w="12700">
            <a:solidFill>
              <a:srgbClr val="D4DAEE"/>
            </a:solidFill>
            <a:prstDash val="solid"/>
          </a:ln>
        </p:spPr>
      </p:sp>
      <p:sp>
        <p:nvSpPr>
          <p:cNvPr id="20" name="Text 18"/>
          <p:cNvSpPr/>
          <p:nvPr/>
        </p:nvSpPr>
        <p:spPr>
          <a:xfrm>
            <a:off x="950976" y="4206240"/>
            <a:ext cx="1463040" cy="347472"/>
          </a:xfrm>
          <a:prstGeom prst="rect">
            <a:avLst/>
          </a:prstGeom>
          <a:noFill/>
          <a:ln/>
        </p:spPr>
        <p:txBody>
          <a:bodyPr wrap="square" lIns="0" tIns="0" rIns="0" bIns="0" rtlCol="0" anchor="ctr"/>
          <a:lstStyle/>
          <a:p>
            <a:pPr indent="0" marL="0">
              <a:buNone/>
            </a:pPr>
            <a:r>
              <a:rPr lang="en-US" sz="1000" b="1" dirty="0">
                <a:solidFill>
                  <a:srgbClr val="141B33"/>
                </a:solidFill>
                <a:latin typeface="맑은 고딕" pitchFamily="34" charset="0"/>
                <a:ea typeface="맑은 고딕" pitchFamily="34" charset="-122"/>
                <a:cs typeface="맑은 고딕" pitchFamily="34" charset="-120"/>
              </a:rPr>
              <a:t>가로등정보</a:t>
            </a:r>
            <a:endParaRPr lang="en-US" sz="1000" dirty="0"/>
          </a:p>
        </p:txBody>
      </p:sp>
      <p:sp>
        <p:nvSpPr>
          <p:cNvPr id="21" name="Text 19"/>
          <p:cNvSpPr/>
          <p:nvPr/>
        </p:nvSpPr>
        <p:spPr>
          <a:xfrm>
            <a:off x="2395728" y="4206240"/>
            <a:ext cx="868680" cy="347472"/>
          </a:xfrm>
          <a:prstGeom prst="rect">
            <a:avLst/>
          </a:prstGeom>
          <a:noFill/>
          <a:ln/>
        </p:spPr>
        <p:txBody>
          <a:bodyPr wrap="square" lIns="0" tIns="0" rIns="0" bIns="0" rtlCol="0" anchor="ctr"/>
          <a:lstStyle/>
          <a:p>
            <a:pPr algn="r" indent="0" marL="0">
              <a:buNone/>
            </a:pPr>
            <a:r>
              <a:rPr lang="en-US" sz="950" dirty="0">
                <a:solidFill>
                  <a:srgbClr val="6E7796"/>
                </a:solidFill>
                <a:latin typeface="맑은 고딕" pitchFamily="34" charset="0"/>
                <a:ea typeface="맑은 고딕" pitchFamily="34" charset="-122"/>
                <a:cs typeface="맑은 고딕" pitchFamily="34" charset="-120"/>
              </a:rPr>
              <a:t>13,713건</a:t>
            </a:r>
            <a:endParaRPr lang="en-US" sz="950" dirty="0"/>
          </a:p>
        </p:txBody>
      </p:sp>
      <p:sp>
        <p:nvSpPr>
          <p:cNvPr id="22" name="Shape 20"/>
          <p:cNvSpPr/>
          <p:nvPr/>
        </p:nvSpPr>
        <p:spPr>
          <a:xfrm>
            <a:off x="804672" y="4636008"/>
            <a:ext cx="2606040" cy="347472"/>
          </a:xfrm>
          <a:prstGeom prst="roundRect">
            <a:avLst>
              <a:gd name="adj" fmla="val 21053"/>
            </a:avLst>
          </a:prstGeom>
          <a:solidFill>
            <a:srgbClr val="FFFFFF"/>
          </a:solidFill>
          <a:ln w="12700">
            <a:solidFill>
              <a:srgbClr val="D4DAEE"/>
            </a:solidFill>
            <a:prstDash val="solid"/>
          </a:ln>
        </p:spPr>
      </p:sp>
      <p:sp>
        <p:nvSpPr>
          <p:cNvPr id="23" name="Text 21"/>
          <p:cNvSpPr/>
          <p:nvPr/>
        </p:nvSpPr>
        <p:spPr>
          <a:xfrm>
            <a:off x="950976" y="4636008"/>
            <a:ext cx="1463040" cy="347472"/>
          </a:xfrm>
          <a:prstGeom prst="rect">
            <a:avLst/>
          </a:prstGeom>
          <a:noFill/>
          <a:ln/>
        </p:spPr>
        <p:txBody>
          <a:bodyPr wrap="square" lIns="0" tIns="0" rIns="0" bIns="0" rtlCol="0" anchor="ctr"/>
          <a:lstStyle/>
          <a:p>
            <a:pPr indent="0" marL="0">
              <a:buNone/>
            </a:pPr>
            <a:r>
              <a:rPr lang="en-US" sz="1000" b="1" dirty="0">
                <a:solidFill>
                  <a:srgbClr val="141B33"/>
                </a:solidFill>
                <a:latin typeface="맑은 고딕" pitchFamily="34" charset="0"/>
                <a:ea typeface="맑은 고딕" pitchFamily="34" charset="-122"/>
                <a:cs typeface="맑은 고딕" pitchFamily="34" charset="-120"/>
              </a:rPr>
              <a:t>노선정보</a:t>
            </a:r>
            <a:endParaRPr lang="en-US" sz="1000" dirty="0"/>
          </a:p>
        </p:txBody>
      </p:sp>
      <p:sp>
        <p:nvSpPr>
          <p:cNvPr id="24" name="Text 22"/>
          <p:cNvSpPr/>
          <p:nvPr/>
        </p:nvSpPr>
        <p:spPr>
          <a:xfrm>
            <a:off x="2395728" y="4636008"/>
            <a:ext cx="868680" cy="347472"/>
          </a:xfrm>
          <a:prstGeom prst="rect">
            <a:avLst/>
          </a:prstGeom>
          <a:noFill/>
          <a:ln/>
        </p:spPr>
        <p:txBody>
          <a:bodyPr wrap="square" lIns="0" tIns="0" rIns="0" bIns="0" rtlCol="0" anchor="ctr"/>
          <a:lstStyle/>
          <a:p>
            <a:pPr algn="r" indent="0" marL="0">
              <a:buNone/>
            </a:pPr>
            <a:r>
              <a:rPr lang="en-US" sz="950" dirty="0">
                <a:solidFill>
                  <a:srgbClr val="6E7796"/>
                </a:solidFill>
                <a:latin typeface="맑은 고딕" pitchFamily="34" charset="0"/>
                <a:ea typeface="맑은 고딕" pitchFamily="34" charset="-122"/>
                <a:cs typeface="맑은 고딕" pitchFamily="34" charset="-120"/>
              </a:rPr>
              <a:t>16,168행</a:t>
            </a:r>
            <a:endParaRPr lang="en-US" sz="950" dirty="0"/>
          </a:p>
        </p:txBody>
      </p:sp>
      <p:sp>
        <p:nvSpPr>
          <p:cNvPr id="25" name="Shape 23"/>
          <p:cNvSpPr/>
          <p:nvPr/>
        </p:nvSpPr>
        <p:spPr>
          <a:xfrm>
            <a:off x="3813048" y="1965960"/>
            <a:ext cx="3246120" cy="3246120"/>
          </a:xfrm>
          <a:prstGeom prst="roundRect">
            <a:avLst>
              <a:gd name="adj" fmla="val 3944"/>
            </a:avLst>
          </a:prstGeom>
          <a:solidFill>
            <a:srgbClr val="001871"/>
          </a:solidFill>
          <a:ln w="12700">
            <a:solidFill>
              <a:srgbClr val="001871"/>
            </a:solidFill>
            <a:prstDash val="solid"/>
          </a:ln>
        </p:spPr>
      </p:sp>
      <p:sp>
        <p:nvSpPr>
          <p:cNvPr id="26" name="Text 24"/>
          <p:cNvSpPr/>
          <p:nvPr/>
        </p:nvSpPr>
        <p:spPr>
          <a:xfrm>
            <a:off x="4069080" y="2121408"/>
            <a:ext cx="2743200" cy="274320"/>
          </a:xfrm>
          <a:prstGeom prst="rect">
            <a:avLst/>
          </a:prstGeom>
          <a:noFill/>
          <a:ln/>
        </p:spPr>
        <p:txBody>
          <a:bodyPr wrap="square" lIns="0" tIns="0" rIns="0" bIns="0" rtlCol="0" anchor="ctr"/>
          <a:lstStyle/>
          <a:p>
            <a:pPr indent="0" marL="0">
              <a:buNone/>
            </a:pPr>
            <a:r>
              <a:rPr lang="en-US" sz="1150" b="1" dirty="0">
                <a:solidFill>
                  <a:srgbClr val="A6B3E6"/>
                </a:solidFill>
                <a:latin typeface="맑은 고딕" pitchFamily="34" charset="0"/>
                <a:ea typeface="맑은 고딕" pitchFamily="34" charset="-122"/>
                <a:cs typeface="맑은 고딕" pitchFamily="34" charset="-120"/>
              </a:rPr>
              <a:t>4단계 매칭</a:t>
            </a:r>
            <a:endParaRPr lang="en-US" sz="1150" dirty="0"/>
          </a:p>
        </p:txBody>
      </p:sp>
      <p:sp>
        <p:nvSpPr>
          <p:cNvPr id="27" name="Text 25"/>
          <p:cNvSpPr/>
          <p:nvPr/>
        </p:nvSpPr>
        <p:spPr>
          <a:xfrm>
            <a:off x="4069080" y="2542032"/>
            <a:ext cx="2743200" cy="512064"/>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맑은 고딕" pitchFamily="34" charset="0"/>
                <a:ea typeface="맑은 고딕" pitchFamily="34" charset="-122"/>
                <a:cs typeface="맑은 고딕" pitchFamily="34" charset="-120"/>
              </a:rPr>
              <a:t>① 정류장번호 직접 매칭</a:t>
            </a:r>
            <a:endParaRPr lang="en-US" sz="1100" dirty="0"/>
          </a:p>
        </p:txBody>
      </p:sp>
      <p:sp>
        <p:nvSpPr>
          <p:cNvPr id="28" name="Text 26"/>
          <p:cNvSpPr/>
          <p:nvPr/>
        </p:nvSpPr>
        <p:spPr>
          <a:xfrm>
            <a:off x="4069080" y="3108960"/>
            <a:ext cx="2743200" cy="512064"/>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맑은 고딕" pitchFamily="34" charset="0"/>
                <a:ea typeface="맑은 고딕" pitchFamily="34" charset="-122"/>
                <a:cs typeface="맑은 고딕" pitchFamily="34" charset="-120"/>
              </a:rPr>
              <a:t>② 관리번호 매칭</a:t>
            </a:r>
            <a:endParaRPr lang="en-US" sz="1100" dirty="0"/>
          </a:p>
        </p:txBody>
      </p:sp>
      <p:sp>
        <p:nvSpPr>
          <p:cNvPr id="29" name="Text 27"/>
          <p:cNvSpPr/>
          <p:nvPr/>
        </p:nvSpPr>
        <p:spPr>
          <a:xfrm>
            <a:off x="4069080" y="3675888"/>
            <a:ext cx="2743200" cy="512064"/>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맑은 고딕" pitchFamily="34" charset="0"/>
                <a:ea typeface="맑은 고딕" pitchFamily="34" charset="-122"/>
                <a:cs typeface="맑은 고딕" pitchFamily="34" charset="-120"/>
              </a:rPr>
              <a:t>③ 좌표 반경·거리 매칭</a:t>
            </a:r>
            <a:endParaRPr lang="en-US" sz="1100" dirty="0"/>
          </a:p>
          <a:p>
            <a:pPr indent="0" marL="0">
              <a:lnSpc>
                <a:spcPct val="115000"/>
              </a:lnSpc>
              <a:buNone/>
            </a:pPr>
            <a:r>
              <a:rPr lang="en-US" sz="1100" dirty="0">
                <a:solidFill>
                  <a:srgbClr val="FFFFFF"/>
                </a:solidFill>
                <a:latin typeface="맑은 고딕" pitchFamily="34" charset="0"/>
                <a:ea typeface="맑은 고딕" pitchFamily="34" charset="-122"/>
                <a:cs typeface="맑은 고딕" pitchFamily="34" charset="-120"/>
              </a:rPr>
              <a:t>     (쉼터 · 그늘막 · 가로등)</a:t>
            </a:r>
            <a:endParaRPr lang="en-US" sz="1100" dirty="0"/>
          </a:p>
        </p:txBody>
      </p:sp>
      <p:sp>
        <p:nvSpPr>
          <p:cNvPr id="30" name="Text 28"/>
          <p:cNvSpPr/>
          <p:nvPr/>
        </p:nvSpPr>
        <p:spPr>
          <a:xfrm>
            <a:off x="4069080" y="4242816"/>
            <a:ext cx="2743200" cy="512064"/>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맑은 고딕" pitchFamily="34" charset="0"/>
                <a:ea typeface="맑은 고딕" pitchFamily="34" charset="-122"/>
                <a:cs typeface="맑은 고딕" pitchFamily="34" charset="-120"/>
              </a:rPr>
              <a:t>④ 정류장명 + 법정동 매칭</a:t>
            </a:r>
            <a:endParaRPr lang="en-US" sz="1100" dirty="0"/>
          </a:p>
        </p:txBody>
      </p:sp>
      <p:sp>
        <p:nvSpPr>
          <p:cNvPr id="31" name="Shape 29"/>
          <p:cNvSpPr/>
          <p:nvPr/>
        </p:nvSpPr>
        <p:spPr>
          <a:xfrm>
            <a:off x="4041648" y="4828032"/>
            <a:ext cx="2788920" cy="292608"/>
          </a:xfrm>
          <a:prstGeom prst="roundRect">
            <a:avLst>
              <a:gd name="adj" fmla="val 25000"/>
            </a:avLst>
          </a:prstGeom>
          <a:solidFill>
            <a:srgbClr val="16205C"/>
          </a:solidFill>
          <a:ln w="12700">
            <a:solidFill>
              <a:srgbClr val="2B44A8"/>
            </a:solidFill>
            <a:prstDash val="solid"/>
          </a:ln>
        </p:spPr>
      </p:sp>
      <p:sp>
        <p:nvSpPr>
          <p:cNvPr id="32" name="Text 30"/>
          <p:cNvSpPr/>
          <p:nvPr/>
        </p:nvSpPr>
        <p:spPr>
          <a:xfrm>
            <a:off x="4041648" y="4828032"/>
            <a:ext cx="2788920" cy="292608"/>
          </a:xfrm>
          <a:prstGeom prst="rect">
            <a:avLst/>
          </a:prstGeom>
          <a:noFill/>
          <a:ln/>
        </p:spPr>
        <p:txBody>
          <a:bodyPr wrap="square" lIns="0" tIns="0" rIns="0" bIns="0" rtlCol="0" anchor="ctr"/>
          <a:lstStyle/>
          <a:p>
            <a:pPr algn="ctr" indent="0" marL="0">
              <a:buNone/>
            </a:pPr>
            <a:r>
              <a:rPr lang="en-US" sz="1000" b="1" dirty="0">
                <a:solidFill>
                  <a:srgbClr val="E8751A"/>
                </a:solidFill>
                <a:latin typeface="맑은 고딕" pitchFamily="34" charset="0"/>
                <a:ea typeface="맑은 고딕" pitchFamily="34" charset="-122"/>
                <a:cs typeface="맑은 고딕" pitchFamily="34" charset="-120"/>
              </a:rPr>
              <a:t>→ ID 대응 테이블 구축</a:t>
            </a:r>
            <a:endParaRPr lang="en-US" sz="1000" dirty="0"/>
          </a:p>
        </p:txBody>
      </p:sp>
      <p:sp>
        <p:nvSpPr>
          <p:cNvPr id="33" name="Shape 31"/>
          <p:cNvSpPr/>
          <p:nvPr/>
        </p:nvSpPr>
        <p:spPr>
          <a:xfrm>
            <a:off x="7059168" y="1965960"/>
            <a:ext cx="4565599" cy="3246120"/>
          </a:xfrm>
          <a:prstGeom prst="roundRect">
            <a:avLst>
              <a:gd name="adj" fmla="val 3944"/>
            </a:avLst>
          </a:prstGeom>
          <a:solidFill>
            <a:srgbClr val="FFFFFF"/>
          </a:solidFill>
          <a:ln w="12700">
            <a:solidFill>
              <a:srgbClr val="D4DAEE"/>
            </a:solidFill>
            <a:prstDash val="solid"/>
          </a:ln>
          <a:effectLst>
            <a:outerShdw sx="100000" sy="100000" kx="0" ky="0" algn="bl" rotWithShape="0" blurRad="101600" dist="25400" dir="5400000">
              <a:srgbClr val="001871">
                <a:alpha val="7000"/>
              </a:srgbClr>
            </a:outerShdw>
          </a:effectLst>
        </p:spPr>
      </p:sp>
      <p:sp>
        <p:nvSpPr>
          <p:cNvPr id="34" name="Text 32"/>
          <p:cNvSpPr/>
          <p:nvPr/>
        </p:nvSpPr>
        <p:spPr>
          <a:xfrm>
            <a:off x="7315200" y="2121408"/>
            <a:ext cx="4023360" cy="274320"/>
          </a:xfrm>
          <a:prstGeom prst="rect">
            <a:avLst/>
          </a:prstGeom>
          <a:noFill/>
          <a:ln/>
        </p:spPr>
        <p:txBody>
          <a:bodyPr wrap="square" lIns="0" tIns="0" rIns="0" bIns="0" rtlCol="0" anchor="ctr"/>
          <a:lstStyle/>
          <a:p>
            <a:pPr indent="0" marL="0">
              <a:buNone/>
            </a:pPr>
            <a:r>
              <a:rPr lang="en-US" sz="1150" b="1" dirty="0">
                <a:solidFill>
                  <a:srgbClr val="E8751A"/>
                </a:solidFill>
                <a:latin typeface="맑은 고딕" pitchFamily="34" charset="0"/>
                <a:ea typeface="맑은 고딕" pitchFamily="34" charset="-122"/>
                <a:cs typeface="맑은 고딕" pitchFamily="34" charset="-120"/>
              </a:rPr>
              <a:t>정류장 1,890개 위의 산출물</a:t>
            </a:r>
            <a:endParaRPr lang="en-US" sz="1150" dirty="0"/>
          </a:p>
        </p:txBody>
      </p:sp>
      <p:sp>
        <p:nvSpPr>
          <p:cNvPr id="35" name="Text 33"/>
          <p:cNvSpPr/>
          <p:nvPr/>
        </p:nvSpPr>
        <p:spPr>
          <a:xfrm>
            <a:off x="7315200" y="2514600"/>
            <a:ext cx="4114800" cy="237744"/>
          </a:xfrm>
          <a:prstGeom prst="rect">
            <a:avLst/>
          </a:prstGeom>
          <a:noFill/>
          <a:ln/>
        </p:spPr>
        <p:txBody>
          <a:bodyPr wrap="square" lIns="0" tIns="0" rIns="0" bIns="0" rtlCol="0" anchor="ctr"/>
          <a:lstStyle/>
          <a:p>
            <a:pPr indent="0" marL="0">
              <a:buNone/>
            </a:pPr>
            <a:r>
              <a:rPr lang="en-US" sz="1150" b="1" dirty="0">
                <a:solidFill>
                  <a:srgbClr val="141B33"/>
                </a:solidFill>
                <a:latin typeface="맑은 고딕" pitchFamily="34" charset="0"/>
                <a:ea typeface="맑은 고딕" pitchFamily="34" charset="-122"/>
                <a:cs typeface="맑은 고딕" pitchFamily="34" charset="-120"/>
              </a:rPr>
              <a:t>근처 무더위쉼터  ★</a:t>
            </a:r>
            <a:endParaRPr lang="en-US" sz="1150" dirty="0"/>
          </a:p>
        </p:txBody>
      </p:sp>
      <p:sp>
        <p:nvSpPr>
          <p:cNvPr id="36" name="Text 34"/>
          <p:cNvSpPr/>
          <p:nvPr/>
        </p:nvSpPr>
        <p:spPr>
          <a:xfrm>
            <a:off x="7315200" y="2743200"/>
            <a:ext cx="4114800" cy="237744"/>
          </a:xfrm>
          <a:prstGeom prst="rect">
            <a:avLst/>
          </a:prstGeom>
          <a:noFill/>
          <a:ln/>
        </p:spPr>
        <p:txBody>
          <a:bodyPr wrap="square" lIns="0" tIns="0" rIns="0" bIns="0" rtlCol="0" anchor="ctr"/>
          <a:lstStyle/>
          <a:p>
            <a:pPr indent="0" marL="0">
              <a:buNone/>
            </a:pPr>
            <a:r>
              <a:rPr lang="en-US" sz="950" dirty="0">
                <a:solidFill>
                  <a:srgbClr val="6E7796"/>
                </a:solidFill>
                <a:latin typeface="맑은 고딕" pitchFamily="34" charset="0"/>
                <a:ea typeface="맑은 고딕" pitchFamily="34" charset="-122"/>
                <a:cs typeface="맑은 고딕" pitchFamily="34" charset="-120"/>
              </a:rPr>
              <a:t>최근접 쉼터 거리 · 도보 시간</a:t>
            </a:r>
            <a:endParaRPr lang="en-US" sz="950" dirty="0"/>
          </a:p>
        </p:txBody>
      </p:sp>
      <p:sp>
        <p:nvSpPr>
          <p:cNvPr id="37" name="Text 35"/>
          <p:cNvSpPr/>
          <p:nvPr/>
        </p:nvSpPr>
        <p:spPr>
          <a:xfrm>
            <a:off x="7315200" y="3044952"/>
            <a:ext cx="4114800" cy="237744"/>
          </a:xfrm>
          <a:prstGeom prst="rect">
            <a:avLst/>
          </a:prstGeom>
          <a:noFill/>
          <a:ln/>
        </p:spPr>
        <p:txBody>
          <a:bodyPr wrap="square" lIns="0" tIns="0" rIns="0" bIns="0" rtlCol="0" anchor="ctr"/>
          <a:lstStyle/>
          <a:p>
            <a:pPr indent="0" marL="0">
              <a:buNone/>
            </a:pPr>
            <a:r>
              <a:rPr lang="en-US" sz="1150" b="1" dirty="0">
                <a:solidFill>
                  <a:srgbClr val="141B33"/>
                </a:solidFill>
                <a:latin typeface="맑은 고딕" pitchFamily="34" charset="0"/>
                <a:ea typeface="맑은 고딕" pitchFamily="34" charset="-122"/>
                <a:cs typeface="맑은 고딕" pitchFamily="34" charset="-120"/>
              </a:rPr>
              <a:t>폭염 취약 판정</a:t>
            </a:r>
            <a:endParaRPr lang="en-US" sz="1150" dirty="0"/>
          </a:p>
        </p:txBody>
      </p:sp>
      <p:sp>
        <p:nvSpPr>
          <p:cNvPr id="38" name="Text 36"/>
          <p:cNvSpPr/>
          <p:nvPr/>
        </p:nvSpPr>
        <p:spPr>
          <a:xfrm>
            <a:off x="7315200" y="3273552"/>
            <a:ext cx="4114800" cy="237744"/>
          </a:xfrm>
          <a:prstGeom prst="rect">
            <a:avLst/>
          </a:prstGeom>
          <a:noFill/>
          <a:ln/>
        </p:spPr>
        <p:txBody>
          <a:bodyPr wrap="square" lIns="0" tIns="0" rIns="0" bIns="0" rtlCol="0" anchor="ctr"/>
          <a:lstStyle/>
          <a:p>
            <a:pPr indent="0" marL="0">
              <a:buNone/>
            </a:pPr>
            <a:r>
              <a:rPr lang="en-US" sz="950" dirty="0">
                <a:solidFill>
                  <a:srgbClr val="6E7796"/>
                </a:solidFill>
                <a:latin typeface="맑은 고딕" pitchFamily="34" charset="0"/>
                <a:ea typeface="맑은 고딕" pitchFamily="34" charset="-122"/>
                <a:cs typeface="맑은 고딕" pitchFamily="34" charset="-120"/>
              </a:rPr>
              <a:t>그늘 없음·미확인 AND 쉼터 300m 밖 → 1,369곳</a:t>
            </a:r>
            <a:endParaRPr lang="en-US" sz="950" dirty="0"/>
          </a:p>
        </p:txBody>
      </p:sp>
      <p:sp>
        <p:nvSpPr>
          <p:cNvPr id="39" name="Text 37"/>
          <p:cNvSpPr/>
          <p:nvPr/>
        </p:nvSpPr>
        <p:spPr>
          <a:xfrm>
            <a:off x="7315200" y="3575304"/>
            <a:ext cx="4114800" cy="237744"/>
          </a:xfrm>
          <a:prstGeom prst="rect">
            <a:avLst/>
          </a:prstGeom>
          <a:noFill/>
          <a:ln/>
        </p:spPr>
        <p:txBody>
          <a:bodyPr wrap="square" lIns="0" tIns="0" rIns="0" bIns="0" rtlCol="0" anchor="ctr"/>
          <a:lstStyle/>
          <a:p>
            <a:pPr indent="0" marL="0">
              <a:buNone/>
            </a:pPr>
            <a:r>
              <a:rPr lang="en-US" sz="1150" b="1" dirty="0">
                <a:solidFill>
                  <a:srgbClr val="141B33"/>
                </a:solidFill>
                <a:latin typeface="맑은 고딕" pitchFamily="34" charset="0"/>
                <a:ea typeface="맑은 고딕" pitchFamily="34" charset="-122"/>
                <a:cs typeface="맑은 고딕" pitchFamily="34" charset="-120"/>
              </a:rPr>
              <a:t>시설 실태 5종</a:t>
            </a:r>
            <a:endParaRPr lang="en-US" sz="1150" dirty="0"/>
          </a:p>
        </p:txBody>
      </p:sp>
      <p:sp>
        <p:nvSpPr>
          <p:cNvPr id="40" name="Text 38"/>
          <p:cNvSpPr/>
          <p:nvPr/>
        </p:nvSpPr>
        <p:spPr>
          <a:xfrm>
            <a:off x="7315200" y="3803904"/>
            <a:ext cx="4114800" cy="237744"/>
          </a:xfrm>
          <a:prstGeom prst="rect">
            <a:avLst/>
          </a:prstGeom>
          <a:noFill/>
          <a:ln/>
        </p:spPr>
        <p:txBody>
          <a:bodyPr wrap="square" lIns="0" tIns="0" rIns="0" bIns="0" rtlCol="0" anchor="ctr"/>
          <a:lstStyle/>
          <a:p>
            <a:pPr indent="0" marL="0">
              <a:buNone/>
            </a:pPr>
            <a:r>
              <a:rPr lang="en-US" sz="950" dirty="0">
                <a:solidFill>
                  <a:srgbClr val="6E7796"/>
                </a:solidFill>
                <a:latin typeface="맑은 고딕" pitchFamily="34" charset="0"/>
                <a:ea typeface="맑은 고딕" pitchFamily="34" charset="-122"/>
                <a:cs typeface="맑은 고딕" pitchFamily="34" charset="-120"/>
              </a:rPr>
              <a:t>그늘 · 의자 · 쉘터 · 안내기 · 조명</a:t>
            </a:r>
            <a:endParaRPr lang="en-US" sz="950" dirty="0"/>
          </a:p>
        </p:txBody>
      </p:sp>
      <p:sp>
        <p:nvSpPr>
          <p:cNvPr id="41" name="Text 39"/>
          <p:cNvSpPr/>
          <p:nvPr/>
        </p:nvSpPr>
        <p:spPr>
          <a:xfrm>
            <a:off x="7315200" y="4105656"/>
            <a:ext cx="4114800" cy="237744"/>
          </a:xfrm>
          <a:prstGeom prst="rect">
            <a:avLst/>
          </a:prstGeom>
          <a:noFill/>
          <a:ln/>
        </p:spPr>
        <p:txBody>
          <a:bodyPr wrap="square" lIns="0" tIns="0" rIns="0" bIns="0" rtlCol="0" anchor="ctr"/>
          <a:lstStyle/>
          <a:p>
            <a:pPr indent="0" marL="0">
              <a:buNone/>
            </a:pPr>
            <a:r>
              <a:rPr lang="en-US" sz="1150" b="1" dirty="0">
                <a:solidFill>
                  <a:srgbClr val="141B33"/>
                </a:solidFill>
                <a:latin typeface="맑은 고딕" pitchFamily="34" charset="0"/>
                <a:ea typeface="맑은 고딕" pitchFamily="34" charset="-122"/>
                <a:cs typeface="맑은 고딕" pitchFamily="34" charset="-120"/>
              </a:rPr>
              <a:t>이용량 축</a:t>
            </a:r>
            <a:endParaRPr lang="en-US" sz="1150" dirty="0"/>
          </a:p>
        </p:txBody>
      </p:sp>
      <p:sp>
        <p:nvSpPr>
          <p:cNvPr id="42" name="Text 40"/>
          <p:cNvSpPr/>
          <p:nvPr/>
        </p:nvSpPr>
        <p:spPr>
          <a:xfrm>
            <a:off x="7315200" y="4334256"/>
            <a:ext cx="4114800" cy="237744"/>
          </a:xfrm>
          <a:prstGeom prst="rect">
            <a:avLst/>
          </a:prstGeom>
          <a:noFill/>
          <a:ln/>
        </p:spPr>
        <p:txBody>
          <a:bodyPr wrap="square" lIns="0" tIns="0" rIns="0" bIns="0" rtlCol="0" anchor="ctr"/>
          <a:lstStyle/>
          <a:p>
            <a:pPr indent="0" marL="0">
              <a:buNone/>
            </a:pPr>
            <a:r>
              <a:rPr lang="en-US" sz="950" dirty="0">
                <a:solidFill>
                  <a:srgbClr val="6E7796"/>
                </a:solidFill>
                <a:latin typeface="맑은 고딕" pitchFamily="34" charset="0"/>
                <a:ea typeface="맑은 고딕" pitchFamily="34" charset="-122"/>
                <a:cs typeface="맑은 고딕" pitchFamily="34" charset="-120"/>
              </a:rPr>
              <a:t>정류장별 24시간 이용량 (1,595곳 매칭)</a:t>
            </a:r>
            <a:endParaRPr lang="en-US" sz="950" dirty="0"/>
          </a:p>
        </p:txBody>
      </p:sp>
      <p:sp>
        <p:nvSpPr>
          <p:cNvPr id="43" name="Text 41"/>
          <p:cNvSpPr/>
          <p:nvPr/>
        </p:nvSpPr>
        <p:spPr>
          <a:xfrm>
            <a:off x="7315200" y="4636008"/>
            <a:ext cx="4114800" cy="237744"/>
          </a:xfrm>
          <a:prstGeom prst="rect">
            <a:avLst/>
          </a:prstGeom>
          <a:noFill/>
          <a:ln/>
        </p:spPr>
        <p:txBody>
          <a:bodyPr wrap="square" lIns="0" tIns="0" rIns="0" bIns="0" rtlCol="0" anchor="ctr"/>
          <a:lstStyle/>
          <a:p>
            <a:pPr indent="0" marL="0">
              <a:buNone/>
            </a:pPr>
            <a:r>
              <a:rPr lang="en-US" sz="1150" b="1" dirty="0">
                <a:solidFill>
                  <a:srgbClr val="141B33"/>
                </a:solidFill>
                <a:latin typeface="맑은 고딕" pitchFamily="34" charset="0"/>
                <a:ea typeface="맑은 고딕" pitchFamily="34" charset="-122"/>
                <a:cs typeface="맑은 고딕" pitchFamily="34" charset="-120"/>
              </a:rPr>
              <a:t>실시간 도착</a:t>
            </a:r>
            <a:endParaRPr lang="en-US" sz="1150" dirty="0"/>
          </a:p>
        </p:txBody>
      </p:sp>
      <p:sp>
        <p:nvSpPr>
          <p:cNvPr id="44" name="Text 42"/>
          <p:cNvSpPr/>
          <p:nvPr/>
        </p:nvSpPr>
        <p:spPr>
          <a:xfrm>
            <a:off x="7315200" y="4864608"/>
            <a:ext cx="4114800" cy="237744"/>
          </a:xfrm>
          <a:prstGeom prst="rect">
            <a:avLst/>
          </a:prstGeom>
          <a:noFill/>
          <a:ln/>
        </p:spPr>
        <p:txBody>
          <a:bodyPr wrap="square" lIns="0" tIns="0" rIns="0" bIns="0" rtlCol="0" anchor="ctr"/>
          <a:lstStyle/>
          <a:p>
            <a:pPr indent="0" marL="0">
              <a:buNone/>
            </a:pPr>
            <a:r>
              <a:rPr lang="en-US" sz="950" dirty="0">
                <a:solidFill>
                  <a:srgbClr val="6E7796"/>
                </a:solidFill>
                <a:latin typeface="맑은 고딕" pitchFamily="34" charset="0"/>
                <a:ea typeface="맑은 고딕" pitchFamily="34" charset="-122"/>
                <a:cs typeface="맑은 고딕" pitchFamily="34" charset="-120"/>
              </a:rPr>
              <a:t>TAGO nodeId 연결 (1,845곳)</a:t>
            </a:r>
            <a:endParaRPr lang="en-US" sz="950" dirty="0"/>
          </a:p>
        </p:txBody>
      </p:sp>
      <p:sp>
        <p:nvSpPr>
          <p:cNvPr id="45" name="Text 43"/>
          <p:cNvSpPr/>
          <p:nvPr/>
        </p:nvSpPr>
        <p:spPr>
          <a:xfrm>
            <a:off x="566928" y="5961888"/>
            <a:ext cx="11057839" cy="310896"/>
          </a:xfrm>
          <a:prstGeom prst="rect">
            <a:avLst/>
          </a:prstGeom>
          <a:noFill/>
          <a:ln/>
        </p:spPr>
        <p:txBody>
          <a:bodyPr wrap="square" lIns="0" tIns="0" rIns="0" bIns="0" rtlCol="0" anchor="ctr"/>
          <a:lstStyle/>
          <a:p>
            <a:pPr indent="0" marL="0">
              <a:buNone/>
            </a:pPr>
            <a:r>
              <a:rPr lang="en-US" sz="850" dirty="0">
                <a:solidFill>
                  <a:srgbClr val="6E7796"/>
                </a:solidFill>
                <a:latin typeface="맑은 고딕" pitchFamily="34" charset="0"/>
                <a:ea typeface="맑은 고딕" pitchFamily="34" charset="-122"/>
                <a:cs typeface="맑은 고딕" pitchFamily="34" charset="-120"/>
              </a:rPr>
              <a:t>※ 정류장 ID 체계 4종(승차ID ↔ 정류장번호 ↔ 관리번호 ↔ TAGO nodeId)을 하나로 잇는 대응 테이블을 직접 만들었습니다</a:t>
            </a:r>
            <a:endParaRPr lang="en-US" sz="850" dirty="0"/>
          </a:p>
        </p:txBody>
      </p:sp>
      <p:sp>
        <p:nvSpPr>
          <p:cNvPr id="46" name="Text 44"/>
          <p:cNvSpPr/>
          <p:nvPr/>
        </p:nvSpPr>
        <p:spPr>
          <a:xfrm>
            <a:off x="566928" y="6327648"/>
            <a:ext cx="4572000" cy="274320"/>
          </a:xfrm>
          <a:prstGeom prst="rect">
            <a:avLst/>
          </a:prstGeom>
          <a:noFill/>
          <a:ln/>
        </p:spPr>
        <p:txBody>
          <a:bodyPr wrap="square" lIns="0" tIns="0" rIns="0" bIns="0" rtlCol="0" anchor="ctr"/>
          <a:lstStyle/>
          <a:p>
            <a:pPr algn="l" indent="0" marL="0">
              <a:buNone/>
            </a:pPr>
            <a:r>
              <a:rPr lang="en-US" sz="900" dirty="0">
                <a:solidFill>
                  <a:srgbClr val="6E7796"/>
                </a:solidFill>
                <a:latin typeface="맑은 고딕" pitchFamily="34" charset="0"/>
                <a:ea typeface="맑은 고딕" pitchFamily="34" charset="-122"/>
                <a:cs typeface="맑은 고딕" pitchFamily="34" charset="-120"/>
              </a:rPr>
              <a:t>쉼표정류장  ·  팀 오댕국</a:t>
            </a:r>
            <a:endParaRPr lang="en-US" sz="900" dirty="0"/>
          </a:p>
        </p:txBody>
      </p:sp>
      <p:sp>
        <p:nvSpPr>
          <p:cNvPr id="47" name="Text 45"/>
          <p:cNvSpPr/>
          <p:nvPr/>
        </p:nvSpPr>
        <p:spPr>
          <a:xfrm>
            <a:off x="10710367" y="6327648"/>
            <a:ext cx="914400" cy="274320"/>
          </a:xfrm>
          <a:prstGeom prst="rect">
            <a:avLst/>
          </a:prstGeom>
          <a:noFill/>
          <a:ln/>
        </p:spPr>
        <p:txBody>
          <a:bodyPr wrap="square" lIns="0" tIns="0" rIns="0" bIns="0" rtlCol="0" anchor="ctr"/>
          <a:lstStyle/>
          <a:p>
            <a:pPr algn="r" indent="0" marL="0">
              <a:buNone/>
            </a:pPr>
            <a:r>
              <a:rPr lang="en-US" sz="900" dirty="0">
                <a:solidFill>
                  <a:srgbClr val="6E7796"/>
                </a:solidFill>
                <a:latin typeface="맑은 고딕" pitchFamily="34" charset="0"/>
                <a:ea typeface="맑은 고딕" pitchFamily="34" charset="-122"/>
                <a:cs typeface="맑은 고딕"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11057839" cy="274320"/>
          </a:xfrm>
          <a:prstGeom prst="rect">
            <a:avLst/>
          </a:prstGeom>
          <a:noFill/>
          <a:ln/>
        </p:spPr>
        <p:txBody>
          <a:bodyPr wrap="square" lIns="0" tIns="0" rIns="0" bIns="0" rtlCol="0" anchor="ctr"/>
          <a:lstStyle/>
          <a:p>
            <a:pPr indent="0" marL="0">
              <a:buNone/>
            </a:pPr>
            <a:r>
              <a:rPr lang="en-US" sz="1100" b="1" dirty="0">
                <a:solidFill>
                  <a:srgbClr val="E8751A"/>
                </a:solidFill>
                <a:latin typeface="맑은 고딕" pitchFamily="34" charset="0"/>
                <a:ea typeface="맑은 고딕" pitchFamily="34" charset="-122"/>
                <a:cs typeface="맑은 고딕" pitchFamily="34" charset="-120"/>
              </a:rPr>
              <a:t>02</a:t>
            </a:r>
            <a:pPr indent="0" marL="0">
              <a:buNone/>
            </a:pPr>
            <a:r>
              <a:rPr lang="en-US" sz="1100" b="1" dirty="0">
                <a:solidFill>
                  <a:srgbClr val="6E7796"/>
                </a:solidFill>
                <a:latin typeface="맑은 고딕" pitchFamily="34" charset="0"/>
                <a:ea typeface="맑은 고딕" pitchFamily="34" charset="-122"/>
                <a:cs typeface="맑은 고딕" pitchFamily="34" charset="-120"/>
              </a:rPr>
              <a:t>   활용한 데이터와 처리 구조</a:t>
            </a:r>
            <a:endParaRPr lang="en-US" sz="1100" dirty="0"/>
          </a:p>
        </p:txBody>
      </p:sp>
      <p:sp>
        <p:nvSpPr>
          <p:cNvPr id="3" name="Text 1"/>
          <p:cNvSpPr/>
          <p:nvPr/>
        </p:nvSpPr>
        <p:spPr>
          <a:xfrm>
            <a:off x="566928" y="749808"/>
            <a:ext cx="11057839" cy="566928"/>
          </a:xfrm>
          <a:prstGeom prst="rect">
            <a:avLst/>
          </a:prstGeom>
          <a:noFill/>
          <a:ln/>
        </p:spPr>
        <p:txBody>
          <a:bodyPr wrap="square" lIns="0" tIns="0" rIns="0" bIns="0" rtlCol="0" anchor="ctr"/>
          <a:lstStyle/>
          <a:p>
            <a:pPr indent="0" marL="0">
              <a:buNone/>
            </a:pPr>
            <a:r>
              <a:rPr lang="en-US" sz="2700" b="1" dirty="0">
                <a:solidFill>
                  <a:srgbClr val="141B33"/>
                </a:solidFill>
                <a:latin typeface="맑은 고딕" pitchFamily="34" charset="0"/>
                <a:ea typeface="맑은 고딕" pitchFamily="34" charset="-122"/>
                <a:cs typeface="맑은 고딕" pitchFamily="34" charset="-120"/>
              </a:rPr>
              <a:t>앱은 어떻게 만들어져 있나요</a:t>
            </a:r>
            <a:endParaRPr lang="en-US" sz="2700" dirty="0"/>
          </a:p>
        </p:txBody>
      </p:sp>
      <p:sp>
        <p:nvSpPr>
          <p:cNvPr id="4" name="Text 2"/>
          <p:cNvSpPr/>
          <p:nvPr/>
        </p:nvSpPr>
        <p:spPr>
          <a:xfrm>
            <a:off x="566928" y="1335024"/>
            <a:ext cx="11057839" cy="310896"/>
          </a:xfrm>
          <a:prstGeom prst="rect">
            <a:avLst/>
          </a:prstGeom>
          <a:noFill/>
          <a:ln/>
        </p:spPr>
        <p:txBody>
          <a:bodyPr wrap="square" lIns="0" tIns="0" rIns="0" bIns="0" rtlCol="0" anchor="ctr"/>
          <a:lstStyle/>
          <a:p>
            <a:pPr indent="0" marL="0">
              <a:buNone/>
            </a:pPr>
            <a:r>
              <a:rPr lang="en-US" sz="1300" dirty="0">
                <a:solidFill>
                  <a:srgbClr val="6E7796"/>
                </a:solidFill>
                <a:latin typeface="맑은 고딕" pitchFamily="34" charset="0"/>
                <a:ea typeface="맑은 고딕" pitchFamily="34" charset="-122"/>
                <a:cs typeface="맑은 고딕" pitchFamily="34" charset="-120"/>
              </a:rPr>
              <a:t>정보를 두 종류로 나눴습니다 — 미리 넣어둔 것과, 그 순간 물어보는 것</a:t>
            </a:r>
            <a:endParaRPr lang="en-US" sz="1300" dirty="0"/>
          </a:p>
        </p:txBody>
      </p:sp>
      <p:sp>
        <p:nvSpPr>
          <p:cNvPr id="5" name="Shape 3"/>
          <p:cNvSpPr/>
          <p:nvPr/>
        </p:nvSpPr>
        <p:spPr>
          <a:xfrm>
            <a:off x="566928" y="1828800"/>
            <a:ext cx="6720840" cy="1938528"/>
          </a:xfrm>
          <a:prstGeom prst="roundRect">
            <a:avLst>
              <a:gd name="adj" fmla="val 6604"/>
            </a:avLst>
          </a:prstGeom>
          <a:solidFill>
            <a:srgbClr val="FFFFFF"/>
          </a:solidFill>
          <a:ln w="12700">
            <a:solidFill>
              <a:srgbClr val="D4DAEE"/>
            </a:solidFill>
            <a:prstDash val="solid"/>
          </a:ln>
          <a:effectLst>
            <a:outerShdw sx="100000" sy="100000" kx="0" ky="0" algn="bl" rotWithShape="0" blurRad="101600" dist="25400" dir="5400000">
              <a:srgbClr val="001871">
                <a:alpha val="7000"/>
              </a:srgbClr>
            </a:outerShdw>
          </a:effectLst>
        </p:spPr>
      </p:sp>
      <p:sp>
        <p:nvSpPr>
          <p:cNvPr id="6" name="Text 4"/>
          <p:cNvSpPr/>
          <p:nvPr/>
        </p:nvSpPr>
        <p:spPr>
          <a:xfrm>
            <a:off x="841248" y="1956816"/>
            <a:ext cx="3108960" cy="292608"/>
          </a:xfrm>
          <a:prstGeom prst="rect">
            <a:avLst/>
          </a:prstGeom>
          <a:noFill/>
          <a:ln/>
        </p:spPr>
        <p:txBody>
          <a:bodyPr wrap="square" lIns="0" tIns="0" rIns="0" bIns="0" rtlCol="0" anchor="ctr"/>
          <a:lstStyle/>
          <a:p>
            <a:pPr indent="0" marL="0">
              <a:buNone/>
            </a:pPr>
            <a:r>
              <a:rPr lang="en-US" sz="1300" b="1" dirty="0">
                <a:solidFill>
                  <a:srgbClr val="001871"/>
                </a:solidFill>
                <a:latin typeface="맑은 고딕" pitchFamily="34" charset="0"/>
                <a:ea typeface="맑은 고딕" pitchFamily="34" charset="-122"/>
                <a:cs typeface="맑은 고딕" pitchFamily="34" charset="-120"/>
              </a:rPr>
              <a:t>① 미리 넣어둔 정보</a:t>
            </a:r>
            <a:endParaRPr lang="en-US" sz="1300" dirty="0"/>
          </a:p>
        </p:txBody>
      </p:sp>
      <p:sp>
        <p:nvSpPr>
          <p:cNvPr id="7" name="Text 5"/>
          <p:cNvSpPr/>
          <p:nvPr/>
        </p:nvSpPr>
        <p:spPr>
          <a:xfrm>
            <a:off x="3950208" y="1956816"/>
            <a:ext cx="3017520" cy="292608"/>
          </a:xfrm>
          <a:prstGeom prst="rect">
            <a:avLst/>
          </a:prstGeom>
          <a:noFill/>
          <a:ln/>
        </p:spPr>
        <p:txBody>
          <a:bodyPr wrap="square" lIns="0" tIns="0" rIns="0" bIns="0" rtlCol="0" anchor="ctr"/>
          <a:lstStyle/>
          <a:p>
            <a:pPr algn="r" indent="0" marL="0">
              <a:buNone/>
            </a:pPr>
            <a:r>
              <a:rPr lang="en-US" sz="1050" dirty="0">
                <a:solidFill>
                  <a:srgbClr val="6E7796"/>
                </a:solidFill>
                <a:latin typeface="맑은 고딕" pitchFamily="34" charset="0"/>
                <a:ea typeface="맑은 고딕" pitchFamily="34" charset="-122"/>
                <a:cs typeface="맑은 고딕" pitchFamily="34" charset="-120"/>
              </a:rPr>
              <a:t>잘 바뀌지 않는 것</a:t>
            </a:r>
            <a:endParaRPr lang="en-US" sz="1050" dirty="0"/>
          </a:p>
        </p:txBody>
      </p:sp>
      <p:sp>
        <p:nvSpPr>
          <p:cNvPr id="8" name="Text 6"/>
          <p:cNvSpPr/>
          <p:nvPr/>
        </p:nvSpPr>
        <p:spPr>
          <a:xfrm>
            <a:off x="841248" y="2331720"/>
            <a:ext cx="6217920" cy="274320"/>
          </a:xfrm>
          <a:prstGeom prst="rect">
            <a:avLst/>
          </a:prstGeom>
          <a:noFill/>
          <a:ln/>
        </p:spPr>
        <p:txBody>
          <a:bodyPr wrap="square" lIns="0" tIns="0" rIns="0" bIns="0" rtlCol="0" anchor="ctr"/>
          <a:lstStyle/>
          <a:p>
            <a:pPr indent="0" marL="0">
              <a:buNone/>
            </a:pPr>
            <a:r>
              <a:rPr lang="en-US" sz="1050" dirty="0">
                <a:solidFill>
                  <a:srgbClr val="3A4160"/>
                </a:solidFill>
                <a:latin typeface="맑은 고딕" pitchFamily="34" charset="0"/>
                <a:ea typeface="맑은 고딕" pitchFamily="34" charset="-122"/>
                <a:cs typeface="맑은 고딕" pitchFamily="34" charset="-120"/>
              </a:rPr>
              <a:t>·  무더위쉼터 226곳이 어디에 있는지</a:t>
            </a:r>
            <a:endParaRPr lang="en-US" sz="1050" dirty="0"/>
          </a:p>
        </p:txBody>
      </p:sp>
      <p:sp>
        <p:nvSpPr>
          <p:cNvPr id="9" name="Text 7"/>
          <p:cNvSpPr/>
          <p:nvPr/>
        </p:nvSpPr>
        <p:spPr>
          <a:xfrm>
            <a:off x="841248" y="2624328"/>
            <a:ext cx="6217920" cy="274320"/>
          </a:xfrm>
          <a:prstGeom prst="rect">
            <a:avLst/>
          </a:prstGeom>
          <a:noFill/>
          <a:ln/>
        </p:spPr>
        <p:txBody>
          <a:bodyPr wrap="square" lIns="0" tIns="0" rIns="0" bIns="0" rtlCol="0" anchor="ctr"/>
          <a:lstStyle/>
          <a:p>
            <a:pPr indent="0" marL="0">
              <a:buNone/>
            </a:pPr>
            <a:r>
              <a:rPr lang="en-US" sz="1050" dirty="0">
                <a:solidFill>
                  <a:srgbClr val="3A4160"/>
                </a:solidFill>
                <a:latin typeface="맑은 고딕" pitchFamily="34" charset="0"/>
                <a:ea typeface="맑은 고딕" pitchFamily="34" charset="-122"/>
                <a:cs typeface="맑은 고딕" pitchFamily="34" charset="-120"/>
              </a:rPr>
              <a:t>·  정류장 1,890개의 위치와 이름, 지나는 버스</a:t>
            </a:r>
            <a:endParaRPr lang="en-US" sz="1050" dirty="0"/>
          </a:p>
        </p:txBody>
      </p:sp>
      <p:sp>
        <p:nvSpPr>
          <p:cNvPr id="10" name="Text 8"/>
          <p:cNvSpPr/>
          <p:nvPr/>
        </p:nvSpPr>
        <p:spPr>
          <a:xfrm>
            <a:off x="841248" y="2916936"/>
            <a:ext cx="6217920" cy="274320"/>
          </a:xfrm>
          <a:prstGeom prst="rect">
            <a:avLst/>
          </a:prstGeom>
          <a:noFill/>
          <a:ln/>
        </p:spPr>
        <p:txBody>
          <a:bodyPr wrap="square" lIns="0" tIns="0" rIns="0" bIns="0" rtlCol="0" anchor="ctr"/>
          <a:lstStyle/>
          <a:p>
            <a:pPr indent="0" marL="0">
              <a:buNone/>
            </a:pPr>
            <a:r>
              <a:rPr lang="en-US" sz="1050" dirty="0">
                <a:solidFill>
                  <a:srgbClr val="3A4160"/>
                </a:solidFill>
                <a:latin typeface="맑은 고딕" pitchFamily="34" charset="0"/>
                <a:ea typeface="맑은 고딕" pitchFamily="34" charset="-122"/>
                <a:cs typeface="맑은 고딕" pitchFamily="34" charset="-120"/>
              </a:rPr>
              <a:t>·  정류장 161곳을 직접 조사한 시설 결과</a:t>
            </a:r>
            <a:endParaRPr lang="en-US" sz="1050" dirty="0"/>
          </a:p>
        </p:txBody>
      </p:sp>
      <p:sp>
        <p:nvSpPr>
          <p:cNvPr id="11" name="Shape 9"/>
          <p:cNvSpPr/>
          <p:nvPr/>
        </p:nvSpPr>
        <p:spPr>
          <a:xfrm>
            <a:off x="822960" y="3246120"/>
            <a:ext cx="6263640" cy="384048"/>
          </a:xfrm>
          <a:prstGeom prst="roundRect">
            <a:avLst>
              <a:gd name="adj" fmla="val 19048"/>
            </a:avLst>
          </a:prstGeom>
          <a:solidFill>
            <a:srgbClr val="E7EBF8"/>
          </a:solidFill>
          <a:ln w="12700">
            <a:solidFill>
              <a:srgbClr val="E7EBF8"/>
            </a:solidFill>
            <a:prstDash val="solid"/>
          </a:ln>
        </p:spPr>
      </p:sp>
      <p:sp>
        <p:nvSpPr>
          <p:cNvPr id="12" name="Text 10"/>
          <p:cNvSpPr/>
          <p:nvPr/>
        </p:nvSpPr>
        <p:spPr>
          <a:xfrm>
            <a:off x="822960" y="3246120"/>
            <a:ext cx="6263640" cy="384048"/>
          </a:xfrm>
          <a:prstGeom prst="rect">
            <a:avLst/>
          </a:prstGeom>
          <a:noFill/>
          <a:ln/>
        </p:spPr>
        <p:txBody>
          <a:bodyPr wrap="square" lIns="0" tIns="0" rIns="0" bIns="0" rtlCol="0" anchor="ctr"/>
          <a:lstStyle/>
          <a:p>
            <a:pPr algn="ctr" indent="0" marL="0">
              <a:buNone/>
            </a:pPr>
            <a:r>
              <a:rPr lang="en-US" sz="1000" b="1" dirty="0">
                <a:solidFill>
                  <a:srgbClr val="001871"/>
                </a:solidFill>
                <a:latin typeface="맑은 고딕" pitchFamily="34" charset="0"/>
                <a:ea typeface="맑은 고딕" pitchFamily="34" charset="-122"/>
                <a:cs typeface="맑은 고딕" pitchFamily="34" charset="-120"/>
              </a:rPr>
              <a:t>이 정보들은 앱 안에 이미 들어 있습니다. 그래서 인터넷이 느린 곳에서도 화면이 바로 뜹니다.</a:t>
            </a:r>
            <a:endParaRPr lang="en-US" sz="1000" dirty="0"/>
          </a:p>
        </p:txBody>
      </p:sp>
      <p:sp>
        <p:nvSpPr>
          <p:cNvPr id="13" name="Shape 11"/>
          <p:cNvSpPr/>
          <p:nvPr/>
        </p:nvSpPr>
        <p:spPr>
          <a:xfrm>
            <a:off x="7470648" y="1828800"/>
            <a:ext cx="4154119" cy="1938528"/>
          </a:xfrm>
          <a:prstGeom prst="roundRect">
            <a:avLst>
              <a:gd name="adj" fmla="val 6604"/>
            </a:avLst>
          </a:prstGeom>
          <a:solidFill>
            <a:srgbClr val="FFFFFF"/>
          </a:solidFill>
          <a:ln w="12700">
            <a:solidFill>
              <a:srgbClr val="D4DAEE"/>
            </a:solidFill>
            <a:prstDash val="solid"/>
          </a:ln>
          <a:effectLst>
            <a:outerShdw sx="100000" sy="100000" kx="0" ky="0" algn="bl" rotWithShape="0" blurRad="101600" dist="25400" dir="5400000">
              <a:srgbClr val="001871">
                <a:alpha val="7000"/>
              </a:srgbClr>
            </a:outerShdw>
          </a:effectLst>
        </p:spPr>
      </p:sp>
      <p:sp>
        <p:nvSpPr>
          <p:cNvPr id="14" name="Text 12"/>
          <p:cNvSpPr/>
          <p:nvPr/>
        </p:nvSpPr>
        <p:spPr>
          <a:xfrm>
            <a:off x="7744968" y="1956816"/>
            <a:ext cx="2743200" cy="292608"/>
          </a:xfrm>
          <a:prstGeom prst="rect">
            <a:avLst/>
          </a:prstGeom>
          <a:noFill/>
          <a:ln/>
        </p:spPr>
        <p:txBody>
          <a:bodyPr wrap="square" lIns="0" tIns="0" rIns="0" bIns="0" rtlCol="0" anchor="ctr"/>
          <a:lstStyle/>
          <a:p>
            <a:pPr indent="0" marL="0">
              <a:buNone/>
            </a:pPr>
            <a:r>
              <a:rPr lang="en-US" sz="1300" b="1" dirty="0">
                <a:solidFill>
                  <a:srgbClr val="2B7A3E"/>
                </a:solidFill>
                <a:latin typeface="맑은 고딕" pitchFamily="34" charset="0"/>
                <a:ea typeface="맑은 고딕" pitchFamily="34" charset="-122"/>
                <a:cs typeface="맑은 고딕" pitchFamily="34" charset="-120"/>
              </a:rPr>
              <a:t>② 그 순간 물어보는 정보</a:t>
            </a:r>
            <a:endParaRPr lang="en-US" sz="1300" dirty="0"/>
          </a:p>
        </p:txBody>
      </p:sp>
      <p:sp>
        <p:nvSpPr>
          <p:cNvPr id="15" name="Text 13"/>
          <p:cNvSpPr/>
          <p:nvPr/>
        </p:nvSpPr>
        <p:spPr>
          <a:xfrm>
            <a:off x="7744968" y="2286000"/>
            <a:ext cx="3657600" cy="256032"/>
          </a:xfrm>
          <a:prstGeom prst="rect">
            <a:avLst/>
          </a:prstGeom>
          <a:noFill/>
          <a:ln/>
        </p:spPr>
        <p:txBody>
          <a:bodyPr wrap="square" lIns="0" tIns="0" rIns="0" bIns="0" rtlCol="0" anchor="ctr"/>
          <a:lstStyle/>
          <a:p>
            <a:pPr indent="0" marL="0">
              <a:buNone/>
            </a:pPr>
            <a:r>
              <a:rPr lang="en-US" sz="1050" dirty="0">
                <a:solidFill>
                  <a:srgbClr val="6E7796"/>
                </a:solidFill>
                <a:latin typeface="맑은 고딕" pitchFamily="34" charset="0"/>
                <a:ea typeface="맑은 고딕" pitchFamily="34" charset="-122"/>
                <a:cs typeface="맑은 고딕" pitchFamily="34" charset="-120"/>
              </a:rPr>
              <a:t>1분 뒤면 달라지는 것</a:t>
            </a:r>
            <a:endParaRPr lang="en-US" sz="1050" dirty="0"/>
          </a:p>
        </p:txBody>
      </p:sp>
      <p:sp>
        <p:nvSpPr>
          <p:cNvPr id="16" name="Text 14"/>
          <p:cNvSpPr/>
          <p:nvPr/>
        </p:nvSpPr>
        <p:spPr>
          <a:xfrm>
            <a:off x="7744968" y="2578608"/>
            <a:ext cx="3657600" cy="310896"/>
          </a:xfrm>
          <a:prstGeom prst="rect">
            <a:avLst/>
          </a:prstGeom>
          <a:noFill/>
          <a:ln/>
        </p:spPr>
        <p:txBody>
          <a:bodyPr wrap="square" lIns="0" tIns="0" rIns="0" bIns="0" rtlCol="0" anchor="ctr"/>
          <a:lstStyle/>
          <a:p>
            <a:pPr indent="0" marL="0">
              <a:buNone/>
            </a:pPr>
            <a:r>
              <a:rPr lang="en-US" sz="1300" b="1" dirty="0">
                <a:solidFill>
                  <a:srgbClr val="141B33"/>
                </a:solidFill>
                <a:latin typeface="맑은 고딕" pitchFamily="34" charset="0"/>
                <a:ea typeface="맑은 고딕" pitchFamily="34" charset="-122"/>
                <a:cs typeface="맑은 고딕" pitchFamily="34" charset="-120"/>
              </a:rPr>
              <a:t>버스가 몇 분 뒤에 오는지</a:t>
            </a:r>
            <a:endParaRPr lang="en-US" sz="1300" dirty="0"/>
          </a:p>
        </p:txBody>
      </p:sp>
      <p:sp>
        <p:nvSpPr>
          <p:cNvPr id="17" name="Text 15"/>
          <p:cNvSpPr/>
          <p:nvPr/>
        </p:nvSpPr>
        <p:spPr>
          <a:xfrm>
            <a:off x="7744968" y="2889504"/>
            <a:ext cx="3657600" cy="713232"/>
          </a:xfrm>
          <a:prstGeom prst="rect">
            <a:avLst/>
          </a:prstGeom>
          <a:noFill/>
          <a:ln/>
        </p:spPr>
        <p:txBody>
          <a:bodyPr wrap="square" lIns="0" tIns="0" rIns="0" bIns="0" rtlCol="0" anchor="t"/>
          <a:lstStyle/>
          <a:p>
            <a:pPr indent="0" marL="0">
              <a:lnSpc>
                <a:spcPct val="125000"/>
              </a:lnSpc>
              <a:buNone/>
            </a:pPr>
            <a:r>
              <a:rPr lang="en-US" sz="1000" dirty="0">
                <a:solidFill>
                  <a:srgbClr val="3A4160"/>
                </a:solidFill>
                <a:latin typeface="맑은 고딕" pitchFamily="34" charset="0"/>
                <a:ea typeface="맑은 고딕" pitchFamily="34" charset="-122"/>
                <a:cs typeface="맑은 고딕" pitchFamily="34" charset="-120"/>
              </a:rPr>
              <a:t>어르신 휴대폰이 국토교통부에 직접 묻지 않고, 저희 서버가 대신 물어봅니다. 인증 열쇠가 밖으로 새지 않게 하려고요.</a:t>
            </a:r>
            <a:endParaRPr lang="en-US" sz="1000" dirty="0"/>
          </a:p>
        </p:txBody>
      </p:sp>
      <p:sp>
        <p:nvSpPr>
          <p:cNvPr id="18" name="Shape 16"/>
          <p:cNvSpPr/>
          <p:nvPr/>
        </p:nvSpPr>
        <p:spPr>
          <a:xfrm>
            <a:off x="566928" y="3913632"/>
            <a:ext cx="11057839" cy="1417320"/>
          </a:xfrm>
          <a:prstGeom prst="roundRect">
            <a:avLst>
              <a:gd name="adj" fmla="val 9032"/>
            </a:avLst>
          </a:prstGeom>
          <a:solidFill>
            <a:srgbClr val="F4F6FC"/>
          </a:solidFill>
          <a:ln w="12700">
            <a:solidFill>
              <a:srgbClr val="D4DAEE"/>
            </a:solidFill>
            <a:prstDash val="solid"/>
          </a:ln>
        </p:spPr>
      </p:sp>
      <p:sp>
        <p:nvSpPr>
          <p:cNvPr id="19" name="Text 17"/>
          <p:cNvSpPr/>
          <p:nvPr/>
        </p:nvSpPr>
        <p:spPr>
          <a:xfrm>
            <a:off x="841248" y="4023360"/>
            <a:ext cx="5486400" cy="274320"/>
          </a:xfrm>
          <a:prstGeom prst="rect">
            <a:avLst/>
          </a:prstGeom>
          <a:noFill/>
          <a:ln/>
        </p:spPr>
        <p:txBody>
          <a:bodyPr wrap="square" lIns="0" tIns="0" rIns="0" bIns="0" rtlCol="0" anchor="ctr"/>
          <a:lstStyle/>
          <a:p>
            <a:pPr indent="0" marL="0">
              <a:buNone/>
            </a:pPr>
            <a:r>
              <a:rPr lang="en-US" sz="1200" b="1" dirty="0">
                <a:solidFill>
                  <a:srgbClr val="E8751A"/>
                </a:solidFill>
                <a:latin typeface="맑은 고딕" pitchFamily="34" charset="0"/>
                <a:ea typeface="맑은 고딕" pitchFamily="34" charset="-122"/>
                <a:cs typeface="맑은 고딕" pitchFamily="34" charset="-120"/>
              </a:rPr>
              <a:t>사진 한 장이 다음 사람의 안내가 되기까지</a:t>
            </a:r>
            <a:endParaRPr lang="en-US" sz="1200" dirty="0"/>
          </a:p>
        </p:txBody>
      </p:sp>
      <p:sp>
        <p:nvSpPr>
          <p:cNvPr id="20" name="Shape 18"/>
          <p:cNvSpPr/>
          <p:nvPr/>
        </p:nvSpPr>
        <p:spPr>
          <a:xfrm>
            <a:off x="841248" y="4334256"/>
            <a:ext cx="1993392" cy="841248"/>
          </a:xfrm>
          <a:prstGeom prst="roundRect">
            <a:avLst>
              <a:gd name="adj" fmla="val 8696"/>
            </a:avLst>
          </a:prstGeom>
          <a:solidFill>
            <a:srgbClr val="FFFFFF"/>
          </a:solidFill>
          <a:ln w="12700">
            <a:solidFill>
              <a:srgbClr val="D4DAEE"/>
            </a:solidFill>
            <a:prstDash val="solid"/>
          </a:ln>
        </p:spPr>
      </p:sp>
      <p:sp>
        <p:nvSpPr>
          <p:cNvPr id="21" name="Text 19"/>
          <p:cNvSpPr/>
          <p:nvPr/>
        </p:nvSpPr>
        <p:spPr>
          <a:xfrm>
            <a:off x="969264" y="4389120"/>
            <a:ext cx="1783080" cy="256032"/>
          </a:xfrm>
          <a:prstGeom prst="rect">
            <a:avLst/>
          </a:prstGeom>
          <a:noFill/>
          <a:ln/>
        </p:spPr>
        <p:txBody>
          <a:bodyPr wrap="square" lIns="0" tIns="0" rIns="0" bIns="0" rtlCol="0" anchor="ctr"/>
          <a:lstStyle/>
          <a:p>
            <a:pPr indent="0" marL="0">
              <a:buNone/>
            </a:pPr>
            <a:r>
              <a:rPr lang="en-US" sz="950" b="1" dirty="0">
                <a:solidFill>
                  <a:srgbClr val="141B33"/>
                </a:solidFill>
                <a:latin typeface="맑은 고딕" pitchFamily="34" charset="0"/>
                <a:ea typeface="맑은 고딕" pitchFamily="34" charset="-122"/>
                <a:cs typeface="맑은 고딕" pitchFamily="34" charset="-120"/>
              </a:rPr>
              <a:t>1  사진을 찍습니다</a:t>
            </a:r>
            <a:endParaRPr lang="en-US" sz="950" dirty="0"/>
          </a:p>
        </p:txBody>
      </p:sp>
      <p:sp>
        <p:nvSpPr>
          <p:cNvPr id="22" name="Text 20"/>
          <p:cNvSpPr/>
          <p:nvPr/>
        </p:nvSpPr>
        <p:spPr>
          <a:xfrm>
            <a:off x="969264" y="4645152"/>
            <a:ext cx="1783080" cy="493776"/>
          </a:xfrm>
          <a:prstGeom prst="rect">
            <a:avLst/>
          </a:prstGeom>
          <a:noFill/>
          <a:ln/>
        </p:spPr>
        <p:txBody>
          <a:bodyPr wrap="square" lIns="0" tIns="0" rIns="0" bIns="0" rtlCol="0" anchor="t"/>
          <a:lstStyle/>
          <a:p>
            <a:pPr indent="0" marL="0">
              <a:lnSpc>
                <a:spcPct val="115000"/>
              </a:lnSpc>
              <a:buNone/>
            </a:pPr>
            <a:r>
              <a:rPr lang="en-US" sz="850" dirty="0">
                <a:solidFill>
                  <a:srgbClr val="6E7796"/>
                </a:solidFill>
                <a:latin typeface="맑은 고딕" pitchFamily="34" charset="0"/>
                <a:ea typeface="맑은 고딕" pitchFamily="34" charset="-122"/>
                <a:cs typeface="맑은 고딕" pitchFamily="34" charset="-120"/>
              </a:rPr>
              <a:t>정류장 이름은 묻지 않습니다.</a:t>
            </a:r>
            <a:endParaRPr lang="en-US" sz="850" dirty="0"/>
          </a:p>
          <a:p>
            <a:pPr indent="0" marL="0">
              <a:lnSpc>
                <a:spcPct val="115000"/>
              </a:lnSpc>
              <a:buNone/>
            </a:pPr>
            <a:r>
              <a:rPr lang="en-US" sz="850" dirty="0">
                <a:solidFill>
                  <a:srgbClr val="6E7796"/>
                </a:solidFill>
                <a:latin typeface="맑은 고딕" pitchFamily="34" charset="0"/>
                <a:ea typeface="맑은 고딕" pitchFamily="34" charset="-122"/>
                <a:cs typeface="맑은 고딕" pitchFamily="34" charset="-120"/>
              </a:rPr>
              <a:t>찍은 위치로 저희가 찾습니다</a:t>
            </a:r>
            <a:endParaRPr lang="en-US" sz="850" dirty="0"/>
          </a:p>
        </p:txBody>
      </p:sp>
      <p:sp>
        <p:nvSpPr>
          <p:cNvPr id="23" name="Text 21"/>
          <p:cNvSpPr/>
          <p:nvPr/>
        </p:nvSpPr>
        <p:spPr>
          <a:xfrm>
            <a:off x="2852928" y="4334256"/>
            <a:ext cx="201168" cy="841248"/>
          </a:xfrm>
          <a:prstGeom prst="rect">
            <a:avLst/>
          </a:prstGeom>
          <a:noFill/>
          <a:ln/>
        </p:spPr>
        <p:txBody>
          <a:bodyPr wrap="square" lIns="0" tIns="0" rIns="0" bIns="0" rtlCol="0" anchor="ctr"/>
          <a:lstStyle/>
          <a:p>
            <a:pPr algn="ctr" indent="0" marL="0">
              <a:buNone/>
            </a:pPr>
            <a:r>
              <a:rPr lang="en-US" sz="1000" dirty="0">
                <a:solidFill>
                  <a:srgbClr val="A6B3E6"/>
                </a:solidFill>
                <a:latin typeface="맑은 고딕" pitchFamily="34" charset="0"/>
                <a:ea typeface="맑은 고딕" pitchFamily="34" charset="-122"/>
                <a:cs typeface="맑은 고딕" pitchFamily="34" charset="-120"/>
              </a:rPr>
              <a:t>▶</a:t>
            </a:r>
            <a:endParaRPr lang="en-US" sz="1000" dirty="0"/>
          </a:p>
        </p:txBody>
      </p:sp>
      <p:sp>
        <p:nvSpPr>
          <p:cNvPr id="24" name="Shape 22"/>
          <p:cNvSpPr/>
          <p:nvPr/>
        </p:nvSpPr>
        <p:spPr>
          <a:xfrm>
            <a:off x="3054096" y="4334256"/>
            <a:ext cx="1993392" cy="841248"/>
          </a:xfrm>
          <a:prstGeom prst="roundRect">
            <a:avLst>
              <a:gd name="adj" fmla="val 8696"/>
            </a:avLst>
          </a:prstGeom>
          <a:solidFill>
            <a:srgbClr val="FFFFFF"/>
          </a:solidFill>
          <a:ln w="12700">
            <a:solidFill>
              <a:srgbClr val="D4DAEE"/>
            </a:solidFill>
            <a:prstDash val="solid"/>
          </a:ln>
        </p:spPr>
      </p:sp>
      <p:sp>
        <p:nvSpPr>
          <p:cNvPr id="25" name="Text 23"/>
          <p:cNvSpPr/>
          <p:nvPr/>
        </p:nvSpPr>
        <p:spPr>
          <a:xfrm>
            <a:off x="3182112" y="4389120"/>
            <a:ext cx="1783080" cy="256032"/>
          </a:xfrm>
          <a:prstGeom prst="rect">
            <a:avLst/>
          </a:prstGeom>
          <a:noFill/>
          <a:ln/>
        </p:spPr>
        <p:txBody>
          <a:bodyPr wrap="square" lIns="0" tIns="0" rIns="0" bIns="0" rtlCol="0" anchor="ctr"/>
          <a:lstStyle/>
          <a:p>
            <a:pPr indent="0" marL="0">
              <a:buNone/>
            </a:pPr>
            <a:r>
              <a:rPr lang="en-US" sz="950" b="1" dirty="0">
                <a:solidFill>
                  <a:srgbClr val="141B33"/>
                </a:solidFill>
                <a:latin typeface="맑은 고딕" pitchFamily="34" charset="0"/>
                <a:ea typeface="맑은 고딕" pitchFamily="34" charset="-122"/>
                <a:cs typeface="맑은 고딕" pitchFamily="34" charset="-120"/>
              </a:rPr>
              <a:t>2  사진을 보관합니다</a:t>
            </a:r>
            <a:endParaRPr lang="en-US" sz="950" dirty="0"/>
          </a:p>
        </p:txBody>
      </p:sp>
      <p:sp>
        <p:nvSpPr>
          <p:cNvPr id="26" name="Text 24"/>
          <p:cNvSpPr/>
          <p:nvPr/>
        </p:nvSpPr>
        <p:spPr>
          <a:xfrm>
            <a:off x="3182112" y="4645152"/>
            <a:ext cx="1783080" cy="493776"/>
          </a:xfrm>
          <a:prstGeom prst="rect">
            <a:avLst/>
          </a:prstGeom>
          <a:noFill/>
          <a:ln/>
        </p:spPr>
        <p:txBody>
          <a:bodyPr wrap="square" lIns="0" tIns="0" rIns="0" bIns="0" rtlCol="0" anchor="t"/>
          <a:lstStyle/>
          <a:p>
            <a:pPr indent="0" marL="0">
              <a:lnSpc>
                <a:spcPct val="115000"/>
              </a:lnSpc>
              <a:buNone/>
            </a:pPr>
            <a:r>
              <a:rPr lang="en-US" sz="850" dirty="0">
                <a:solidFill>
                  <a:srgbClr val="6E7796"/>
                </a:solidFill>
                <a:latin typeface="맑은 고딕" pitchFamily="34" charset="0"/>
                <a:ea typeface="맑은 고딕" pitchFamily="34" charset="-122"/>
                <a:cs typeface="맑은 고딕" pitchFamily="34" charset="-120"/>
              </a:rPr>
              <a:t>휴대폰이 아니라</a:t>
            </a:r>
            <a:endParaRPr lang="en-US" sz="850" dirty="0"/>
          </a:p>
          <a:p>
            <a:pPr indent="0" marL="0">
              <a:lnSpc>
                <a:spcPct val="115000"/>
              </a:lnSpc>
              <a:buNone/>
            </a:pPr>
            <a:r>
              <a:rPr lang="en-US" sz="850" dirty="0">
                <a:solidFill>
                  <a:srgbClr val="6E7796"/>
                </a:solidFill>
                <a:latin typeface="맑은 고딕" pitchFamily="34" charset="0"/>
                <a:ea typeface="맑은 고딕" pitchFamily="34" charset="-122"/>
                <a:cs typeface="맑은 고딕" pitchFamily="34" charset="-120"/>
              </a:rPr>
              <a:t>서비스 저장소에 올라갑니다</a:t>
            </a:r>
            <a:endParaRPr lang="en-US" sz="850" dirty="0"/>
          </a:p>
        </p:txBody>
      </p:sp>
      <p:sp>
        <p:nvSpPr>
          <p:cNvPr id="27" name="Text 25"/>
          <p:cNvSpPr/>
          <p:nvPr/>
        </p:nvSpPr>
        <p:spPr>
          <a:xfrm>
            <a:off x="5065776" y="4334256"/>
            <a:ext cx="201168" cy="841248"/>
          </a:xfrm>
          <a:prstGeom prst="rect">
            <a:avLst/>
          </a:prstGeom>
          <a:noFill/>
          <a:ln/>
        </p:spPr>
        <p:txBody>
          <a:bodyPr wrap="square" lIns="0" tIns="0" rIns="0" bIns="0" rtlCol="0" anchor="ctr"/>
          <a:lstStyle/>
          <a:p>
            <a:pPr algn="ctr" indent="0" marL="0">
              <a:buNone/>
            </a:pPr>
            <a:r>
              <a:rPr lang="en-US" sz="1000" dirty="0">
                <a:solidFill>
                  <a:srgbClr val="A6B3E6"/>
                </a:solidFill>
                <a:latin typeface="맑은 고딕" pitchFamily="34" charset="0"/>
                <a:ea typeface="맑은 고딕" pitchFamily="34" charset="-122"/>
                <a:cs typeface="맑은 고딕" pitchFamily="34" charset="-120"/>
              </a:rPr>
              <a:t>▶</a:t>
            </a:r>
            <a:endParaRPr lang="en-US" sz="1000" dirty="0"/>
          </a:p>
        </p:txBody>
      </p:sp>
      <p:sp>
        <p:nvSpPr>
          <p:cNvPr id="28" name="Shape 26"/>
          <p:cNvSpPr/>
          <p:nvPr/>
        </p:nvSpPr>
        <p:spPr>
          <a:xfrm>
            <a:off x="5266944" y="4334256"/>
            <a:ext cx="1993392" cy="841248"/>
          </a:xfrm>
          <a:prstGeom prst="roundRect">
            <a:avLst>
              <a:gd name="adj" fmla="val 8696"/>
            </a:avLst>
          </a:prstGeom>
          <a:solidFill>
            <a:srgbClr val="FFFFFF"/>
          </a:solidFill>
          <a:ln w="12700">
            <a:solidFill>
              <a:srgbClr val="D4DAEE"/>
            </a:solidFill>
            <a:prstDash val="solid"/>
          </a:ln>
        </p:spPr>
      </p:sp>
      <p:sp>
        <p:nvSpPr>
          <p:cNvPr id="29" name="Text 27"/>
          <p:cNvSpPr/>
          <p:nvPr/>
        </p:nvSpPr>
        <p:spPr>
          <a:xfrm>
            <a:off x="5394960" y="4389120"/>
            <a:ext cx="1783080" cy="256032"/>
          </a:xfrm>
          <a:prstGeom prst="rect">
            <a:avLst/>
          </a:prstGeom>
          <a:noFill/>
          <a:ln/>
        </p:spPr>
        <p:txBody>
          <a:bodyPr wrap="square" lIns="0" tIns="0" rIns="0" bIns="0" rtlCol="0" anchor="ctr"/>
          <a:lstStyle/>
          <a:p>
            <a:pPr indent="0" marL="0">
              <a:buNone/>
            </a:pPr>
            <a:r>
              <a:rPr lang="en-US" sz="950" b="1" dirty="0">
                <a:solidFill>
                  <a:srgbClr val="141B33"/>
                </a:solidFill>
                <a:latin typeface="맑은 고딕" pitchFamily="34" charset="0"/>
                <a:ea typeface="맑은 고딕" pitchFamily="34" charset="-122"/>
                <a:cs typeface="맑은 고딕" pitchFamily="34" charset="-120"/>
              </a:rPr>
              <a:t>3  AI가 사진을 봅니다</a:t>
            </a:r>
            <a:endParaRPr lang="en-US" sz="950" dirty="0"/>
          </a:p>
        </p:txBody>
      </p:sp>
      <p:sp>
        <p:nvSpPr>
          <p:cNvPr id="30" name="Text 28"/>
          <p:cNvSpPr/>
          <p:nvPr/>
        </p:nvSpPr>
        <p:spPr>
          <a:xfrm>
            <a:off x="5394960" y="4645152"/>
            <a:ext cx="1783080" cy="493776"/>
          </a:xfrm>
          <a:prstGeom prst="rect">
            <a:avLst/>
          </a:prstGeom>
          <a:noFill/>
          <a:ln/>
        </p:spPr>
        <p:txBody>
          <a:bodyPr wrap="square" lIns="0" tIns="0" rIns="0" bIns="0" rtlCol="0" anchor="t"/>
          <a:lstStyle/>
          <a:p>
            <a:pPr indent="0" marL="0">
              <a:lnSpc>
                <a:spcPct val="115000"/>
              </a:lnSpc>
              <a:buNone/>
            </a:pPr>
            <a:r>
              <a:rPr lang="en-US" sz="850" dirty="0">
                <a:solidFill>
                  <a:srgbClr val="6E7796"/>
                </a:solidFill>
                <a:latin typeface="맑은 고딕" pitchFamily="34" charset="0"/>
                <a:ea typeface="맑은 고딕" pitchFamily="34" charset="-122"/>
                <a:cs typeface="맑은 고딕" pitchFamily="34" charset="-120"/>
              </a:rPr>
              <a:t>지붕이 있는지, 의자가 있는지,</a:t>
            </a:r>
            <a:endParaRPr lang="en-US" sz="850" dirty="0"/>
          </a:p>
          <a:p>
            <a:pPr indent="0" marL="0">
              <a:lnSpc>
                <a:spcPct val="115000"/>
              </a:lnSpc>
              <a:buNone/>
            </a:pPr>
            <a:r>
              <a:rPr lang="en-US" sz="850" dirty="0">
                <a:solidFill>
                  <a:srgbClr val="6E7796"/>
                </a:solidFill>
                <a:latin typeface="맑은 고딕" pitchFamily="34" charset="0"/>
                <a:ea typeface="맑은 고딕" pitchFamily="34" charset="-122"/>
                <a:cs typeface="맑은 고딕" pitchFamily="34" charset="-120"/>
              </a:rPr>
              <a:t>어디가 망가졌는지</a:t>
            </a:r>
            <a:endParaRPr lang="en-US" sz="850" dirty="0"/>
          </a:p>
        </p:txBody>
      </p:sp>
      <p:sp>
        <p:nvSpPr>
          <p:cNvPr id="31" name="Text 29"/>
          <p:cNvSpPr/>
          <p:nvPr/>
        </p:nvSpPr>
        <p:spPr>
          <a:xfrm>
            <a:off x="7278624" y="4334256"/>
            <a:ext cx="201168" cy="841248"/>
          </a:xfrm>
          <a:prstGeom prst="rect">
            <a:avLst/>
          </a:prstGeom>
          <a:noFill/>
          <a:ln/>
        </p:spPr>
        <p:txBody>
          <a:bodyPr wrap="square" lIns="0" tIns="0" rIns="0" bIns="0" rtlCol="0" anchor="ctr"/>
          <a:lstStyle/>
          <a:p>
            <a:pPr algn="ctr" indent="0" marL="0">
              <a:buNone/>
            </a:pPr>
            <a:r>
              <a:rPr lang="en-US" sz="1000" dirty="0">
                <a:solidFill>
                  <a:srgbClr val="A6B3E6"/>
                </a:solidFill>
                <a:latin typeface="맑은 고딕" pitchFamily="34" charset="0"/>
                <a:ea typeface="맑은 고딕" pitchFamily="34" charset="-122"/>
                <a:cs typeface="맑은 고딕" pitchFamily="34" charset="-120"/>
              </a:rPr>
              <a:t>▶</a:t>
            </a:r>
            <a:endParaRPr lang="en-US" sz="1000" dirty="0"/>
          </a:p>
        </p:txBody>
      </p:sp>
      <p:sp>
        <p:nvSpPr>
          <p:cNvPr id="32" name="Shape 30"/>
          <p:cNvSpPr/>
          <p:nvPr/>
        </p:nvSpPr>
        <p:spPr>
          <a:xfrm>
            <a:off x="7479792" y="4334256"/>
            <a:ext cx="1993392" cy="841248"/>
          </a:xfrm>
          <a:prstGeom prst="roundRect">
            <a:avLst>
              <a:gd name="adj" fmla="val 8696"/>
            </a:avLst>
          </a:prstGeom>
          <a:solidFill>
            <a:srgbClr val="FFFFFF"/>
          </a:solidFill>
          <a:ln w="12700">
            <a:solidFill>
              <a:srgbClr val="D4DAEE"/>
            </a:solidFill>
            <a:prstDash val="solid"/>
          </a:ln>
        </p:spPr>
      </p:sp>
      <p:sp>
        <p:nvSpPr>
          <p:cNvPr id="33" name="Text 31"/>
          <p:cNvSpPr/>
          <p:nvPr/>
        </p:nvSpPr>
        <p:spPr>
          <a:xfrm>
            <a:off x="7607808" y="4389120"/>
            <a:ext cx="1783080" cy="256032"/>
          </a:xfrm>
          <a:prstGeom prst="rect">
            <a:avLst/>
          </a:prstGeom>
          <a:noFill/>
          <a:ln/>
        </p:spPr>
        <p:txBody>
          <a:bodyPr wrap="square" lIns="0" tIns="0" rIns="0" bIns="0" rtlCol="0" anchor="ctr"/>
          <a:lstStyle/>
          <a:p>
            <a:pPr indent="0" marL="0">
              <a:buNone/>
            </a:pPr>
            <a:r>
              <a:rPr lang="en-US" sz="950" b="1" dirty="0">
                <a:solidFill>
                  <a:srgbClr val="141B33"/>
                </a:solidFill>
                <a:latin typeface="맑은 고딕" pitchFamily="34" charset="0"/>
                <a:ea typeface="맑은 고딕" pitchFamily="34" charset="-122"/>
                <a:cs typeface="맑은 고딕" pitchFamily="34" charset="-120"/>
              </a:rPr>
              <a:t>4  읽은 결과를 적습니다</a:t>
            </a:r>
            <a:endParaRPr lang="en-US" sz="950" dirty="0"/>
          </a:p>
        </p:txBody>
      </p:sp>
      <p:sp>
        <p:nvSpPr>
          <p:cNvPr id="34" name="Text 32"/>
          <p:cNvSpPr/>
          <p:nvPr/>
        </p:nvSpPr>
        <p:spPr>
          <a:xfrm>
            <a:off x="7607808" y="4645152"/>
            <a:ext cx="1783080" cy="493776"/>
          </a:xfrm>
          <a:prstGeom prst="rect">
            <a:avLst/>
          </a:prstGeom>
          <a:noFill/>
          <a:ln/>
        </p:spPr>
        <p:txBody>
          <a:bodyPr wrap="square" lIns="0" tIns="0" rIns="0" bIns="0" rtlCol="0" anchor="t"/>
          <a:lstStyle/>
          <a:p>
            <a:pPr indent="0" marL="0">
              <a:lnSpc>
                <a:spcPct val="115000"/>
              </a:lnSpc>
              <a:buNone/>
            </a:pPr>
            <a:r>
              <a:rPr lang="en-US" sz="850" dirty="0">
                <a:solidFill>
                  <a:srgbClr val="6E7796"/>
                </a:solidFill>
                <a:latin typeface="맑은 고딕" pitchFamily="34" charset="0"/>
                <a:ea typeface="맑은 고딕" pitchFamily="34" charset="-122"/>
                <a:cs typeface="맑은 고딕" pitchFamily="34" charset="-120"/>
              </a:rPr>
              <a:t>'모름'이던 칸이</a:t>
            </a:r>
            <a:endParaRPr lang="en-US" sz="850" dirty="0"/>
          </a:p>
          <a:p>
            <a:pPr indent="0" marL="0">
              <a:lnSpc>
                <a:spcPct val="115000"/>
              </a:lnSpc>
              <a:buNone/>
            </a:pPr>
            <a:r>
              <a:rPr lang="en-US" sz="850" dirty="0">
                <a:solidFill>
                  <a:srgbClr val="6E7796"/>
                </a:solidFill>
                <a:latin typeface="맑은 고딕" pitchFamily="34" charset="0"/>
                <a:ea typeface="맑은 고딕" pitchFamily="34" charset="-122"/>
                <a:cs typeface="맑은 고딕" pitchFamily="34" charset="-120"/>
              </a:rPr>
              <a:t>'있음' 또는 '없음'으로 바뀝니다</a:t>
            </a:r>
            <a:endParaRPr lang="en-US" sz="850" dirty="0"/>
          </a:p>
        </p:txBody>
      </p:sp>
      <p:sp>
        <p:nvSpPr>
          <p:cNvPr id="35" name="Text 33"/>
          <p:cNvSpPr/>
          <p:nvPr/>
        </p:nvSpPr>
        <p:spPr>
          <a:xfrm>
            <a:off x="9491472" y="4334256"/>
            <a:ext cx="201168" cy="841248"/>
          </a:xfrm>
          <a:prstGeom prst="rect">
            <a:avLst/>
          </a:prstGeom>
          <a:noFill/>
          <a:ln/>
        </p:spPr>
        <p:txBody>
          <a:bodyPr wrap="square" lIns="0" tIns="0" rIns="0" bIns="0" rtlCol="0" anchor="ctr"/>
          <a:lstStyle/>
          <a:p>
            <a:pPr algn="ctr" indent="0" marL="0">
              <a:buNone/>
            </a:pPr>
            <a:r>
              <a:rPr lang="en-US" sz="1000" dirty="0">
                <a:solidFill>
                  <a:srgbClr val="A6B3E6"/>
                </a:solidFill>
                <a:latin typeface="맑은 고딕" pitchFamily="34" charset="0"/>
                <a:ea typeface="맑은 고딕" pitchFamily="34" charset="-122"/>
                <a:cs typeface="맑은 고딕" pitchFamily="34" charset="-120"/>
              </a:rPr>
              <a:t>▶</a:t>
            </a:r>
            <a:endParaRPr lang="en-US" sz="1000" dirty="0"/>
          </a:p>
        </p:txBody>
      </p:sp>
      <p:sp>
        <p:nvSpPr>
          <p:cNvPr id="36" name="Shape 34"/>
          <p:cNvSpPr/>
          <p:nvPr/>
        </p:nvSpPr>
        <p:spPr>
          <a:xfrm>
            <a:off x="9692640" y="4334256"/>
            <a:ext cx="1993392" cy="841248"/>
          </a:xfrm>
          <a:prstGeom prst="roundRect">
            <a:avLst>
              <a:gd name="adj" fmla="val 8696"/>
            </a:avLst>
          </a:prstGeom>
          <a:solidFill>
            <a:srgbClr val="FFFFFF"/>
          </a:solidFill>
          <a:ln w="12700">
            <a:solidFill>
              <a:srgbClr val="D4DAEE"/>
            </a:solidFill>
            <a:prstDash val="solid"/>
          </a:ln>
        </p:spPr>
      </p:sp>
      <p:sp>
        <p:nvSpPr>
          <p:cNvPr id="37" name="Text 35"/>
          <p:cNvSpPr/>
          <p:nvPr/>
        </p:nvSpPr>
        <p:spPr>
          <a:xfrm>
            <a:off x="9820656" y="4389120"/>
            <a:ext cx="1783080" cy="256032"/>
          </a:xfrm>
          <a:prstGeom prst="rect">
            <a:avLst/>
          </a:prstGeom>
          <a:noFill/>
          <a:ln/>
        </p:spPr>
        <p:txBody>
          <a:bodyPr wrap="square" lIns="0" tIns="0" rIns="0" bIns="0" rtlCol="0" anchor="ctr"/>
          <a:lstStyle/>
          <a:p>
            <a:pPr indent="0" marL="0">
              <a:buNone/>
            </a:pPr>
            <a:r>
              <a:rPr lang="en-US" sz="950" b="1" dirty="0">
                <a:solidFill>
                  <a:srgbClr val="141B33"/>
                </a:solidFill>
                <a:latin typeface="맑은 고딕" pitchFamily="34" charset="0"/>
                <a:ea typeface="맑은 고딕" pitchFamily="34" charset="-122"/>
                <a:cs typeface="맑은 고딕" pitchFamily="34" charset="-120"/>
              </a:rPr>
              <a:t>5  다음 사람이 봅니다</a:t>
            </a:r>
            <a:endParaRPr lang="en-US" sz="950" dirty="0"/>
          </a:p>
        </p:txBody>
      </p:sp>
      <p:sp>
        <p:nvSpPr>
          <p:cNvPr id="38" name="Text 36"/>
          <p:cNvSpPr/>
          <p:nvPr/>
        </p:nvSpPr>
        <p:spPr>
          <a:xfrm>
            <a:off x="9820656" y="4645152"/>
            <a:ext cx="1783080" cy="493776"/>
          </a:xfrm>
          <a:prstGeom prst="rect">
            <a:avLst/>
          </a:prstGeom>
          <a:noFill/>
          <a:ln/>
        </p:spPr>
        <p:txBody>
          <a:bodyPr wrap="square" lIns="0" tIns="0" rIns="0" bIns="0" rtlCol="0" anchor="t"/>
          <a:lstStyle/>
          <a:p>
            <a:pPr indent="0" marL="0">
              <a:lnSpc>
                <a:spcPct val="115000"/>
              </a:lnSpc>
              <a:buNone/>
            </a:pPr>
            <a:r>
              <a:rPr lang="en-US" sz="850" dirty="0">
                <a:solidFill>
                  <a:srgbClr val="6E7796"/>
                </a:solidFill>
                <a:latin typeface="맑은 고딕" pitchFamily="34" charset="0"/>
                <a:ea typeface="맑은 고딕" pitchFamily="34" charset="-122"/>
                <a:cs typeface="맑은 고딕" pitchFamily="34" charset="-120"/>
              </a:rPr>
              <a:t>출처는 'AI가 읽음'이라고</a:t>
            </a:r>
            <a:endParaRPr lang="en-US" sz="850" dirty="0"/>
          </a:p>
          <a:p>
            <a:pPr indent="0" marL="0">
              <a:lnSpc>
                <a:spcPct val="115000"/>
              </a:lnSpc>
              <a:buNone/>
            </a:pPr>
            <a:r>
              <a:rPr lang="en-US" sz="850" dirty="0">
                <a:solidFill>
                  <a:srgbClr val="6E7796"/>
                </a:solidFill>
                <a:latin typeface="맑은 고딕" pitchFamily="34" charset="0"/>
                <a:ea typeface="맑은 고딕" pitchFamily="34" charset="-122"/>
                <a:cs typeface="맑은 고딕" pitchFamily="34" charset="-120"/>
              </a:rPr>
              <a:t>숨기지 않고 밝힙니다</a:t>
            </a:r>
            <a:endParaRPr lang="en-US" sz="850" dirty="0"/>
          </a:p>
        </p:txBody>
      </p:sp>
      <p:sp>
        <p:nvSpPr>
          <p:cNvPr id="39" name="Text 37"/>
          <p:cNvSpPr/>
          <p:nvPr/>
        </p:nvSpPr>
        <p:spPr>
          <a:xfrm>
            <a:off x="566928" y="5468112"/>
            <a:ext cx="1005840" cy="310896"/>
          </a:xfrm>
          <a:prstGeom prst="rect">
            <a:avLst/>
          </a:prstGeom>
          <a:noFill/>
          <a:ln/>
        </p:spPr>
        <p:txBody>
          <a:bodyPr wrap="square" lIns="0" tIns="0" rIns="0" bIns="0" rtlCol="0" anchor="ctr"/>
          <a:lstStyle/>
          <a:p>
            <a:pPr indent="0" marL="0">
              <a:buNone/>
            </a:pPr>
            <a:r>
              <a:rPr lang="en-US" sz="1100" b="1" dirty="0">
                <a:solidFill>
                  <a:srgbClr val="6E7796"/>
                </a:solidFill>
                <a:latin typeface="맑은 고딕" pitchFamily="34" charset="0"/>
                <a:ea typeface="맑은 고딕" pitchFamily="34" charset="-122"/>
                <a:cs typeface="맑은 고딕" pitchFamily="34" charset="-120"/>
              </a:rPr>
              <a:t>지킨 것</a:t>
            </a:r>
            <a:endParaRPr lang="en-US" sz="1100" dirty="0"/>
          </a:p>
        </p:txBody>
      </p:sp>
      <p:sp>
        <p:nvSpPr>
          <p:cNvPr id="40" name="Shape 38"/>
          <p:cNvSpPr/>
          <p:nvPr/>
        </p:nvSpPr>
        <p:spPr>
          <a:xfrm>
            <a:off x="1618488" y="5468112"/>
            <a:ext cx="2377440" cy="310896"/>
          </a:xfrm>
          <a:prstGeom prst="roundRect">
            <a:avLst>
              <a:gd name="adj" fmla="val 23529"/>
            </a:avLst>
          </a:prstGeom>
          <a:solidFill>
            <a:srgbClr val="E7EBF8"/>
          </a:solidFill>
          <a:ln w="12700">
            <a:solidFill>
              <a:srgbClr val="E7EBF8"/>
            </a:solidFill>
            <a:prstDash val="solid"/>
          </a:ln>
        </p:spPr>
      </p:sp>
      <p:sp>
        <p:nvSpPr>
          <p:cNvPr id="41" name="Text 39"/>
          <p:cNvSpPr/>
          <p:nvPr/>
        </p:nvSpPr>
        <p:spPr>
          <a:xfrm>
            <a:off x="1618488" y="5468112"/>
            <a:ext cx="2377440" cy="310896"/>
          </a:xfrm>
          <a:prstGeom prst="rect">
            <a:avLst/>
          </a:prstGeom>
          <a:noFill/>
          <a:ln/>
        </p:spPr>
        <p:txBody>
          <a:bodyPr wrap="square" lIns="0" tIns="0" rIns="0" bIns="0" rtlCol="0" anchor="ctr"/>
          <a:lstStyle/>
          <a:p>
            <a:pPr algn="ctr" indent="0" marL="0">
              <a:buNone/>
            </a:pPr>
            <a:r>
              <a:rPr lang="en-US" sz="950" b="1" dirty="0">
                <a:solidFill>
                  <a:srgbClr val="001871"/>
                </a:solidFill>
                <a:latin typeface="맑은 고딕" pitchFamily="34" charset="0"/>
                <a:ea typeface="맑은 고딕" pitchFamily="34" charset="-122"/>
                <a:cs typeface="맑은 고딕" pitchFamily="34" charset="-120"/>
              </a:rPr>
              <a:t>모르면 모른다고 씁니다</a:t>
            </a:r>
            <a:endParaRPr lang="en-US" sz="950" dirty="0"/>
          </a:p>
        </p:txBody>
      </p:sp>
      <p:sp>
        <p:nvSpPr>
          <p:cNvPr id="42" name="Shape 40"/>
          <p:cNvSpPr/>
          <p:nvPr/>
        </p:nvSpPr>
        <p:spPr>
          <a:xfrm>
            <a:off x="4133088" y="5468112"/>
            <a:ext cx="2377440" cy="310896"/>
          </a:xfrm>
          <a:prstGeom prst="roundRect">
            <a:avLst>
              <a:gd name="adj" fmla="val 23529"/>
            </a:avLst>
          </a:prstGeom>
          <a:solidFill>
            <a:srgbClr val="E7EBF8"/>
          </a:solidFill>
          <a:ln w="12700">
            <a:solidFill>
              <a:srgbClr val="E7EBF8"/>
            </a:solidFill>
            <a:prstDash val="solid"/>
          </a:ln>
        </p:spPr>
      </p:sp>
      <p:sp>
        <p:nvSpPr>
          <p:cNvPr id="43" name="Text 41"/>
          <p:cNvSpPr/>
          <p:nvPr/>
        </p:nvSpPr>
        <p:spPr>
          <a:xfrm>
            <a:off x="4133088" y="5468112"/>
            <a:ext cx="2377440" cy="310896"/>
          </a:xfrm>
          <a:prstGeom prst="rect">
            <a:avLst/>
          </a:prstGeom>
          <a:noFill/>
          <a:ln/>
        </p:spPr>
        <p:txBody>
          <a:bodyPr wrap="square" lIns="0" tIns="0" rIns="0" bIns="0" rtlCol="0" anchor="ctr"/>
          <a:lstStyle/>
          <a:p>
            <a:pPr algn="ctr" indent="0" marL="0">
              <a:buNone/>
            </a:pPr>
            <a:r>
              <a:rPr lang="en-US" sz="950" b="1" dirty="0">
                <a:solidFill>
                  <a:srgbClr val="001871"/>
                </a:solidFill>
                <a:latin typeface="맑은 고딕" pitchFamily="34" charset="0"/>
                <a:ea typeface="맑은 고딕" pitchFamily="34" charset="-122"/>
                <a:cs typeface="맑은 고딕" pitchFamily="34" charset="-120"/>
              </a:rPr>
              <a:t>이름·연락처를 받지 않습니다</a:t>
            </a:r>
            <a:endParaRPr lang="en-US" sz="950" dirty="0"/>
          </a:p>
        </p:txBody>
      </p:sp>
      <p:sp>
        <p:nvSpPr>
          <p:cNvPr id="44" name="Shape 42"/>
          <p:cNvSpPr/>
          <p:nvPr/>
        </p:nvSpPr>
        <p:spPr>
          <a:xfrm>
            <a:off x="6647688" y="5468112"/>
            <a:ext cx="2377440" cy="310896"/>
          </a:xfrm>
          <a:prstGeom prst="roundRect">
            <a:avLst>
              <a:gd name="adj" fmla="val 23529"/>
            </a:avLst>
          </a:prstGeom>
          <a:solidFill>
            <a:srgbClr val="E7EBF8"/>
          </a:solidFill>
          <a:ln w="12700">
            <a:solidFill>
              <a:srgbClr val="E7EBF8"/>
            </a:solidFill>
            <a:prstDash val="solid"/>
          </a:ln>
        </p:spPr>
      </p:sp>
      <p:sp>
        <p:nvSpPr>
          <p:cNvPr id="45" name="Text 43"/>
          <p:cNvSpPr/>
          <p:nvPr/>
        </p:nvSpPr>
        <p:spPr>
          <a:xfrm>
            <a:off x="6647688" y="5468112"/>
            <a:ext cx="2377440" cy="310896"/>
          </a:xfrm>
          <a:prstGeom prst="rect">
            <a:avLst/>
          </a:prstGeom>
          <a:noFill/>
          <a:ln/>
        </p:spPr>
        <p:txBody>
          <a:bodyPr wrap="square" lIns="0" tIns="0" rIns="0" bIns="0" rtlCol="0" anchor="ctr"/>
          <a:lstStyle/>
          <a:p>
            <a:pPr algn="ctr" indent="0" marL="0">
              <a:buNone/>
            </a:pPr>
            <a:r>
              <a:rPr lang="en-US" sz="950" b="1" dirty="0">
                <a:solidFill>
                  <a:srgbClr val="001871"/>
                </a:solidFill>
                <a:latin typeface="맑은 고딕" pitchFamily="34" charset="0"/>
                <a:ea typeface="맑은 고딕" pitchFamily="34" charset="-122"/>
                <a:cs typeface="맑은 고딕" pitchFamily="34" charset="-120"/>
              </a:rPr>
              <a:t>AI는 서버에서만 돌립니다</a:t>
            </a:r>
            <a:endParaRPr lang="en-US" sz="950" dirty="0"/>
          </a:p>
        </p:txBody>
      </p:sp>
      <p:sp>
        <p:nvSpPr>
          <p:cNvPr id="46" name="Shape 44"/>
          <p:cNvSpPr/>
          <p:nvPr/>
        </p:nvSpPr>
        <p:spPr>
          <a:xfrm>
            <a:off x="9162288" y="5468112"/>
            <a:ext cx="2377440" cy="310896"/>
          </a:xfrm>
          <a:prstGeom prst="roundRect">
            <a:avLst>
              <a:gd name="adj" fmla="val 23529"/>
            </a:avLst>
          </a:prstGeom>
          <a:solidFill>
            <a:srgbClr val="E7EBF8"/>
          </a:solidFill>
          <a:ln w="12700">
            <a:solidFill>
              <a:srgbClr val="E7EBF8"/>
            </a:solidFill>
            <a:prstDash val="solid"/>
          </a:ln>
        </p:spPr>
      </p:sp>
      <p:sp>
        <p:nvSpPr>
          <p:cNvPr id="47" name="Text 45"/>
          <p:cNvSpPr/>
          <p:nvPr/>
        </p:nvSpPr>
        <p:spPr>
          <a:xfrm>
            <a:off x="9162288" y="5468112"/>
            <a:ext cx="2377440" cy="310896"/>
          </a:xfrm>
          <a:prstGeom prst="rect">
            <a:avLst/>
          </a:prstGeom>
          <a:noFill/>
          <a:ln/>
        </p:spPr>
        <p:txBody>
          <a:bodyPr wrap="square" lIns="0" tIns="0" rIns="0" bIns="0" rtlCol="0" anchor="ctr"/>
          <a:lstStyle/>
          <a:p>
            <a:pPr algn="ctr" indent="0" marL="0">
              <a:buNone/>
            </a:pPr>
            <a:r>
              <a:rPr lang="en-US" sz="950" b="1" dirty="0">
                <a:solidFill>
                  <a:srgbClr val="001871"/>
                </a:solidFill>
                <a:latin typeface="맑은 고딕" pitchFamily="34" charset="0"/>
                <a:ea typeface="맑은 고딕" pitchFamily="34" charset="-122"/>
                <a:cs typeface="맑은 고딕" pitchFamily="34" charset="-120"/>
              </a:rPr>
              <a:t>AI가 실패해도 사진은 남습니다</a:t>
            </a:r>
            <a:endParaRPr lang="en-US" sz="950" dirty="0"/>
          </a:p>
        </p:txBody>
      </p:sp>
      <p:sp>
        <p:nvSpPr>
          <p:cNvPr id="48" name="Text 46"/>
          <p:cNvSpPr/>
          <p:nvPr/>
        </p:nvSpPr>
        <p:spPr>
          <a:xfrm>
            <a:off x="566928" y="5961888"/>
            <a:ext cx="11057839" cy="310896"/>
          </a:xfrm>
          <a:prstGeom prst="rect">
            <a:avLst/>
          </a:prstGeom>
          <a:noFill/>
          <a:ln/>
        </p:spPr>
        <p:txBody>
          <a:bodyPr wrap="square" lIns="0" tIns="0" rIns="0" bIns="0" rtlCol="0" anchor="ctr"/>
          <a:lstStyle/>
          <a:p>
            <a:pPr indent="0" marL="0">
              <a:buNone/>
            </a:pPr>
            <a:r>
              <a:rPr lang="en-US" sz="850" dirty="0">
                <a:solidFill>
                  <a:srgbClr val="6E7796"/>
                </a:solidFill>
                <a:latin typeface="맑은 고딕" pitchFamily="34" charset="0"/>
                <a:ea typeface="맑은 고딕" pitchFamily="34" charset="-122"/>
                <a:cs typeface="맑은 고딕" pitchFamily="34" charset="-120"/>
              </a:rPr>
              <a:t>※ 기술 용어로는 — ① 정적 결합(빌드 타임) · PWA  ② 국토부 TAGO API 서버 프록시(캐시 10초, 키는 서버 보관)  ③ 제보 파이프라인 : 업로드 → VLM 판독 → 안내 반영</a:t>
            </a:r>
            <a:endParaRPr lang="en-US" sz="850" dirty="0"/>
          </a:p>
        </p:txBody>
      </p:sp>
      <p:sp>
        <p:nvSpPr>
          <p:cNvPr id="49" name="Text 47"/>
          <p:cNvSpPr/>
          <p:nvPr/>
        </p:nvSpPr>
        <p:spPr>
          <a:xfrm>
            <a:off x="566928" y="6327648"/>
            <a:ext cx="4572000" cy="274320"/>
          </a:xfrm>
          <a:prstGeom prst="rect">
            <a:avLst/>
          </a:prstGeom>
          <a:noFill/>
          <a:ln/>
        </p:spPr>
        <p:txBody>
          <a:bodyPr wrap="square" lIns="0" tIns="0" rIns="0" bIns="0" rtlCol="0" anchor="ctr"/>
          <a:lstStyle/>
          <a:p>
            <a:pPr algn="l" indent="0" marL="0">
              <a:buNone/>
            </a:pPr>
            <a:r>
              <a:rPr lang="en-US" sz="900" dirty="0">
                <a:solidFill>
                  <a:srgbClr val="6E7796"/>
                </a:solidFill>
                <a:latin typeface="맑은 고딕" pitchFamily="34" charset="0"/>
                <a:ea typeface="맑은 고딕" pitchFamily="34" charset="-122"/>
                <a:cs typeface="맑은 고딕" pitchFamily="34" charset="-120"/>
              </a:rPr>
              <a:t>쉼표정류장  ·  팀 오댕국</a:t>
            </a:r>
            <a:endParaRPr lang="en-US" sz="900" dirty="0"/>
          </a:p>
        </p:txBody>
      </p:sp>
      <p:sp>
        <p:nvSpPr>
          <p:cNvPr id="50" name="Text 48"/>
          <p:cNvSpPr/>
          <p:nvPr/>
        </p:nvSpPr>
        <p:spPr>
          <a:xfrm>
            <a:off x="10710367" y="6327648"/>
            <a:ext cx="914400" cy="274320"/>
          </a:xfrm>
          <a:prstGeom prst="rect">
            <a:avLst/>
          </a:prstGeom>
          <a:noFill/>
          <a:ln/>
        </p:spPr>
        <p:txBody>
          <a:bodyPr wrap="square" lIns="0" tIns="0" rIns="0" bIns="0" rtlCol="0" anchor="ctr"/>
          <a:lstStyle/>
          <a:p>
            <a:pPr algn="r" indent="0" marL="0">
              <a:buNone/>
            </a:pPr>
            <a:r>
              <a:rPr lang="en-US" sz="900" dirty="0">
                <a:solidFill>
                  <a:srgbClr val="6E7796"/>
                </a:solidFill>
                <a:latin typeface="맑은 고딕" pitchFamily="34" charset="0"/>
                <a:ea typeface="맑은 고딕" pitchFamily="34" charset="-122"/>
                <a:cs typeface="맑은 고딕"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11057839" cy="274320"/>
          </a:xfrm>
          <a:prstGeom prst="rect">
            <a:avLst/>
          </a:prstGeom>
          <a:noFill/>
          <a:ln/>
        </p:spPr>
        <p:txBody>
          <a:bodyPr wrap="square" lIns="0" tIns="0" rIns="0" bIns="0" rtlCol="0" anchor="ctr"/>
          <a:lstStyle/>
          <a:p>
            <a:pPr indent="0" marL="0">
              <a:buNone/>
            </a:pPr>
            <a:r>
              <a:rPr lang="en-US" sz="1100" b="1" dirty="0">
                <a:solidFill>
                  <a:srgbClr val="E8751A"/>
                </a:solidFill>
                <a:latin typeface="맑은 고딕" pitchFamily="34" charset="0"/>
                <a:ea typeface="맑은 고딕" pitchFamily="34" charset="-122"/>
                <a:cs typeface="맑은 고딕" pitchFamily="34" charset="-120"/>
              </a:rPr>
              <a:t>03</a:t>
            </a:r>
            <a:pPr indent="0" marL="0">
              <a:buNone/>
            </a:pPr>
            <a:r>
              <a:rPr lang="en-US" sz="1100" b="1" dirty="0">
                <a:solidFill>
                  <a:srgbClr val="6E7796"/>
                </a:solidFill>
                <a:latin typeface="맑은 고딕" pitchFamily="34" charset="0"/>
                <a:ea typeface="맑은 고딕" pitchFamily="34" charset="-122"/>
                <a:cs typeface="맑은 고딕" pitchFamily="34" charset="-120"/>
              </a:rPr>
              <a:t>   서비스 핵심 기능 설명 및 시연</a:t>
            </a:r>
            <a:endParaRPr lang="en-US" sz="1100" dirty="0"/>
          </a:p>
        </p:txBody>
      </p:sp>
      <p:sp>
        <p:nvSpPr>
          <p:cNvPr id="3" name="Text 1"/>
          <p:cNvSpPr/>
          <p:nvPr/>
        </p:nvSpPr>
        <p:spPr>
          <a:xfrm>
            <a:off x="566928" y="749808"/>
            <a:ext cx="11057839" cy="566928"/>
          </a:xfrm>
          <a:prstGeom prst="rect">
            <a:avLst/>
          </a:prstGeom>
          <a:noFill/>
          <a:ln/>
        </p:spPr>
        <p:txBody>
          <a:bodyPr wrap="square" lIns="0" tIns="0" rIns="0" bIns="0" rtlCol="0" anchor="ctr"/>
          <a:lstStyle/>
          <a:p>
            <a:pPr indent="0" marL="0">
              <a:buNone/>
            </a:pPr>
            <a:r>
              <a:rPr lang="en-US" sz="2700" b="1" dirty="0">
                <a:solidFill>
                  <a:srgbClr val="141B33"/>
                </a:solidFill>
                <a:latin typeface="맑은 고딕" pitchFamily="34" charset="0"/>
                <a:ea typeface="맑은 고딕" pitchFamily="34" charset="-122"/>
                <a:cs typeface="맑은 고딕" pitchFamily="34" charset="-120"/>
              </a:rPr>
              <a:t>핵심 기능</a:t>
            </a:r>
            <a:endParaRPr lang="en-US" sz="2700" dirty="0"/>
          </a:p>
        </p:txBody>
      </p:sp>
      <p:sp>
        <p:nvSpPr>
          <p:cNvPr id="4" name="Text 2"/>
          <p:cNvSpPr/>
          <p:nvPr/>
        </p:nvSpPr>
        <p:spPr>
          <a:xfrm>
            <a:off x="566928" y="1335024"/>
            <a:ext cx="11057839" cy="310896"/>
          </a:xfrm>
          <a:prstGeom prst="rect">
            <a:avLst/>
          </a:prstGeom>
          <a:noFill/>
          <a:ln/>
        </p:spPr>
        <p:txBody>
          <a:bodyPr wrap="square" lIns="0" tIns="0" rIns="0" bIns="0" rtlCol="0" anchor="ctr"/>
          <a:lstStyle/>
          <a:p>
            <a:pPr indent="0" marL="0">
              <a:buNone/>
            </a:pPr>
            <a:r>
              <a:rPr lang="en-US" sz="1300" dirty="0">
                <a:solidFill>
                  <a:srgbClr val="6E7796"/>
                </a:solidFill>
                <a:latin typeface="맑은 고딕" pitchFamily="34" charset="0"/>
                <a:ea typeface="맑은 고딕" pitchFamily="34" charset="-122"/>
                <a:cs typeface="맑은 고딕" pitchFamily="34" charset="-120"/>
              </a:rPr>
              <a:t>1번이 서비스의 목적이고, 2·3·4번은 그 안내에 닿기 위한 경로입니다</a:t>
            </a:r>
            <a:endParaRPr lang="en-US" sz="1300" dirty="0"/>
          </a:p>
        </p:txBody>
      </p:sp>
      <p:sp>
        <p:nvSpPr>
          <p:cNvPr id="5" name="Shape 3"/>
          <p:cNvSpPr/>
          <p:nvPr/>
        </p:nvSpPr>
        <p:spPr>
          <a:xfrm>
            <a:off x="566928" y="1874520"/>
            <a:ext cx="5532120" cy="1874520"/>
          </a:xfrm>
          <a:prstGeom prst="roundRect">
            <a:avLst>
              <a:gd name="adj" fmla="val 6829"/>
            </a:avLst>
          </a:prstGeom>
          <a:solidFill>
            <a:srgbClr val="FFFFFF"/>
          </a:solidFill>
          <a:ln w="12700">
            <a:solidFill>
              <a:srgbClr val="D4DAEE"/>
            </a:solidFill>
            <a:prstDash val="solid"/>
          </a:ln>
          <a:effectLst>
            <a:outerShdw sx="100000" sy="100000" kx="0" ky="0" algn="bl" rotWithShape="0" blurRad="101600" dist="25400" dir="5400000">
              <a:srgbClr val="001871">
                <a:alpha val="7000"/>
              </a:srgbClr>
            </a:outerShdw>
          </a:effectLst>
        </p:spPr>
      </p:sp>
      <p:sp>
        <p:nvSpPr>
          <p:cNvPr id="6" name="Shape 4"/>
          <p:cNvSpPr/>
          <p:nvPr/>
        </p:nvSpPr>
        <p:spPr>
          <a:xfrm>
            <a:off x="822960" y="2093976"/>
            <a:ext cx="384048" cy="384048"/>
          </a:xfrm>
          <a:prstGeom prst="roundRect">
            <a:avLst>
              <a:gd name="adj" fmla="val 50000"/>
            </a:avLst>
          </a:prstGeom>
          <a:solidFill>
            <a:srgbClr val="001871"/>
          </a:solidFill>
          <a:ln w="12700">
            <a:solidFill>
              <a:srgbClr val="001871"/>
            </a:solidFill>
            <a:prstDash val="solid"/>
          </a:ln>
        </p:spPr>
      </p:sp>
      <p:sp>
        <p:nvSpPr>
          <p:cNvPr id="7" name="Text 5"/>
          <p:cNvSpPr/>
          <p:nvPr/>
        </p:nvSpPr>
        <p:spPr>
          <a:xfrm>
            <a:off x="822960" y="20939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8" name="Text 6"/>
          <p:cNvSpPr/>
          <p:nvPr/>
        </p:nvSpPr>
        <p:spPr>
          <a:xfrm>
            <a:off x="1335024" y="2093976"/>
            <a:ext cx="4480560" cy="384048"/>
          </a:xfrm>
          <a:prstGeom prst="rect">
            <a:avLst/>
          </a:prstGeom>
          <a:noFill/>
          <a:ln/>
        </p:spPr>
        <p:txBody>
          <a:bodyPr wrap="square" lIns="0" tIns="0" rIns="0" bIns="0" rtlCol="0" anchor="ctr"/>
          <a:lstStyle/>
          <a:p>
            <a:pPr indent="0" marL="0">
              <a:buNone/>
            </a:pPr>
            <a:r>
              <a:rPr lang="en-US" sz="1500" b="1" dirty="0">
                <a:solidFill>
                  <a:srgbClr val="141B33"/>
                </a:solidFill>
                <a:latin typeface="맑은 고딕" pitchFamily="34" charset="0"/>
                <a:ea typeface="맑은 고딕" pitchFamily="34" charset="-122"/>
                <a:cs typeface="맑은 고딕" pitchFamily="34" charset="-120"/>
              </a:rPr>
              <a:t>가는 길 안내 위의 쉼터</a:t>
            </a:r>
            <a:endParaRPr lang="en-US" sz="1500" dirty="0"/>
          </a:p>
        </p:txBody>
      </p:sp>
      <p:sp>
        <p:nvSpPr>
          <p:cNvPr id="9" name="Text 7"/>
          <p:cNvSpPr/>
          <p:nvPr/>
        </p:nvSpPr>
        <p:spPr>
          <a:xfrm>
            <a:off x="859536" y="2569464"/>
            <a:ext cx="5029200" cy="274320"/>
          </a:xfrm>
          <a:prstGeom prst="rect">
            <a:avLst/>
          </a:prstGeom>
          <a:noFill/>
          <a:ln/>
        </p:spPr>
        <p:txBody>
          <a:bodyPr wrap="square" lIns="0" tIns="0" rIns="0" bIns="0" rtlCol="0" anchor="ctr"/>
          <a:lstStyle/>
          <a:p>
            <a:pPr indent="0" marL="0">
              <a:buNone/>
            </a:pPr>
            <a:r>
              <a:rPr lang="en-US" sz="1050" dirty="0">
                <a:solidFill>
                  <a:srgbClr val="3A4160"/>
                </a:solidFill>
                <a:latin typeface="맑은 고딕" pitchFamily="34" charset="0"/>
                <a:ea typeface="맑은 고딕" pitchFamily="34" charset="-122"/>
                <a:cs typeface="맑은 고딕" pitchFamily="34" charset="-120"/>
              </a:rPr>
              <a:t>·  타는 곳 · 내리는 곳 · 도착지 각 지점에서</a:t>
            </a:r>
            <a:endParaRPr lang="en-US" sz="1050" dirty="0"/>
          </a:p>
        </p:txBody>
      </p:sp>
      <p:sp>
        <p:nvSpPr>
          <p:cNvPr id="10" name="Text 8"/>
          <p:cNvSpPr/>
          <p:nvPr/>
        </p:nvSpPr>
        <p:spPr>
          <a:xfrm>
            <a:off x="859536" y="2852928"/>
            <a:ext cx="5029200" cy="274320"/>
          </a:xfrm>
          <a:prstGeom prst="rect">
            <a:avLst/>
          </a:prstGeom>
          <a:noFill/>
          <a:ln/>
        </p:spPr>
        <p:txBody>
          <a:bodyPr wrap="square" lIns="0" tIns="0" rIns="0" bIns="0" rtlCol="0" anchor="ctr"/>
          <a:lstStyle/>
          <a:p>
            <a:pPr indent="0" marL="0">
              <a:buNone/>
            </a:pPr>
            <a:r>
              <a:rPr lang="en-US" sz="1050" dirty="0">
                <a:solidFill>
                  <a:srgbClr val="3A4160"/>
                </a:solidFill>
                <a:latin typeface="맑은 고딕" pitchFamily="34" charset="0"/>
                <a:ea typeface="맑은 고딕" pitchFamily="34" charset="-122"/>
                <a:cs typeface="맑은 고딕" pitchFamily="34" charset="-120"/>
              </a:rPr>
              <a:t>·  50m 안에 무더위쉼터가 있으면 함께 표시</a:t>
            </a:r>
            <a:endParaRPr lang="en-US" sz="1050" dirty="0"/>
          </a:p>
        </p:txBody>
      </p:sp>
      <p:sp>
        <p:nvSpPr>
          <p:cNvPr id="11" name="Text 9"/>
          <p:cNvSpPr/>
          <p:nvPr/>
        </p:nvSpPr>
        <p:spPr>
          <a:xfrm>
            <a:off x="859536" y="3136392"/>
            <a:ext cx="5029200" cy="274320"/>
          </a:xfrm>
          <a:prstGeom prst="rect">
            <a:avLst/>
          </a:prstGeom>
          <a:noFill/>
          <a:ln/>
        </p:spPr>
        <p:txBody>
          <a:bodyPr wrap="square" lIns="0" tIns="0" rIns="0" bIns="0" rtlCol="0" anchor="ctr"/>
          <a:lstStyle/>
          <a:p>
            <a:pPr indent="0" marL="0">
              <a:buNone/>
            </a:pPr>
            <a:r>
              <a:rPr lang="en-US" sz="1050" dirty="0">
                <a:solidFill>
                  <a:srgbClr val="3A4160"/>
                </a:solidFill>
                <a:latin typeface="맑은 고딕" pitchFamily="34" charset="0"/>
                <a:ea typeface="맑은 고딕" pitchFamily="34" charset="-122"/>
                <a:cs typeface="맑은 고딕" pitchFamily="34" charset="-120"/>
              </a:rPr>
              <a:t>·  지도 탭에서는 226곳 전체를 초록 핀으로</a:t>
            </a:r>
            <a:endParaRPr lang="en-US" sz="1050" dirty="0"/>
          </a:p>
        </p:txBody>
      </p:sp>
      <p:sp>
        <p:nvSpPr>
          <p:cNvPr id="12" name="Text 10"/>
          <p:cNvSpPr/>
          <p:nvPr/>
        </p:nvSpPr>
        <p:spPr>
          <a:xfrm>
            <a:off x="859536" y="3419856"/>
            <a:ext cx="5029200" cy="274320"/>
          </a:xfrm>
          <a:prstGeom prst="rect">
            <a:avLst/>
          </a:prstGeom>
          <a:noFill/>
          <a:ln/>
        </p:spPr>
        <p:txBody>
          <a:bodyPr wrap="square" lIns="0" tIns="0" rIns="0" bIns="0" rtlCol="0" anchor="ctr"/>
          <a:lstStyle/>
          <a:p>
            <a:pPr indent="0" marL="0">
              <a:buNone/>
            </a:pPr>
            <a:r>
              <a:rPr lang="en-US" sz="1050" dirty="0">
                <a:solidFill>
                  <a:srgbClr val="3A4160"/>
                </a:solidFill>
                <a:latin typeface="맑은 고딕" pitchFamily="34" charset="0"/>
                <a:ea typeface="맑은 고딕" pitchFamily="34" charset="-122"/>
                <a:cs typeface="맑은 고딕" pitchFamily="34" charset="-120"/>
              </a:rPr>
              <a:t>·  지금 문을 열었는지 운영시간으로 판정</a:t>
            </a:r>
            <a:endParaRPr lang="en-US" sz="1050" dirty="0"/>
          </a:p>
        </p:txBody>
      </p:sp>
      <p:sp>
        <p:nvSpPr>
          <p:cNvPr id="13" name="Shape 11"/>
          <p:cNvSpPr/>
          <p:nvPr/>
        </p:nvSpPr>
        <p:spPr>
          <a:xfrm>
            <a:off x="6281928" y="1874520"/>
            <a:ext cx="5532120" cy="1874520"/>
          </a:xfrm>
          <a:prstGeom prst="roundRect">
            <a:avLst>
              <a:gd name="adj" fmla="val 6829"/>
            </a:avLst>
          </a:prstGeom>
          <a:solidFill>
            <a:srgbClr val="FFFFFF"/>
          </a:solidFill>
          <a:ln w="12700">
            <a:solidFill>
              <a:srgbClr val="D4DAEE"/>
            </a:solidFill>
            <a:prstDash val="solid"/>
          </a:ln>
          <a:effectLst>
            <a:outerShdw sx="100000" sy="100000" kx="0" ky="0" algn="bl" rotWithShape="0" blurRad="101600" dist="25400" dir="5400000">
              <a:srgbClr val="001871">
                <a:alpha val="7000"/>
              </a:srgbClr>
            </a:outerShdw>
          </a:effectLst>
        </p:spPr>
      </p:sp>
      <p:sp>
        <p:nvSpPr>
          <p:cNvPr id="14" name="Shape 12"/>
          <p:cNvSpPr/>
          <p:nvPr/>
        </p:nvSpPr>
        <p:spPr>
          <a:xfrm>
            <a:off x="6537960" y="2093976"/>
            <a:ext cx="384048" cy="384048"/>
          </a:xfrm>
          <a:prstGeom prst="roundRect">
            <a:avLst>
              <a:gd name="adj" fmla="val 50000"/>
            </a:avLst>
          </a:prstGeom>
          <a:solidFill>
            <a:srgbClr val="001871"/>
          </a:solidFill>
          <a:ln w="12700">
            <a:solidFill>
              <a:srgbClr val="001871"/>
            </a:solidFill>
            <a:prstDash val="solid"/>
          </a:ln>
        </p:spPr>
      </p:sp>
      <p:sp>
        <p:nvSpPr>
          <p:cNvPr id="15" name="Text 13"/>
          <p:cNvSpPr/>
          <p:nvPr/>
        </p:nvSpPr>
        <p:spPr>
          <a:xfrm>
            <a:off x="6537960" y="20939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16" name="Text 14"/>
          <p:cNvSpPr/>
          <p:nvPr/>
        </p:nvSpPr>
        <p:spPr>
          <a:xfrm>
            <a:off x="7050024" y="2093976"/>
            <a:ext cx="4480560" cy="384048"/>
          </a:xfrm>
          <a:prstGeom prst="rect">
            <a:avLst/>
          </a:prstGeom>
          <a:noFill/>
          <a:ln/>
        </p:spPr>
        <p:txBody>
          <a:bodyPr wrap="square" lIns="0" tIns="0" rIns="0" bIns="0" rtlCol="0" anchor="ctr"/>
          <a:lstStyle/>
          <a:p>
            <a:pPr indent="0" marL="0">
              <a:buNone/>
            </a:pPr>
            <a:r>
              <a:rPr lang="en-US" sz="1500" b="1" dirty="0">
                <a:solidFill>
                  <a:srgbClr val="141B33"/>
                </a:solidFill>
                <a:latin typeface="맑은 고딕" pitchFamily="34" charset="0"/>
                <a:ea typeface="맑은 고딕" pitchFamily="34" charset="-122"/>
                <a:cs typeface="맑은 고딕" pitchFamily="34" charset="-120"/>
              </a:rPr>
              <a:t>기다리기 환경 안내</a:t>
            </a:r>
            <a:endParaRPr lang="en-US" sz="1500" dirty="0"/>
          </a:p>
        </p:txBody>
      </p:sp>
      <p:sp>
        <p:nvSpPr>
          <p:cNvPr id="17" name="Text 15"/>
          <p:cNvSpPr/>
          <p:nvPr/>
        </p:nvSpPr>
        <p:spPr>
          <a:xfrm>
            <a:off x="6574536" y="2569464"/>
            <a:ext cx="5029200" cy="274320"/>
          </a:xfrm>
          <a:prstGeom prst="rect">
            <a:avLst/>
          </a:prstGeom>
          <a:noFill/>
          <a:ln/>
        </p:spPr>
        <p:txBody>
          <a:bodyPr wrap="square" lIns="0" tIns="0" rIns="0" bIns="0" rtlCol="0" anchor="ctr"/>
          <a:lstStyle/>
          <a:p>
            <a:pPr indent="0" marL="0">
              <a:buNone/>
            </a:pPr>
            <a:r>
              <a:rPr lang="en-US" sz="1050" dirty="0">
                <a:solidFill>
                  <a:srgbClr val="3A4160"/>
                </a:solidFill>
                <a:latin typeface="맑은 고딕" pitchFamily="34" charset="0"/>
                <a:ea typeface="맑은 고딕" pitchFamily="34" charset="-122"/>
                <a:cs typeface="맑은 고딕" pitchFamily="34" charset="-120"/>
              </a:rPr>
              <a:t>·  그늘 · 의자 · 쉘터 · 안내기 · 조명을 단어 칩으로</a:t>
            </a:r>
            <a:endParaRPr lang="en-US" sz="1050" dirty="0"/>
          </a:p>
        </p:txBody>
      </p:sp>
      <p:sp>
        <p:nvSpPr>
          <p:cNvPr id="18" name="Text 16"/>
          <p:cNvSpPr/>
          <p:nvPr/>
        </p:nvSpPr>
        <p:spPr>
          <a:xfrm>
            <a:off x="6574536" y="2852928"/>
            <a:ext cx="5029200" cy="274320"/>
          </a:xfrm>
          <a:prstGeom prst="rect">
            <a:avLst/>
          </a:prstGeom>
          <a:noFill/>
          <a:ln/>
        </p:spPr>
        <p:txBody>
          <a:bodyPr wrap="square" lIns="0" tIns="0" rIns="0" bIns="0" rtlCol="0" anchor="ctr"/>
          <a:lstStyle/>
          <a:p>
            <a:pPr indent="0" marL="0">
              <a:buNone/>
            </a:pPr>
            <a:r>
              <a:rPr lang="en-US" sz="1050" dirty="0">
                <a:solidFill>
                  <a:srgbClr val="3A4160"/>
                </a:solidFill>
                <a:latin typeface="맑은 고딕" pitchFamily="34" charset="0"/>
                <a:ea typeface="맑은 고딕" pitchFamily="34" charset="-122"/>
                <a:cs typeface="맑은 고딕" pitchFamily="34" charset="-120"/>
              </a:rPr>
              <a:t>·  모르면 '몰라요' — 추측해서 말하지 않습니다</a:t>
            </a:r>
            <a:endParaRPr lang="en-US" sz="1050" dirty="0"/>
          </a:p>
        </p:txBody>
      </p:sp>
      <p:sp>
        <p:nvSpPr>
          <p:cNvPr id="19" name="Text 17"/>
          <p:cNvSpPr/>
          <p:nvPr/>
        </p:nvSpPr>
        <p:spPr>
          <a:xfrm>
            <a:off x="6574536" y="3136392"/>
            <a:ext cx="5029200" cy="274320"/>
          </a:xfrm>
          <a:prstGeom prst="rect">
            <a:avLst/>
          </a:prstGeom>
          <a:noFill/>
          <a:ln/>
        </p:spPr>
        <p:txBody>
          <a:bodyPr wrap="square" lIns="0" tIns="0" rIns="0" bIns="0" rtlCol="0" anchor="ctr"/>
          <a:lstStyle/>
          <a:p>
            <a:pPr indent="0" marL="0">
              <a:buNone/>
            </a:pPr>
            <a:r>
              <a:rPr lang="en-US" sz="1050" dirty="0">
                <a:solidFill>
                  <a:srgbClr val="3A4160"/>
                </a:solidFill>
                <a:latin typeface="맑은 고딕" pitchFamily="34" charset="0"/>
                <a:ea typeface="맑은 고딕" pitchFamily="34" charset="-122"/>
                <a:cs typeface="맑은 고딕" pitchFamily="34" charset="-120"/>
              </a:rPr>
              <a:t>·  출처 라벨을 함께 표기 (조사 / 대장 / AI 판독)</a:t>
            </a:r>
            <a:endParaRPr lang="en-US" sz="1050" dirty="0"/>
          </a:p>
        </p:txBody>
      </p:sp>
      <p:sp>
        <p:nvSpPr>
          <p:cNvPr id="20" name="Text 18"/>
          <p:cNvSpPr/>
          <p:nvPr/>
        </p:nvSpPr>
        <p:spPr>
          <a:xfrm>
            <a:off x="6574536" y="3419856"/>
            <a:ext cx="5029200" cy="274320"/>
          </a:xfrm>
          <a:prstGeom prst="rect">
            <a:avLst/>
          </a:prstGeom>
          <a:noFill/>
          <a:ln/>
        </p:spPr>
        <p:txBody>
          <a:bodyPr wrap="square" lIns="0" tIns="0" rIns="0" bIns="0" rtlCol="0" anchor="ctr"/>
          <a:lstStyle/>
          <a:p>
            <a:pPr indent="0" marL="0">
              <a:buNone/>
            </a:pPr>
            <a:r>
              <a:rPr lang="en-US" sz="1050" dirty="0">
                <a:solidFill>
                  <a:srgbClr val="3A4160"/>
                </a:solidFill>
                <a:latin typeface="맑은 고딕" pitchFamily="34" charset="0"/>
                <a:ea typeface="맑은 고딕" pitchFamily="34" charset="-122"/>
                <a:cs typeface="맑은 고딕" pitchFamily="34" charset="-120"/>
              </a:rPr>
              <a:t>·  실시간 도착정보(TAGO)를 같은 화면에</a:t>
            </a:r>
            <a:endParaRPr lang="en-US" sz="1050" dirty="0"/>
          </a:p>
        </p:txBody>
      </p:sp>
      <p:sp>
        <p:nvSpPr>
          <p:cNvPr id="21" name="Shape 19"/>
          <p:cNvSpPr/>
          <p:nvPr/>
        </p:nvSpPr>
        <p:spPr>
          <a:xfrm>
            <a:off x="566928" y="3904488"/>
            <a:ext cx="5532120" cy="1874520"/>
          </a:xfrm>
          <a:prstGeom prst="roundRect">
            <a:avLst>
              <a:gd name="adj" fmla="val 6829"/>
            </a:avLst>
          </a:prstGeom>
          <a:solidFill>
            <a:srgbClr val="FFFFFF"/>
          </a:solidFill>
          <a:ln w="12700">
            <a:solidFill>
              <a:srgbClr val="D4DAEE"/>
            </a:solidFill>
            <a:prstDash val="solid"/>
          </a:ln>
          <a:effectLst>
            <a:outerShdw sx="100000" sy="100000" kx="0" ky="0" algn="bl" rotWithShape="0" blurRad="101600" dist="25400" dir="5400000">
              <a:srgbClr val="001871">
                <a:alpha val="7000"/>
              </a:srgbClr>
            </a:outerShdw>
          </a:effectLst>
        </p:spPr>
      </p:sp>
      <p:sp>
        <p:nvSpPr>
          <p:cNvPr id="22" name="Shape 20"/>
          <p:cNvSpPr/>
          <p:nvPr/>
        </p:nvSpPr>
        <p:spPr>
          <a:xfrm>
            <a:off x="822960" y="4123944"/>
            <a:ext cx="384048" cy="384048"/>
          </a:xfrm>
          <a:prstGeom prst="roundRect">
            <a:avLst>
              <a:gd name="adj" fmla="val 50000"/>
            </a:avLst>
          </a:prstGeom>
          <a:solidFill>
            <a:srgbClr val="001871"/>
          </a:solidFill>
          <a:ln w="12700">
            <a:solidFill>
              <a:srgbClr val="001871"/>
            </a:solidFill>
            <a:prstDash val="solid"/>
          </a:ln>
        </p:spPr>
      </p:sp>
      <p:sp>
        <p:nvSpPr>
          <p:cNvPr id="23" name="Text 21"/>
          <p:cNvSpPr/>
          <p:nvPr/>
        </p:nvSpPr>
        <p:spPr>
          <a:xfrm>
            <a:off x="822960" y="41239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24" name="Text 22"/>
          <p:cNvSpPr/>
          <p:nvPr/>
        </p:nvSpPr>
        <p:spPr>
          <a:xfrm>
            <a:off x="1335024" y="4123944"/>
            <a:ext cx="4480560" cy="384048"/>
          </a:xfrm>
          <a:prstGeom prst="rect">
            <a:avLst/>
          </a:prstGeom>
          <a:noFill/>
          <a:ln/>
        </p:spPr>
        <p:txBody>
          <a:bodyPr wrap="square" lIns="0" tIns="0" rIns="0" bIns="0" rtlCol="0" anchor="ctr"/>
          <a:lstStyle/>
          <a:p>
            <a:pPr indent="0" marL="0">
              <a:buNone/>
            </a:pPr>
            <a:r>
              <a:rPr lang="en-US" sz="1500" b="1" dirty="0">
                <a:solidFill>
                  <a:srgbClr val="141B33"/>
                </a:solidFill>
                <a:latin typeface="맑은 고딕" pitchFamily="34" charset="0"/>
                <a:ea typeface="맑은 고딕" pitchFamily="34" charset="-122"/>
                <a:cs typeface="맑은 고딕" pitchFamily="34" charset="-120"/>
              </a:rPr>
              <a:t>어르신을 위한 입력</a:t>
            </a:r>
            <a:endParaRPr lang="en-US" sz="1500" dirty="0"/>
          </a:p>
        </p:txBody>
      </p:sp>
      <p:sp>
        <p:nvSpPr>
          <p:cNvPr id="25" name="Text 23"/>
          <p:cNvSpPr/>
          <p:nvPr/>
        </p:nvSpPr>
        <p:spPr>
          <a:xfrm>
            <a:off x="859536" y="4599432"/>
            <a:ext cx="5029200" cy="274320"/>
          </a:xfrm>
          <a:prstGeom prst="rect">
            <a:avLst/>
          </a:prstGeom>
          <a:noFill/>
          <a:ln/>
        </p:spPr>
        <p:txBody>
          <a:bodyPr wrap="square" lIns="0" tIns="0" rIns="0" bIns="0" rtlCol="0" anchor="ctr"/>
          <a:lstStyle/>
          <a:p>
            <a:pPr indent="0" marL="0">
              <a:buNone/>
            </a:pPr>
            <a:r>
              <a:rPr lang="en-US" sz="1050" dirty="0">
                <a:solidFill>
                  <a:srgbClr val="3A4160"/>
                </a:solidFill>
                <a:latin typeface="맑은 고딕" pitchFamily="34" charset="0"/>
                <a:ea typeface="맑은 고딕" pitchFamily="34" charset="-122"/>
                <a:cs typeface="맑은 고딕" pitchFamily="34" charset="-120"/>
              </a:rPr>
              <a:t>·  [음성으로 찾기] — 말하면 바로 검색</a:t>
            </a:r>
            <a:endParaRPr lang="en-US" sz="1050" dirty="0"/>
          </a:p>
        </p:txBody>
      </p:sp>
      <p:sp>
        <p:nvSpPr>
          <p:cNvPr id="26" name="Text 24"/>
          <p:cNvSpPr/>
          <p:nvPr/>
        </p:nvSpPr>
        <p:spPr>
          <a:xfrm>
            <a:off x="859536" y="4882896"/>
            <a:ext cx="5029200" cy="274320"/>
          </a:xfrm>
          <a:prstGeom prst="rect">
            <a:avLst/>
          </a:prstGeom>
          <a:noFill/>
          <a:ln/>
        </p:spPr>
        <p:txBody>
          <a:bodyPr wrap="square" lIns="0" tIns="0" rIns="0" bIns="0" rtlCol="0" anchor="ctr"/>
          <a:lstStyle/>
          <a:p>
            <a:pPr indent="0" marL="0">
              <a:buNone/>
            </a:pPr>
            <a:r>
              <a:rPr lang="en-US" sz="1050" dirty="0">
                <a:solidFill>
                  <a:srgbClr val="3A4160"/>
                </a:solidFill>
                <a:latin typeface="맑은 고딕" pitchFamily="34" charset="0"/>
                <a:ea typeface="맑은 고딕" pitchFamily="34" charset="-122"/>
                <a:cs typeface="맑은 고딕" pitchFamily="34" charset="-120"/>
              </a:rPr>
              <a:t>·  아이콘 대신 큰 단어 카드 · 터치 영역 56px 이상</a:t>
            </a:r>
            <a:endParaRPr lang="en-US" sz="1050" dirty="0"/>
          </a:p>
        </p:txBody>
      </p:sp>
      <p:sp>
        <p:nvSpPr>
          <p:cNvPr id="27" name="Text 25"/>
          <p:cNvSpPr/>
          <p:nvPr/>
        </p:nvSpPr>
        <p:spPr>
          <a:xfrm>
            <a:off x="859536" y="5166360"/>
            <a:ext cx="5029200" cy="274320"/>
          </a:xfrm>
          <a:prstGeom prst="rect">
            <a:avLst/>
          </a:prstGeom>
          <a:noFill/>
          <a:ln/>
        </p:spPr>
        <p:txBody>
          <a:bodyPr wrap="square" lIns="0" tIns="0" rIns="0" bIns="0" rtlCol="0" anchor="ctr"/>
          <a:lstStyle/>
          <a:p>
            <a:pPr indent="0" marL="0">
              <a:buNone/>
            </a:pPr>
            <a:r>
              <a:rPr lang="en-US" sz="1050" dirty="0">
                <a:solidFill>
                  <a:srgbClr val="3A4160"/>
                </a:solidFill>
                <a:latin typeface="맑은 고딕" pitchFamily="34" charset="0"/>
                <a:ea typeface="맑은 고딕" pitchFamily="34" charset="-122"/>
                <a:cs typeface="맑은 고딕" pitchFamily="34" charset="-120"/>
              </a:rPr>
              <a:t>·  출발지는 GPS 주소로 자동 입력</a:t>
            </a:r>
            <a:endParaRPr lang="en-US" sz="1050" dirty="0"/>
          </a:p>
        </p:txBody>
      </p:sp>
      <p:sp>
        <p:nvSpPr>
          <p:cNvPr id="28" name="Text 26"/>
          <p:cNvSpPr/>
          <p:nvPr/>
        </p:nvSpPr>
        <p:spPr>
          <a:xfrm>
            <a:off x="859536" y="5449824"/>
            <a:ext cx="5029200" cy="274320"/>
          </a:xfrm>
          <a:prstGeom prst="rect">
            <a:avLst/>
          </a:prstGeom>
          <a:noFill/>
          <a:ln/>
        </p:spPr>
        <p:txBody>
          <a:bodyPr wrap="square" lIns="0" tIns="0" rIns="0" bIns="0" rtlCol="0" anchor="ctr"/>
          <a:lstStyle/>
          <a:p>
            <a:pPr indent="0" marL="0">
              <a:buNone/>
            </a:pPr>
            <a:r>
              <a:rPr lang="en-US" sz="1050" dirty="0">
                <a:solidFill>
                  <a:srgbClr val="3A4160"/>
                </a:solidFill>
                <a:latin typeface="맑은 고딕" pitchFamily="34" charset="0"/>
                <a:ea typeface="맑은 고딕" pitchFamily="34" charset="-122"/>
                <a:cs typeface="맑은 고딕" pitchFamily="34" charset="-120"/>
              </a:rPr>
              <a:t>·  설치 없이 웹 주소·QR로 바로 진입 (PWA)</a:t>
            </a:r>
            <a:endParaRPr lang="en-US" sz="1050" dirty="0"/>
          </a:p>
        </p:txBody>
      </p:sp>
      <p:sp>
        <p:nvSpPr>
          <p:cNvPr id="29" name="Shape 27"/>
          <p:cNvSpPr/>
          <p:nvPr/>
        </p:nvSpPr>
        <p:spPr>
          <a:xfrm>
            <a:off x="6281928" y="3904488"/>
            <a:ext cx="5532120" cy="1874520"/>
          </a:xfrm>
          <a:prstGeom prst="roundRect">
            <a:avLst>
              <a:gd name="adj" fmla="val 6829"/>
            </a:avLst>
          </a:prstGeom>
          <a:solidFill>
            <a:srgbClr val="FFFFFF"/>
          </a:solidFill>
          <a:ln w="12700">
            <a:solidFill>
              <a:srgbClr val="D4DAEE"/>
            </a:solidFill>
            <a:prstDash val="solid"/>
          </a:ln>
          <a:effectLst>
            <a:outerShdw sx="100000" sy="100000" kx="0" ky="0" algn="bl" rotWithShape="0" blurRad="101600" dist="25400" dir="5400000">
              <a:srgbClr val="001871">
                <a:alpha val="7000"/>
              </a:srgbClr>
            </a:outerShdw>
          </a:effectLst>
        </p:spPr>
      </p:sp>
      <p:sp>
        <p:nvSpPr>
          <p:cNvPr id="30" name="Shape 28"/>
          <p:cNvSpPr/>
          <p:nvPr/>
        </p:nvSpPr>
        <p:spPr>
          <a:xfrm>
            <a:off x="6537960" y="4123944"/>
            <a:ext cx="384048" cy="384048"/>
          </a:xfrm>
          <a:prstGeom prst="roundRect">
            <a:avLst>
              <a:gd name="adj" fmla="val 50000"/>
            </a:avLst>
          </a:prstGeom>
          <a:solidFill>
            <a:srgbClr val="001871"/>
          </a:solidFill>
          <a:ln w="12700">
            <a:solidFill>
              <a:srgbClr val="001871"/>
            </a:solidFill>
            <a:prstDash val="solid"/>
          </a:ln>
        </p:spPr>
      </p:sp>
      <p:sp>
        <p:nvSpPr>
          <p:cNvPr id="31" name="Text 29"/>
          <p:cNvSpPr/>
          <p:nvPr/>
        </p:nvSpPr>
        <p:spPr>
          <a:xfrm>
            <a:off x="6537960" y="41239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4</a:t>
            </a:r>
            <a:endParaRPr lang="en-US" sz="1300" dirty="0"/>
          </a:p>
        </p:txBody>
      </p:sp>
      <p:sp>
        <p:nvSpPr>
          <p:cNvPr id="32" name="Text 30"/>
          <p:cNvSpPr/>
          <p:nvPr/>
        </p:nvSpPr>
        <p:spPr>
          <a:xfrm>
            <a:off x="7050024" y="4123944"/>
            <a:ext cx="4480560" cy="384048"/>
          </a:xfrm>
          <a:prstGeom prst="rect">
            <a:avLst/>
          </a:prstGeom>
          <a:noFill/>
          <a:ln/>
        </p:spPr>
        <p:txBody>
          <a:bodyPr wrap="square" lIns="0" tIns="0" rIns="0" bIns="0" rtlCol="0" anchor="ctr"/>
          <a:lstStyle/>
          <a:p>
            <a:pPr indent="0" marL="0">
              <a:buNone/>
            </a:pPr>
            <a:r>
              <a:rPr lang="en-US" sz="1500" b="1" dirty="0">
                <a:solidFill>
                  <a:srgbClr val="141B33"/>
                </a:solidFill>
                <a:latin typeface="맑은 고딕" pitchFamily="34" charset="0"/>
                <a:ea typeface="맑은 고딕" pitchFamily="34" charset="-122"/>
                <a:cs typeface="맑은 고딕" pitchFamily="34" charset="-120"/>
              </a:rPr>
              <a:t>실시간 안내 타임라인</a:t>
            </a:r>
            <a:endParaRPr lang="en-US" sz="1500" dirty="0"/>
          </a:p>
        </p:txBody>
      </p:sp>
      <p:sp>
        <p:nvSpPr>
          <p:cNvPr id="33" name="Text 31"/>
          <p:cNvSpPr/>
          <p:nvPr/>
        </p:nvSpPr>
        <p:spPr>
          <a:xfrm>
            <a:off x="6574536" y="4599432"/>
            <a:ext cx="5029200" cy="274320"/>
          </a:xfrm>
          <a:prstGeom prst="rect">
            <a:avLst/>
          </a:prstGeom>
          <a:noFill/>
          <a:ln/>
        </p:spPr>
        <p:txBody>
          <a:bodyPr wrap="square" lIns="0" tIns="0" rIns="0" bIns="0" rtlCol="0" anchor="ctr"/>
          <a:lstStyle/>
          <a:p>
            <a:pPr indent="0" marL="0">
              <a:buNone/>
            </a:pPr>
            <a:r>
              <a:rPr lang="en-US" sz="1050" dirty="0">
                <a:solidFill>
                  <a:srgbClr val="3A4160"/>
                </a:solidFill>
                <a:latin typeface="맑은 고딕" pitchFamily="34" charset="0"/>
                <a:ea typeface="맑은 고딕" pitchFamily="34" charset="-122"/>
                <a:cs typeface="맑은 고딕" pitchFamily="34" charset="-120"/>
              </a:rPr>
              <a:t>·  탈 버스가 몇 분 뒤 오는지 (TAGO 30초 갱신)</a:t>
            </a:r>
            <a:endParaRPr lang="en-US" sz="1050" dirty="0"/>
          </a:p>
        </p:txBody>
      </p:sp>
      <p:sp>
        <p:nvSpPr>
          <p:cNvPr id="34" name="Text 32"/>
          <p:cNvSpPr/>
          <p:nvPr/>
        </p:nvSpPr>
        <p:spPr>
          <a:xfrm>
            <a:off x="6574536" y="4882896"/>
            <a:ext cx="5029200" cy="274320"/>
          </a:xfrm>
          <a:prstGeom prst="rect">
            <a:avLst/>
          </a:prstGeom>
          <a:noFill/>
          <a:ln/>
        </p:spPr>
        <p:txBody>
          <a:bodyPr wrap="square" lIns="0" tIns="0" rIns="0" bIns="0" rtlCol="0" anchor="ctr"/>
          <a:lstStyle/>
          <a:p>
            <a:pPr indent="0" marL="0">
              <a:buNone/>
            </a:pPr>
            <a:r>
              <a:rPr lang="en-US" sz="1050" dirty="0">
                <a:solidFill>
                  <a:srgbClr val="3A4160"/>
                </a:solidFill>
                <a:latin typeface="맑은 고딕" pitchFamily="34" charset="0"/>
                <a:ea typeface="맑은 고딕" pitchFamily="34" charset="-122"/>
                <a:cs typeface="맑은 고딕" pitchFamily="34" charset="-120"/>
              </a:rPr>
              <a:t>·  타고 가는 동안 지금 어느 정류장인지 GPS로 추종</a:t>
            </a:r>
            <a:endParaRPr lang="en-US" sz="1050" dirty="0"/>
          </a:p>
        </p:txBody>
      </p:sp>
      <p:sp>
        <p:nvSpPr>
          <p:cNvPr id="35" name="Text 33"/>
          <p:cNvSpPr/>
          <p:nvPr/>
        </p:nvSpPr>
        <p:spPr>
          <a:xfrm>
            <a:off x="6574536" y="5166360"/>
            <a:ext cx="5029200" cy="274320"/>
          </a:xfrm>
          <a:prstGeom prst="rect">
            <a:avLst/>
          </a:prstGeom>
          <a:noFill/>
          <a:ln/>
        </p:spPr>
        <p:txBody>
          <a:bodyPr wrap="square" lIns="0" tIns="0" rIns="0" bIns="0" rtlCol="0" anchor="ctr"/>
          <a:lstStyle/>
          <a:p>
            <a:pPr indent="0" marL="0">
              <a:buNone/>
            </a:pPr>
            <a:r>
              <a:rPr lang="en-US" sz="1050" dirty="0">
                <a:solidFill>
                  <a:srgbClr val="3A4160"/>
                </a:solidFill>
                <a:latin typeface="맑은 고딕" pitchFamily="34" charset="0"/>
                <a:ea typeface="맑은 고딕" pitchFamily="34" charset="-122"/>
                <a:cs typeface="맑은 고딕" pitchFamily="34" charset="-120"/>
              </a:rPr>
              <a:t>·  '내리기까지 N개 정류장' · 도착까지 남은 시간</a:t>
            </a:r>
            <a:endParaRPr lang="en-US" sz="1050" dirty="0"/>
          </a:p>
        </p:txBody>
      </p:sp>
      <p:sp>
        <p:nvSpPr>
          <p:cNvPr id="36" name="Text 34"/>
          <p:cNvSpPr/>
          <p:nvPr/>
        </p:nvSpPr>
        <p:spPr>
          <a:xfrm>
            <a:off x="6574536" y="5449824"/>
            <a:ext cx="5029200" cy="274320"/>
          </a:xfrm>
          <a:prstGeom prst="rect">
            <a:avLst/>
          </a:prstGeom>
          <a:noFill/>
          <a:ln/>
        </p:spPr>
        <p:txBody>
          <a:bodyPr wrap="square" lIns="0" tIns="0" rIns="0" bIns="0" rtlCol="0" anchor="ctr"/>
          <a:lstStyle/>
          <a:p>
            <a:pPr indent="0" marL="0">
              <a:buNone/>
            </a:pPr>
            <a:r>
              <a:rPr lang="en-US" sz="1050" dirty="0">
                <a:solidFill>
                  <a:srgbClr val="3A4160"/>
                </a:solidFill>
                <a:latin typeface="맑은 고딕" pitchFamily="34" charset="0"/>
                <a:ea typeface="맑은 고딕" pitchFamily="34" charset="-122"/>
                <a:cs typeface="맑은 고딕" pitchFamily="34" charset="-120"/>
              </a:rPr>
              <a:t>·  환승 1회까지 탐색 · 없으면 없다고 말합니다</a:t>
            </a:r>
            <a:endParaRPr lang="en-US" sz="1050" dirty="0"/>
          </a:p>
        </p:txBody>
      </p:sp>
      <p:sp>
        <p:nvSpPr>
          <p:cNvPr id="37" name="Text 35"/>
          <p:cNvSpPr/>
          <p:nvPr/>
        </p:nvSpPr>
        <p:spPr>
          <a:xfrm>
            <a:off x="566928" y="6327648"/>
            <a:ext cx="4572000" cy="274320"/>
          </a:xfrm>
          <a:prstGeom prst="rect">
            <a:avLst/>
          </a:prstGeom>
          <a:noFill/>
          <a:ln/>
        </p:spPr>
        <p:txBody>
          <a:bodyPr wrap="square" lIns="0" tIns="0" rIns="0" bIns="0" rtlCol="0" anchor="ctr"/>
          <a:lstStyle/>
          <a:p>
            <a:pPr algn="l" indent="0" marL="0">
              <a:buNone/>
            </a:pPr>
            <a:r>
              <a:rPr lang="en-US" sz="900" dirty="0">
                <a:solidFill>
                  <a:srgbClr val="6E7796"/>
                </a:solidFill>
                <a:latin typeface="맑은 고딕" pitchFamily="34" charset="0"/>
                <a:ea typeface="맑은 고딕" pitchFamily="34" charset="-122"/>
                <a:cs typeface="맑은 고딕" pitchFamily="34" charset="-120"/>
              </a:rPr>
              <a:t>쉼표정류장  ·  팀 오댕국</a:t>
            </a:r>
            <a:endParaRPr lang="en-US" sz="900" dirty="0"/>
          </a:p>
        </p:txBody>
      </p:sp>
      <p:sp>
        <p:nvSpPr>
          <p:cNvPr id="38" name="Text 36"/>
          <p:cNvSpPr/>
          <p:nvPr/>
        </p:nvSpPr>
        <p:spPr>
          <a:xfrm>
            <a:off x="10710367" y="6327648"/>
            <a:ext cx="914400" cy="274320"/>
          </a:xfrm>
          <a:prstGeom prst="rect">
            <a:avLst/>
          </a:prstGeom>
          <a:noFill/>
          <a:ln/>
        </p:spPr>
        <p:txBody>
          <a:bodyPr wrap="square" lIns="0" tIns="0" rIns="0" bIns="0" rtlCol="0" anchor="ctr"/>
          <a:lstStyle/>
          <a:p>
            <a:pPr algn="r" indent="0" marL="0">
              <a:buNone/>
            </a:pPr>
            <a:r>
              <a:rPr lang="en-US" sz="900" dirty="0">
                <a:solidFill>
                  <a:srgbClr val="6E7796"/>
                </a:solidFill>
                <a:latin typeface="맑은 고딕" pitchFamily="34" charset="0"/>
                <a:ea typeface="맑은 고딕" pitchFamily="34" charset="-122"/>
                <a:cs typeface="맑은 고딕"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11057839" cy="274320"/>
          </a:xfrm>
          <a:prstGeom prst="rect">
            <a:avLst/>
          </a:prstGeom>
          <a:noFill/>
          <a:ln/>
        </p:spPr>
        <p:txBody>
          <a:bodyPr wrap="square" lIns="0" tIns="0" rIns="0" bIns="0" rtlCol="0" anchor="ctr"/>
          <a:lstStyle/>
          <a:p>
            <a:pPr indent="0" marL="0">
              <a:buNone/>
            </a:pPr>
            <a:r>
              <a:rPr lang="en-US" sz="1100" b="1" dirty="0">
                <a:solidFill>
                  <a:srgbClr val="E8751A"/>
                </a:solidFill>
                <a:latin typeface="맑은 고딕" pitchFamily="34" charset="0"/>
                <a:ea typeface="맑은 고딕" pitchFamily="34" charset="-122"/>
                <a:cs typeface="맑은 고딕" pitchFamily="34" charset="-120"/>
              </a:rPr>
              <a:t>03</a:t>
            </a:r>
            <a:pPr indent="0" marL="0">
              <a:buNone/>
            </a:pPr>
            <a:r>
              <a:rPr lang="en-US" sz="1100" b="1" dirty="0">
                <a:solidFill>
                  <a:srgbClr val="6E7796"/>
                </a:solidFill>
                <a:latin typeface="맑은 고딕" pitchFamily="34" charset="0"/>
                <a:ea typeface="맑은 고딕" pitchFamily="34" charset="-122"/>
                <a:cs typeface="맑은 고딕" pitchFamily="34" charset="-120"/>
              </a:rPr>
              <a:t>   서비스 핵심 기능 설명 및 시연</a:t>
            </a:r>
            <a:endParaRPr lang="en-US" sz="1100" dirty="0"/>
          </a:p>
        </p:txBody>
      </p:sp>
      <p:sp>
        <p:nvSpPr>
          <p:cNvPr id="3" name="Text 1"/>
          <p:cNvSpPr/>
          <p:nvPr/>
        </p:nvSpPr>
        <p:spPr>
          <a:xfrm>
            <a:off x="566928" y="749808"/>
            <a:ext cx="11057839" cy="566928"/>
          </a:xfrm>
          <a:prstGeom prst="rect">
            <a:avLst/>
          </a:prstGeom>
          <a:noFill/>
          <a:ln/>
        </p:spPr>
        <p:txBody>
          <a:bodyPr wrap="square" lIns="0" tIns="0" rIns="0" bIns="0" rtlCol="0" anchor="ctr"/>
          <a:lstStyle/>
          <a:p>
            <a:pPr indent="0" marL="0">
              <a:buNone/>
            </a:pPr>
            <a:r>
              <a:rPr lang="en-US" sz="2700" b="1" dirty="0">
                <a:solidFill>
                  <a:srgbClr val="141B33"/>
                </a:solidFill>
                <a:latin typeface="맑은 고딕" pitchFamily="34" charset="0"/>
                <a:ea typeface="맑은 고딕" pitchFamily="34" charset="-122"/>
                <a:cs typeface="맑은 고딕" pitchFamily="34" charset="-120"/>
              </a:rPr>
              <a:t>가는 길 찾기 — 어르신이 채울 칸은 '도착' 하나뿐</a:t>
            </a:r>
            <a:endParaRPr lang="en-US" sz="2700" dirty="0"/>
          </a:p>
        </p:txBody>
      </p:sp>
      <p:sp>
        <p:nvSpPr>
          <p:cNvPr id="4" name="Text 2"/>
          <p:cNvSpPr/>
          <p:nvPr/>
        </p:nvSpPr>
        <p:spPr>
          <a:xfrm>
            <a:off x="566928" y="1335024"/>
            <a:ext cx="11057839" cy="310896"/>
          </a:xfrm>
          <a:prstGeom prst="rect">
            <a:avLst/>
          </a:prstGeom>
          <a:noFill/>
          <a:ln/>
        </p:spPr>
        <p:txBody>
          <a:bodyPr wrap="square" lIns="0" tIns="0" rIns="0" bIns="0" rtlCol="0" anchor="ctr"/>
          <a:lstStyle/>
          <a:p>
            <a:pPr indent="0" marL="0">
              <a:buNone/>
            </a:pPr>
            <a:r>
              <a:rPr lang="en-US" sz="1300" dirty="0">
                <a:solidFill>
                  <a:srgbClr val="6E7796"/>
                </a:solidFill>
                <a:latin typeface="맑은 고딕" pitchFamily="34" charset="0"/>
                <a:ea typeface="맑은 고딕" pitchFamily="34" charset="-122"/>
                <a:cs typeface="맑은 고딕" pitchFamily="34" charset="-120"/>
              </a:rPr>
              <a:t>홈 화면이 곧 길찾기입니다. 처음 보는 문장은 '어디로 가시나요?' 하나</a:t>
            </a:r>
            <a:endParaRPr lang="en-US" sz="1300" dirty="0"/>
          </a:p>
        </p:txBody>
      </p:sp>
      <p:pic>
        <p:nvPicPr>
          <p:cNvPr id="5" name="Image 0" descr="C:\Users\hyeon\Desktop\projects\chuncheon-busstop\shots\01-home.png">    </p:cNvPr>
          <p:cNvPicPr>
            <a:picLocks noChangeAspect="1"/>
          </p:cNvPicPr>
          <p:nvPr/>
        </p:nvPicPr>
        <p:blipFill>
          <a:blip r:embed="rId1"/>
          <a:stretch>
            <a:fillRect/>
          </a:stretch>
        </p:blipFill>
        <p:spPr>
          <a:xfrm>
            <a:off x="704088" y="1847088"/>
            <a:ext cx="1838009" cy="3977640"/>
          </a:xfrm>
          <a:prstGeom prst="rect">
            <a:avLst/>
          </a:prstGeom>
          <a:effectLst>
            <a:outerShdw sx="100000" sy="100000" kx="0" ky="0" algn="bl" rotWithShape="0" blurRad="177800" dist="38100" dir="5400000">
              <a:srgbClr val="001871">
                <a:alpha val="22000"/>
              </a:srgbClr>
            </a:outerShdw>
          </a:effectLst>
        </p:spPr>
      </p:pic>
      <p:sp>
        <p:nvSpPr>
          <p:cNvPr id="6" name="Text 3"/>
          <p:cNvSpPr/>
          <p:nvPr/>
        </p:nvSpPr>
        <p:spPr>
          <a:xfrm>
            <a:off x="429768" y="5879592"/>
            <a:ext cx="2386649" cy="274320"/>
          </a:xfrm>
          <a:prstGeom prst="rect">
            <a:avLst/>
          </a:prstGeom>
          <a:noFill/>
          <a:ln/>
        </p:spPr>
        <p:txBody>
          <a:bodyPr wrap="square" lIns="0" tIns="0" rIns="0" bIns="0" rtlCol="0" anchor="ctr"/>
          <a:lstStyle/>
          <a:p>
            <a:pPr algn="ctr" indent="0" marL="0">
              <a:buNone/>
            </a:pPr>
            <a:r>
              <a:rPr lang="en-US" sz="950" b="1" dirty="0">
                <a:solidFill>
                  <a:srgbClr val="6E7796"/>
                </a:solidFill>
                <a:latin typeface="맑은 고딕" pitchFamily="34" charset="0"/>
                <a:ea typeface="맑은 고딕" pitchFamily="34" charset="-122"/>
                <a:cs typeface="맑은 고딕" pitchFamily="34" charset="-120"/>
              </a:rPr>
              <a:t>① 홈 — 출발은 이미 채워져 있음</a:t>
            </a:r>
            <a:endParaRPr lang="en-US" sz="950" dirty="0"/>
          </a:p>
        </p:txBody>
      </p:sp>
      <p:pic>
        <p:nvPicPr>
          <p:cNvPr id="7" name="Image 1" descr="C:\Users\hyeon\Desktop\projects\chuncheon-busstop\shots\02-search-modal.png">    </p:cNvPr>
          <p:cNvPicPr>
            <a:picLocks noChangeAspect="1"/>
          </p:cNvPicPr>
          <p:nvPr/>
        </p:nvPicPr>
        <p:blipFill>
          <a:blip r:embed="rId2"/>
          <a:stretch>
            <a:fillRect/>
          </a:stretch>
        </p:blipFill>
        <p:spPr>
          <a:xfrm>
            <a:off x="2926145" y="1847088"/>
            <a:ext cx="1838009" cy="3977640"/>
          </a:xfrm>
          <a:prstGeom prst="rect">
            <a:avLst/>
          </a:prstGeom>
          <a:effectLst>
            <a:outerShdw sx="100000" sy="100000" kx="0" ky="0" algn="bl" rotWithShape="0" blurRad="177800" dist="38100" dir="5400000">
              <a:srgbClr val="001871">
                <a:alpha val="22000"/>
              </a:srgbClr>
            </a:outerShdw>
          </a:effectLst>
        </p:spPr>
      </p:pic>
      <p:sp>
        <p:nvSpPr>
          <p:cNvPr id="8" name="Text 4"/>
          <p:cNvSpPr/>
          <p:nvPr/>
        </p:nvSpPr>
        <p:spPr>
          <a:xfrm>
            <a:off x="2651825" y="5879592"/>
            <a:ext cx="2386649" cy="274320"/>
          </a:xfrm>
          <a:prstGeom prst="rect">
            <a:avLst/>
          </a:prstGeom>
          <a:noFill/>
          <a:ln/>
        </p:spPr>
        <p:txBody>
          <a:bodyPr wrap="square" lIns="0" tIns="0" rIns="0" bIns="0" rtlCol="0" anchor="ctr"/>
          <a:lstStyle/>
          <a:p>
            <a:pPr algn="ctr" indent="0" marL="0">
              <a:buNone/>
            </a:pPr>
            <a:r>
              <a:rPr lang="en-US" sz="950" b="1" dirty="0">
                <a:solidFill>
                  <a:srgbClr val="6E7796"/>
                </a:solidFill>
                <a:latin typeface="맑은 고딕" pitchFamily="34" charset="0"/>
                <a:ea typeface="맑은 고딕" pitchFamily="34" charset="-122"/>
                <a:cs typeface="맑은 고딕" pitchFamily="34" charset="-120"/>
              </a:rPr>
              <a:t>② 도착 찾기 · 음성 · 위치 확인</a:t>
            </a:r>
            <a:endParaRPr lang="en-US" sz="950" dirty="0"/>
          </a:p>
        </p:txBody>
      </p:sp>
      <p:sp>
        <p:nvSpPr>
          <p:cNvPr id="9" name="Text 5"/>
          <p:cNvSpPr/>
          <p:nvPr/>
        </p:nvSpPr>
        <p:spPr>
          <a:xfrm>
            <a:off x="5312794" y="1847088"/>
            <a:ext cx="6311973" cy="292608"/>
          </a:xfrm>
          <a:prstGeom prst="rect">
            <a:avLst/>
          </a:prstGeom>
          <a:noFill/>
          <a:ln/>
        </p:spPr>
        <p:txBody>
          <a:bodyPr wrap="square" lIns="0" tIns="0" rIns="0" bIns="0" rtlCol="0" anchor="ctr"/>
          <a:lstStyle/>
          <a:p>
            <a:pPr indent="0" marL="0">
              <a:buNone/>
            </a:pPr>
            <a:r>
              <a:rPr lang="en-US" sz="1200" b="1" dirty="0">
                <a:solidFill>
                  <a:srgbClr val="E8751A"/>
                </a:solidFill>
                <a:latin typeface="맑은 고딕" pitchFamily="34" charset="0"/>
                <a:ea typeface="맑은 고딕" pitchFamily="34" charset="-122"/>
                <a:cs typeface="맑은 고딕" pitchFamily="34" charset="-120"/>
              </a:rPr>
              <a:t>무엇을 보여드리나요</a:t>
            </a:r>
            <a:endParaRPr lang="en-US" sz="1200" dirty="0"/>
          </a:p>
        </p:txBody>
      </p:sp>
      <p:sp>
        <p:nvSpPr>
          <p:cNvPr id="10" name="Shape 6"/>
          <p:cNvSpPr/>
          <p:nvPr/>
        </p:nvSpPr>
        <p:spPr>
          <a:xfrm>
            <a:off x="5312794" y="2267712"/>
            <a:ext cx="6311973" cy="621792"/>
          </a:xfrm>
          <a:prstGeom prst="roundRect">
            <a:avLst>
              <a:gd name="adj" fmla="val 14706"/>
            </a:avLst>
          </a:prstGeom>
          <a:solidFill>
            <a:srgbClr val="F4F6FC"/>
          </a:solidFill>
          <a:ln w="12700">
            <a:solidFill>
              <a:srgbClr val="D4DAEE"/>
            </a:solidFill>
            <a:prstDash val="solid"/>
          </a:ln>
        </p:spPr>
      </p:sp>
      <p:sp>
        <p:nvSpPr>
          <p:cNvPr id="11" name="Text 7"/>
          <p:cNvSpPr/>
          <p:nvPr/>
        </p:nvSpPr>
        <p:spPr>
          <a:xfrm>
            <a:off x="5550538" y="2340864"/>
            <a:ext cx="5854773" cy="256032"/>
          </a:xfrm>
          <a:prstGeom prst="rect">
            <a:avLst/>
          </a:prstGeom>
          <a:noFill/>
          <a:ln/>
        </p:spPr>
        <p:txBody>
          <a:bodyPr wrap="square" lIns="0" tIns="0" rIns="0" bIns="0" rtlCol="0" anchor="ctr"/>
          <a:lstStyle/>
          <a:p>
            <a:pPr indent="0" marL="0">
              <a:buNone/>
            </a:pPr>
            <a:r>
              <a:rPr lang="en-US" sz="1200" b="1" dirty="0">
                <a:solidFill>
                  <a:srgbClr val="141B33"/>
                </a:solidFill>
                <a:latin typeface="맑은 고딕" pitchFamily="34" charset="0"/>
                <a:ea typeface="맑은 고딕" pitchFamily="34" charset="-122"/>
                <a:cs typeface="맑은 고딕" pitchFamily="34" charset="-120"/>
              </a:rPr>
              <a:t>출발지는 저희가 채웁니다</a:t>
            </a:r>
            <a:endParaRPr lang="en-US" sz="1200" dirty="0"/>
          </a:p>
        </p:txBody>
      </p:sp>
      <p:sp>
        <p:nvSpPr>
          <p:cNvPr id="12" name="Text 8"/>
          <p:cNvSpPr/>
          <p:nvPr/>
        </p:nvSpPr>
        <p:spPr>
          <a:xfrm>
            <a:off x="5550538" y="2587752"/>
            <a:ext cx="5854773" cy="237744"/>
          </a:xfrm>
          <a:prstGeom prst="rect">
            <a:avLst/>
          </a:prstGeom>
          <a:noFill/>
          <a:ln/>
        </p:spPr>
        <p:txBody>
          <a:bodyPr wrap="square" lIns="0" tIns="0" rIns="0" bIns="0" rtlCol="0" anchor="ctr"/>
          <a:lstStyle/>
          <a:p>
            <a:pPr indent="0" marL="0">
              <a:buNone/>
            </a:pPr>
            <a:r>
              <a:rPr lang="en-US" sz="1000" dirty="0">
                <a:solidFill>
                  <a:srgbClr val="6E7796"/>
                </a:solidFill>
                <a:latin typeface="맑은 고딕" pitchFamily="34" charset="0"/>
                <a:ea typeface="맑은 고딕" pitchFamily="34" charset="-122"/>
                <a:cs typeface="맑은 고딕" pitchFamily="34" charset="-120"/>
              </a:rPr>
              <a:t>GPS 좌표를 주소로 바꿔 '강원특별자치도 춘천시 후석로 454'로 자동 입력</a:t>
            </a:r>
            <a:endParaRPr lang="en-US" sz="1000" dirty="0"/>
          </a:p>
        </p:txBody>
      </p:sp>
      <p:sp>
        <p:nvSpPr>
          <p:cNvPr id="13" name="Shape 9"/>
          <p:cNvSpPr/>
          <p:nvPr/>
        </p:nvSpPr>
        <p:spPr>
          <a:xfrm>
            <a:off x="5312794" y="2980944"/>
            <a:ext cx="6311973" cy="621792"/>
          </a:xfrm>
          <a:prstGeom prst="roundRect">
            <a:avLst>
              <a:gd name="adj" fmla="val 14706"/>
            </a:avLst>
          </a:prstGeom>
          <a:solidFill>
            <a:srgbClr val="F4F6FC"/>
          </a:solidFill>
          <a:ln w="12700">
            <a:solidFill>
              <a:srgbClr val="D4DAEE"/>
            </a:solidFill>
            <a:prstDash val="solid"/>
          </a:ln>
        </p:spPr>
      </p:sp>
      <p:sp>
        <p:nvSpPr>
          <p:cNvPr id="14" name="Text 10"/>
          <p:cNvSpPr/>
          <p:nvPr/>
        </p:nvSpPr>
        <p:spPr>
          <a:xfrm>
            <a:off x="5550538" y="3054096"/>
            <a:ext cx="5854773" cy="256032"/>
          </a:xfrm>
          <a:prstGeom prst="rect">
            <a:avLst/>
          </a:prstGeom>
          <a:noFill/>
          <a:ln/>
        </p:spPr>
        <p:txBody>
          <a:bodyPr wrap="square" lIns="0" tIns="0" rIns="0" bIns="0" rtlCol="0" anchor="ctr"/>
          <a:lstStyle/>
          <a:p>
            <a:pPr indent="0" marL="0">
              <a:buNone/>
            </a:pPr>
            <a:r>
              <a:rPr lang="en-US" sz="1200" b="1" dirty="0">
                <a:solidFill>
                  <a:srgbClr val="141B33"/>
                </a:solidFill>
                <a:latin typeface="맑은 고딕" pitchFamily="34" charset="0"/>
                <a:ea typeface="맑은 고딕" pitchFamily="34" charset="-122"/>
                <a:cs typeface="맑은 고딕" pitchFamily="34" charset="-120"/>
              </a:rPr>
              <a:t>말해도 됩니다</a:t>
            </a:r>
            <a:endParaRPr lang="en-US" sz="1200" dirty="0"/>
          </a:p>
        </p:txBody>
      </p:sp>
      <p:sp>
        <p:nvSpPr>
          <p:cNvPr id="15" name="Text 11"/>
          <p:cNvSpPr/>
          <p:nvPr/>
        </p:nvSpPr>
        <p:spPr>
          <a:xfrm>
            <a:off x="5550538" y="3300984"/>
            <a:ext cx="5854773" cy="237744"/>
          </a:xfrm>
          <a:prstGeom prst="rect">
            <a:avLst/>
          </a:prstGeom>
          <a:noFill/>
          <a:ln/>
        </p:spPr>
        <p:txBody>
          <a:bodyPr wrap="square" lIns="0" tIns="0" rIns="0" bIns="0" rtlCol="0" anchor="ctr"/>
          <a:lstStyle/>
          <a:p>
            <a:pPr indent="0" marL="0">
              <a:buNone/>
            </a:pPr>
            <a:r>
              <a:rPr lang="en-US" sz="1000" dirty="0">
                <a:solidFill>
                  <a:srgbClr val="6E7796"/>
                </a:solidFill>
                <a:latin typeface="맑은 고딕" pitchFamily="34" charset="0"/>
                <a:ea typeface="맑은 고딕" pitchFamily="34" charset="-122"/>
                <a:cs typeface="맑은 고딕" pitchFamily="34" charset="-120"/>
              </a:rPr>
              <a:t>파란 마이크 버튼 — 타이핑 없이 “한림대학교”라고 말하면 검색됩니다</a:t>
            </a:r>
            <a:endParaRPr lang="en-US" sz="1000" dirty="0"/>
          </a:p>
        </p:txBody>
      </p:sp>
      <p:sp>
        <p:nvSpPr>
          <p:cNvPr id="16" name="Shape 12"/>
          <p:cNvSpPr/>
          <p:nvPr/>
        </p:nvSpPr>
        <p:spPr>
          <a:xfrm>
            <a:off x="5312794" y="3694176"/>
            <a:ext cx="6311973" cy="621792"/>
          </a:xfrm>
          <a:prstGeom prst="roundRect">
            <a:avLst>
              <a:gd name="adj" fmla="val 14706"/>
            </a:avLst>
          </a:prstGeom>
          <a:solidFill>
            <a:srgbClr val="F4F6FC"/>
          </a:solidFill>
          <a:ln w="12700">
            <a:solidFill>
              <a:srgbClr val="D4DAEE"/>
            </a:solidFill>
            <a:prstDash val="solid"/>
          </a:ln>
        </p:spPr>
      </p:sp>
      <p:sp>
        <p:nvSpPr>
          <p:cNvPr id="17" name="Text 13"/>
          <p:cNvSpPr/>
          <p:nvPr/>
        </p:nvSpPr>
        <p:spPr>
          <a:xfrm>
            <a:off x="5550538" y="3767328"/>
            <a:ext cx="5854773" cy="256032"/>
          </a:xfrm>
          <a:prstGeom prst="rect">
            <a:avLst/>
          </a:prstGeom>
          <a:noFill/>
          <a:ln/>
        </p:spPr>
        <p:txBody>
          <a:bodyPr wrap="square" lIns="0" tIns="0" rIns="0" bIns="0" rtlCol="0" anchor="ctr"/>
          <a:lstStyle/>
          <a:p>
            <a:pPr indent="0" marL="0">
              <a:buNone/>
            </a:pPr>
            <a:r>
              <a:rPr lang="en-US" sz="1200" b="1" dirty="0">
                <a:solidFill>
                  <a:srgbClr val="141B33"/>
                </a:solidFill>
                <a:latin typeface="맑은 고딕" pitchFamily="34" charset="0"/>
                <a:ea typeface="맑은 고딕" pitchFamily="34" charset="-122"/>
                <a:cs typeface="맑은 고딕" pitchFamily="34" charset="-120"/>
              </a:rPr>
              <a:t>고른 곳이 맞는지 지도로</a:t>
            </a:r>
            <a:endParaRPr lang="en-US" sz="1200" dirty="0"/>
          </a:p>
        </p:txBody>
      </p:sp>
      <p:sp>
        <p:nvSpPr>
          <p:cNvPr id="18" name="Text 14"/>
          <p:cNvSpPr/>
          <p:nvPr/>
        </p:nvSpPr>
        <p:spPr>
          <a:xfrm>
            <a:off x="5550538" y="4014216"/>
            <a:ext cx="5854773" cy="237744"/>
          </a:xfrm>
          <a:prstGeom prst="rect">
            <a:avLst/>
          </a:prstGeom>
          <a:noFill/>
          <a:ln/>
        </p:spPr>
        <p:txBody>
          <a:bodyPr wrap="square" lIns="0" tIns="0" rIns="0" bIns="0" rtlCol="0" anchor="ctr"/>
          <a:lstStyle/>
          <a:p>
            <a:pPr indent="0" marL="0">
              <a:buNone/>
            </a:pPr>
            <a:r>
              <a:rPr lang="en-US" sz="1000" dirty="0">
                <a:solidFill>
                  <a:srgbClr val="6E7796"/>
                </a:solidFill>
                <a:latin typeface="맑은 고딕" pitchFamily="34" charset="0"/>
                <a:ea typeface="맑은 고딕" pitchFamily="34" charset="-122"/>
                <a:cs typeface="맑은 고딕" pitchFamily="34" charset="-120"/>
              </a:rPr>
              <a:t>이름이 비슷한 곳이 여럿일 때 글자만 보고 잘못 고르지 않도록</a:t>
            </a:r>
            <a:endParaRPr lang="en-US" sz="1000" dirty="0"/>
          </a:p>
        </p:txBody>
      </p:sp>
      <p:sp>
        <p:nvSpPr>
          <p:cNvPr id="19" name="Shape 15"/>
          <p:cNvSpPr/>
          <p:nvPr/>
        </p:nvSpPr>
        <p:spPr>
          <a:xfrm>
            <a:off x="5312794" y="4407408"/>
            <a:ext cx="6311973" cy="621792"/>
          </a:xfrm>
          <a:prstGeom prst="roundRect">
            <a:avLst>
              <a:gd name="adj" fmla="val 14706"/>
            </a:avLst>
          </a:prstGeom>
          <a:solidFill>
            <a:srgbClr val="F4F6FC"/>
          </a:solidFill>
          <a:ln w="12700">
            <a:solidFill>
              <a:srgbClr val="D4DAEE"/>
            </a:solidFill>
            <a:prstDash val="solid"/>
          </a:ln>
        </p:spPr>
      </p:sp>
      <p:sp>
        <p:nvSpPr>
          <p:cNvPr id="20" name="Text 16"/>
          <p:cNvSpPr/>
          <p:nvPr/>
        </p:nvSpPr>
        <p:spPr>
          <a:xfrm>
            <a:off x="5550538" y="4480560"/>
            <a:ext cx="5854773" cy="256032"/>
          </a:xfrm>
          <a:prstGeom prst="rect">
            <a:avLst/>
          </a:prstGeom>
          <a:noFill/>
          <a:ln/>
        </p:spPr>
        <p:txBody>
          <a:bodyPr wrap="square" lIns="0" tIns="0" rIns="0" bIns="0" rtlCol="0" anchor="ctr"/>
          <a:lstStyle/>
          <a:p>
            <a:pPr indent="0" marL="0">
              <a:buNone/>
            </a:pPr>
            <a:r>
              <a:rPr lang="en-US" sz="1200" b="1" dirty="0">
                <a:solidFill>
                  <a:srgbClr val="141B33"/>
                </a:solidFill>
                <a:latin typeface="맑은 고딕" pitchFamily="34" charset="0"/>
                <a:ea typeface="맑은 고딕" pitchFamily="34" charset="-122"/>
                <a:cs typeface="맑은 고딕" pitchFamily="34" charset="-120"/>
              </a:rPr>
              <a:t>버튼은 [확인] 하나</a:t>
            </a:r>
            <a:endParaRPr lang="en-US" sz="1200" dirty="0"/>
          </a:p>
        </p:txBody>
      </p:sp>
      <p:sp>
        <p:nvSpPr>
          <p:cNvPr id="21" name="Text 17"/>
          <p:cNvSpPr/>
          <p:nvPr/>
        </p:nvSpPr>
        <p:spPr>
          <a:xfrm>
            <a:off x="5550538" y="4727448"/>
            <a:ext cx="5854773" cy="237744"/>
          </a:xfrm>
          <a:prstGeom prst="rect">
            <a:avLst/>
          </a:prstGeom>
          <a:noFill/>
          <a:ln/>
        </p:spPr>
        <p:txBody>
          <a:bodyPr wrap="square" lIns="0" tIns="0" rIns="0" bIns="0" rtlCol="0" anchor="ctr"/>
          <a:lstStyle/>
          <a:p>
            <a:pPr indent="0" marL="0">
              <a:buNone/>
            </a:pPr>
            <a:r>
              <a:rPr lang="en-US" sz="1000" dirty="0">
                <a:solidFill>
                  <a:srgbClr val="6E7796"/>
                </a:solidFill>
                <a:latin typeface="맑은 고딕" pitchFamily="34" charset="0"/>
                <a:ea typeface="맑은 고딕" pitchFamily="34" charset="-122"/>
                <a:cs typeface="맑은 고딕" pitchFamily="34" charset="-120"/>
              </a:rPr>
              <a:t>고를 것이 없으면 헤맬 일도 없습니다</a:t>
            </a:r>
            <a:endParaRPr lang="en-US" sz="1000" dirty="0"/>
          </a:p>
        </p:txBody>
      </p:sp>
      <p:sp>
        <p:nvSpPr>
          <p:cNvPr id="22" name="Text 18"/>
          <p:cNvSpPr/>
          <p:nvPr/>
        </p:nvSpPr>
        <p:spPr>
          <a:xfrm>
            <a:off x="5312794" y="5266944"/>
            <a:ext cx="1188720" cy="310896"/>
          </a:xfrm>
          <a:prstGeom prst="rect">
            <a:avLst/>
          </a:prstGeom>
          <a:noFill/>
          <a:ln/>
        </p:spPr>
        <p:txBody>
          <a:bodyPr wrap="square" lIns="0" tIns="0" rIns="0" bIns="0" rtlCol="0" anchor="ctr"/>
          <a:lstStyle/>
          <a:p>
            <a:pPr indent="0" marL="0">
              <a:buNone/>
            </a:pPr>
            <a:r>
              <a:rPr lang="en-US" sz="1050" b="1" dirty="0">
                <a:solidFill>
                  <a:srgbClr val="6E7796"/>
                </a:solidFill>
                <a:latin typeface="맑은 고딕" pitchFamily="34" charset="0"/>
                <a:ea typeface="맑은 고딕" pitchFamily="34" charset="-122"/>
                <a:cs typeface="맑은 고딕" pitchFamily="34" charset="-120"/>
              </a:rPr>
              <a:t>심사 포인트</a:t>
            </a:r>
            <a:endParaRPr lang="en-US" sz="1050" dirty="0"/>
          </a:p>
        </p:txBody>
      </p:sp>
      <p:sp>
        <p:nvSpPr>
          <p:cNvPr id="23" name="Shape 19"/>
          <p:cNvSpPr/>
          <p:nvPr/>
        </p:nvSpPr>
        <p:spPr>
          <a:xfrm>
            <a:off x="6547234" y="5266944"/>
            <a:ext cx="1601071" cy="310896"/>
          </a:xfrm>
          <a:prstGeom prst="roundRect">
            <a:avLst>
              <a:gd name="adj" fmla="val 23529"/>
            </a:avLst>
          </a:prstGeom>
          <a:solidFill>
            <a:srgbClr val="E7EBF8"/>
          </a:solidFill>
          <a:ln w="12700">
            <a:solidFill>
              <a:srgbClr val="E7EBF8"/>
            </a:solidFill>
            <a:prstDash val="solid"/>
          </a:ln>
        </p:spPr>
      </p:sp>
      <p:sp>
        <p:nvSpPr>
          <p:cNvPr id="24" name="Text 20"/>
          <p:cNvSpPr/>
          <p:nvPr/>
        </p:nvSpPr>
        <p:spPr>
          <a:xfrm>
            <a:off x="6547234" y="5266944"/>
            <a:ext cx="1601071" cy="310896"/>
          </a:xfrm>
          <a:prstGeom prst="rect">
            <a:avLst/>
          </a:prstGeom>
          <a:noFill/>
          <a:ln/>
        </p:spPr>
        <p:txBody>
          <a:bodyPr wrap="square" lIns="0" tIns="0" rIns="0" bIns="0" rtlCol="0" anchor="ctr"/>
          <a:lstStyle/>
          <a:p>
            <a:pPr algn="ctr" indent="0" marL="0">
              <a:buNone/>
            </a:pPr>
            <a:r>
              <a:rPr lang="en-US" sz="950" b="1" dirty="0">
                <a:solidFill>
                  <a:srgbClr val="001871"/>
                </a:solidFill>
                <a:latin typeface="맑은 고딕" pitchFamily="34" charset="0"/>
                <a:ea typeface="맑은 고딕" pitchFamily="34" charset="-122"/>
                <a:cs typeface="맑은 고딕" pitchFamily="34" charset="-120"/>
              </a:rPr>
              <a:t>공공데이터 직접 활용</a:t>
            </a:r>
            <a:endParaRPr lang="en-US" sz="950" dirty="0"/>
          </a:p>
        </p:txBody>
      </p:sp>
      <p:sp>
        <p:nvSpPr>
          <p:cNvPr id="25" name="Shape 21"/>
          <p:cNvSpPr/>
          <p:nvPr/>
        </p:nvSpPr>
        <p:spPr>
          <a:xfrm>
            <a:off x="8239745" y="5266944"/>
            <a:ext cx="1601071" cy="310896"/>
          </a:xfrm>
          <a:prstGeom prst="roundRect">
            <a:avLst>
              <a:gd name="adj" fmla="val 23529"/>
            </a:avLst>
          </a:prstGeom>
          <a:solidFill>
            <a:srgbClr val="E7EBF8"/>
          </a:solidFill>
          <a:ln w="12700">
            <a:solidFill>
              <a:srgbClr val="E7EBF8"/>
            </a:solidFill>
            <a:prstDash val="solid"/>
          </a:ln>
        </p:spPr>
      </p:sp>
      <p:sp>
        <p:nvSpPr>
          <p:cNvPr id="26" name="Text 22"/>
          <p:cNvSpPr/>
          <p:nvPr/>
        </p:nvSpPr>
        <p:spPr>
          <a:xfrm>
            <a:off x="8239745" y="5266944"/>
            <a:ext cx="1601071" cy="310896"/>
          </a:xfrm>
          <a:prstGeom prst="rect">
            <a:avLst/>
          </a:prstGeom>
          <a:noFill/>
          <a:ln/>
        </p:spPr>
        <p:txBody>
          <a:bodyPr wrap="square" lIns="0" tIns="0" rIns="0" bIns="0" rtlCol="0" anchor="ctr"/>
          <a:lstStyle/>
          <a:p>
            <a:pPr algn="ctr" indent="0" marL="0">
              <a:buNone/>
            </a:pPr>
            <a:r>
              <a:rPr lang="en-US" sz="950" b="1" dirty="0">
                <a:solidFill>
                  <a:srgbClr val="001871"/>
                </a:solidFill>
                <a:latin typeface="맑은 고딕" pitchFamily="34" charset="0"/>
                <a:ea typeface="맑은 고딕" pitchFamily="34" charset="-122"/>
                <a:cs typeface="맑은 고딕" pitchFamily="34" charset="-120"/>
              </a:rPr>
              <a:t>어르신 실제 불편 해결</a:t>
            </a:r>
            <a:endParaRPr lang="en-US" sz="950" dirty="0"/>
          </a:p>
        </p:txBody>
      </p:sp>
      <p:sp>
        <p:nvSpPr>
          <p:cNvPr id="27" name="Shape 23"/>
          <p:cNvSpPr/>
          <p:nvPr/>
        </p:nvSpPr>
        <p:spPr>
          <a:xfrm>
            <a:off x="9932256" y="5266944"/>
            <a:ext cx="1601071" cy="310896"/>
          </a:xfrm>
          <a:prstGeom prst="roundRect">
            <a:avLst>
              <a:gd name="adj" fmla="val 23529"/>
            </a:avLst>
          </a:prstGeom>
          <a:solidFill>
            <a:srgbClr val="E7EBF8"/>
          </a:solidFill>
          <a:ln w="12700">
            <a:solidFill>
              <a:srgbClr val="E7EBF8"/>
            </a:solidFill>
            <a:prstDash val="solid"/>
          </a:ln>
        </p:spPr>
      </p:sp>
      <p:sp>
        <p:nvSpPr>
          <p:cNvPr id="28" name="Text 24"/>
          <p:cNvSpPr/>
          <p:nvPr/>
        </p:nvSpPr>
        <p:spPr>
          <a:xfrm>
            <a:off x="9932256" y="5266944"/>
            <a:ext cx="1601071" cy="310896"/>
          </a:xfrm>
          <a:prstGeom prst="rect">
            <a:avLst/>
          </a:prstGeom>
          <a:noFill/>
          <a:ln/>
        </p:spPr>
        <p:txBody>
          <a:bodyPr wrap="square" lIns="0" tIns="0" rIns="0" bIns="0" rtlCol="0" anchor="ctr"/>
          <a:lstStyle/>
          <a:p>
            <a:pPr algn="ctr" indent="0" marL="0">
              <a:buNone/>
            </a:pPr>
            <a:r>
              <a:rPr lang="en-US" sz="950" b="1" dirty="0">
                <a:solidFill>
                  <a:srgbClr val="001871"/>
                </a:solidFill>
                <a:latin typeface="맑은 고딕" pitchFamily="34" charset="0"/>
                <a:ea typeface="맑은 고딕" pitchFamily="34" charset="-122"/>
                <a:cs typeface="맑은 고딕" pitchFamily="34" charset="-120"/>
              </a:rPr>
              <a:t>음성 입력</a:t>
            </a:r>
            <a:endParaRPr lang="en-US" sz="950" dirty="0"/>
          </a:p>
        </p:txBody>
      </p:sp>
      <p:sp>
        <p:nvSpPr>
          <p:cNvPr id="29" name="Text 25"/>
          <p:cNvSpPr/>
          <p:nvPr/>
        </p:nvSpPr>
        <p:spPr>
          <a:xfrm>
            <a:off x="5312794" y="5705856"/>
            <a:ext cx="6311973" cy="274320"/>
          </a:xfrm>
          <a:prstGeom prst="rect">
            <a:avLst/>
          </a:prstGeom>
          <a:noFill/>
          <a:ln/>
        </p:spPr>
        <p:txBody>
          <a:bodyPr wrap="square" lIns="0" tIns="0" rIns="0" bIns="0" rtlCol="0" anchor="ctr"/>
          <a:lstStyle/>
          <a:p>
            <a:pPr indent="0" marL="0">
              <a:buNone/>
            </a:pPr>
            <a:r>
              <a:rPr lang="en-US" sz="900" dirty="0">
                <a:solidFill>
                  <a:srgbClr val="6E7796"/>
                </a:solidFill>
                <a:latin typeface="맑은 고딕" pitchFamily="34" charset="0"/>
                <a:ea typeface="맑은 고딕" pitchFamily="34" charset="-122"/>
                <a:cs typeface="맑은 고딕" pitchFamily="34" charset="-120"/>
              </a:rPr>
              <a:t>※ 실제 앱 화면을 그대로 캡처한 것입니다 (목업·합성 없음)</a:t>
            </a:r>
            <a:endParaRPr lang="en-US" sz="900" dirty="0"/>
          </a:p>
        </p:txBody>
      </p:sp>
      <p:sp>
        <p:nvSpPr>
          <p:cNvPr id="30" name="Text 26"/>
          <p:cNvSpPr/>
          <p:nvPr/>
        </p:nvSpPr>
        <p:spPr>
          <a:xfrm>
            <a:off x="566928" y="6327648"/>
            <a:ext cx="4572000" cy="274320"/>
          </a:xfrm>
          <a:prstGeom prst="rect">
            <a:avLst/>
          </a:prstGeom>
          <a:noFill/>
          <a:ln/>
        </p:spPr>
        <p:txBody>
          <a:bodyPr wrap="square" lIns="0" tIns="0" rIns="0" bIns="0" rtlCol="0" anchor="ctr"/>
          <a:lstStyle/>
          <a:p>
            <a:pPr algn="l" indent="0" marL="0">
              <a:buNone/>
            </a:pPr>
            <a:r>
              <a:rPr lang="en-US" sz="900" dirty="0">
                <a:solidFill>
                  <a:srgbClr val="6E7796"/>
                </a:solidFill>
                <a:latin typeface="맑은 고딕" pitchFamily="34" charset="0"/>
                <a:ea typeface="맑은 고딕" pitchFamily="34" charset="-122"/>
                <a:cs typeface="맑은 고딕" pitchFamily="34" charset="-120"/>
              </a:rPr>
              <a:t>쉼표정류장  ·  팀 오댕국</a:t>
            </a:r>
            <a:endParaRPr lang="en-US" sz="900" dirty="0"/>
          </a:p>
        </p:txBody>
      </p:sp>
      <p:sp>
        <p:nvSpPr>
          <p:cNvPr id="31" name="Text 27"/>
          <p:cNvSpPr/>
          <p:nvPr/>
        </p:nvSpPr>
        <p:spPr>
          <a:xfrm>
            <a:off x="10710367" y="6327648"/>
            <a:ext cx="914400" cy="274320"/>
          </a:xfrm>
          <a:prstGeom prst="rect">
            <a:avLst/>
          </a:prstGeom>
          <a:noFill/>
          <a:ln/>
        </p:spPr>
        <p:txBody>
          <a:bodyPr wrap="square" lIns="0" tIns="0" rIns="0" bIns="0" rtlCol="0" anchor="ctr"/>
          <a:lstStyle/>
          <a:p>
            <a:pPr algn="r" indent="0" marL="0">
              <a:buNone/>
            </a:pPr>
            <a:r>
              <a:rPr lang="en-US" sz="900" dirty="0">
                <a:solidFill>
                  <a:srgbClr val="6E7796"/>
                </a:solidFill>
                <a:latin typeface="맑은 고딕" pitchFamily="34" charset="0"/>
                <a:ea typeface="맑은 고딕" pitchFamily="34" charset="-122"/>
                <a:cs typeface="맑은 고딕"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11057839" cy="274320"/>
          </a:xfrm>
          <a:prstGeom prst="rect">
            <a:avLst/>
          </a:prstGeom>
          <a:noFill/>
          <a:ln/>
        </p:spPr>
        <p:txBody>
          <a:bodyPr wrap="square" lIns="0" tIns="0" rIns="0" bIns="0" rtlCol="0" anchor="ctr"/>
          <a:lstStyle/>
          <a:p>
            <a:pPr indent="0" marL="0">
              <a:buNone/>
            </a:pPr>
            <a:r>
              <a:rPr lang="en-US" sz="1100" b="1" dirty="0">
                <a:solidFill>
                  <a:srgbClr val="E8751A"/>
                </a:solidFill>
                <a:latin typeface="맑은 고딕" pitchFamily="34" charset="0"/>
                <a:ea typeface="맑은 고딕" pitchFamily="34" charset="-122"/>
                <a:cs typeface="맑은 고딕" pitchFamily="34" charset="-120"/>
              </a:rPr>
              <a:t>03</a:t>
            </a:r>
            <a:pPr indent="0" marL="0">
              <a:buNone/>
            </a:pPr>
            <a:r>
              <a:rPr lang="en-US" sz="1100" b="1" dirty="0">
                <a:solidFill>
                  <a:srgbClr val="6E7796"/>
                </a:solidFill>
                <a:latin typeface="맑은 고딕" pitchFamily="34" charset="0"/>
                <a:ea typeface="맑은 고딕" pitchFamily="34" charset="-122"/>
                <a:cs typeface="맑은 고딕" pitchFamily="34" charset="-120"/>
              </a:rPr>
              <a:t>   서비스 핵심 기능 설명 및 시연</a:t>
            </a:r>
            <a:endParaRPr lang="en-US" sz="1100" dirty="0"/>
          </a:p>
        </p:txBody>
      </p:sp>
      <p:sp>
        <p:nvSpPr>
          <p:cNvPr id="3" name="Text 1"/>
          <p:cNvSpPr/>
          <p:nvPr/>
        </p:nvSpPr>
        <p:spPr>
          <a:xfrm>
            <a:off x="566928" y="749808"/>
            <a:ext cx="11057839" cy="566928"/>
          </a:xfrm>
          <a:prstGeom prst="rect">
            <a:avLst/>
          </a:prstGeom>
          <a:noFill/>
          <a:ln/>
        </p:spPr>
        <p:txBody>
          <a:bodyPr wrap="square" lIns="0" tIns="0" rIns="0" bIns="0" rtlCol="0" anchor="ctr"/>
          <a:lstStyle/>
          <a:p>
            <a:pPr indent="0" marL="0">
              <a:buNone/>
            </a:pPr>
            <a:r>
              <a:rPr lang="en-US" sz="2700" b="1" dirty="0">
                <a:solidFill>
                  <a:srgbClr val="141B33"/>
                </a:solidFill>
                <a:latin typeface="맑은 고딕" pitchFamily="34" charset="0"/>
                <a:ea typeface="맑은 고딕" pitchFamily="34" charset="-122"/>
                <a:cs typeface="맑은 고딕" pitchFamily="34" charset="-120"/>
              </a:rPr>
              <a:t>탈 버스와 내릴 곳, 그리고 그 길 위의 그늘</a:t>
            </a:r>
            <a:endParaRPr lang="en-US" sz="2700" dirty="0"/>
          </a:p>
        </p:txBody>
      </p:sp>
      <p:sp>
        <p:nvSpPr>
          <p:cNvPr id="4" name="Text 2"/>
          <p:cNvSpPr/>
          <p:nvPr/>
        </p:nvSpPr>
        <p:spPr>
          <a:xfrm>
            <a:off x="566928" y="1335024"/>
            <a:ext cx="11057839" cy="310896"/>
          </a:xfrm>
          <a:prstGeom prst="rect">
            <a:avLst/>
          </a:prstGeom>
          <a:noFill/>
          <a:ln/>
        </p:spPr>
        <p:txBody>
          <a:bodyPr wrap="square" lIns="0" tIns="0" rIns="0" bIns="0" rtlCol="0" anchor="ctr"/>
          <a:lstStyle/>
          <a:p>
            <a:pPr indent="0" marL="0">
              <a:buNone/>
            </a:pPr>
            <a:r>
              <a:rPr lang="en-US" sz="1300" dirty="0">
                <a:solidFill>
                  <a:srgbClr val="6E7796"/>
                </a:solidFill>
                <a:latin typeface="맑은 고딕" pitchFamily="34" charset="0"/>
                <a:ea typeface="맑은 고딕" pitchFamily="34" charset="-122"/>
                <a:cs typeface="맑은 고딕" pitchFamily="34" charset="-120"/>
              </a:rPr>
              <a:t>추천 경로는 하나만. 누르면 타는 곳부터 도착지까지가 한 화면 타임라인이 됩니다</a:t>
            </a:r>
            <a:endParaRPr lang="en-US" sz="1300" dirty="0"/>
          </a:p>
        </p:txBody>
      </p:sp>
      <p:pic>
        <p:nvPicPr>
          <p:cNvPr id="5" name="Image 0" descr="C:\Users\hyeon\Desktop\projects\chuncheon-busstop\shots\03-recommend.png">    </p:cNvPr>
          <p:cNvPicPr>
            <a:picLocks noChangeAspect="1"/>
          </p:cNvPicPr>
          <p:nvPr/>
        </p:nvPicPr>
        <p:blipFill>
          <a:blip r:embed="rId1"/>
          <a:stretch>
            <a:fillRect/>
          </a:stretch>
        </p:blipFill>
        <p:spPr>
          <a:xfrm>
            <a:off x="704088" y="1847088"/>
            <a:ext cx="1838009" cy="3977640"/>
          </a:xfrm>
          <a:prstGeom prst="rect">
            <a:avLst/>
          </a:prstGeom>
          <a:effectLst>
            <a:outerShdw sx="100000" sy="100000" kx="0" ky="0" algn="bl" rotWithShape="0" blurRad="177800" dist="38100" dir="5400000">
              <a:srgbClr val="001871">
                <a:alpha val="22000"/>
              </a:srgbClr>
            </a:outerShdw>
          </a:effectLst>
        </p:spPr>
      </p:pic>
      <p:sp>
        <p:nvSpPr>
          <p:cNvPr id="6" name="Text 3"/>
          <p:cNvSpPr/>
          <p:nvPr/>
        </p:nvSpPr>
        <p:spPr>
          <a:xfrm>
            <a:off x="429768" y="5879592"/>
            <a:ext cx="2386649" cy="274320"/>
          </a:xfrm>
          <a:prstGeom prst="rect">
            <a:avLst/>
          </a:prstGeom>
          <a:noFill/>
          <a:ln/>
        </p:spPr>
        <p:txBody>
          <a:bodyPr wrap="square" lIns="0" tIns="0" rIns="0" bIns="0" rtlCol="0" anchor="ctr"/>
          <a:lstStyle/>
          <a:p>
            <a:pPr algn="ctr" indent="0" marL="0">
              <a:buNone/>
            </a:pPr>
            <a:r>
              <a:rPr lang="en-US" sz="950" b="1" dirty="0">
                <a:solidFill>
                  <a:srgbClr val="6E7796"/>
                </a:solidFill>
                <a:latin typeface="맑은 고딕" pitchFamily="34" charset="0"/>
                <a:ea typeface="맑은 고딕" pitchFamily="34" charset="-122"/>
                <a:cs typeface="맑은 고딕" pitchFamily="34" charset="-120"/>
              </a:rPr>
              <a:t>① 추천 경로 — 6번 · 동산A → 한림대학교</a:t>
            </a:r>
            <a:endParaRPr lang="en-US" sz="950" dirty="0"/>
          </a:p>
        </p:txBody>
      </p:sp>
      <p:pic>
        <p:nvPicPr>
          <p:cNvPr id="7" name="Image 1" descr="C:\Users\hyeon\Desktop\projects\chuncheon-busstop\shots\04-live.png">    </p:cNvPr>
          <p:cNvPicPr>
            <a:picLocks noChangeAspect="1"/>
          </p:cNvPicPr>
          <p:nvPr/>
        </p:nvPicPr>
        <p:blipFill>
          <a:blip r:embed="rId2"/>
          <a:stretch>
            <a:fillRect/>
          </a:stretch>
        </p:blipFill>
        <p:spPr>
          <a:xfrm>
            <a:off x="2926145" y="1847088"/>
            <a:ext cx="1838009" cy="3977640"/>
          </a:xfrm>
          <a:prstGeom prst="rect">
            <a:avLst/>
          </a:prstGeom>
          <a:effectLst>
            <a:outerShdw sx="100000" sy="100000" kx="0" ky="0" algn="bl" rotWithShape="0" blurRad="177800" dist="38100" dir="5400000">
              <a:srgbClr val="001871">
                <a:alpha val="22000"/>
              </a:srgbClr>
            </a:outerShdw>
          </a:effectLst>
        </p:spPr>
      </p:pic>
      <p:sp>
        <p:nvSpPr>
          <p:cNvPr id="8" name="Text 4"/>
          <p:cNvSpPr/>
          <p:nvPr/>
        </p:nvSpPr>
        <p:spPr>
          <a:xfrm>
            <a:off x="2651825" y="5879592"/>
            <a:ext cx="2386649" cy="274320"/>
          </a:xfrm>
          <a:prstGeom prst="rect">
            <a:avLst/>
          </a:prstGeom>
          <a:noFill/>
          <a:ln/>
        </p:spPr>
        <p:txBody>
          <a:bodyPr wrap="square" lIns="0" tIns="0" rIns="0" bIns="0" rtlCol="0" anchor="ctr"/>
          <a:lstStyle/>
          <a:p>
            <a:pPr algn="ctr" indent="0" marL="0">
              <a:buNone/>
            </a:pPr>
            <a:r>
              <a:rPr lang="en-US" sz="950" b="1" dirty="0">
                <a:solidFill>
                  <a:srgbClr val="6E7796"/>
                </a:solidFill>
                <a:latin typeface="맑은 고딕" pitchFamily="34" charset="0"/>
                <a:ea typeface="맑은 고딕" pitchFamily="34" charset="-122"/>
                <a:cs typeface="맑은 고딕" pitchFamily="34" charset="-120"/>
              </a:rPr>
              <a:t>② 가는 길 안내 타임라인</a:t>
            </a:r>
            <a:endParaRPr lang="en-US" sz="950" dirty="0"/>
          </a:p>
        </p:txBody>
      </p:sp>
      <p:sp>
        <p:nvSpPr>
          <p:cNvPr id="9" name="Text 5"/>
          <p:cNvSpPr/>
          <p:nvPr/>
        </p:nvSpPr>
        <p:spPr>
          <a:xfrm>
            <a:off x="5312794" y="1847088"/>
            <a:ext cx="6311973" cy="292608"/>
          </a:xfrm>
          <a:prstGeom prst="rect">
            <a:avLst/>
          </a:prstGeom>
          <a:noFill/>
          <a:ln/>
        </p:spPr>
        <p:txBody>
          <a:bodyPr wrap="square" lIns="0" tIns="0" rIns="0" bIns="0" rtlCol="0" anchor="ctr"/>
          <a:lstStyle/>
          <a:p>
            <a:pPr indent="0" marL="0">
              <a:buNone/>
            </a:pPr>
            <a:r>
              <a:rPr lang="en-US" sz="1200" b="1" dirty="0">
                <a:solidFill>
                  <a:srgbClr val="E8751A"/>
                </a:solidFill>
                <a:latin typeface="맑은 고딕" pitchFamily="34" charset="0"/>
                <a:ea typeface="맑은 고딕" pitchFamily="34" charset="-122"/>
                <a:cs typeface="맑은 고딕" pitchFamily="34" charset="-120"/>
              </a:rPr>
              <a:t>무엇을 보여드리나요</a:t>
            </a:r>
            <a:endParaRPr lang="en-US" sz="1200" dirty="0"/>
          </a:p>
        </p:txBody>
      </p:sp>
      <p:sp>
        <p:nvSpPr>
          <p:cNvPr id="10" name="Shape 6"/>
          <p:cNvSpPr/>
          <p:nvPr/>
        </p:nvSpPr>
        <p:spPr>
          <a:xfrm>
            <a:off x="5312794" y="2267712"/>
            <a:ext cx="6311973" cy="621792"/>
          </a:xfrm>
          <a:prstGeom prst="roundRect">
            <a:avLst>
              <a:gd name="adj" fmla="val 14706"/>
            </a:avLst>
          </a:prstGeom>
          <a:solidFill>
            <a:srgbClr val="F4F6FC"/>
          </a:solidFill>
          <a:ln w="12700">
            <a:solidFill>
              <a:srgbClr val="D4DAEE"/>
            </a:solidFill>
            <a:prstDash val="solid"/>
          </a:ln>
        </p:spPr>
      </p:sp>
      <p:sp>
        <p:nvSpPr>
          <p:cNvPr id="11" name="Text 7"/>
          <p:cNvSpPr/>
          <p:nvPr/>
        </p:nvSpPr>
        <p:spPr>
          <a:xfrm>
            <a:off x="5550538" y="2340864"/>
            <a:ext cx="5854773" cy="256032"/>
          </a:xfrm>
          <a:prstGeom prst="rect">
            <a:avLst/>
          </a:prstGeom>
          <a:noFill/>
          <a:ln/>
        </p:spPr>
        <p:txBody>
          <a:bodyPr wrap="square" lIns="0" tIns="0" rIns="0" bIns="0" rtlCol="0" anchor="ctr"/>
          <a:lstStyle/>
          <a:p>
            <a:pPr indent="0" marL="0">
              <a:buNone/>
            </a:pPr>
            <a:r>
              <a:rPr lang="en-US" sz="1200" b="1" dirty="0">
                <a:solidFill>
                  <a:srgbClr val="141B33"/>
                </a:solidFill>
                <a:latin typeface="맑은 고딕" pitchFamily="34" charset="0"/>
                <a:ea typeface="맑은 고딕" pitchFamily="34" charset="-122"/>
                <a:cs typeface="맑은 고딕" pitchFamily="34" charset="-120"/>
              </a:rPr>
              <a:t>추천은 하나만 보여줍니다</a:t>
            </a:r>
            <a:endParaRPr lang="en-US" sz="1200" dirty="0"/>
          </a:p>
        </p:txBody>
      </p:sp>
      <p:sp>
        <p:nvSpPr>
          <p:cNvPr id="12" name="Text 8"/>
          <p:cNvSpPr/>
          <p:nvPr/>
        </p:nvSpPr>
        <p:spPr>
          <a:xfrm>
            <a:off x="5550538" y="2587752"/>
            <a:ext cx="5854773" cy="237744"/>
          </a:xfrm>
          <a:prstGeom prst="rect">
            <a:avLst/>
          </a:prstGeom>
          <a:noFill/>
          <a:ln/>
        </p:spPr>
        <p:txBody>
          <a:bodyPr wrap="square" lIns="0" tIns="0" rIns="0" bIns="0" rtlCol="0" anchor="ctr"/>
          <a:lstStyle/>
          <a:p>
            <a:pPr indent="0" marL="0">
              <a:buNone/>
            </a:pPr>
            <a:r>
              <a:rPr lang="en-US" sz="1000" dirty="0">
                <a:solidFill>
                  <a:srgbClr val="6E7796"/>
                </a:solidFill>
                <a:latin typeface="맑은 고딕" pitchFamily="34" charset="0"/>
                <a:ea typeface="맑은 고딕" pitchFamily="34" charset="-122"/>
                <a:cs typeface="맑은 고딕" pitchFamily="34" charset="-120"/>
              </a:rPr>
              <a:t>직통 우선 · 환승 1회까지 찾아 가장 빠른 하나. 고민할 거리를 만들지 않습니다</a:t>
            </a:r>
            <a:endParaRPr lang="en-US" sz="1000" dirty="0"/>
          </a:p>
        </p:txBody>
      </p:sp>
      <p:sp>
        <p:nvSpPr>
          <p:cNvPr id="13" name="Shape 9"/>
          <p:cNvSpPr/>
          <p:nvPr/>
        </p:nvSpPr>
        <p:spPr>
          <a:xfrm>
            <a:off x="5312794" y="2980944"/>
            <a:ext cx="6311973" cy="621792"/>
          </a:xfrm>
          <a:prstGeom prst="roundRect">
            <a:avLst>
              <a:gd name="adj" fmla="val 14706"/>
            </a:avLst>
          </a:prstGeom>
          <a:solidFill>
            <a:srgbClr val="F4F6FC"/>
          </a:solidFill>
          <a:ln w="12700">
            <a:solidFill>
              <a:srgbClr val="D4DAEE"/>
            </a:solidFill>
            <a:prstDash val="solid"/>
          </a:ln>
        </p:spPr>
      </p:sp>
      <p:sp>
        <p:nvSpPr>
          <p:cNvPr id="14" name="Text 10"/>
          <p:cNvSpPr/>
          <p:nvPr/>
        </p:nvSpPr>
        <p:spPr>
          <a:xfrm>
            <a:off x="5550538" y="3054096"/>
            <a:ext cx="5854773" cy="256032"/>
          </a:xfrm>
          <a:prstGeom prst="rect">
            <a:avLst/>
          </a:prstGeom>
          <a:noFill/>
          <a:ln/>
        </p:spPr>
        <p:txBody>
          <a:bodyPr wrap="square" lIns="0" tIns="0" rIns="0" bIns="0" rtlCol="0" anchor="ctr"/>
          <a:lstStyle/>
          <a:p>
            <a:pPr indent="0" marL="0">
              <a:buNone/>
            </a:pPr>
            <a:r>
              <a:rPr lang="en-US" sz="1200" b="1" dirty="0">
                <a:solidFill>
                  <a:srgbClr val="141B33"/>
                </a:solidFill>
                <a:latin typeface="맑은 고딕" pitchFamily="34" charset="0"/>
                <a:ea typeface="맑은 고딕" pitchFamily="34" charset="-122"/>
                <a:cs typeface="맑은 고딕" pitchFamily="34" charset="-120"/>
              </a:rPr>
              <a:t>각 지점의 기다리기 환경</a:t>
            </a:r>
            <a:endParaRPr lang="en-US" sz="1200" dirty="0"/>
          </a:p>
        </p:txBody>
      </p:sp>
      <p:sp>
        <p:nvSpPr>
          <p:cNvPr id="15" name="Text 11"/>
          <p:cNvSpPr/>
          <p:nvPr/>
        </p:nvSpPr>
        <p:spPr>
          <a:xfrm>
            <a:off x="5550538" y="3300984"/>
            <a:ext cx="5854773" cy="237744"/>
          </a:xfrm>
          <a:prstGeom prst="rect">
            <a:avLst/>
          </a:prstGeom>
          <a:noFill/>
          <a:ln/>
        </p:spPr>
        <p:txBody>
          <a:bodyPr wrap="square" lIns="0" tIns="0" rIns="0" bIns="0" rtlCol="0" anchor="ctr"/>
          <a:lstStyle/>
          <a:p>
            <a:pPr indent="0" marL="0">
              <a:buNone/>
            </a:pPr>
            <a:r>
              <a:rPr lang="en-US" sz="1000" dirty="0">
                <a:solidFill>
                  <a:srgbClr val="6E7796"/>
                </a:solidFill>
                <a:latin typeface="맑은 고딕" pitchFamily="34" charset="0"/>
                <a:ea typeface="맑은 고딕" pitchFamily="34" charset="-122"/>
                <a:cs typeface="맑은 고딕" pitchFamily="34" charset="-120"/>
              </a:rPr>
              <a:t>지붕 · 의자 · 쉘터 · 안내기 · 조명 — 점선으로 흐린 칩이 '없음'입니다</a:t>
            </a:r>
            <a:endParaRPr lang="en-US" sz="1000" dirty="0"/>
          </a:p>
        </p:txBody>
      </p:sp>
      <p:sp>
        <p:nvSpPr>
          <p:cNvPr id="16" name="Shape 12"/>
          <p:cNvSpPr/>
          <p:nvPr/>
        </p:nvSpPr>
        <p:spPr>
          <a:xfrm>
            <a:off x="5312794" y="3694176"/>
            <a:ext cx="6311973" cy="621792"/>
          </a:xfrm>
          <a:prstGeom prst="roundRect">
            <a:avLst>
              <a:gd name="adj" fmla="val 14706"/>
            </a:avLst>
          </a:prstGeom>
          <a:solidFill>
            <a:srgbClr val="F4F6FC"/>
          </a:solidFill>
          <a:ln w="12700">
            <a:solidFill>
              <a:srgbClr val="D4DAEE"/>
            </a:solidFill>
            <a:prstDash val="solid"/>
          </a:ln>
        </p:spPr>
      </p:sp>
      <p:sp>
        <p:nvSpPr>
          <p:cNvPr id="17" name="Text 13"/>
          <p:cNvSpPr/>
          <p:nvPr/>
        </p:nvSpPr>
        <p:spPr>
          <a:xfrm>
            <a:off x="5550538" y="3767328"/>
            <a:ext cx="5854773" cy="256032"/>
          </a:xfrm>
          <a:prstGeom prst="rect">
            <a:avLst/>
          </a:prstGeom>
          <a:noFill/>
          <a:ln/>
        </p:spPr>
        <p:txBody>
          <a:bodyPr wrap="square" lIns="0" tIns="0" rIns="0" bIns="0" rtlCol="0" anchor="ctr"/>
          <a:lstStyle/>
          <a:p>
            <a:pPr indent="0" marL="0">
              <a:buNone/>
            </a:pPr>
            <a:r>
              <a:rPr lang="en-US" sz="1200" b="1" dirty="0">
                <a:solidFill>
                  <a:srgbClr val="141B33"/>
                </a:solidFill>
                <a:latin typeface="맑은 고딕" pitchFamily="34" charset="0"/>
                <a:ea typeface="맑은 고딕" pitchFamily="34" charset="-122"/>
                <a:cs typeface="맑은 고딕" pitchFamily="34" charset="-120"/>
              </a:rPr>
              <a:t>없는 건 없다고 씁니다</a:t>
            </a:r>
            <a:endParaRPr lang="en-US" sz="1200" dirty="0"/>
          </a:p>
        </p:txBody>
      </p:sp>
      <p:sp>
        <p:nvSpPr>
          <p:cNvPr id="18" name="Text 14"/>
          <p:cNvSpPr/>
          <p:nvPr/>
        </p:nvSpPr>
        <p:spPr>
          <a:xfrm>
            <a:off x="5550538" y="4014216"/>
            <a:ext cx="5854773" cy="237744"/>
          </a:xfrm>
          <a:prstGeom prst="rect">
            <a:avLst/>
          </a:prstGeom>
          <a:noFill/>
          <a:ln/>
        </p:spPr>
        <p:txBody>
          <a:bodyPr wrap="square" lIns="0" tIns="0" rIns="0" bIns="0" rtlCol="0" anchor="ctr"/>
          <a:lstStyle/>
          <a:p>
            <a:pPr indent="0" marL="0">
              <a:buNone/>
            </a:pPr>
            <a:r>
              <a:rPr lang="en-US" sz="1000" dirty="0">
                <a:solidFill>
                  <a:srgbClr val="6E7796"/>
                </a:solidFill>
                <a:latin typeface="맑은 고딕" pitchFamily="34" charset="0"/>
                <a:ea typeface="맑은 고딕" pitchFamily="34" charset="-122"/>
                <a:cs typeface="맑은 고딕" pitchFamily="34" charset="-120"/>
              </a:rPr>
              <a:t>화면의 '도착 정보 없음', '지금 오는 버스 없음'이 그 예입니다 (목업 없음)</a:t>
            </a:r>
            <a:endParaRPr lang="en-US" sz="1000" dirty="0"/>
          </a:p>
        </p:txBody>
      </p:sp>
      <p:sp>
        <p:nvSpPr>
          <p:cNvPr id="19" name="Shape 15"/>
          <p:cNvSpPr/>
          <p:nvPr/>
        </p:nvSpPr>
        <p:spPr>
          <a:xfrm>
            <a:off x="5312794" y="4407408"/>
            <a:ext cx="6311973" cy="621792"/>
          </a:xfrm>
          <a:prstGeom prst="roundRect">
            <a:avLst>
              <a:gd name="adj" fmla="val 14706"/>
            </a:avLst>
          </a:prstGeom>
          <a:solidFill>
            <a:srgbClr val="F4F6FC"/>
          </a:solidFill>
          <a:ln w="12700">
            <a:solidFill>
              <a:srgbClr val="D4DAEE"/>
            </a:solidFill>
            <a:prstDash val="solid"/>
          </a:ln>
        </p:spPr>
      </p:sp>
      <p:sp>
        <p:nvSpPr>
          <p:cNvPr id="20" name="Text 16"/>
          <p:cNvSpPr/>
          <p:nvPr/>
        </p:nvSpPr>
        <p:spPr>
          <a:xfrm>
            <a:off x="5550538" y="4480560"/>
            <a:ext cx="5854773" cy="256032"/>
          </a:xfrm>
          <a:prstGeom prst="rect">
            <a:avLst/>
          </a:prstGeom>
          <a:noFill/>
          <a:ln/>
        </p:spPr>
        <p:txBody>
          <a:bodyPr wrap="square" lIns="0" tIns="0" rIns="0" bIns="0" rtlCol="0" anchor="ctr"/>
          <a:lstStyle/>
          <a:p>
            <a:pPr indent="0" marL="0">
              <a:buNone/>
            </a:pPr>
            <a:r>
              <a:rPr lang="en-US" sz="1200" b="1" dirty="0">
                <a:solidFill>
                  <a:srgbClr val="141B33"/>
                </a:solidFill>
                <a:latin typeface="맑은 고딕" pitchFamily="34" charset="0"/>
                <a:ea typeface="맑은 고딕" pitchFamily="34" charset="-122"/>
                <a:cs typeface="맑은 고딕" pitchFamily="34" charset="-120"/>
              </a:rPr>
              <a:t>50m 안에 쉼터가 있으면 함께</a:t>
            </a:r>
            <a:endParaRPr lang="en-US" sz="1200" dirty="0"/>
          </a:p>
        </p:txBody>
      </p:sp>
      <p:sp>
        <p:nvSpPr>
          <p:cNvPr id="21" name="Text 17"/>
          <p:cNvSpPr/>
          <p:nvPr/>
        </p:nvSpPr>
        <p:spPr>
          <a:xfrm>
            <a:off x="5550538" y="4727448"/>
            <a:ext cx="5854773" cy="237744"/>
          </a:xfrm>
          <a:prstGeom prst="rect">
            <a:avLst/>
          </a:prstGeom>
          <a:noFill/>
          <a:ln/>
        </p:spPr>
        <p:txBody>
          <a:bodyPr wrap="square" lIns="0" tIns="0" rIns="0" bIns="0" rtlCol="0" anchor="ctr"/>
          <a:lstStyle/>
          <a:p>
            <a:pPr indent="0" marL="0">
              <a:buNone/>
            </a:pPr>
            <a:r>
              <a:rPr lang="en-US" sz="1000" dirty="0">
                <a:solidFill>
                  <a:srgbClr val="6E7796"/>
                </a:solidFill>
                <a:latin typeface="맑은 고딕" pitchFamily="34" charset="0"/>
                <a:ea typeface="맑은 고딕" pitchFamily="34" charset="-122"/>
                <a:cs typeface="맑은 고딕" pitchFamily="34" charset="-120"/>
              </a:rPr>
              <a:t>타는 곳·내리는 곳·도착지 어디든, 잠깐 들어갈 곳을 지도 핀으로</a:t>
            </a:r>
            <a:endParaRPr lang="en-US" sz="1000" dirty="0"/>
          </a:p>
        </p:txBody>
      </p:sp>
      <p:sp>
        <p:nvSpPr>
          <p:cNvPr id="22" name="Text 18"/>
          <p:cNvSpPr/>
          <p:nvPr/>
        </p:nvSpPr>
        <p:spPr>
          <a:xfrm>
            <a:off x="5312794" y="5266944"/>
            <a:ext cx="1188720" cy="310896"/>
          </a:xfrm>
          <a:prstGeom prst="rect">
            <a:avLst/>
          </a:prstGeom>
          <a:noFill/>
          <a:ln/>
        </p:spPr>
        <p:txBody>
          <a:bodyPr wrap="square" lIns="0" tIns="0" rIns="0" bIns="0" rtlCol="0" anchor="ctr"/>
          <a:lstStyle/>
          <a:p>
            <a:pPr indent="0" marL="0">
              <a:buNone/>
            </a:pPr>
            <a:r>
              <a:rPr lang="en-US" sz="1050" b="1" dirty="0">
                <a:solidFill>
                  <a:srgbClr val="6E7796"/>
                </a:solidFill>
                <a:latin typeface="맑은 고딕" pitchFamily="34" charset="0"/>
                <a:ea typeface="맑은 고딕" pitchFamily="34" charset="-122"/>
                <a:cs typeface="맑은 고딕" pitchFamily="34" charset="-120"/>
              </a:rPr>
              <a:t>심사 포인트</a:t>
            </a:r>
            <a:endParaRPr lang="en-US" sz="1050" dirty="0"/>
          </a:p>
        </p:txBody>
      </p:sp>
      <p:sp>
        <p:nvSpPr>
          <p:cNvPr id="23" name="Shape 19"/>
          <p:cNvSpPr/>
          <p:nvPr/>
        </p:nvSpPr>
        <p:spPr>
          <a:xfrm>
            <a:off x="6547234" y="5266944"/>
            <a:ext cx="1601071" cy="310896"/>
          </a:xfrm>
          <a:prstGeom prst="roundRect">
            <a:avLst>
              <a:gd name="adj" fmla="val 23529"/>
            </a:avLst>
          </a:prstGeom>
          <a:solidFill>
            <a:srgbClr val="E7EBF8"/>
          </a:solidFill>
          <a:ln w="12700">
            <a:solidFill>
              <a:srgbClr val="E7EBF8"/>
            </a:solidFill>
            <a:prstDash val="solid"/>
          </a:ln>
        </p:spPr>
      </p:sp>
      <p:sp>
        <p:nvSpPr>
          <p:cNvPr id="24" name="Text 20"/>
          <p:cNvSpPr/>
          <p:nvPr/>
        </p:nvSpPr>
        <p:spPr>
          <a:xfrm>
            <a:off x="6547234" y="5266944"/>
            <a:ext cx="1601071" cy="310896"/>
          </a:xfrm>
          <a:prstGeom prst="rect">
            <a:avLst/>
          </a:prstGeom>
          <a:noFill/>
          <a:ln/>
        </p:spPr>
        <p:txBody>
          <a:bodyPr wrap="square" lIns="0" tIns="0" rIns="0" bIns="0" rtlCol="0" anchor="ctr"/>
          <a:lstStyle/>
          <a:p>
            <a:pPr algn="ctr" indent="0" marL="0">
              <a:buNone/>
            </a:pPr>
            <a:r>
              <a:rPr lang="en-US" sz="950" b="1" dirty="0">
                <a:solidFill>
                  <a:srgbClr val="001871"/>
                </a:solidFill>
                <a:latin typeface="맑은 고딕" pitchFamily="34" charset="0"/>
                <a:ea typeface="맑은 고딕" pitchFamily="34" charset="-122"/>
                <a:cs typeface="맑은 고딕" pitchFamily="34" charset="-120"/>
              </a:rPr>
              <a:t>실시간 API 결합</a:t>
            </a:r>
            <a:endParaRPr lang="en-US" sz="950" dirty="0"/>
          </a:p>
        </p:txBody>
      </p:sp>
      <p:sp>
        <p:nvSpPr>
          <p:cNvPr id="25" name="Shape 21"/>
          <p:cNvSpPr/>
          <p:nvPr/>
        </p:nvSpPr>
        <p:spPr>
          <a:xfrm>
            <a:off x="8239745" y="5266944"/>
            <a:ext cx="1601071" cy="310896"/>
          </a:xfrm>
          <a:prstGeom prst="roundRect">
            <a:avLst>
              <a:gd name="adj" fmla="val 23529"/>
            </a:avLst>
          </a:prstGeom>
          <a:solidFill>
            <a:srgbClr val="E7EBF8"/>
          </a:solidFill>
          <a:ln w="12700">
            <a:solidFill>
              <a:srgbClr val="E7EBF8"/>
            </a:solidFill>
            <a:prstDash val="solid"/>
          </a:ln>
        </p:spPr>
      </p:sp>
      <p:sp>
        <p:nvSpPr>
          <p:cNvPr id="26" name="Text 22"/>
          <p:cNvSpPr/>
          <p:nvPr/>
        </p:nvSpPr>
        <p:spPr>
          <a:xfrm>
            <a:off x="8239745" y="5266944"/>
            <a:ext cx="1601071" cy="310896"/>
          </a:xfrm>
          <a:prstGeom prst="rect">
            <a:avLst/>
          </a:prstGeom>
          <a:noFill/>
          <a:ln/>
        </p:spPr>
        <p:txBody>
          <a:bodyPr wrap="square" lIns="0" tIns="0" rIns="0" bIns="0" rtlCol="0" anchor="ctr"/>
          <a:lstStyle/>
          <a:p>
            <a:pPr algn="ctr" indent="0" marL="0">
              <a:buNone/>
            </a:pPr>
            <a:r>
              <a:rPr lang="en-US" sz="950" b="1" dirty="0">
                <a:solidFill>
                  <a:srgbClr val="001871"/>
                </a:solidFill>
                <a:latin typeface="맑은 고딕" pitchFamily="34" charset="0"/>
                <a:ea typeface="맑은 고딕" pitchFamily="34" charset="-122"/>
                <a:cs typeface="맑은 고딕" pitchFamily="34" charset="-120"/>
              </a:rPr>
              <a:t>폭염 노출 시간 단축</a:t>
            </a:r>
            <a:endParaRPr lang="en-US" sz="950" dirty="0"/>
          </a:p>
        </p:txBody>
      </p:sp>
      <p:sp>
        <p:nvSpPr>
          <p:cNvPr id="27" name="Shape 23"/>
          <p:cNvSpPr/>
          <p:nvPr/>
        </p:nvSpPr>
        <p:spPr>
          <a:xfrm>
            <a:off x="9932256" y="5266944"/>
            <a:ext cx="1601071" cy="310896"/>
          </a:xfrm>
          <a:prstGeom prst="roundRect">
            <a:avLst>
              <a:gd name="adj" fmla="val 23529"/>
            </a:avLst>
          </a:prstGeom>
          <a:solidFill>
            <a:srgbClr val="E7EBF8"/>
          </a:solidFill>
          <a:ln w="12700">
            <a:solidFill>
              <a:srgbClr val="E7EBF8"/>
            </a:solidFill>
            <a:prstDash val="solid"/>
          </a:ln>
        </p:spPr>
      </p:sp>
      <p:sp>
        <p:nvSpPr>
          <p:cNvPr id="28" name="Text 24"/>
          <p:cNvSpPr/>
          <p:nvPr/>
        </p:nvSpPr>
        <p:spPr>
          <a:xfrm>
            <a:off x="9932256" y="5266944"/>
            <a:ext cx="1601071" cy="310896"/>
          </a:xfrm>
          <a:prstGeom prst="rect">
            <a:avLst/>
          </a:prstGeom>
          <a:noFill/>
          <a:ln/>
        </p:spPr>
        <p:txBody>
          <a:bodyPr wrap="square" lIns="0" tIns="0" rIns="0" bIns="0" rtlCol="0" anchor="ctr"/>
          <a:lstStyle/>
          <a:p>
            <a:pPr algn="ctr" indent="0" marL="0">
              <a:buNone/>
            </a:pPr>
            <a:r>
              <a:rPr lang="en-US" sz="950" b="1" dirty="0">
                <a:solidFill>
                  <a:srgbClr val="001871"/>
                </a:solidFill>
                <a:latin typeface="맑은 고딕" pitchFamily="34" charset="0"/>
                <a:ea typeface="맑은 고딕" pitchFamily="34" charset="-122"/>
                <a:cs typeface="맑은 고딕" pitchFamily="34" charset="-120"/>
              </a:rPr>
              <a:t>정직한 실패 처리</a:t>
            </a:r>
            <a:endParaRPr lang="en-US" sz="950" dirty="0"/>
          </a:p>
        </p:txBody>
      </p:sp>
      <p:sp>
        <p:nvSpPr>
          <p:cNvPr id="29" name="Text 25"/>
          <p:cNvSpPr/>
          <p:nvPr/>
        </p:nvSpPr>
        <p:spPr>
          <a:xfrm>
            <a:off x="5312794" y="5705856"/>
            <a:ext cx="6311973" cy="274320"/>
          </a:xfrm>
          <a:prstGeom prst="rect">
            <a:avLst/>
          </a:prstGeom>
          <a:noFill/>
          <a:ln/>
        </p:spPr>
        <p:txBody>
          <a:bodyPr wrap="square" lIns="0" tIns="0" rIns="0" bIns="0" rtlCol="0" anchor="ctr"/>
          <a:lstStyle/>
          <a:p>
            <a:pPr indent="0" marL="0">
              <a:buNone/>
            </a:pPr>
            <a:r>
              <a:rPr lang="en-US" sz="900" dirty="0">
                <a:solidFill>
                  <a:srgbClr val="6E7796"/>
                </a:solidFill>
                <a:latin typeface="맑은 고딕" pitchFamily="34" charset="0"/>
                <a:ea typeface="맑은 고딕" pitchFamily="34" charset="-122"/>
                <a:cs typeface="맑은 고딕" pitchFamily="34" charset="-120"/>
              </a:rPr>
              <a:t>※ 실제 앱 화면을 그대로 캡처한 것입니다 (목업·합성 없음)</a:t>
            </a:r>
            <a:endParaRPr lang="en-US" sz="900" dirty="0"/>
          </a:p>
        </p:txBody>
      </p:sp>
      <p:sp>
        <p:nvSpPr>
          <p:cNvPr id="30" name="Text 26"/>
          <p:cNvSpPr/>
          <p:nvPr/>
        </p:nvSpPr>
        <p:spPr>
          <a:xfrm>
            <a:off x="566928" y="6327648"/>
            <a:ext cx="4572000" cy="274320"/>
          </a:xfrm>
          <a:prstGeom prst="rect">
            <a:avLst/>
          </a:prstGeom>
          <a:noFill/>
          <a:ln/>
        </p:spPr>
        <p:txBody>
          <a:bodyPr wrap="square" lIns="0" tIns="0" rIns="0" bIns="0" rtlCol="0" anchor="ctr"/>
          <a:lstStyle/>
          <a:p>
            <a:pPr algn="l" indent="0" marL="0">
              <a:buNone/>
            </a:pPr>
            <a:r>
              <a:rPr lang="en-US" sz="900" dirty="0">
                <a:solidFill>
                  <a:srgbClr val="6E7796"/>
                </a:solidFill>
                <a:latin typeface="맑은 고딕" pitchFamily="34" charset="0"/>
                <a:ea typeface="맑은 고딕" pitchFamily="34" charset="-122"/>
                <a:cs typeface="맑은 고딕" pitchFamily="34" charset="-120"/>
              </a:rPr>
              <a:t>쉼표정류장  ·  팀 오댕국</a:t>
            </a:r>
            <a:endParaRPr lang="en-US" sz="900" dirty="0"/>
          </a:p>
        </p:txBody>
      </p:sp>
      <p:sp>
        <p:nvSpPr>
          <p:cNvPr id="31" name="Text 27"/>
          <p:cNvSpPr/>
          <p:nvPr/>
        </p:nvSpPr>
        <p:spPr>
          <a:xfrm>
            <a:off x="10710367" y="6327648"/>
            <a:ext cx="914400" cy="274320"/>
          </a:xfrm>
          <a:prstGeom prst="rect">
            <a:avLst/>
          </a:prstGeom>
          <a:noFill/>
          <a:ln/>
        </p:spPr>
        <p:txBody>
          <a:bodyPr wrap="square" lIns="0" tIns="0" rIns="0" bIns="0" rtlCol="0" anchor="ctr"/>
          <a:lstStyle/>
          <a:p>
            <a:pPr algn="r" indent="0" marL="0">
              <a:buNone/>
            </a:pPr>
            <a:r>
              <a:rPr lang="en-US" sz="900" dirty="0">
                <a:solidFill>
                  <a:srgbClr val="6E7796"/>
                </a:solidFill>
                <a:latin typeface="맑은 고딕" pitchFamily="34" charset="0"/>
                <a:ea typeface="맑은 고딕" pitchFamily="34" charset="-122"/>
                <a:cs typeface="맑은 고딕"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11057839" cy="274320"/>
          </a:xfrm>
          <a:prstGeom prst="rect">
            <a:avLst/>
          </a:prstGeom>
          <a:noFill/>
          <a:ln/>
        </p:spPr>
        <p:txBody>
          <a:bodyPr wrap="square" lIns="0" tIns="0" rIns="0" bIns="0" rtlCol="0" anchor="ctr"/>
          <a:lstStyle/>
          <a:p>
            <a:pPr indent="0" marL="0">
              <a:buNone/>
            </a:pPr>
            <a:r>
              <a:rPr lang="en-US" sz="1100" b="1" dirty="0">
                <a:solidFill>
                  <a:srgbClr val="E8751A"/>
                </a:solidFill>
                <a:latin typeface="맑은 고딕" pitchFamily="34" charset="0"/>
                <a:ea typeface="맑은 고딕" pitchFamily="34" charset="-122"/>
                <a:cs typeface="맑은 고딕" pitchFamily="34" charset="-120"/>
              </a:rPr>
              <a:t>03</a:t>
            </a:r>
            <a:pPr indent="0" marL="0">
              <a:buNone/>
            </a:pPr>
            <a:r>
              <a:rPr lang="en-US" sz="1100" b="1" dirty="0">
                <a:solidFill>
                  <a:srgbClr val="6E7796"/>
                </a:solidFill>
                <a:latin typeface="맑은 고딕" pitchFamily="34" charset="0"/>
                <a:ea typeface="맑은 고딕" pitchFamily="34" charset="-122"/>
                <a:cs typeface="맑은 고딕" pitchFamily="34" charset="-120"/>
              </a:rPr>
              <a:t>   서비스 핵심 기능 설명 및 시연</a:t>
            </a:r>
            <a:endParaRPr lang="en-US" sz="1100" dirty="0"/>
          </a:p>
        </p:txBody>
      </p:sp>
      <p:sp>
        <p:nvSpPr>
          <p:cNvPr id="3" name="Text 1"/>
          <p:cNvSpPr/>
          <p:nvPr/>
        </p:nvSpPr>
        <p:spPr>
          <a:xfrm>
            <a:off x="566928" y="749808"/>
            <a:ext cx="11057839" cy="566928"/>
          </a:xfrm>
          <a:prstGeom prst="rect">
            <a:avLst/>
          </a:prstGeom>
          <a:noFill/>
          <a:ln/>
        </p:spPr>
        <p:txBody>
          <a:bodyPr wrap="square" lIns="0" tIns="0" rIns="0" bIns="0" rtlCol="0" anchor="ctr"/>
          <a:lstStyle/>
          <a:p>
            <a:pPr indent="0" marL="0">
              <a:buNone/>
            </a:pPr>
            <a:r>
              <a:rPr lang="en-US" sz="2700" b="1" dirty="0">
                <a:solidFill>
                  <a:srgbClr val="141B33"/>
                </a:solidFill>
                <a:latin typeface="맑은 고딕" pitchFamily="34" charset="0"/>
                <a:ea typeface="맑은 고딕" pitchFamily="34" charset="-122"/>
                <a:cs typeface="맑은 고딕" pitchFamily="34" charset="-120"/>
              </a:rPr>
              <a:t>발표장에서도 보여드릴 수 있게, 그리고 쉼터는 지도로</a:t>
            </a:r>
            <a:endParaRPr lang="en-US" sz="2700" dirty="0"/>
          </a:p>
        </p:txBody>
      </p:sp>
      <p:sp>
        <p:nvSpPr>
          <p:cNvPr id="4" name="Text 2"/>
          <p:cNvSpPr/>
          <p:nvPr/>
        </p:nvSpPr>
        <p:spPr>
          <a:xfrm>
            <a:off x="566928" y="1335024"/>
            <a:ext cx="11057839" cy="310896"/>
          </a:xfrm>
          <a:prstGeom prst="rect">
            <a:avLst/>
          </a:prstGeom>
          <a:noFill/>
          <a:ln/>
        </p:spPr>
        <p:txBody>
          <a:bodyPr wrap="square" lIns="0" tIns="0" rIns="0" bIns="0" rtlCol="0" anchor="ctr"/>
          <a:lstStyle/>
          <a:p>
            <a:pPr indent="0" marL="0">
              <a:buNone/>
            </a:pPr>
            <a:r>
              <a:rPr lang="en-US" sz="1300" dirty="0">
                <a:solidFill>
                  <a:srgbClr val="6E7796"/>
                </a:solidFill>
                <a:latin typeface="맑은 고딕" pitchFamily="34" charset="0"/>
                <a:ea typeface="맑은 고딕" pitchFamily="34" charset="-122"/>
                <a:cs typeface="맑은 고딕" pitchFamily="34" charset="-120"/>
              </a:rPr>
              <a:t>여기서 버스를 탈 수는 없으니 위치를 옮겨가며 시연합니다</a:t>
            </a:r>
            <a:endParaRPr lang="en-US" sz="1300" dirty="0"/>
          </a:p>
        </p:txBody>
      </p:sp>
      <p:pic>
        <p:nvPicPr>
          <p:cNvPr id="5" name="Image 0" descr="C:\Users\hyeon\Desktop\projects\chuncheon-busstop\shots\06-live-riding.png">    </p:cNvPr>
          <p:cNvPicPr>
            <a:picLocks noChangeAspect="1"/>
          </p:cNvPicPr>
          <p:nvPr/>
        </p:nvPicPr>
        <p:blipFill>
          <a:blip r:embed="rId1"/>
          <a:stretch>
            <a:fillRect/>
          </a:stretch>
        </p:blipFill>
        <p:spPr>
          <a:xfrm>
            <a:off x="704088" y="1847088"/>
            <a:ext cx="1838009" cy="3977640"/>
          </a:xfrm>
          <a:prstGeom prst="rect">
            <a:avLst/>
          </a:prstGeom>
          <a:effectLst>
            <a:outerShdw sx="100000" sy="100000" kx="0" ky="0" algn="bl" rotWithShape="0" blurRad="177800" dist="38100" dir="5400000">
              <a:srgbClr val="001871">
                <a:alpha val="22000"/>
              </a:srgbClr>
            </a:outerShdw>
          </a:effectLst>
        </p:spPr>
      </p:pic>
      <p:sp>
        <p:nvSpPr>
          <p:cNvPr id="6" name="Text 3"/>
          <p:cNvSpPr/>
          <p:nvPr/>
        </p:nvSpPr>
        <p:spPr>
          <a:xfrm>
            <a:off x="429768" y="5879592"/>
            <a:ext cx="2386649" cy="274320"/>
          </a:xfrm>
          <a:prstGeom prst="rect">
            <a:avLst/>
          </a:prstGeom>
          <a:noFill/>
          <a:ln/>
        </p:spPr>
        <p:txBody>
          <a:bodyPr wrap="square" lIns="0" tIns="0" rIns="0" bIns="0" rtlCol="0" anchor="ctr"/>
          <a:lstStyle/>
          <a:p>
            <a:pPr algn="ctr" indent="0" marL="0">
              <a:buNone/>
            </a:pPr>
            <a:r>
              <a:rPr lang="en-US" sz="950" b="1" dirty="0">
                <a:solidFill>
                  <a:srgbClr val="6E7796"/>
                </a:solidFill>
                <a:latin typeface="맑은 고딕" pitchFamily="34" charset="0"/>
                <a:ea typeface="맑은 고딕" pitchFamily="34" charset="-122"/>
                <a:cs typeface="맑은 고딕" pitchFamily="34" charset="-120"/>
              </a:rPr>
              <a:t>① 시연 모드 — 위치를 한 칸씩 이동</a:t>
            </a:r>
            <a:endParaRPr lang="en-US" sz="950" dirty="0"/>
          </a:p>
        </p:txBody>
      </p:sp>
      <p:pic>
        <p:nvPicPr>
          <p:cNvPr id="7" name="Image 1" descr="C:\Users\hyeon\Desktop\projects\chuncheon-busstop\shots\07-shelter-map.png">    </p:cNvPr>
          <p:cNvPicPr>
            <a:picLocks noChangeAspect="1"/>
          </p:cNvPicPr>
          <p:nvPr/>
        </p:nvPicPr>
        <p:blipFill>
          <a:blip r:embed="rId2"/>
          <a:stretch>
            <a:fillRect/>
          </a:stretch>
        </p:blipFill>
        <p:spPr>
          <a:xfrm>
            <a:off x="2926145" y="1847088"/>
            <a:ext cx="1838009" cy="3977640"/>
          </a:xfrm>
          <a:prstGeom prst="rect">
            <a:avLst/>
          </a:prstGeom>
          <a:effectLst>
            <a:outerShdw sx="100000" sy="100000" kx="0" ky="0" algn="bl" rotWithShape="0" blurRad="177800" dist="38100" dir="5400000">
              <a:srgbClr val="001871">
                <a:alpha val="22000"/>
              </a:srgbClr>
            </a:outerShdw>
          </a:effectLst>
        </p:spPr>
      </p:pic>
      <p:sp>
        <p:nvSpPr>
          <p:cNvPr id="8" name="Text 4"/>
          <p:cNvSpPr/>
          <p:nvPr/>
        </p:nvSpPr>
        <p:spPr>
          <a:xfrm>
            <a:off x="2651825" y="5879592"/>
            <a:ext cx="2386649" cy="274320"/>
          </a:xfrm>
          <a:prstGeom prst="rect">
            <a:avLst/>
          </a:prstGeom>
          <a:noFill/>
          <a:ln/>
        </p:spPr>
        <p:txBody>
          <a:bodyPr wrap="square" lIns="0" tIns="0" rIns="0" bIns="0" rtlCol="0" anchor="ctr"/>
          <a:lstStyle/>
          <a:p>
            <a:pPr algn="ctr" indent="0" marL="0">
              <a:buNone/>
            </a:pPr>
            <a:r>
              <a:rPr lang="en-US" sz="950" b="1" dirty="0">
                <a:solidFill>
                  <a:srgbClr val="6E7796"/>
                </a:solidFill>
                <a:latin typeface="맑은 고딕" pitchFamily="34" charset="0"/>
                <a:ea typeface="맑은 고딕" pitchFamily="34" charset="-122"/>
                <a:cs typeface="맑은 고딕" pitchFamily="34" charset="-120"/>
              </a:rPr>
              <a:t>② 쉼터 탭 — 무더위쉼터 226곳</a:t>
            </a:r>
            <a:endParaRPr lang="en-US" sz="950" dirty="0"/>
          </a:p>
        </p:txBody>
      </p:sp>
      <p:sp>
        <p:nvSpPr>
          <p:cNvPr id="9" name="Text 5"/>
          <p:cNvSpPr/>
          <p:nvPr/>
        </p:nvSpPr>
        <p:spPr>
          <a:xfrm>
            <a:off x="5312794" y="1847088"/>
            <a:ext cx="6311973" cy="292608"/>
          </a:xfrm>
          <a:prstGeom prst="rect">
            <a:avLst/>
          </a:prstGeom>
          <a:noFill/>
          <a:ln/>
        </p:spPr>
        <p:txBody>
          <a:bodyPr wrap="square" lIns="0" tIns="0" rIns="0" bIns="0" rtlCol="0" anchor="ctr"/>
          <a:lstStyle/>
          <a:p>
            <a:pPr indent="0" marL="0">
              <a:buNone/>
            </a:pPr>
            <a:r>
              <a:rPr lang="en-US" sz="1200" b="1" dirty="0">
                <a:solidFill>
                  <a:srgbClr val="E8751A"/>
                </a:solidFill>
                <a:latin typeface="맑은 고딕" pitchFamily="34" charset="0"/>
                <a:ea typeface="맑은 고딕" pitchFamily="34" charset="-122"/>
                <a:cs typeface="맑은 고딕" pitchFamily="34" charset="-120"/>
              </a:rPr>
              <a:t>무엇을 보여드리나요</a:t>
            </a:r>
            <a:endParaRPr lang="en-US" sz="1200" dirty="0"/>
          </a:p>
        </p:txBody>
      </p:sp>
      <p:sp>
        <p:nvSpPr>
          <p:cNvPr id="10" name="Shape 6"/>
          <p:cNvSpPr/>
          <p:nvPr/>
        </p:nvSpPr>
        <p:spPr>
          <a:xfrm>
            <a:off x="5312794" y="2267712"/>
            <a:ext cx="6311973" cy="621792"/>
          </a:xfrm>
          <a:prstGeom prst="roundRect">
            <a:avLst>
              <a:gd name="adj" fmla="val 14706"/>
            </a:avLst>
          </a:prstGeom>
          <a:solidFill>
            <a:srgbClr val="F4F6FC"/>
          </a:solidFill>
          <a:ln w="12700">
            <a:solidFill>
              <a:srgbClr val="D4DAEE"/>
            </a:solidFill>
            <a:prstDash val="solid"/>
          </a:ln>
        </p:spPr>
      </p:sp>
      <p:sp>
        <p:nvSpPr>
          <p:cNvPr id="11" name="Text 7"/>
          <p:cNvSpPr/>
          <p:nvPr/>
        </p:nvSpPr>
        <p:spPr>
          <a:xfrm>
            <a:off x="5550538" y="2340864"/>
            <a:ext cx="5854773" cy="256032"/>
          </a:xfrm>
          <a:prstGeom prst="rect">
            <a:avLst/>
          </a:prstGeom>
          <a:noFill/>
          <a:ln/>
        </p:spPr>
        <p:txBody>
          <a:bodyPr wrap="square" lIns="0" tIns="0" rIns="0" bIns="0" rtlCol="0" anchor="ctr"/>
          <a:lstStyle/>
          <a:p>
            <a:pPr indent="0" marL="0">
              <a:buNone/>
            </a:pPr>
            <a:r>
              <a:rPr lang="en-US" sz="1200" b="1" dirty="0">
                <a:solidFill>
                  <a:srgbClr val="141B33"/>
                </a:solidFill>
                <a:latin typeface="맑은 고딕" pitchFamily="34" charset="0"/>
                <a:ea typeface="맑은 고딕" pitchFamily="34" charset="-122"/>
                <a:cs typeface="맑은 고딕" pitchFamily="34" charset="-120"/>
              </a:rPr>
              <a:t>시연 모드로 위치를 옮깁니다</a:t>
            </a:r>
            <a:endParaRPr lang="en-US" sz="1200" dirty="0"/>
          </a:p>
        </p:txBody>
      </p:sp>
      <p:sp>
        <p:nvSpPr>
          <p:cNvPr id="12" name="Text 8"/>
          <p:cNvSpPr/>
          <p:nvPr/>
        </p:nvSpPr>
        <p:spPr>
          <a:xfrm>
            <a:off x="5550538" y="2587752"/>
            <a:ext cx="5854773" cy="237744"/>
          </a:xfrm>
          <a:prstGeom prst="rect">
            <a:avLst/>
          </a:prstGeom>
          <a:noFill/>
          <a:ln/>
        </p:spPr>
        <p:txBody>
          <a:bodyPr wrap="square" lIns="0" tIns="0" rIns="0" bIns="0" rtlCol="0" anchor="ctr"/>
          <a:lstStyle/>
          <a:p>
            <a:pPr indent="0" marL="0">
              <a:buNone/>
            </a:pPr>
            <a:r>
              <a:rPr lang="en-US" sz="1000" dirty="0">
                <a:solidFill>
                  <a:srgbClr val="6E7796"/>
                </a:solidFill>
                <a:latin typeface="맑은 고딕" pitchFamily="34" charset="0"/>
                <a:ea typeface="맑은 고딕" pitchFamily="34" charset="-122"/>
                <a:cs typeface="맑은 고딕" pitchFamily="34" charset="-120"/>
              </a:rPr>
              <a:t>[이전][다음]으로 승차 → 하차 → 도착을 이동 — 데이터는 전부 실제 값입니다</a:t>
            </a:r>
            <a:endParaRPr lang="en-US" sz="1000" dirty="0"/>
          </a:p>
        </p:txBody>
      </p:sp>
      <p:sp>
        <p:nvSpPr>
          <p:cNvPr id="13" name="Shape 9"/>
          <p:cNvSpPr/>
          <p:nvPr/>
        </p:nvSpPr>
        <p:spPr>
          <a:xfrm>
            <a:off x="5312794" y="2980944"/>
            <a:ext cx="6311973" cy="621792"/>
          </a:xfrm>
          <a:prstGeom prst="roundRect">
            <a:avLst>
              <a:gd name="adj" fmla="val 14706"/>
            </a:avLst>
          </a:prstGeom>
          <a:solidFill>
            <a:srgbClr val="F4F6FC"/>
          </a:solidFill>
          <a:ln w="12700">
            <a:solidFill>
              <a:srgbClr val="D4DAEE"/>
            </a:solidFill>
            <a:prstDash val="solid"/>
          </a:ln>
        </p:spPr>
      </p:sp>
      <p:sp>
        <p:nvSpPr>
          <p:cNvPr id="14" name="Text 10"/>
          <p:cNvSpPr/>
          <p:nvPr/>
        </p:nvSpPr>
        <p:spPr>
          <a:xfrm>
            <a:off x="5550538" y="3054096"/>
            <a:ext cx="5854773" cy="256032"/>
          </a:xfrm>
          <a:prstGeom prst="rect">
            <a:avLst/>
          </a:prstGeom>
          <a:noFill/>
          <a:ln/>
        </p:spPr>
        <p:txBody>
          <a:bodyPr wrap="square" lIns="0" tIns="0" rIns="0" bIns="0" rtlCol="0" anchor="ctr"/>
          <a:lstStyle/>
          <a:p>
            <a:pPr indent="0" marL="0">
              <a:buNone/>
            </a:pPr>
            <a:r>
              <a:rPr lang="en-US" sz="1200" b="1" dirty="0">
                <a:solidFill>
                  <a:srgbClr val="141B33"/>
                </a:solidFill>
                <a:latin typeface="맑은 고딕" pitchFamily="34" charset="0"/>
                <a:ea typeface="맑은 고딕" pitchFamily="34" charset="-122"/>
                <a:cs typeface="맑은 고딕" pitchFamily="34" charset="-120"/>
              </a:rPr>
              <a:t>도착 지점의 검은 쉼표 핀</a:t>
            </a:r>
            <a:endParaRPr lang="en-US" sz="1200" dirty="0"/>
          </a:p>
        </p:txBody>
      </p:sp>
      <p:sp>
        <p:nvSpPr>
          <p:cNvPr id="15" name="Text 11"/>
          <p:cNvSpPr/>
          <p:nvPr/>
        </p:nvSpPr>
        <p:spPr>
          <a:xfrm>
            <a:off x="5550538" y="3300984"/>
            <a:ext cx="5854773" cy="237744"/>
          </a:xfrm>
          <a:prstGeom prst="rect">
            <a:avLst/>
          </a:prstGeom>
          <a:noFill/>
          <a:ln/>
        </p:spPr>
        <p:txBody>
          <a:bodyPr wrap="square" lIns="0" tIns="0" rIns="0" bIns="0" rtlCol="0" anchor="ctr"/>
          <a:lstStyle/>
          <a:p>
            <a:pPr indent="0" marL="0">
              <a:buNone/>
            </a:pPr>
            <a:r>
              <a:rPr lang="en-US" sz="1000" dirty="0">
                <a:solidFill>
                  <a:srgbClr val="6E7796"/>
                </a:solidFill>
                <a:latin typeface="맑은 고딕" pitchFamily="34" charset="0"/>
                <a:ea typeface="맑은 고딕" pitchFamily="34" charset="-122"/>
                <a:cs typeface="맑은 고딕" pitchFamily="34" charset="-120"/>
              </a:rPr>
              <a:t>쉼표정류장의 표식입니다. 지금 있는 곳은 파란 점으로 구분됩니다</a:t>
            </a:r>
            <a:endParaRPr lang="en-US" sz="1000" dirty="0"/>
          </a:p>
        </p:txBody>
      </p:sp>
      <p:sp>
        <p:nvSpPr>
          <p:cNvPr id="16" name="Shape 12"/>
          <p:cNvSpPr/>
          <p:nvPr/>
        </p:nvSpPr>
        <p:spPr>
          <a:xfrm>
            <a:off x="5312794" y="3694176"/>
            <a:ext cx="6311973" cy="621792"/>
          </a:xfrm>
          <a:prstGeom prst="roundRect">
            <a:avLst>
              <a:gd name="adj" fmla="val 14706"/>
            </a:avLst>
          </a:prstGeom>
          <a:solidFill>
            <a:srgbClr val="F4F6FC"/>
          </a:solidFill>
          <a:ln w="12700">
            <a:solidFill>
              <a:srgbClr val="D4DAEE"/>
            </a:solidFill>
            <a:prstDash val="solid"/>
          </a:ln>
        </p:spPr>
      </p:sp>
      <p:sp>
        <p:nvSpPr>
          <p:cNvPr id="17" name="Text 13"/>
          <p:cNvSpPr/>
          <p:nvPr/>
        </p:nvSpPr>
        <p:spPr>
          <a:xfrm>
            <a:off x="5550538" y="3767328"/>
            <a:ext cx="5854773" cy="256032"/>
          </a:xfrm>
          <a:prstGeom prst="rect">
            <a:avLst/>
          </a:prstGeom>
          <a:noFill/>
          <a:ln/>
        </p:spPr>
        <p:txBody>
          <a:bodyPr wrap="square" lIns="0" tIns="0" rIns="0" bIns="0" rtlCol="0" anchor="ctr"/>
          <a:lstStyle/>
          <a:p>
            <a:pPr indent="0" marL="0">
              <a:buNone/>
            </a:pPr>
            <a:r>
              <a:rPr lang="en-US" sz="1200" b="1" dirty="0">
                <a:solidFill>
                  <a:srgbClr val="141B33"/>
                </a:solidFill>
                <a:latin typeface="맑은 고딕" pitchFamily="34" charset="0"/>
                <a:ea typeface="맑은 고딕" pitchFamily="34" charset="-122"/>
                <a:cs typeface="맑은 고딕" pitchFamily="34" charset="-120"/>
              </a:rPr>
              <a:t>지도는 쉼터 전용</a:t>
            </a:r>
            <a:endParaRPr lang="en-US" sz="1200" dirty="0"/>
          </a:p>
        </p:txBody>
      </p:sp>
      <p:sp>
        <p:nvSpPr>
          <p:cNvPr id="18" name="Text 14"/>
          <p:cNvSpPr/>
          <p:nvPr/>
        </p:nvSpPr>
        <p:spPr>
          <a:xfrm>
            <a:off x="5550538" y="4014216"/>
            <a:ext cx="5854773" cy="237744"/>
          </a:xfrm>
          <a:prstGeom prst="rect">
            <a:avLst/>
          </a:prstGeom>
          <a:noFill/>
          <a:ln/>
        </p:spPr>
        <p:txBody>
          <a:bodyPr wrap="square" lIns="0" tIns="0" rIns="0" bIns="0" rtlCol="0" anchor="ctr"/>
          <a:lstStyle/>
          <a:p>
            <a:pPr indent="0" marL="0">
              <a:buNone/>
            </a:pPr>
            <a:r>
              <a:rPr lang="en-US" sz="1000" dirty="0">
                <a:solidFill>
                  <a:srgbClr val="6E7796"/>
                </a:solidFill>
                <a:latin typeface="맑은 고딕" pitchFamily="34" charset="0"/>
                <a:ea typeface="맑은 고딕" pitchFamily="34" charset="-122"/>
                <a:cs typeface="맑은 고딕" pitchFamily="34" charset="-120"/>
              </a:rPr>
              <a:t>정류장 핀을 겹치지 않습니다. 초록 핀 하나만 찾으면 됩니다</a:t>
            </a:r>
            <a:endParaRPr lang="en-US" sz="1000" dirty="0"/>
          </a:p>
        </p:txBody>
      </p:sp>
      <p:sp>
        <p:nvSpPr>
          <p:cNvPr id="19" name="Shape 15"/>
          <p:cNvSpPr/>
          <p:nvPr/>
        </p:nvSpPr>
        <p:spPr>
          <a:xfrm>
            <a:off x="5312794" y="4407408"/>
            <a:ext cx="6311973" cy="621792"/>
          </a:xfrm>
          <a:prstGeom prst="roundRect">
            <a:avLst>
              <a:gd name="adj" fmla="val 14706"/>
            </a:avLst>
          </a:prstGeom>
          <a:solidFill>
            <a:srgbClr val="F4F6FC"/>
          </a:solidFill>
          <a:ln w="12700">
            <a:solidFill>
              <a:srgbClr val="D4DAEE"/>
            </a:solidFill>
            <a:prstDash val="solid"/>
          </a:ln>
        </p:spPr>
      </p:sp>
      <p:sp>
        <p:nvSpPr>
          <p:cNvPr id="20" name="Text 16"/>
          <p:cNvSpPr/>
          <p:nvPr/>
        </p:nvSpPr>
        <p:spPr>
          <a:xfrm>
            <a:off x="5550538" y="4480560"/>
            <a:ext cx="5854773" cy="256032"/>
          </a:xfrm>
          <a:prstGeom prst="rect">
            <a:avLst/>
          </a:prstGeom>
          <a:noFill/>
          <a:ln/>
        </p:spPr>
        <p:txBody>
          <a:bodyPr wrap="square" lIns="0" tIns="0" rIns="0" bIns="0" rtlCol="0" anchor="ctr"/>
          <a:lstStyle/>
          <a:p>
            <a:pPr indent="0" marL="0">
              <a:buNone/>
            </a:pPr>
            <a:r>
              <a:rPr lang="en-US" sz="1200" b="1" dirty="0">
                <a:solidFill>
                  <a:srgbClr val="141B33"/>
                </a:solidFill>
                <a:latin typeface="맑은 고딕" pitchFamily="34" charset="0"/>
                <a:ea typeface="맑은 고딕" pitchFamily="34" charset="-122"/>
                <a:cs typeface="맑은 고딕" pitchFamily="34" charset="-120"/>
              </a:rPr>
              <a:t>지금 문을 열었는지까지</a:t>
            </a:r>
            <a:endParaRPr lang="en-US" sz="1200" dirty="0"/>
          </a:p>
        </p:txBody>
      </p:sp>
      <p:sp>
        <p:nvSpPr>
          <p:cNvPr id="21" name="Text 17"/>
          <p:cNvSpPr/>
          <p:nvPr/>
        </p:nvSpPr>
        <p:spPr>
          <a:xfrm>
            <a:off x="5550538" y="4727448"/>
            <a:ext cx="5854773" cy="237744"/>
          </a:xfrm>
          <a:prstGeom prst="rect">
            <a:avLst/>
          </a:prstGeom>
          <a:noFill/>
          <a:ln/>
        </p:spPr>
        <p:txBody>
          <a:bodyPr wrap="square" lIns="0" tIns="0" rIns="0" bIns="0" rtlCol="0" anchor="ctr"/>
          <a:lstStyle/>
          <a:p>
            <a:pPr indent="0" marL="0">
              <a:buNone/>
            </a:pPr>
            <a:r>
              <a:rPr lang="en-US" sz="1000" dirty="0">
                <a:solidFill>
                  <a:srgbClr val="6E7796"/>
                </a:solidFill>
                <a:latin typeface="맑은 고딕" pitchFamily="34" charset="0"/>
                <a:ea typeface="맑은 고딕" pitchFamily="34" charset="-122"/>
                <a:cs typeface="맑은 고딕" pitchFamily="34" charset="-120"/>
              </a:rPr>
              <a:t>'GS25편의점춘천극동점 · 56m · 운영 중' — 요일과 시간으로 판정합니다</a:t>
            </a:r>
            <a:endParaRPr lang="en-US" sz="1000" dirty="0"/>
          </a:p>
        </p:txBody>
      </p:sp>
      <p:sp>
        <p:nvSpPr>
          <p:cNvPr id="22" name="Text 18"/>
          <p:cNvSpPr/>
          <p:nvPr/>
        </p:nvSpPr>
        <p:spPr>
          <a:xfrm>
            <a:off x="5312794" y="5266944"/>
            <a:ext cx="1188720" cy="310896"/>
          </a:xfrm>
          <a:prstGeom prst="rect">
            <a:avLst/>
          </a:prstGeom>
          <a:noFill/>
          <a:ln/>
        </p:spPr>
        <p:txBody>
          <a:bodyPr wrap="square" lIns="0" tIns="0" rIns="0" bIns="0" rtlCol="0" anchor="ctr"/>
          <a:lstStyle/>
          <a:p>
            <a:pPr indent="0" marL="0">
              <a:buNone/>
            </a:pPr>
            <a:r>
              <a:rPr lang="en-US" sz="1050" b="1" dirty="0">
                <a:solidFill>
                  <a:srgbClr val="6E7796"/>
                </a:solidFill>
                <a:latin typeface="맑은 고딕" pitchFamily="34" charset="0"/>
                <a:ea typeface="맑은 고딕" pitchFamily="34" charset="-122"/>
                <a:cs typeface="맑은 고딕" pitchFamily="34" charset="-120"/>
              </a:rPr>
              <a:t>심사 포인트</a:t>
            </a:r>
            <a:endParaRPr lang="en-US" sz="1050" dirty="0"/>
          </a:p>
        </p:txBody>
      </p:sp>
      <p:sp>
        <p:nvSpPr>
          <p:cNvPr id="23" name="Shape 19"/>
          <p:cNvSpPr/>
          <p:nvPr/>
        </p:nvSpPr>
        <p:spPr>
          <a:xfrm>
            <a:off x="6547234" y="5266944"/>
            <a:ext cx="1601071" cy="310896"/>
          </a:xfrm>
          <a:prstGeom prst="roundRect">
            <a:avLst>
              <a:gd name="adj" fmla="val 23529"/>
            </a:avLst>
          </a:prstGeom>
          <a:solidFill>
            <a:srgbClr val="E7EBF8"/>
          </a:solidFill>
          <a:ln w="12700">
            <a:solidFill>
              <a:srgbClr val="E7EBF8"/>
            </a:solidFill>
            <a:prstDash val="solid"/>
          </a:ln>
        </p:spPr>
      </p:sp>
      <p:sp>
        <p:nvSpPr>
          <p:cNvPr id="24" name="Text 20"/>
          <p:cNvSpPr/>
          <p:nvPr/>
        </p:nvSpPr>
        <p:spPr>
          <a:xfrm>
            <a:off x="6547234" y="5266944"/>
            <a:ext cx="1601071" cy="310896"/>
          </a:xfrm>
          <a:prstGeom prst="rect">
            <a:avLst/>
          </a:prstGeom>
          <a:noFill/>
          <a:ln/>
        </p:spPr>
        <p:txBody>
          <a:bodyPr wrap="square" lIns="0" tIns="0" rIns="0" bIns="0" rtlCol="0" anchor="ctr"/>
          <a:lstStyle/>
          <a:p>
            <a:pPr algn="ctr" indent="0" marL="0">
              <a:buNone/>
            </a:pPr>
            <a:r>
              <a:rPr lang="en-US" sz="950" b="1" dirty="0">
                <a:solidFill>
                  <a:srgbClr val="001871"/>
                </a:solidFill>
                <a:latin typeface="맑은 고딕" pitchFamily="34" charset="0"/>
                <a:ea typeface="맑은 고딕" pitchFamily="34" charset="-122"/>
                <a:cs typeface="맑은 고딕" pitchFamily="34" charset="-120"/>
              </a:rPr>
              <a:t>쉼터 데이터 시각화</a:t>
            </a:r>
            <a:endParaRPr lang="en-US" sz="950" dirty="0"/>
          </a:p>
        </p:txBody>
      </p:sp>
      <p:sp>
        <p:nvSpPr>
          <p:cNvPr id="25" name="Shape 21"/>
          <p:cNvSpPr/>
          <p:nvPr/>
        </p:nvSpPr>
        <p:spPr>
          <a:xfrm>
            <a:off x="8239745" y="5266944"/>
            <a:ext cx="1601071" cy="310896"/>
          </a:xfrm>
          <a:prstGeom prst="roundRect">
            <a:avLst>
              <a:gd name="adj" fmla="val 23529"/>
            </a:avLst>
          </a:prstGeom>
          <a:solidFill>
            <a:srgbClr val="E7EBF8"/>
          </a:solidFill>
          <a:ln w="12700">
            <a:solidFill>
              <a:srgbClr val="E7EBF8"/>
            </a:solidFill>
            <a:prstDash val="solid"/>
          </a:ln>
        </p:spPr>
      </p:sp>
      <p:sp>
        <p:nvSpPr>
          <p:cNvPr id="26" name="Text 22"/>
          <p:cNvSpPr/>
          <p:nvPr/>
        </p:nvSpPr>
        <p:spPr>
          <a:xfrm>
            <a:off x="8239745" y="5266944"/>
            <a:ext cx="1601071" cy="310896"/>
          </a:xfrm>
          <a:prstGeom prst="rect">
            <a:avLst/>
          </a:prstGeom>
          <a:noFill/>
          <a:ln/>
        </p:spPr>
        <p:txBody>
          <a:bodyPr wrap="square" lIns="0" tIns="0" rIns="0" bIns="0" rtlCol="0" anchor="ctr"/>
          <a:lstStyle/>
          <a:p>
            <a:pPr algn="ctr" indent="0" marL="0">
              <a:buNone/>
            </a:pPr>
            <a:r>
              <a:rPr lang="en-US" sz="950" b="1" dirty="0">
                <a:solidFill>
                  <a:srgbClr val="001871"/>
                </a:solidFill>
                <a:latin typeface="맑은 고딕" pitchFamily="34" charset="0"/>
                <a:ea typeface="맑은 고딕" pitchFamily="34" charset="-122"/>
                <a:cs typeface="맑은 고딕" pitchFamily="34" charset="-120"/>
              </a:rPr>
              <a:t>어르신용 단순 지도</a:t>
            </a:r>
            <a:endParaRPr lang="en-US" sz="950" dirty="0"/>
          </a:p>
        </p:txBody>
      </p:sp>
      <p:sp>
        <p:nvSpPr>
          <p:cNvPr id="27" name="Shape 23"/>
          <p:cNvSpPr/>
          <p:nvPr/>
        </p:nvSpPr>
        <p:spPr>
          <a:xfrm>
            <a:off x="9932256" y="5266944"/>
            <a:ext cx="1601071" cy="310896"/>
          </a:xfrm>
          <a:prstGeom prst="roundRect">
            <a:avLst>
              <a:gd name="adj" fmla="val 23529"/>
            </a:avLst>
          </a:prstGeom>
          <a:solidFill>
            <a:srgbClr val="E7EBF8"/>
          </a:solidFill>
          <a:ln w="12700">
            <a:solidFill>
              <a:srgbClr val="E7EBF8"/>
            </a:solidFill>
            <a:prstDash val="solid"/>
          </a:ln>
        </p:spPr>
      </p:sp>
      <p:sp>
        <p:nvSpPr>
          <p:cNvPr id="28" name="Text 24"/>
          <p:cNvSpPr/>
          <p:nvPr/>
        </p:nvSpPr>
        <p:spPr>
          <a:xfrm>
            <a:off x="9932256" y="5266944"/>
            <a:ext cx="1601071" cy="310896"/>
          </a:xfrm>
          <a:prstGeom prst="rect">
            <a:avLst/>
          </a:prstGeom>
          <a:noFill/>
          <a:ln/>
        </p:spPr>
        <p:txBody>
          <a:bodyPr wrap="square" lIns="0" tIns="0" rIns="0" bIns="0" rtlCol="0" anchor="ctr"/>
          <a:lstStyle/>
          <a:p>
            <a:pPr algn="ctr" indent="0" marL="0">
              <a:buNone/>
            </a:pPr>
            <a:r>
              <a:rPr lang="en-US" sz="950" b="1" dirty="0">
                <a:solidFill>
                  <a:srgbClr val="001871"/>
                </a:solidFill>
                <a:latin typeface="맑은 고딕" pitchFamily="34" charset="0"/>
                <a:ea typeface="맑은 고딕" pitchFamily="34" charset="-122"/>
                <a:cs typeface="맑은 고딕" pitchFamily="34" charset="-120"/>
              </a:rPr>
              <a:t>운영시간 판정</a:t>
            </a:r>
            <a:endParaRPr lang="en-US" sz="950" dirty="0"/>
          </a:p>
        </p:txBody>
      </p:sp>
      <p:sp>
        <p:nvSpPr>
          <p:cNvPr id="29" name="Text 25"/>
          <p:cNvSpPr/>
          <p:nvPr/>
        </p:nvSpPr>
        <p:spPr>
          <a:xfrm>
            <a:off x="5312794" y="5705856"/>
            <a:ext cx="6311973" cy="274320"/>
          </a:xfrm>
          <a:prstGeom prst="rect">
            <a:avLst/>
          </a:prstGeom>
          <a:noFill/>
          <a:ln/>
        </p:spPr>
        <p:txBody>
          <a:bodyPr wrap="square" lIns="0" tIns="0" rIns="0" bIns="0" rtlCol="0" anchor="ctr"/>
          <a:lstStyle/>
          <a:p>
            <a:pPr indent="0" marL="0">
              <a:buNone/>
            </a:pPr>
            <a:r>
              <a:rPr lang="en-US" sz="900" dirty="0">
                <a:solidFill>
                  <a:srgbClr val="6E7796"/>
                </a:solidFill>
                <a:latin typeface="맑은 고딕" pitchFamily="34" charset="0"/>
                <a:ea typeface="맑은 고딕" pitchFamily="34" charset="-122"/>
                <a:cs typeface="맑은 고딕" pitchFamily="34" charset="-120"/>
              </a:rPr>
              <a:t>※ 실제 앱 화면을 그대로 캡처한 것입니다 (목업·합성 없음)</a:t>
            </a:r>
            <a:endParaRPr lang="en-US" sz="900" dirty="0"/>
          </a:p>
        </p:txBody>
      </p:sp>
      <p:sp>
        <p:nvSpPr>
          <p:cNvPr id="30" name="Text 26"/>
          <p:cNvSpPr/>
          <p:nvPr/>
        </p:nvSpPr>
        <p:spPr>
          <a:xfrm>
            <a:off x="566928" y="6327648"/>
            <a:ext cx="4572000" cy="274320"/>
          </a:xfrm>
          <a:prstGeom prst="rect">
            <a:avLst/>
          </a:prstGeom>
          <a:noFill/>
          <a:ln/>
        </p:spPr>
        <p:txBody>
          <a:bodyPr wrap="square" lIns="0" tIns="0" rIns="0" bIns="0" rtlCol="0" anchor="ctr"/>
          <a:lstStyle/>
          <a:p>
            <a:pPr algn="l" indent="0" marL="0">
              <a:buNone/>
            </a:pPr>
            <a:r>
              <a:rPr lang="en-US" sz="900" dirty="0">
                <a:solidFill>
                  <a:srgbClr val="6E7796"/>
                </a:solidFill>
                <a:latin typeface="맑은 고딕" pitchFamily="34" charset="0"/>
                <a:ea typeface="맑은 고딕" pitchFamily="34" charset="-122"/>
                <a:cs typeface="맑은 고딕" pitchFamily="34" charset="-120"/>
              </a:rPr>
              <a:t>쉼표정류장  ·  팀 오댕국</a:t>
            </a:r>
            <a:endParaRPr lang="en-US" sz="900" dirty="0"/>
          </a:p>
        </p:txBody>
      </p:sp>
      <p:sp>
        <p:nvSpPr>
          <p:cNvPr id="31" name="Text 27"/>
          <p:cNvSpPr/>
          <p:nvPr/>
        </p:nvSpPr>
        <p:spPr>
          <a:xfrm>
            <a:off x="10710367" y="6327648"/>
            <a:ext cx="914400" cy="274320"/>
          </a:xfrm>
          <a:prstGeom prst="rect">
            <a:avLst/>
          </a:prstGeom>
          <a:noFill/>
          <a:ln/>
        </p:spPr>
        <p:txBody>
          <a:bodyPr wrap="square" lIns="0" tIns="0" rIns="0" bIns="0" rtlCol="0" anchor="ctr"/>
          <a:lstStyle/>
          <a:p>
            <a:pPr algn="r" indent="0" marL="0">
              <a:buNone/>
            </a:pPr>
            <a:r>
              <a:rPr lang="en-US" sz="900" dirty="0">
                <a:solidFill>
                  <a:srgbClr val="6E7796"/>
                </a:solidFill>
                <a:latin typeface="맑은 고딕" pitchFamily="34" charset="0"/>
                <a:ea typeface="맑은 고딕" pitchFamily="34" charset="-122"/>
                <a:cs typeface="맑은 고딕"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11057839" cy="274320"/>
          </a:xfrm>
          <a:prstGeom prst="rect">
            <a:avLst/>
          </a:prstGeom>
          <a:noFill/>
          <a:ln/>
        </p:spPr>
        <p:txBody>
          <a:bodyPr wrap="square" lIns="0" tIns="0" rIns="0" bIns="0" rtlCol="0" anchor="ctr"/>
          <a:lstStyle/>
          <a:p>
            <a:pPr indent="0" marL="0">
              <a:buNone/>
            </a:pPr>
            <a:r>
              <a:rPr lang="en-US" sz="1100" b="1" dirty="0">
                <a:solidFill>
                  <a:srgbClr val="E8751A"/>
                </a:solidFill>
                <a:latin typeface="맑은 고딕" pitchFamily="34" charset="0"/>
                <a:ea typeface="맑은 고딕" pitchFamily="34" charset="-122"/>
                <a:cs typeface="맑은 고딕" pitchFamily="34" charset="-120"/>
              </a:rPr>
              <a:t>03</a:t>
            </a:r>
            <a:pPr indent="0" marL="0">
              <a:buNone/>
            </a:pPr>
            <a:r>
              <a:rPr lang="en-US" sz="1100" b="1" dirty="0">
                <a:solidFill>
                  <a:srgbClr val="6E7796"/>
                </a:solidFill>
                <a:latin typeface="맑은 고딕" pitchFamily="34" charset="0"/>
                <a:ea typeface="맑은 고딕" pitchFamily="34" charset="-122"/>
                <a:cs typeface="맑은 고딕" pitchFamily="34" charset="-120"/>
              </a:rPr>
              <a:t>   서비스 핵심 기능 설명 및 시연</a:t>
            </a:r>
            <a:endParaRPr lang="en-US" sz="1100" dirty="0"/>
          </a:p>
        </p:txBody>
      </p:sp>
      <p:sp>
        <p:nvSpPr>
          <p:cNvPr id="3" name="Text 1"/>
          <p:cNvSpPr/>
          <p:nvPr/>
        </p:nvSpPr>
        <p:spPr>
          <a:xfrm>
            <a:off x="566928" y="749808"/>
            <a:ext cx="11057839" cy="566928"/>
          </a:xfrm>
          <a:prstGeom prst="rect">
            <a:avLst/>
          </a:prstGeom>
          <a:noFill/>
          <a:ln/>
        </p:spPr>
        <p:txBody>
          <a:bodyPr wrap="square" lIns="0" tIns="0" rIns="0" bIns="0" rtlCol="0" anchor="ctr"/>
          <a:lstStyle/>
          <a:p>
            <a:pPr indent="0" marL="0">
              <a:buNone/>
            </a:pPr>
            <a:r>
              <a:rPr lang="en-US" sz="2700" b="1" dirty="0">
                <a:solidFill>
                  <a:srgbClr val="141B33"/>
                </a:solidFill>
                <a:latin typeface="맑은 고딕" pitchFamily="34" charset="0"/>
                <a:ea typeface="맑은 고딕" pitchFamily="34" charset="-122"/>
                <a:cs typeface="맑은 고딕" pitchFamily="34" charset="-120"/>
              </a:rPr>
              <a:t>사진 한 장이 다음 사람의 안내가 됩니다</a:t>
            </a:r>
            <a:endParaRPr lang="en-US" sz="2700" dirty="0"/>
          </a:p>
        </p:txBody>
      </p:sp>
      <p:sp>
        <p:nvSpPr>
          <p:cNvPr id="4" name="Text 2"/>
          <p:cNvSpPr/>
          <p:nvPr/>
        </p:nvSpPr>
        <p:spPr>
          <a:xfrm>
            <a:off x="566928" y="1335024"/>
            <a:ext cx="11057839" cy="310896"/>
          </a:xfrm>
          <a:prstGeom prst="rect">
            <a:avLst/>
          </a:prstGeom>
          <a:noFill/>
          <a:ln/>
        </p:spPr>
        <p:txBody>
          <a:bodyPr wrap="square" lIns="0" tIns="0" rIns="0" bIns="0" rtlCol="0" anchor="ctr"/>
          <a:lstStyle/>
          <a:p>
            <a:pPr indent="0" marL="0">
              <a:buNone/>
            </a:pPr>
            <a:r>
              <a:rPr lang="en-US" sz="1300" dirty="0">
                <a:solidFill>
                  <a:srgbClr val="6E7796"/>
                </a:solidFill>
                <a:latin typeface="맑은 고딕" pitchFamily="34" charset="0"/>
                <a:ea typeface="맑은 고딕" pitchFamily="34" charset="-122"/>
                <a:cs typeface="맑은 고딕" pitchFamily="34" charset="-120"/>
              </a:rPr>
              <a:t>버튼 하나 · 글자 입력 0타. 안내 정확도를 시민이 직접 올립니다</a:t>
            </a:r>
            <a:endParaRPr lang="en-US" sz="1300" dirty="0"/>
          </a:p>
        </p:txBody>
      </p:sp>
      <p:pic>
        <p:nvPicPr>
          <p:cNvPr id="5" name="Image 0" descr="C:\Users\hyeon\Desktop\projects\chuncheon-busstop\shots\08-report.png">    </p:cNvPr>
          <p:cNvPicPr>
            <a:picLocks noChangeAspect="1"/>
          </p:cNvPicPr>
          <p:nvPr/>
        </p:nvPicPr>
        <p:blipFill>
          <a:blip r:embed="rId1"/>
          <a:stretch>
            <a:fillRect/>
          </a:stretch>
        </p:blipFill>
        <p:spPr>
          <a:xfrm>
            <a:off x="704088" y="1810512"/>
            <a:ext cx="1901389" cy="4114800"/>
          </a:xfrm>
          <a:prstGeom prst="rect">
            <a:avLst/>
          </a:prstGeom>
          <a:effectLst>
            <a:outerShdw sx="100000" sy="100000" kx="0" ky="0" algn="bl" rotWithShape="0" blurRad="177800" dist="38100" dir="5400000">
              <a:srgbClr val="001871">
                <a:alpha val="22000"/>
              </a:srgbClr>
            </a:outerShdw>
          </a:effectLst>
        </p:spPr>
      </p:pic>
      <p:sp>
        <p:nvSpPr>
          <p:cNvPr id="6" name="Text 3"/>
          <p:cNvSpPr/>
          <p:nvPr/>
        </p:nvSpPr>
        <p:spPr>
          <a:xfrm>
            <a:off x="429768" y="5980176"/>
            <a:ext cx="2450029" cy="274320"/>
          </a:xfrm>
          <a:prstGeom prst="rect">
            <a:avLst/>
          </a:prstGeom>
          <a:noFill/>
          <a:ln/>
        </p:spPr>
        <p:txBody>
          <a:bodyPr wrap="square" lIns="0" tIns="0" rIns="0" bIns="0" rtlCol="0" anchor="ctr"/>
          <a:lstStyle/>
          <a:p>
            <a:pPr algn="ctr" indent="0" marL="0">
              <a:buNone/>
            </a:pPr>
            <a:r>
              <a:rPr lang="en-US" sz="950" b="1" dirty="0">
                <a:solidFill>
                  <a:srgbClr val="6E7796"/>
                </a:solidFill>
                <a:latin typeface="맑은 고딕" pitchFamily="34" charset="0"/>
                <a:ea typeface="맑은 고딕" pitchFamily="34" charset="-122"/>
                <a:cs typeface="맑은 고딕" pitchFamily="34" charset="-120"/>
              </a:rPr>
              <a:t>민원 탭 — 사진 찍기 한 번</a:t>
            </a:r>
            <a:endParaRPr lang="en-US" sz="950" dirty="0"/>
          </a:p>
        </p:txBody>
      </p:sp>
      <p:sp>
        <p:nvSpPr>
          <p:cNvPr id="7" name="Text 4"/>
          <p:cNvSpPr/>
          <p:nvPr/>
        </p:nvSpPr>
        <p:spPr>
          <a:xfrm>
            <a:off x="3154117" y="1847088"/>
            <a:ext cx="8470651" cy="292608"/>
          </a:xfrm>
          <a:prstGeom prst="rect">
            <a:avLst/>
          </a:prstGeom>
          <a:noFill/>
          <a:ln/>
        </p:spPr>
        <p:txBody>
          <a:bodyPr wrap="square" lIns="0" tIns="0" rIns="0" bIns="0" rtlCol="0" anchor="ctr"/>
          <a:lstStyle/>
          <a:p>
            <a:pPr indent="0" marL="0">
              <a:buNone/>
            </a:pPr>
            <a:r>
              <a:rPr lang="en-US" sz="1200" b="1" dirty="0">
                <a:solidFill>
                  <a:srgbClr val="E8751A"/>
                </a:solidFill>
                <a:latin typeface="맑은 고딕" pitchFamily="34" charset="0"/>
                <a:ea typeface="맑은 고딕" pitchFamily="34" charset="-122"/>
                <a:cs typeface="맑은 고딕" pitchFamily="34" charset="-120"/>
              </a:rPr>
              <a:t>무엇을 보여드리나요</a:t>
            </a:r>
            <a:endParaRPr lang="en-US" sz="1200" dirty="0"/>
          </a:p>
        </p:txBody>
      </p:sp>
      <p:sp>
        <p:nvSpPr>
          <p:cNvPr id="8" name="Shape 5"/>
          <p:cNvSpPr/>
          <p:nvPr/>
        </p:nvSpPr>
        <p:spPr>
          <a:xfrm>
            <a:off x="3154117" y="2267712"/>
            <a:ext cx="8470651" cy="621792"/>
          </a:xfrm>
          <a:prstGeom prst="roundRect">
            <a:avLst>
              <a:gd name="adj" fmla="val 14706"/>
            </a:avLst>
          </a:prstGeom>
          <a:solidFill>
            <a:srgbClr val="F4F6FC"/>
          </a:solidFill>
          <a:ln w="12700">
            <a:solidFill>
              <a:srgbClr val="D4DAEE"/>
            </a:solidFill>
            <a:prstDash val="solid"/>
          </a:ln>
        </p:spPr>
      </p:sp>
      <p:sp>
        <p:nvSpPr>
          <p:cNvPr id="9" name="Text 6"/>
          <p:cNvSpPr/>
          <p:nvPr/>
        </p:nvSpPr>
        <p:spPr>
          <a:xfrm>
            <a:off x="3391861" y="2340864"/>
            <a:ext cx="8013451" cy="256032"/>
          </a:xfrm>
          <a:prstGeom prst="rect">
            <a:avLst/>
          </a:prstGeom>
          <a:noFill/>
          <a:ln/>
        </p:spPr>
        <p:txBody>
          <a:bodyPr wrap="square" lIns="0" tIns="0" rIns="0" bIns="0" rtlCol="0" anchor="ctr"/>
          <a:lstStyle/>
          <a:p>
            <a:pPr indent="0" marL="0">
              <a:buNone/>
            </a:pPr>
            <a:r>
              <a:rPr lang="en-US" sz="1200" b="1" dirty="0">
                <a:solidFill>
                  <a:srgbClr val="141B33"/>
                </a:solidFill>
                <a:latin typeface="맑은 고딕" pitchFamily="34" charset="0"/>
                <a:ea typeface="맑은 고딕" pitchFamily="34" charset="-122"/>
                <a:cs typeface="맑은 고딕" pitchFamily="34" charset="-120"/>
              </a:rPr>
              <a:t>묻지 않습니다</a:t>
            </a:r>
            <a:endParaRPr lang="en-US" sz="1200" dirty="0"/>
          </a:p>
        </p:txBody>
      </p:sp>
      <p:sp>
        <p:nvSpPr>
          <p:cNvPr id="10" name="Text 7"/>
          <p:cNvSpPr/>
          <p:nvPr/>
        </p:nvSpPr>
        <p:spPr>
          <a:xfrm>
            <a:off x="3391861" y="2587752"/>
            <a:ext cx="8013451" cy="237744"/>
          </a:xfrm>
          <a:prstGeom prst="rect">
            <a:avLst/>
          </a:prstGeom>
          <a:noFill/>
          <a:ln/>
        </p:spPr>
        <p:txBody>
          <a:bodyPr wrap="square" lIns="0" tIns="0" rIns="0" bIns="0" rtlCol="0" anchor="ctr"/>
          <a:lstStyle/>
          <a:p>
            <a:pPr indent="0" marL="0">
              <a:buNone/>
            </a:pPr>
            <a:r>
              <a:rPr lang="en-US" sz="1000" dirty="0">
                <a:solidFill>
                  <a:srgbClr val="6E7796"/>
                </a:solidFill>
                <a:latin typeface="맑은 고딕" pitchFamily="34" charset="0"/>
                <a:ea typeface="맑은 고딕" pitchFamily="34" charset="-122"/>
                <a:cs typeface="맑은 고딕" pitchFamily="34" charset="-120"/>
              </a:rPr>
              <a:t>정류장은 촬영 위치(GPS)로 자동 매칭, 시각은 서버 시각 — 입력할 칸이 없습니다</a:t>
            </a:r>
            <a:endParaRPr lang="en-US" sz="1000" dirty="0"/>
          </a:p>
        </p:txBody>
      </p:sp>
      <p:sp>
        <p:nvSpPr>
          <p:cNvPr id="11" name="Shape 8"/>
          <p:cNvSpPr/>
          <p:nvPr/>
        </p:nvSpPr>
        <p:spPr>
          <a:xfrm>
            <a:off x="3154117" y="2980944"/>
            <a:ext cx="8470651" cy="621792"/>
          </a:xfrm>
          <a:prstGeom prst="roundRect">
            <a:avLst>
              <a:gd name="adj" fmla="val 14706"/>
            </a:avLst>
          </a:prstGeom>
          <a:solidFill>
            <a:srgbClr val="F4F6FC"/>
          </a:solidFill>
          <a:ln w="12700">
            <a:solidFill>
              <a:srgbClr val="D4DAEE"/>
            </a:solidFill>
            <a:prstDash val="solid"/>
          </a:ln>
        </p:spPr>
      </p:sp>
      <p:sp>
        <p:nvSpPr>
          <p:cNvPr id="12" name="Text 9"/>
          <p:cNvSpPr/>
          <p:nvPr/>
        </p:nvSpPr>
        <p:spPr>
          <a:xfrm>
            <a:off x="3391861" y="3054096"/>
            <a:ext cx="8013451" cy="256032"/>
          </a:xfrm>
          <a:prstGeom prst="rect">
            <a:avLst/>
          </a:prstGeom>
          <a:noFill/>
          <a:ln/>
        </p:spPr>
        <p:txBody>
          <a:bodyPr wrap="square" lIns="0" tIns="0" rIns="0" bIns="0" rtlCol="0" anchor="ctr"/>
          <a:lstStyle/>
          <a:p>
            <a:pPr indent="0" marL="0">
              <a:buNone/>
            </a:pPr>
            <a:r>
              <a:rPr lang="en-US" sz="1200" b="1" dirty="0">
                <a:solidFill>
                  <a:srgbClr val="141B33"/>
                </a:solidFill>
                <a:latin typeface="맑은 고딕" pitchFamily="34" charset="0"/>
                <a:ea typeface="맑은 고딕" pitchFamily="34" charset="-122"/>
                <a:cs typeface="맑은 고딕" pitchFamily="34" charset="-120"/>
              </a:rPr>
              <a:t>찍기 전에 한 줄 안내</a:t>
            </a:r>
            <a:endParaRPr lang="en-US" sz="1200" dirty="0"/>
          </a:p>
        </p:txBody>
      </p:sp>
      <p:sp>
        <p:nvSpPr>
          <p:cNvPr id="13" name="Text 10"/>
          <p:cNvSpPr/>
          <p:nvPr/>
        </p:nvSpPr>
        <p:spPr>
          <a:xfrm>
            <a:off x="3391861" y="3300984"/>
            <a:ext cx="8013451" cy="237744"/>
          </a:xfrm>
          <a:prstGeom prst="rect">
            <a:avLst/>
          </a:prstGeom>
          <a:noFill/>
          <a:ln/>
        </p:spPr>
        <p:txBody>
          <a:bodyPr wrap="square" lIns="0" tIns="0" rIns="0" bIns="0" rtlCol="0" anchor="ctr"/>
          <a:lstStyle/>
          <a:p>
            <a:pPr indent="0" marL="0">
              <a:buNone/>
            </a:pPr>
            <a:r>
              <a:rPr lang="en-US" sz="1000" dirty="0">
                <a:solidFill>
                  <a:srgbClr val="6E7796"/>
                </a:solidFill>
                <a:latin typeface="맑은 고딕" pitchFamily="34" charset="0"/>
                <a:ea typeface="맑은 고딕" pitchFamily="34" charset="-122"/>
                <a:cs typeface="맑은 고딕" pitchFamily="34" charset="-120"/>
              </a:rPr>
              <a:t>'얼굴과 차량번호는 피해서 찍어 주세요' — 남의 정보까지 지킵니다</a:t>
            </a:r>
            <a:endParaRPr lang="en-US" sz="1000" dirty="0"/>
          </a:p>
        </p:txBody>
      </p:sp>
      <p:sp>
        <p:nvSpPr>
          <p:cNvPr id="14" name="Shape 11"/>
          <p:cNvSpPr/>
          <p:nvPr/>
        </p:nvSpPr>
        <p:spPr>
          <a:xfrm>
            <a:off x="3154117" y="3694176"/>
            <a:ext cx="8470651" cy="621792"/>
          </a:xfrm>
          <a:prstGeom prst="roundRect">
            <a:avLst>
              <a:gd name="adj" fmla="val 14706"/>
            </a:avLst>
          </a:prstGeom>
          <a:solidFill>
            <a:srgbClr val="F4F6FC"/>
          </a:solidFill>
          <a:ln w="12700">
            <a:solidFill>
              <a:srgbClr val="D4DAEE"/>
            </a:solidFill>
            <a:prstDash val="solid"/>
          </a:ln>
        </p:spPr>
      </p:sp>
      <p:sp>
        <p:nvSpPr>
          <p:cNvPr id="15" name="Text 12"/>
          <p:cNvSpPr/>
          <p:nvPr/>
        </p:nvSpPr>
        <p:spPr>
          <a:xfrm>
            <a:off x="3391861" y="3767328"/>
            <a:ext cx="8013451" cy="256032"/>
          </a:xfrm>
          <a:prstGeom prst="rect">
            <a:avLst/>
          </a:prstGeom>
          <a:noFill/>
          <a:ln/>
        </p:spPr>
        <p:txBody>
          <a:bodyPr wrap="square" lIns="0" tIns="0" rIns="0" bIns="0" rtlCol="0" anchor="ctr"/>
          <a:lstStyle/>
          <a:p>
            <a:pPr indent="0" marL="0">
              <a:buNone/>
            </a:pPr>
            <a:r>
              <a:rPr lang="en-US" sz="1200" b="1" dirty="0">
                <a:solidFill>
                  <a:srgbClr val="141B33"/>
                </a:solidFill>
                <a:latin typeface="맑은 고딕" pitchFamily="34" charset="0"/>
                <a:ea typeface="맑은 고딕" pitchFamily="34" charset="-122"/>
                <a:cs typeface="맑은 고딕" pitchFamily="34" charset="-120"/>
              </a:rPr>
              <a:t>AI가 사진을 읽습니다</a:t>
            </a:r>
            <a:endParaRPr lang="en-US" sz="1200" dirty="0"/>
          </a:p>
        </p:txBody>
      </p:sp>
      <p:sp>
        <p:nvSpPr>
          <p:cNvPr id="16" name="Text 13"/>
          <p:cNvSpPr/>
          <p:nvPr/>
        </p:nvSpPr>
        <p:spPr>
          <a:xfrm>
            <a:off x="3391861" y="4014216"/>
            <a:ext cx="8013451" cy="237744"/>
          </a:xfrm>
          <a:prstGeom prst="rect">
            <a:avLst/>
          </a:prstGeom>
          <a:noFill/>
          <a:ln/>
        </p:spPr>
        <p:txBody>
          <a:bodyPr wrap="square" lIns="0" tIns="0" rIns="0" bIns="0" rtlCol="0" anchor="ctr"/>
          <a:lstStyle/>
          <a:p>
            <a:pPr indent="0" marL="0">
              <a:buNone/>
            </a:pPr>
            <a:r>
              <a:rPr lang="en-US" sz="1000" dirty="0">
                <a:solidFill>
                  <a:srgbClr val="6E7796"/>
                </a:solidFill>
                <a:latin typeface="맑은 고딕" pitchFamily="34" charset="0"/>
                <a:ea typeface="맑은 고딕" pitchFamily="34" charset="-122"/>
                <a:cs typeface="맑은 고딕" pitchFamily="34" charset="-120"/>
              </a:rPr>
              <a:t>그늘·의자·쉘터·안내기 유무 + 민원 종류 분류(파손/고장/노후/청결)</a:t>
            </a:r>
            <a:endParaRPr lang="en-US" sz="1000" dirty="0"/>
          </a:p>
        </p:txBody>
      </p:sp>
      <p:sp>
        <p:nvSpPr>
          <p:cNvPr id="17" name="Shape 14"/>
          <p:cNvSpPr/>
          <p:nvPr/>
        </p:nvSpPr>
        <p:spPr>
          <a:xfrm>
            <a:off x="3154117" y="4407408"/>
            <a:ext cx="8470651" cy="621792"/>
          </a:xfrm>
          <a:prstGeom prst="roundRect">
            <a:avLst>
              <a:gd name="adj" fmla="val 14706"/>
            </a:avLst>
          </a:prstGeom>
          <a:solidFill>
            <a:srgbClr val="F4F6FC"/>
          </a:solidFill>
          <a:ln w="12700">
            <a:solidFill>
              <a:srgbClr val="D4DAEE"/>
            </a:solidFill>
            <a:prstDash val="solid"/>
          </a:ln>
        </p:spPr>
      </p:sp>
      <p:sp>
        <p:nvSpPr>
          <p:cNvPr id="18" name="Text 15"/>
          <p:cNvSpPr/>
          <p:nvPr/>
        </p:nvSpPr>
        <p:spPr>
          <a:xfrm>
            <a:off x="3391861" y="4480560"/>
            <a:ext cx="8013451" cy="256032"/>
          </a:xfrm>
          <a:prstGeom prst="rect">
            <a:avLst/>
          </a:prstGeom>
          <a:noFill/>
          <a:ln/>
        </p:spPr>
        <p:txBody>
          <a:bodyPr wrap="square" lIns="0" tIns="0" rIns="0" bIns="0" rtlCol="0" anchor="ctr"/>
          <a:lstStyle/>
          <a:p>
            <a:pPr indent="0" marL="0">
              <a:buNone/>
            </a:pPr>
            <a:r>
              <a:rPr lang="en-US" sz="1200" b="1" dirty="0">
                <a:solidFill>
                  <a:srgbClr val="141B33"/>
                </a:solidFill>
                <a:latin typeface="맑은 고딕" pitchFamily="34" charset="0"/>
                <a:ea typeface="맑은 고딕" pitchFamily="34" charset="-122"/>
                <a:cs typeface="맑은 고딕" pitchFamily="34" charset="-120"/>
              </a:rPr>
              <a:t>개인정보를 받지 않습니다</a:t>
            </a:r>
            <a:endParaRPr lang="en-US" sz="1200" dirty="0"/>
          </a:p>
        </p:txBody>
      </p:sp>
      <p:sp>
        <p:nvSpPr>
          <p:cNvPr id="19" name="Text 16"/>
          <p:cNvSpPr/>
          <p:nvPr/>
        </p:nvSpPr>
        <p:spPr>
          <a:xfrm>
            <a:off x="3391861" y="4727448"/>
            <a:ext cx="8013451" cy="237744"/>
          </a:xfrm>
          <a:prstGeom prst="rect">
            <a:avLst/>
          </a:prstGeom>
          <a:noFill/>
          <a:ln/>
        </p:spPr>
        <p:txBody>
          <a:bodyPr wrap="square" lIns="0" tIns="0" rIns="0" bIns="0" rtlCol="0" anchor="ctr"/>
          <a:lstStyle/>
          <a:p>
            <a:pPr indent="0" marL="0">
              <a:buNone/>
            </a:pPr>
            <a:r>
              <a:rPr lang="en-US" sz="1000" dirty="0">
                <a:solidFill>
                  <a:srgbClr val="6E7796"/>
                </a:solidFill>
                <a:latin typeface="맑은 고딕" pitchFamily="34" charset="0"/>
                <a:ea typeface="맑은 고딕" pitchFamily="34" charset="-122"/>
                <a:cs typeface="맑은 고딕" pitchFamily="34" charset="-120"/>
              </a:rPr>
              <a:t>닉네임·연락처 필드 자체가 없습니다 — 민원 채널로 써도 처리 부담 없음</a:t>
            </a:r>
            <a:endParaRPr lang="en-US" sz="1000" dirty="0"/>
          </a:p>
        </p:txBody>
      </p:sp>
      <p:sp>
        <p:nvSpPr>
          <p:cNvPr id="20" name="Text 17"/>
          <p:cNvSpPr/>
          <p:nvPr/>
        </p:nvSpPr>
        <p:spPr>
          <a:xfrm>
            <a:off x="3154117" y="5266944"/>
            <a:ext cx="1188720" cy="310896"/>
          </a:xfrm>
          <a:prstGeom prst="rect">
            <a:avLst/>
          </a:prstGeom>
          <a:noFill/>
          <a:ln/>
        </p:spPr>
        <p:txBody>
          <a:bodyPr wrap="square" lIns="0" tIns="0" rIns="0" bIns="0" rtlCol="0" anchor="ctr"/>
          <a:lstStyle/>
          <a:p>
            <a:pPr indent="0" marL="0">
              <a:buNone/>
            </a:pPr>
            <a:r>
              <a:rPr lang="en-US" sz="1050" b="1" dirty="0">
                <a:solidFill>
                  <a:srgbClr val="6E7796"/>
                </a:solidFill>
                <a:latin typeface="맑은 고딕" pitchFamily="34" charset="0"/>
                <a:ea typeface="맑은 고딕" pitchFamily="34" charset="-122"/>
                <a:cs typeface="맑은 고딕" pitchFamily="34" charset="-120"/>
              </a:rPr>
              <a:t>심사 포인트</a:t>
            </a:r>
            <a:endParaRPr lang="en-US" sz="1050" dirty="0"/>
          </a:p>
        </p:txBody>
      </p:sp>
      <p:sp>
        <p:nvSpPr>
          <p:cNvPr id="21" name="Shape 18"/>
          <p:cNvSpPr/>
          <p:nvPr/>
        </p:nvSpPr>
        <p:spPr>
          <a:xfrm>
            <a:off x="4388557" y="5266944"/>
            <a:ext cx="2320630" cy="310896"/>
          </a:xfrm>
          <a:prstGeom prst="roundRect">
            <a:avLst>
              <a:gd name="adj" fmla="val 23529"/>
            </a:avLst>
          </a:prstGeom>
          <a:solidFill>
            <a:srgbClr val="E7EBF8"/>
          </a:solidFill>
          <a:ln w="12700">
            <a:solidFill>
              <a:srgbClr val="E7EBF8"/>
            </a:solidFill>
            <a:prstDash val="solid"/>
          </a:ln>
        </p:spPr>
      </p:sp>
      <p:sp>
        <p:nvSpPr>
          <p:cNvPr id="22" name="Text 19"/>
          <p:cNvSpPr/>
          <p:nvPr/>
        </p:nvSpPr>
        <p:spPr>
          <a:xfrm>
            <a:off x="4388557" y="5266944"/>
            <a:ext cx="2320630" cy="310896"/>
          </a:xfrm>
          <a:prstGeom prst="rect">
            <a:avLst/>
          </a:prstGeom>
          <a:noFill/>
          <a:ln/>
        </p:spPr>
        <p:txBody>
          <a:bodyPr wrap="square" lIns="0" tIns="0" rIns="0" bIns="0" rtlCol="0" anchor="ctr"/>
          <a:lstStyle/>
          <a:p>
            <a:pPr algn="ctr" indent="0" marL="0">
              <a:buNone/>
            </a:pPr>
            <a:r>
              <a:rPr lang="en-US" sz="950" b="1" dirty="0">
                <a:solidFill>
                  <a:srgbClr val="001871"/>
                </a:solidFill>
                <a:latin typeface="맑은 고딕" pitchFamily="34" charset="0"/>
                <a:ea typeface="맑은 고딕" pitchFamily="34" charset="-122"/>
                <a:cs typeface="맑은 고딕" pitchFamily="34" charset="-120"/>
              </a:rPr>
              <a:t>생성형 AI 활용</a:t>
            </a:r>
            <a:endParaRPr lang="en-US" sz="950" dirty="0"/>
          </a:p>
        </p:txBody>
      </p:sp>
      <p:sp>
        <p:nvSpPr>
          <p:cNvPr id="23" name="Shape 20"/>
          <p:cNvSpPr/>
          <p:nvPr/>
        </p:nvSpPr>
        <p:spPr>
          <a:xfrm>
            <a:off x="6800627" y="5266944"/>
            <a:ext cx="2320630" cy="310896"/>
          </a:xfrm>
          <a:prstGeom prst="roundRect">
            <a:avLst>
              <a:gd name="adj" fmla="val 23529"/>
            </a:avLst>
          </a:prstGeom>
          <a:solidFill>
            <a:srgbClr val="E7EBF8"/>
          </a:solidFill>
          <a:ln w="12700">
            <a:solidFill>
              <a:srgbClr val="E7EBF8"/>
            </a:solidFill>
            <a:prstDash val="solid"/>
          </a:ln>
        </p:spPr>
      </p:sp>
      <p:sp>
        <p:nvSpPr>
          <p:cNvPr id="24" name="Text 21"/>
          <p:cNvSpPr/>
          <p:nvPr/>
        </p:nvSpPr>
        <p:spPr>
          <a:xfrm>
            <a:off x="6800627" y="5266944"/>
            <a:ext cx="2320630" cy="310896"/>
          </a:xfrm>
          <a:prstGeom prst="rect">
            <a:avLst/>
          </a:prstGeom>
          <a:noFill/>
          <a:ln/>
        </p:spPr>
        <p:txBody>
          <a:bodyPr wrap="square" lIns="0" tIns="0" rIns="0" bIns="0" rtlCol="0" anchor="ctr"/>
          <a:lstStyle/>
          <a:p>
            <a:pPr algn="ctr" indent="0" marL="0">
              <a:buNone/>
            </a:pPr>
            <a:r>
              <a:rPr lang="en-US" sz="950" b="1" dirty="0">
                <a:solidFill>
                  <a:srgbClr val="001871"/>
                </a:solidFill>
                <a:latin typeface="맑은 고딕" pitchFamily="34" charset="0"/>
                <a:ea typeface="맑은 고딕" pitchFamily="34" charset="-122"/>
                <a:cs typeface="맑은 고딕" pitchFamily="34" charset="-120"/>
              </a:rPr>
              <a:t>데이터 자가 갱신</a:t>
            </a:r>
            <a:endParaRPr lang="en-US" sz="950" dirty="0"/>
          </a:p>
        </p:txBody>
      </p:sp>
      <p:sp>
        <p:nvSpPr>
          <p:cNvPr id="25" name="Shape 22"/>
          <p:cNvSpPr/>
          <p:nvPr/>
        </p:nvSpPr>
        <p:spPr>
          <a:xfrm>
            <a:off x="9212697" y="5266944"/>
            <a:ext cx="2320630" cy="310896"/>
          </a:xfrm>
          <a:prstGeom prst="roundRect">
            <a:avLst>
              <a:gd name="adj" fmla="val 23529"/>
            </a:avLst>
          </a:prstGeom>
          <a:solidFill>
            <a:srgbClr val="E7EBF8"/>
          </a:solidFill>
          <a:ln w="12700">
            <a:solidFill>
              <a:srgbClr val="E7EBF8"/>
            </a:solidFill>
            <a:prstDash val="solid"/>
          </a:ln>
        </p:spPr>
      </p:sp>
      <p:sp>
        <p:nvSpPr>
          <p:cNvPr id="26" name="Text 23"/>
          <p:cNvSpPr/>
          <p:nvPr/>
        </p:nvSpPr>
        <p:spPr>
          <a:xfrm>
            <a:off x="9212697" y="5266944"/>
            <a:ext cx="2320630" cy="310896"/>
          </a:xfrm>
          <a:prstGeom prst="rect">
            <a:avLst/>
          </a:prstGeom>
          <a:noFill/>
          <a:ln/>
        </p:spPr>
        <p:txBody>
          <a:bodyPr wrap="square" lIns="0" tIns="0" rIns="0" bIns="0" rtlCol="0" anchor="ctr"/>
          <a:lstStyle/>
          <a:p>
            <a:pPr algn="ctr" indent="0" marL="0">
              <a:buNone/>
            </a:pPr>
            <a:r>
              <a:rPr lang="en-US" sz="950" b="1" dirty="0">
                <a:solidFill>
                  <a:srgbClr val="001871"/>
                </a:solidFill>
                <a:latin typeface="맑은 고딕" pitchFamily="34" charset="0"/>
                <a:ea typeface="맑은 고딕" pitchFamily="34" charset="-122"/>
                <a:cs typeface="맑은 고딕" pitchFamily="34" charset="-120"/>
              </a:rPr>
              <a:t>개인정보 미수집</a:t>
            </a:r>
            <a:endParaRPr lang="en-US" sz="950" dirty="0"/>
          </a:p>
        </p:txBody>
      </p:sp>
      <p:sp>
        <p:nvSpPr>
          <p:cNvPr id="27" name="Text 24"/>
          <p:cNvSpPr/>
          <p:nvPr/>
        </p:nvSpPr>
        <p:spPr>
          <a:xfrm>
            <a:off x="3154117" y="5705856"/>
            <a:ext cx="8470651" cy="274320"/>
          </a:xfrm>
          <a:prstGeom prst="rect">
            <a:avLst/>
          </a:prstGeom>
          <a:noFill/>
          <a:ln/>
        </p:spPr>
        <p:txBody>
          <a:bodyPr wrap="square" lIns="0" tIns="0" rIns="0" bIns="0" rtlCol="0" anchor="ctr"/>
          <a:lstStyle/>
          <a:p>
            <a:pPr indent="0" marL="0">
              <a:buNone/>
            </a:pPr>
            <a:r>
              <a:rPr lang="en-US" sz="900" dirty="0">
                <a:solidFill>
                  <a:srgbClr val="6E7796"/>
                </a:solidFill>
                <a:latin typeface="맑은 고딕" pitchFamily="34" charset="0"/>
                <a:ea typeface="맑은 고딕" pitchFamily="34" charset="-122"/>
                <a:cs typeface="맑은 고딕" pitchFamily="34" charset="-120"/>
              </a:rPr>
              <a:t>※ 실제 앱 화면을 그대로 캡처한 것입니다 (목업·합성 없음)</a:t>
            </a:r>
            <a:endParaRPr lang="en-US" sz="900" dirty="0"/>
          </a:p>
        </p:txBody>
      </p:sp>
      <p:sp>
        <p:nvSpPr>
          <p:cNvPr id="28" name="Text 25"/>
          <p:cNvSpPr/>
          <p:nvPr/>
        </p:nvSpPr>
        <p:spPr>
          <a:xfrm>
            <a:off x="566928" y="6327648"/>
            <a:ext cx="4572000" cy="274320"/>
          </a:xfrm>
          <a:prstGeom prst="rect">
            <a:avLst/>
          </a:prstGeom>
          <a:noFill/>
          <a:ln/>
        </p:spPr>
        <p:txBody>
          <a:bodyPr wrap="square" lIns="0" tIns="0" rIns="0" bIns="0" rtlCol="0" anchor="ctr"/>
          <a:lstStyle/>
          <a:p>
            <a:pPr algn="l" indent="0" marL="0">
              <a:buNone/>
            </a:pPr>
            <a:r>
              <a:rPr lang="en-US" sz="900" dirty="0">
                <a:solidFill>
                  <a:srgbClr val="6E7796"/>
                </a:solidFill>
                <a:latin typeface="맑은 고딕" pitchFamily="34" charset="0"/>
                <a:ea typeface="맑은 고딕" pitchFamily="34" charset="-122"/>
                <a:cs typeface="맑은 고딕" pitchFamily="34" charset="-120"/>
              </a:rPr>
              <a:t>쉼표정류장  ·  팀 오댕국</a:t>
            </a:r>
            <a:endParaRPr lang="en-US" sz="900" dirty="0"/>
          </a:p>
        </p:txBody>
      </p:sp>
      <p:sp>
        <p:nvSpPr>
          <p:cNvPr id="29" name="Text 26"/>
          <p:cNvSpPr/>
          <p:nvPr/>
        </p:nvSpPr>
        <p:spPr>
          <a:xfrm>
            <a:off x="10710367" y="6327648"/>
            <a:ext cx="914400" cy="274320"/>
          </a:xfrm>
          <a:prstGeom prst="rect">
            <a:avLst/>
          </a:prstGeom>
          <a:noFill/>
          <a:ln/>
        </p:spPr>
        <p:txBody>
          <a:bodyPr wrap="square" lIns="0" tIns="0" rIns="0" bIns="0" rtlCol="0" anchor="ctr"/>
          <a:lstStyle/>
          <a:p>
            <a:pPr algn="r" indent="0" marL="0">
              <a:buNone/>
            </a:pPr>
            <a:r>
              <a:rPr lang="en-US" sz="900" dirty="0">
                <a:solidFill>
                  <a:srgbClr val="6E7796"/>
                </a:solidFill>
                <a:latin typeface="맑은 고딕" pitchFamily="34" charset="0"/>
                <a:ea typeface="맑은 고딕" pitchFamily="34" charset="-122"/>
                <a:cs typeface="맑은 고딕"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11057839" cy="274320"/>
          </a:xfrm>
          <a:prstGeom prst="rect">
            <a:avLst/>
          </a:prstGeom>
          <a:noFill/>
          <a:ln/>
        </p:spPr>
        <p:txBody>
          <a:bodyPr wrap="square" lIns="0" tIns="0" rIns="0" bIns="0" rtlCol="0" anchor="ctr"/>
          <a:lstStyle/>
          <a:p>
            <a:pPr indent="0" marL="0">
              <a:buNone/>
            </a:pPr>
            <a:r>
              <a:rPr lang="en-US" sz="1100" b="1" dirty="0">
                <a:solidFill>
                  <a:srgbClr val="E8751A"/>
                </a:solidFill>
                <a:latin typeface="맑은 고딕" pitchFamily="34" charset="0"/>
                <a:ea typeface="맑은 고딕" pitchFamily="34" charset="-122"/>
                <a:cs typeface="맑은 고딕" pitchFamily="34" charset="-120"/>
              </a:rPr>
              <a:t>04</a:t>
            </a:r>
            <a:pPr indent="0" marL="0">
              <a:buNone/>
            </a:pPr>
            <a:r>
              <a:rPr lang="en-US" sz="1100" b="1" dirty="0">
                <a:solidFill>
                  <a:srgbClr val="6E7796"/>
                </a:solidFill>
                <a:latin typeface="맑은 고딕" pitchFamily="34" charset="0"/>
                <a:ea typeface="맑은 고딕" pitchFamily="34" charset="-122"/>
                <a:cs typeface="맑은 고딕" pitchFamily="34" charset="-120"/>
              </a:rPr>
              <a:t>   사용자 예상 시나리오</a:t>
            </a:r>
            <a:endParaRPr lang="en-US" sz="1100" dirty="0"/>
          </a:p>
        </p:txBody>
      </p:sp>
      <p:sp>
        <p:nvSpPr>
          <p:cNvPr id="3" name="Text 1"/>
          <p:cNvSpPr/>
          <p:nvPr/>
        </p:nvSpPr>
        <p:spPr>
          <a:xfrm>
            <a:off x="566928" y="749808"/>
            <a:ext cx="11057839" cy="566928"/>
          </a:xfrm>
          <a:prstGeom prst="rect">
            <a:avLst/>
          </a:prstGeom>
          <a:noFill/>
          <a:ln/>
        </p:spPr>
        <p:txBody>
          <a:bodyPr wrap="square" lIns="0" tIns="0" rIns="0" bIns="0" rtlCol="0" anchor="ctr"/>
          <a:lstStyle/>
          <a:p>
            <a:pPr indent="0" marL="0">
              <a:buNone/>
            </a:pPr>
            <a:r>
              <a:rPr lang="en-US" sz="2700" b="1" dirty="0">
                <a:solidFill>
                  <a:srgbClr val="141B33"/>
                </a:solidFill>
                <a:latin typeface="맑은 고딕" pitchFamily="34" charset="0"/>
                <a:ea typeface="맑은 고딕" pitchFamily="34" charset="-122"/>
                <a:cs typeface="맑은 고딕" pitchFamily="34" charset="-120"/>
              </a:rPr>
              <a:t>시나리오 ① 폭염특보가 내린 오후 2시, 외출하는 어르신</a:t>
            </a:r>
            <a:endParaRPr lang="en-US" sz="2700" dirty="0"/>
          </a:p>
        </p:txBody>
      </p:sp>
      <p:sp>
        <p:nvSpPr>
          <p:cNvPr id="4" name="Shape 2"/>
          <p:cNvSpPr/>
          <p:nvPr/>
        </p:nvSpPr>
        <p:spPr>
          <a:xfrm>
            <a:off x="566928" y="1783080"/>
            <a:ext cx="2103120" cy="2880360"/>
          </a:xfrm>
          <a:prstGeom prst="roundRect">
            <a:avLst>
              <a:gd name="adj" fmla="val 6087"/>
            </a:avLst>
          </a:prstGeom>
          <a:solidFill>
            <a:srgbClr val="FFFFFF"/>
          </a:solidFill>
          <a:ln w="12700">
            <a:solidFill>
              <a:srgbClr val="D4DAEE"/>
            </a:solidFill>
            <a:prstDash val="solid"/>
          </a:ln>
          <a:effectLst>
            <a:outerShdw sx="100000" sy="100000" kx="0" ky="0" algn="bl" rotWithShape="0" blurRad="101600" dist="25400" dir="5400000">
              <a:srgbClr val="001871">
                <a:alpha val="7000"/>
              </a:srgbClr>
            </a:outerShdw>
          </a:effectLst>
        </p:spPr>
      </p:sp>
      <p:sp>
        <p:nvSpPr>
          <p:cNvPr id="5" name="Shape 3"/>
          <p:cNvSpPr/>
          <p:nvPr/>
        </p:nvSpPr>
        <p:spPr>
          <a:xfrm>
            <a:off x="768096" y="1993392"/>
            <a:ext cx="914400" cy="329184"/>
          </a:xfrm>
          <a:prstGeom prst="roundRect">
            <a:avLst>
              <a:gd name="adj" fmla="val 25000"/>
            </a:avLst>
          </a:prstGeom>
          <a:solidFill>
            <a:srgbClr val="001871"/>
          </a:solidFill>
          <a:ln w="12700">
            <a:solidFill>
              <a:srgbClr val="001871"/>
            </a:solidFill>
            <a:prstDash val="solid"/>
          </a:ln>
        </p:spPr>
      </p:sp>
      <p:sp>
        <p:nvSpPr>
          <p:cNvPr id="6" name="Text 4"/>
          <p:cNvSpPr/>
          <p:nvPr/>
        </p:nvSpPr>
        <p:spPr>
          <a:xfrm>
            <a:off x="768096" y="1993392"/>
            <a:ext cx="914400"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14:02</a:t>
            </a:r>
            <a:endParaRPr lang="en-US" sz="1150" dirty="0"/>
          </a:p>
        </p:txBody>
      </p:sp>
      <p:sp>
        <p:nvSpPr>
          <p:cNvPr id="7" name="Text 5"/>
          <p:cNvSpPr/>
          <p:nvPr/>
        </p:nvSpPr>
        <p:spPr>
          <a:xfrm>
            <a:off x="768096" y="2432304"/>
            <a:ext cx="1700784" cy="548640"/>
          </a:xfrm>
          <a:prstGeom prst="rect">
            <a:avLst/>
          </a:prstGeom>
          <a:noFill/>
          <a:ln/>
        </p:spPr>
        <p:txBody>
          <a:bodyPr wrap="square" lIns="0" tIns="0" rIns="0" bIns="0" rtlCol="0" anchor="t"/>
          <a:lstStyle/>
          <a:p>
            <a:pPr indent="0" marL="0">
              <a:buNone/>
            </a:pPr>
            <a:r>
              <a:rPr lang="en-US" sz="1300" b="1" dirty="0">
                <a:solidFill>
                  <a:srgbClr val="141B33"/>
                </a:solidFill>
                <a:latin typeface="맑은 고딕" pitchFamily="34" charset="0"/>
                <a:ea typeface="맑은 고딕" pitchFamily="34" charset="-122"/>
                <a:cs typeface="맑은 고딕" pitchFamily="34" charset="-120"/>
              </a:rPr>
              <a:t>가는 곳을 말합니다</a:t>
            </a:r>
            <a:endParaRPr lang="en-US" sz="1300" dirty="0"/>
          </a:p>
        </p:txBody>
      </p:sp>
      <p:sp>
        <p:nvSpPr>
          <p:cNvPr id="8" name="Text 6"/>
          <p:cNvSpPr/>
          <p:nvPr/>
        </p:nvSpPr>
        <p:spPr>
          <a:xfrm>
            <a:off x="768096" y="3035808"/>
            <a:ext cx="1700784" cy="1234440"/>
          </a:xfrm>
          <a:prstGeom prst="rect">
            <a:avLst/>
          </a:prstGeom>
          <a:noFill/>
          <a:ln/>
        </p:spPr>
        <p:txBody>
          <a:bodyPr wrap="square" lIns="0" tIns="0" rIns="0" bIns="0" rtlCol="0" anchor="t"/>
          <a:lstStyle/>
          <a:p>
            <a:pPr indent="0" marL="0">
              <a:lnSpc>
                <a:spcPct val="125000"/>
              </a:lnSpc>
              <a:buNone/>
            </a:pPr>
            <a:r>
              <a:rPr lang="en-US" sz="1000" dirty="0">
                <a:solidFill>
                  <a:srgbClr val="3A4160"/>
                </a:solidFill>
                <a:latin typeface="맑은 고딕" pitchFamily="34" charset="0"/>
                <a:ea typeface="맑은 고딕" pitchFamily="34" charset="-122"/>
                <a:cs typeface="맑은 고딕" pitchFamily="34" charset="-120"/>
              </a:rPr>
              <a:t>바탕화면 아이콘을 눌러 [음성으로 찾기]에</a:t>
            </a:r>
            <a:endParaRPr lang="en-US" sz="1000" dirty="0"/>
          </a:p>
          <a:p>
            <a:pPr indent="0" marL="0">
              <a:lnSpc>
                <a:spcPct val="125000"/>
              </a:lnSpc>
              <a:buNone/>
            </a:pPr>
            <a:r>
              <a:rPr lang="en-US" sz="1000" dirty="0">
                <a:solidFill>
                  <a:srgbClr val="3A4160"/>
                </a:solidFill>
                <a:latin typeface="맑은 고딕" pitchFamily="34" charset="0"/>
                <a:ea typeface="맑은 고딕" pitchFamily="34" charset="-122"/>
                <a:cs typeface="맑은 고딕" pitchFamily="34" charset="-120"/>
              </a:rPr>
              <a:t>“중앙시장”이라고 말합니다.</a:t>
            </a:r>
            <a:endParaRPr lang="en-US" sz="1000" dirty="0"/>
          </a:p>
        </p:txBody>
      </p:sp>
      <p:sp>
        <p:nvSpPr>
          <p:cNvPr id="9" name="Text 7"/>
          <p:cNvSpPr/>
          <p:nvPr/>
        </p:nvSpPr>
        <p:spPr>
          <a:xfrm>
            <a:off x="768096" y="4224528"/>
            <a:ext cx="1700784" cy="310896"/>
          </a:xfrm>
          <a:prstGeom prst="rect">
            <a:avLst/>
          </a:prstGeom>
          <a:noFill/>
          <a:ln/>
        </p:spPr>
        <p:txBody>
          <a:bodyPr wrap="square" lIns="0" tIns="0" rIns="0" bIns="0" rtlCol="0" anchor="ctr"/>
          <a:lstStyle/>
          <a:p>
            <a:pPr indent="0" marL="0">
              <a:buNone/>
            </a:pPr>
            <a:r>
              <a:rPr lang="en-US" sz="900" b="1" dirty="0">
                <a:solidFill>
                  <a:srgbClr val="E8751A"/>
                </a:solidFill>
                <a:latin typeface="맑은 고딕" pitchFamily="34" charset="0"/>
                <a:ea typeface="맑은 고딕" pitchFamily="34" charset="-122"/>
                <a:cs typeface="맑은 고딕" pitchFamily="34" charset="-120"/>
              </a:rPr>
              <a:t>음성 검색</a:t>
            </a:r>
            <a:endParaRPr lang="en-US" sz="900" dirty="0"/>
          </a:p>
        </p:txBody>
      </p:sp>
      <p:sp>
        <p:nvSpPr>
          <p:cNvPr id="10" name="Text 8"/>
          <p:cNvSpPr/>
          <p:nvPr/>
        </p:nvSpPr>
        <p:spPr>
          <a:xfrm>
            <a:off x="2688336" y="1783080"/>
            <a:ext cx="137160" cy="2880360"/>
          </a:xfrm>
          <a:prstGeom prst="rect">
            <a:avLst/>
          </a:prstGeom>
          <a:noFill/>
          <a:ln/>
        </p:spPr>
        <p:txBody>
          <a:bodyPr wrap="square" lIns="0" tIns="0" rIns="0" bIns="0" rtlCol="0" anchor="ctr"/>
          <a:lstStyle/>
          <a:p>
            <a:pPr algn="ctr" indent="0" marL="0">
              <a:buNone/>
            </a:pPr>
            <a:r>
              <a:rPr lang="en-US" sz="1100" dirty="0">
                <a:solidFill>
                  <a:srgbClr val="A6B3E6"/>
                </a:solidFill>
                <a:latin typeface="맑은 고딕" pitchFamily="34" charset="0"/>
                <a:ea typeface="맑은 고딕" pitchFamily="34" charset="-122"/>
                <a:cs typeface="맑은 고딕" pitchFamily="34" charset="-120"/>
              </a:rPr>
              <a:t>▶</a:t>
            </a:r>
            <a:endParaRPr lang="en-US" sz="1100" dirty="0"/>
          </a:p>
        </p:txBody>
      </p:sp>
      <p:sp>
        <p:nvSpPr>
          <p:cNvPr id="11" name="Shape 9"/>
          <p:cNvSpPr/>
          <p:nvPr/>
        </p:nvSpPr>
        <p:spPr>
          <a:xfrm>
            <a:off x="2825496" y="1783080"/>
            <a:ext cx="2103120" cy="2880360"/>
          </a:xfrm>
          <a:prstGeom prst="roundRect">
            <a:avLst>
              <a:gd name="adj" fmla="val 6087"/>
            </a:avLst>
          </a:prstGeom>
          <a:solidFill>
            <a:srgbClr val="FFFFFF"/>
          </a:solidFill>
          <a:ln w="12700">
            <a:solidFill>
              <a:srgbClr val="D4DAEE"/>
            </a:solidFill>
            <a:prstDash val="solid"/>
          </a:ln>
          <a:effectLst>
            <a:outerShdw sx="100000" sy="100000" kx="0" ky="0" algn="bl" rotWithShape="0" blurRad="101600" dist="25400" dir="5400000">
              <a:srgbClr val="001871">
                <a:alpha val="7000"/>
              </a:srgbClr>
            </a:outerShdw>
          </a:effectLst>
        </p:spPr>
      </p:sp>
      <p:sp>
        <p:nvSpPr>
          <p:cNvPr id="12" name="Shape 10"/>
          <p:cNvSpPr/>
          <p:nvPr/>
        </p:nvSpPr>
        <p:spPr>
          <a:xfrm>
            <a:off x="3026664" y="1993392"/>
            <a:ext cx="914400" cy="329184"/>
          </a:xfrm>
          <a:prstGeom prst="roundRect">
            <a:avLst>
              <a:gd name="adj" fmla="val 25000"/>
            </a:avLst>
          </a:prstGeom>
          <a:solidFill>
            <a:srgbClr val="001871"/>
          </a:solidFill>
          <a:ln w="12700">
            <a:solidFill>
              <a:srgbClr val="001871"/>
            </a:solidFill>
            <a:prstDash val="solid"/>
          </a:ln>
        </p:spPr>
      </p:sp>
      <p:sp>
        <p:nvSpPr>
          <p:cNvPr id="13" name="Text 11"/>
          <p:cNvSpPr/>
          <p:nvPr/>
        </p:nvSpPr>
        <p:spPr>
          <a:xfrm>
            <a:off x="3026664" y="1993392"/>
            <a:ext cx="914400"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14:03</a:t>
            </a:r>
            <a:endParaRPr lang="en-US" sz="1150" dirty="0"/>
          </a:p>
        </p:txBody>
      </p:sp>
      <p:sp>
        <p:nvSpPr>
          <p:cNvPr id="14" name="Text 12"/>
          <p:cNvSpPr/>
          <p:nvPr/>
        </p:nvSpPr>
        <p:spPr>
          <a:xfrm>
            <a:off x="3026664" y="2432304"/>
            <a:ext cx="1700784" cy="548640"/>
          </a:xfrm>
          <a:prstGeom prst="rect">
            <a:avLst/>
          </a:prstGeom>
          <a:noFill/>
          <a:ln/>
        </p:spPr>
        <p:txBody>
          <a:bodyPr wrap="square" lIns="0" tIns="0" rIns="0" bIns="0" rtlCol="0" anchor="t"/>
          <a:lstStyle/>
          <a:p>
            <a:pPr indent="0" marL="0">
              <a:buNone/>
            </a:pPr>
            <a:r>
              <a:rPr lang="en-US" sz="1300" b="1" dirty="0">
                <a:solidFill>
                  <a:srgbClr val="141B33"/>
                </a:solidFill>
                <a:latin typeface="맑은 고딕" pitchFamily="34" charset="0"/>
                <a:ea typeface="맑은 고딕" pitchFamily="34" charset="-122"/>
                <a:cs typeface="맑은 고딕" pitchFamily="34" charset="-120"/>
              </a:rPr>
              <a:t>여기서 기다려도 되나</a:t>
            </a:r>
            <a:endParaRPr lang="en-US" sz="1300" dirty="0"/>
          </a:p>
        </p:txBody>
      </p:sp>
      <p:sp>
        <p:nvSpPr>
          <p:cNvPr id="15" name="Text 13"/>
          <p:cNvSpPr/>
          <p:nvPr/>
        </p:nvSpPr>
        <p:spPr>
          <a:xfrm>
            <a:off x="3026664" y="3035808"/>
            <a:ext cx="1700784" cy="1234440"/>
          </a:xfrm>
          <a:prstGeom prst="rect">
            <a:avLst/>
          </a:prstGeom>
          <a:noFill/>
          <a:ln/>
        </p:spPr>
        <p:txBody>
          <a:bodyPr wrap="square" lIns="0" tIns="0" rIns="0" bIns="0" rtlCol="0" anchor="t"/>
          <a:lstStyle/>
          <a:p>
            <a:pPr indent="0" marL="0">
              <a:lnSpc>
                <a:spcPct val="125000"/>
              </a:lnSpc>
              <a:buNone/>
            </a:pPr>
            <a:r>
              <a:rPr lang="en-US" sz="1000" dirty="0">
                <a:solidFill>
                  <a:srgbClr val="3A4160"/>
                </a:solidFill>
                <a:latin typeface="맑은 고딕" pitchFamily="34" charset="0"/>
                <a:ea typeface="맑은 고딕" pitchFamily="34" charset="-122"/>
                <a:cs typeface="맑은 고딕" pitchFamily="34" charset="-120"/>
              </a:rPr>
              <a:t>[지붕 없음] 칩과 함께 “버스 12분 뒤”.</a:t>
            </a:r>
            <a:endParaRPr lang="en-US" sz="1000" dirty="0"/>
          </a:p>
          <a:p>
            <a:pPr indent="0" marL="0">
              <a:lnSpc>
                <a:spcPct val="125000"/>
              </a:lnSpc>
              <a:buNone/>
            </a:pPr>
            <a:r>
              <a:rPr lang="en-US" sz="1000" dirty="0">
                <a:solidFill>
                  <a:srgbClr val="3A4160"/>
                </a:solidFill>
                <a:latin typeface="맑은 고딕" pitchFamily="34" charset="0"/>
                <a:ea typeface="맑은 고딕" pitchFamily="34" charset="-122"/>
                <a:cs typeface="맑은 고딕" pitchFamily="34" charset="-120"/>
              </a:rPr>
              <a:t>뙤약볕에 12분을 서야 한다는 뜻입니다.</a:t>
            </a:r>
            <a:endParaRPr lang="en-US" sz="1000" dirty="0"/>
          </a:p>
        </p:txBody>
      </p:sp>
      <p:sp>
        <p:nvSpPr>
          <p:cNvPr id="16" name="Text 14"/>
          <p:cNvSpPr/>
          <p:nvPr/>
        </p:nvSpPr>
        <p:spPr>
          <a:xfrm>
            <a:off x="3026664" y="4224528"/>
            <a:ext cx="1700784" cy="310896"/>
          </a:xfrm>
          <a:prstGeom prst="rect">
            <a:avLst/>
          </a:prstGeom>
          <a:noFill/>
          <a:ln/>
        </p:spPr>
        <p:txBody>
          <a:bodyPr wrap="square" lIns="0" tIns="0" rIns="0" bIns="0" rtlCol="0" anchor="ctr"/>
          <a:lstStyle/>
          <a:p>
            <a:pPr indent="0" marL="0">
              <a:buNone/>
            </a:pPr>
            <a:r>
              <a:rPr lang="en-US" sz="900" b="1" dirty="0">
                <a:solidFill>
                  <a:srgbClr val="E8751A"/>
                </a:solidFill>
                <a:latin typeface="맑은 고딕" pitchFamily="34" charset="0"/>
                <a:ea typeface="맑은 고딕" pitchFamily="34" charset="-122"/>
                <a:cs typeface="맑은 고딕" pitchFamily="34" charset="-120"/>
              </a:rPr>
              <a:t>시설 칩 · 실시간 도착</a:t>
            </a:r>
            <a:endParaRPr lang="en-US" sz="900" dirty="0"/>
          </a:p>
        </p:txBody>
      </p:sp>
      <p:sp>
        <p:nvSpPr>
          <p:cNvPr id="17" name="Text 15"/>
          <p:cNvSpPr/>
          <p:nvPr/>
        </p:nvSpPr>
        <p:spPr>
          <a:xfrm>
            <a:off x="4946904" y="1783080"/>
            <a:ext cx="137160" cy="2880360"/>
          </a:xfrm>
          <a:prstGeom prst="rect">
            <a:avLst/>
          </a:prstGeom>
          <a:noFill/>
          <a:ln/>
        </p:spPr>
        <p:txBody>
          <a:bodyPr wrap="square" lIns="0" tIns="0" rIns="0" bIns="0" rtlCol="0" anchor="ctr"/>
          <a:lstStyle/>
          <a:p>
            <a:pPr algn="ctr" indent="0" marL="0">
              <a:buNone/>
            </a:pPr>
            <a:r>
              <a:rPr lang="en-US" sz="1100" dirty="0">
                <a:solidFill>
                  <a:srgbClr val="A6B3E6"/>
                </a:solidFill>
                <a:latin typeface="맑은 고딕" pitchFamily="34" charset="0"/>
                <a:ea typeface="맑은 고딕" pitchFamily="34" charset="-122"/>
                <a:cs typeface="맑은 고딕" pitchFamily="34" charset="-120"/>
              </a:rPr>
              <a:t>▶</a:t>
            </a:r>
            <a:endParaRPr lang="en-US" sz="1100" dirty="0"/>
          </a:p>
        </p:txBody>
      </p:sp>
      <p:sp>
        <p:nvSpPr>
          <p:cNvPr id="18" name="Shape 16"/>
          <p:cNvSpPr/>
          <p:nvPr/>
        </p:nvSpPr>
        <p:spPr>
          <a:xfrm>
            <a:off x="5084064" y="1783080"/>
            <a:ext cx="2103120" cy="2880360"/>
          </a:xfrm>
          <a:prstGeom prst="roundRect">
            <a:avLst>
              <a:gd name="adj" fmla="val 6087"/>
            </a:avLst>
          </a:prstGeom>
          <a:solidFill>
            <a:srgbClr val="FFFFFF"/>
          </a:solidFill>
          <a:ln w="12700">
            <a:solidFill>
              <a:srgbClr val="D4DAEE"/>
            </a:solidFill>
            <a:prstDash val="solid"/>
          </a:ln>
          <a:effectLst>
            <a:outerShdw sx="100000" sy="100000" kx="0" ky="0" algn="bl" rotWithShape="0" blurRad="101600" dist="25400" dir="5400000">
              <a:srgbClr val="001871">
                <a:alpha val="7000"/>
              </a:srgbClr>
            </a:outerShdw>
          </a:effectLst>
        </p:spPr>
      </p:sp>
      <p:sp>
        <p:nvSpPr>
          <p:cNvPr id="19" name="Shape 17"/>
          <p:cNvSpPr/>
          <p:nvPr/>
        </p:nvSpPr>
        <p:spPr>
          <a:xfrm>
            <a:off x="5285232" y="1993392"/>
            <a:ext cx="914400" cy="329184"/>
          </a:xfrm>
          <a:prstGeom prst="roundRect">
            <a:avLst>
              <a:gd name="adj" fmla="val 25000"/>
            </a:avLst>
          </a:prstGeom>
          <a:solidFill>
            <a:srgbClr val="001871"/>
          </a:solidFill>
          <a:ln w="12700">
            <a:solidFill>
              <a:srgbClr val="001871"/>
            </a:solidFill>
            <a:prstDash val="solid"/>
          </a:ln>
        </p:spPr>
      </p:sp>
      <p:sp>
        <p:nvSpPr>
          <p:cNvPr id="20" name="Text 18"/>
          <p:cNvSpPr/>
          <p:nvPr/>
        </p:nvSpPr>
        <p:spPr>
          <a:xfrm>
            <a:off x="5285232" y="1993392"/>
            <a:ext cx="914400"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14:04</a:t>
            </a:r>
            <a:endParaRPr lang="en-US" sz="1150" dirty="0"/>
          </a:p>
        </p:txBody>
      </p:sp>
      <p:sp>
        <p:nvSpPr>
          <p:cNvPr id="21" name="Text 19"/>
          <p:cNvSpPr/>
          <p:nvPr/>
        </p:nvSpPr>
        <p:spPr>
          <a:xfrm>
            <a:off x="5285232" y="2432304"/>
            <a:ext cx="1700784" cy="548640"/>
          </a:xfrm>
          <a:prstGeom prst="rect">
            <a:avLst/>
          </a:prstGeom>
          <a:noFill/>
          <a:ln/>
        </p:spPr>
        <p:txBody>
          <a:bodyPr wrap="square" lIns="0" tIns="0" rIns="0" bIns="0" rtlCol="0" anchor="t"/>
          <a:lstStyle/>
          <a:p>
            <a:pPr indent="0" marL="0">
              <a:buNone/>
            </a:pPr>
            <a:r>
              <a:rPr lang="en-US" sz="1300" b="1" dirty="0">
                <a:solidFill>
                  <a:srgbClr val="141B33"/>
                </a:solidFill>
                <a:latin typeface="맑은 고딕" pitchFamily="34" charset="0"/>
                <a:ea typeface="맑은 고딕" pitchFamily="34" charset="-122"/>
                <a:cs typeface="맑은 고딕" pitchFamily="34" charset="-120"/>
              </a:rPr>
              <a:t>가까운 그늘로</a:t>
            </a:r>
            <a:endParaRPr lang="en-US" sz="1300" dirty="0"/>
          </a:p>
        </p:txBody>
      </p:sp>
      <p:sp>
        <p:nvSpPr>
          <p:cNvPr id="22" name="Text 20"/>
          <p:cNvSpPr/>
          <p:nvPr/>
        </p:nvSpPr>
        <p:spPr>
          <a:xfrm>
            <a:off x="5285232" y="3035808"/>
            <a:ext cx="1700784" cy="1234440"/>
          </a:xfrm>
          <a:prstGeom prst="rect">
            <a:avLst/>
          </a:prstGeom>
          <a:noFill/>
          <a:ln/>
        </p:spPr>
        <p:txBody>
          <a:bodyPr wrap="square" lIns="0" tIns="0" rIns="0" bIns="0" rtlCol="0" anchor="t"/>
          <a:lstStyle/>
          <a:p>
            <a:pPr indent="0" marL="0">
              <a:lnSpc>
                <a:spcPct val="125000"/>
              </a:lnSpc>
              <a:buNone/>
            </a:pPr>
            <a:r>
              <a:rPr lang="en-US" sz="1000" dirty="0">
                <a:solidFill>
                  <a:srgbClr val="3A4160"/>
                </a:solidFill>
                <a:latin typeface="맑은 고딕" pitchFamily="34" charset="0"/>
                <a:ea typeface="맑은 고딕" pitchFamily="34" charset="-122"/>
                <a:cs typeface="맑은 고딕" pitchFamily="34" charset="-120"/>
              </a:rPr>
              <a:t>“○○경로당 · 240m · 도보 4분”.</a:t>
            </a:r>
            <a:endParaRPr lang="en-US" sz="1000" dirty="0"/>
          </a:p>
          <a:p>
            <a:pPr indent="0" marL="0">
              <a:lnSpc>
                <a:spcPct val="125000"/>
              </a:lnSpc>
              <a:buNone/>
            </a:pPr>
            <a:r>
              <a:rPr lang="en-US" sz="1000" dirty="0">
                <a:solidFill>
                  <a:srgbClr val="3A4160"/>
                </a:solidFill>
                <a:latin typeface="맑은 고딕" pitchFamily="34" charset="0"/>
                <a:ea typeface="맑은 고딕" pitchFamily="34" charset="-122"/>
                <a:cs typeface="맑은 고딕" pitchFamily="34" charset="-120"/>
              </a:rPr>
              <a:t>에어컨이 있는 실내에서 버스를 기다립니다.</a:t>
            </a:r>
            <a:endParaRPr lang="en-US" sz="1000" dirty="0"/>
          </a:p>
        </p:txBody>
      </p:sp>
      <p:sp>
        <p:nvSpPr>
          <p:cNvPr id="23" name="Text 21"/>
          <p:cNvSpPr/>
          <p:nvPr/>
        </p:nvSpPr>
        <p:spPr>
          <a:xfrm>
            <a:off x="5285232" y="4224528"/>
            <a:ext cx="1700784" cy="310896"/>
          </a:xfrm>
          <a:prstGeom prst="rect">
            <a:avLst/>
          </a:prstGeom>
          <a:noFill/>
          <a:ln/>
        </p:spPr>
        <p:txBody>
          <a:bodyPr wrap="square" lIns="0" tIns="0" rIns="0" bIns="0" rtlCol="0" anchor="ctr"/>
          <a:lstStyle/>
          <a:p>
            <a:pPr indent="0" marL="0">
              <a:buNone/>
            </a:pPr>
            <a:r>
              <a:rPr lang="en-US" sz="900" b="1" dirty="0">
                <a:solidFill>
                  <a:srgbClr val="E8751A"/>
                </a:solidFill>
                <a:latin typeface="맑은 고딕" pitchFamily="34" charset="0"/>
                <a:ea typeface="맑은 고딕" pitchFamily="34" charset="-122"/>
                <a:cs typeface="맑은 고딕" pitchFamily="34" charset="-120"/>
              </a:rPr>
              <a:t>무더위쉼터 226곳</a:t>
            </a:r>
            <a:endParaRPr lang="en-US" sz="900" dirty="0"/>
          </a:p>
        </p:txBody>
      </p:sp>
      <p:sp>
        <p:nvSpPr>
          <p:cNvPr id="24" name="Text 22"/>
          <p:cNvSpPr/>
          <p:nvPr/>
        </p:nvSpPr>
        <p:spPr>
          <a:xfrm>
            <a:off x="7205472" y="1783080"/>
            <a:ext cx="137160" cy="2880360"/>
          </a:xfrm>
          <a:prstGeom prst="rect">
            <a:avLst/>
          </a:prstGeom>
          <a:noFill/>
          <a:ln/>
        </p:spPr>
        <p:txBody>
          <a:bodyPr wrap="square" lIns="0" tIns="0" rIns="0" bIns="0" rtlCol="0" anchor="ctr"/>
          <a:lstStyle/>
          <a:p>
            <a:pPr algn="ctr" indent="0" marL="0">
              <a:buNone/>
            </a:pPr>
            <a:r>
              <a:rPr lang="en-US" sz="1100" dirty="0">
                <a:solidFill>
                  <a:srgbClr val="A6B3E6"/>
                </a:solidFill>
                <a:latin typeface="맑은 고딕" pitchFamily="34" charset="0"/>
                <a:ea typeface="맑은 고딕" pitchFamily="34" charset="-122"/>
                <a:cs typeface="맑은 고딕" pitchFamily="34" charset="-120"/>
              </a:rPr>
              <a:t>▶</a:t>
            </a:r>
            <a:endParaRPr lang="en-US" sz="1100" dirty="0"/>
          </a:p>
        </p:txBody>
      </p:sp>
      <p:sp>
        <p:nvSpPr>
          <p:cNvPr id="25" name="Shape 23"/>
          <p:cNvSpPr/>
          <p:nvPr/>
        </p:nvSpPr>
        <p:spPr>
          <a:xfrm>
            <a:off x="7342632" y="1783080"/>
            <a:ext cx="2103120" cy="2880360"/>
          </a:xfrm>
          <a:prstGeom prst="roundRect">
            <a:avLst>
              <a:gd name="adj" fmla="val 6087"/>
            </a:avLst>
          </a:prstGeom>
          <a:solidFill>
            <a:srgbClr val="FFFFFF"/>
          </a:solidFill>
          <a:ln w="12700">
            <a:solidFill>
              <a:srgbClr val="D4DAEE"/>
            </a:solidFill>
            <a:prstDash val="solid"/>
          </a:ln>
          <a:effectLst>
            <a:outerShdw sx="100000" sy="100000" kx="0" ky="0" algn="bl" rotWithShape="0" blurRad="101600" dist="25400" dir="5400000">
              <a:srgbClr val="001871">
                <a:alpha val="7000"/>
              </a:srgbClr>
            </a:outerShdw>
          </a:effectLst>
        </p:spPr>
      </p:sp>
      <p:sp>
        <p:nvSpPr>
          <p:cNvPr id="26" name="Shape 24"/>
          <p:cNvSpPr/>
          <p:nvPr/>
        </p:nvSpPr>
        <p:spPr>
          <a:xfrm>
            <a:off x="7543800" y="1993392"/>
            <a:ext cx="914400" cy="329184"/>
          </a:xfrm>
          <a:prstGeom prst="roundRect">
            <a:avLst>
              <a:gd name="adj" fmla="val 25000"/>
            </a:avLst>
          </a:prstGeom>
          <a:solidFill>
            <a:srgbClr val="001871"/>
          </a:solidFill>
          <a:ln w="12700">
            <a:solidFill>
              <a:srgbClr val="001871"/>
            </a:solidFill>
            <a:prstDash val="solid"/>
          </a:ln>
        </p:spPr>
      </p:sp>
      <p:sp>
        <p:nvSpPr>
          <p:cNvPr id="27" name="Text 25"/>
          <p:cNvSpPr/>
          <p:nvPr/>
        </p:nvSpPr>
        <p:spPr>
          <a:xfrm>
            <a:off x="7543800" y="1993392"/>
            <a:ext cx="914400"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14:15</a:t>
            </a:r>
            <a:endParaRPr lang="en-US" sz="1150" dirty="0"/>
          </a:p>
        </p:txBody>
      </p:sp>
      <p:sp>
        <p:nvSpPr>
          <p:cNvPr id="28" name="Text 26"/>
          <p:cNvSpPr/>
          <p:nvPr/>
        </p:nvSpPr>
        <p:spPr>
          <a:xfrm>
            <a:off x="7543800" y="2432304"/>
            <a:ext cx="1700784" cy="548640"/>
          </a:xfrm>
          <a:prstGeom prst="rect">
            <a:avLst/>
          </a:prstGeom>
          <a:noFill/>
          <a:ln/>
        </p:spPr>
        <p:txBody>
          <a:bodyPr wrap="square" lIns="0" tIns="0" rIns="0" bIns="0" rtlCol="0" anchor="t"/>
          <a:lstStyle/>
          <a:p>
            <a:pPr indent="0" marL="0">
              <a:buNone/>
            </a:pPr>
            <a:r>
              <a:rPr lang="en-US" sz="1300" b="1" dirty="0">
                <a:solidFill>
                  <a:srgbClr val="141B33"/>
                </a:solidFill>
                <a:latin typeface="맑은 고딕" pitchFamily="34" charset="0"/>
                <a:ea typeface="맑은 고딕" pitchFamily="34" charset="-122"/>
                <a:cs typeface="맑은 고딕" pitchFamily="34" charset="-120"/>
              </a:rPr>
              <a:t>타고 가면서도 안내</a:t>
            </a:r>
            <a:endParaRPr lang="en-US" sz="1300" dirty="0"/>
          </a:p>
        </p:txBody>
      </p:sp>
      <p:sp>
        <p:nvSpPr>
          <p:cNvPr id="29" name="Text 27"/>
          <p:cNvSpPr/>
          <p:nvPr/>
        </p:nvSpPr>
        <p:spPr>
          <a:xfrm>
            <a:off x="7543800" y="3035808"/>
            <a:ext cx="1700784" cy="1234440"/>
          </a:xfrm>
          <a:prstGeom prst="rect">
            <a:avLst/>
          </a:prstGeom>
          <a:noFill/>
          <a:ln/>
        </p:spPr>
        <p:txBody>
          <a:bodyPr wrap="square" lIns="0" tIns="0" rIns="0" bIns="0" rtlCol="0" anchor="t"/>
          <a:lstStyle/>
          <a:p>
            <a:pPr indent="0" marL="0">
              <a:lnSpc>
                <a:spcPct val="125000"/>
              </a:lnSpc>
              <a:buNone/>
            </a:pPr>
            <a:r>
              <a:rPr lang="en-US" sz="1000" dirty="0">
                <a:solidFill>
                  <a:srgbClr val="3A4160"/>
                </a:solidFill>
                <a:latin typeface="맑은 고딕" pitchFamily="34" charset="0"/>
                <a:ea typeface="맑은 고딕" pitchFamily="34" charset="-122"/>
                <a:cs typeface="맑은 고딕" pitchFamily="34" charset="-120"/>
              </a:rPr>
              <a:t>버스 안에서 “하차까지 2개 정류장”.</a:t>
            </a:r>
            <a:endParaRPr lang="en-US" sz="1000" dirty="0"/>
          </a:p>
          <a:p>
            <a:pPr indent="0" marL="0">
              <a:lnSpc>
                <a:spcPct val="125000"/>
              </a:lnSpc>
              <a:buNone/>
            </a:pPr>
            <a:r>
              <a:rPr lang="en-US" sz="1000" dirty="0">
                <a:solidFill>
                  <a:srgbClr val="3A4160"/>
                </a:solidFill>
                <a:latin typeface="맑은 고딕" pitchFamily="34" charset="0"/>
                <a:ea typeface="맑은 고딕" pitchFamily="34" charset="-122"/>
                <a:cs typeface="맑은 고딕" pitchFamily="34" charset="-120"/>
              </a:rPr>
              <a:t>내릴 곳을 놓칠 걱정이 없습니다.</a:t>
            </a:r>
            <a:endParaRPr lang="en-US" sz="1000" dirty="0"/>
          </a:p>
        </p:txBody>
      </p:sp>
      <p:sp>
        <p:nvSpPr>
          <p:cNvPr id="30" name="Text 28"/>
          <p:cNvSpPr/>
          <p:nvPr/>
        </p:nvSpPr>
        <p:spPr>
          <a:xfrm>
            <a:off x="7543800" y="4224528"/>
            <a:ext cx="1700784" cy="310896"/>
          </a:xfrm>
          <a:prstGeom prst="rect">
            <a:avLst/>
          </a:prstGeom>
          <a:noFill/>
          <a:ln/>
        </p:spPr>
        <p:txBody>
          <a:bodyPr wrap="square" lIns="0" tIns="0" rIns="0" bIns="0" rtlCol="0" anchor="ctr"/>
          <a:lstStyle/>
          <a:p>
            <a:pPr indent="0" marL="0">
              <a:buNone/>
            </a:pPr>
            <a:r>
              <a:rPr lang="en-US" sz="900" b="1" dirty="0">
                <a:solidFill>
                  <a:srgbClr val="E8751A"/>
                </a:solidFill>
                <a:latin typeface="맑은 고딕" pitchFamily="34" charset="0"/>
                <a:ea typeface="맑은 고딕" pitchFamily="34" charset="-122"/>
                <a:cs typeface="맑은 고딕" pitchFamily="34" charset="-120"/>
              </a:rPr>
              <a:t>GPS 타임라인</a:t>
            </a:r>
            <a:endParaRPr lang="en-US" sz="900" dirty="0"/>
          </a:p>
        </p:txBody>
      </p:sp>
      <p:sp>
        <p:nvSpPr>
          <p:cNvPr id="31" name="Text 29"/>
          <p:cNvSpPr/>
          <p:nvPr/>
        </p:nvSpPr>
        <p:spPr>
          <a:xfrm>
            <a:off x="9464040" y="1783080"/>
            <a:ext cx="137160" cy="2880360"/>
          </a:xfrm>
          <a:prstGeom prst="rect">
            <a:avLst/>
          </a:prstGeom>
          <a:noFill/>
          <a:ln/>
        </p:spPr>
        <p:txBody>
          <a:bodyPr wrap="square" lIns="0" tIns="0" rIns="0" bIns="0" rtlCol="0" anchor="ctr"/>
          <a:lstStyle/>
          <a:p>
            <a:pPr algn="ctr" indent="0" marL="0">
              <a:buNone/>
            </a:pPr>
            <a:r>
              <a:rPr lang="en-US" sz="1100" dirty="0">
                <a:solidFill>
                  <a:srgbClr val="A6B3E6"/>
                </a:solidFill>
                <a:latin typeface="맑은 고딕" pitchFamily="34" charset="0"/>
                <a:ea typeface="맑은 고딕" pitchFamily="34" charset="-122"/>
                <a:cs typeface="맑은 고딕" pitchFamily="34" charset="-120"/>
              </a:rPr>
              <a:t>▶</a:t>
            </a:r>
            <a:endParaRPr lang="en-US" sz="1100" dirty="0"/>
          </a:p>
        </p:txBody>
      </p:sp>
      <p:sp>
        <p:nvSpPr>
          <p:cNvPr id="32" name="Shape 30"/>
          <p:cNvSpPr/>
          <p:nvPr/>
        </p:nvSpPr>
        <p:spPr>
          <a:xfrm>
            <a:off x="9601200" y="1783080"/>
            <a:ext cx="2103120" cy="2880360"/>
          </a:xfrm>
          <a:prstGeom prst="roundRect">
            <a:avLst>
              <a:gd name="adj" fmla="val 6087"/>
            </a:avLst>
          </a:prstGeom>
          <a:solidFill>
            <a:srgbClr val="FFFFFF"/>
          </a:solidFill>
          <a:ln w="12700">
            <a:solidFill>
              <a:srgbClr val="D4DAEE"/>
            </a:solidFill>
            <a:prstDash val="solid"/>
          </a:ln>
          <a:effectLst>
            <a:outerShdw sx="100000" sy="100000" kx="0" ky="0" algn="bl" rotWithShape="0" blurRad="101600" dist="25400" dir="5400000">
              <a:srgbClr val="001871">
                <a:alpha val="7000"/>
              </a:srgbClr>
            </a:outerShdw>
          </a:effectLst>
        </p:spPr>
      </p:sp>
      <p:sp>
        <p:nvSpPr>
          <p:cNvPr id="33" name="Shape 31"/>
          <p:cNvSpPr/>
          <p:nvPr/>
        </p:nvSpPr>
        <p:spPr>
          <a:xfrm>
            <a:off x="9802368" y="1993392"/>
            <a:ext cx="914400" cy="329184"/>
          </a:xfrm>
          <a:prstGeom prst="roundRect">
            <a:avLst>
              <a:gd name="adj" fmla="val 25000"/>
            </a:avLst>
          </a:prstGeom>
          <a:solidFill>
            <a:srgbClr val="001871"/>
          </a:solidFill>
          <a:ln w="12700">
            <a:solidFill>
              <a:srgbClr val="001871"/>
            </a:solidFill>
            <a:prstDash val="solid"/>
          </a:ln>
        </p:spPr>
      </p:sp>
      <p:sp>
        <p:nvSpPr>
          <p:cNvPr id="34" name="Text 32"/>
          <p:cNvSpPr/>
          <p:nvPr/>
        </p:nvSpPr>
        <p:spPr>
          <a:xfrm>
            <a:off x="9802368" y="1993392"/>
            <a:ext cx="914400"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14:24</a:t>
            </a:r>
            <a:endParaRPr lang="en-US" sz="1150" dirty="0"/>
          </a:p>
        </p:txBody>
      </p:sp>
      <p:sp>
        <p:nvSpPr>
          <p:cNvPr id="35" name="Text 33"/>
          <p:cNvSpPr/>
          <p:nvPr/>
        </p:nvSpPr>
        <p:spPr>
          <a:xfrm>
            <a:off x="9802368" y="2432304"/>
            <a:ext cx="1700784" cy="548640"/>
          </a:xfrm>
          <a:prstGeom prst="rect">
            <a:avLst/>
          </a:prstGeom>
          <a:noFill/>
          <a:ln/>
        </p:spPr>
        <p:txBody>
          <a:bodyPr wrap="square" lIns="0" tIns="0" rIns="0" bIns="0" rtlCol="0" anchor="t"/>
          <a:lstStyle/>
          <a:p>
            <a:pPr indent="0" marL="0">
              <a:buNone/>
            </a:pPr>
            <a:r>
              <a:rPr lang="en-US" sz="1300" b="1" dirty="0">
                <a:solidFill>
                  <a:srgbClr val="141B33"/>
                </a:solidFill>
                <a:latin typeface="맑은 고딕" pitchFamily="34" charset="0"/>
                <a:ea typeface="맑은 고딕" pitchFamily="34" charset="-122"/>
                <a:cs typeface="맑은 고딕" pitchFamily="34" charset="-120"/>
              </a:rPr>
              <a:t>돌아오는 길에 한 장</a:t>
            </a:r>
            <a:endParaRPr lang="en-US" sz="1300" dirty="0"/>
          </a:p>
        </p:txBody>
      </p:sp>
      <p:sp>
        <p:nvSpPr>
          <p:cNvPr id="36" name="Text 34"/>
          <p:cNvSpPr/>
          <p:nvPr/>
        </p:nvSpPr>
        <p:spPr>
          <a:xfrm>
            <a:off x="9802368" y="3035808"/>
            <a:ext cx="1700784" cy="1234440"/>
          </a:xfrm>
          <a:prstGeom prst="rect">
            <a:avLst/>
          </a:prstGeom>
          <a:noFill/>
          <a:ln/>
        </p:spPr>
        <p:txBody>
          <a:bodyPr wrap="square" lIns="0" tIns="0" rIns="0" bIns="0" rtlCol="0" anchor="t"/>
          <a:lstStyle/>
          <a:p>
            <a:pPr indent="0" marL="0">
              <a:lnSpc>
                <a:spcPct val="125000"/>
              </a:lnSpc>
              <a:buNone/>
            </a:pPr>
            <a:r>
              <a:rPr lang="en-US" sz="1000" dirty="0">
                <a:solidFill>
                  <a:srgbClr val="3A4160"/>
                </a:solidFill>
                <a:latin typeface="맑은 고딕" pitchFamily="34" charset="0"/>
                <a:ea typeface="맑은 고딕" pitchFamily="34" charset="-122"/>
                <a:cs typeface="맑은 고딕" pitchFamily="34" charset="-120"/>
              </a:rPr>
              <a:t>깨진 쉘터를 보고 사진 한 장만 찍어 보냅니다.</a:t>
            </a:r>
            <a:endParaRPr lang="en-US" sz="1000" dirty="0"/>
          </a:p>
          <a:p>
            <a:pPr indent="0" marL="0">
              <a:lnSpc>
                <a:spcPct val="125000"/>
              </a:lnSpc>
              <a:buNone/>
            </a:pPr>
            <a:r>
              <a:rPr lang="en-US" sz="1000" dirty="0">
                <a:solidFill>
                  <a:srgbClr val="3A4160"/>
                </a:solidFill>
                <a:latin typeface="맑은 고딕" pitchFamily="34" charset="0"/>
                <a:ea typeface="맑은 고딕" pitchFamily="34" charset="-122"/>
                <a:cs typeface="맑은 고딕" pitchFamily="34" charset="-120"/>
              </a:rPr>
              <a:t>다음 사람의 안내가 정확해집니다.</a:t>
            </a:r>
            <a:endParaRPr lang="en-US" sz="1000" dirty="0"/>
          </a:p>
        </p:txBody>
      </p:sp>
      <p:sp>
        <p:nvSpPr>
          <p:cNvPr id="37" name="Text 35"/>
          <p:cNvSpPr/>
          <p:nvPr/>
        </p:nvSpPr>
        <p:spPr>
          <a:xfrm>
            <a:off x="9802368" y="4224528"/>
            <a:ext cx="1700784" cy="310896"/>
          </a:xfrm>
          <a:prstGeom prst="rect">
            <a:avLst/>
          </a:prstGeom>
          <a:noFill/>
          <a:ln/>
        </p:spPr>
        <p:txBody>
          <a:bodyPr wrap="square" lIns="0" tIns="0" rIns="0" bIns="0" rtlCol="0" anchor="ctr"/>
          <a:lstStyle/>
          <a:p>
            <a:pPr indent="0" marL="0">
              <a:buNone/>
            </a:pPr>
            <a:r>
              <a:rPr lang="en-US" sz="900" b="1" dirty="0">
                <a:solidFill>
                  <a:srgbClr val="E8751A"/>
                </a:solidFill>
                <a:latin typeface="맑은 고딕" pitchFamily="34" charset="0"/>
                <a:ea typeface="맑은 고딕" pitchFamily="34" charset="-122"/>
                <a:cs typeface="맑은 고딕" pitchFamily="34" charset="-120"/>
              </a:rPr>
              <a:t>안내 데이터 갱신</a:t>
            </a:r>
            <a:endParaRPr lang="en-US" sz="900" dirty="0"/>
          </a:p>
        </p:txBody>
      </p:sp>
      <p:sp>
        <p:nvSpPr>
          <p:cNvPr id="38" name="Shape 36"/>
          <p:cNvSpPr/>
          <p:nvPr/>
        </p:nvSpPr>
        <p:spPr>
          <a:xfrm>
            <a:off x="566928" y="4956048"/>
            <a:ext cx="11057839" cy="841248"/>
          </a:xfrm>
          <a:prstGeom prst="roundRect">
            <a:avLst>
              <a:gd name="adj" fmla="val 15217"/>
            </a:avLst>
          </a:prstGeom>
          <a:solidFill>
            <a:srgbClr val="F4F6FC"/>
          </a:solidFill>
          <a:ln w="12700">
            <a:solidFill>
              <a:srgbClr val="D4DAEE"/>
            </a:solidFill>
            <a:prstDash val="solid"/>
          </a:ln>
        </p:spPr>
      </p:sp>
      <p:sp>
        <p:nvSpPr>
          <p:cNvPr id="39" name="Text 37"/>
          <p:cNvSpPr/>
          <p:nvPr/>
        </p:nvSpPr>
        <p:spPr>
          <a:xfrm>
            <a:off x="841248" y="4956048"/>
            <a:ext cx="1600200" cy="841248"/>
          </a:xfrm>
          <a:prstGeom prst="rect">
            <a:avLst/>
          </a:prstGeom>
          <a:noFill/>
          <a:ln/>
        </p:spPr>
        <p:txBody>
          <a:bodyPr wrap="square" lIns="0" tIns="0" rIns="0" bIns="0" rtlCol="0" anchor="ctr"/>
          <a:lstStyle/>
          <a:p>
            <a:pPr indent="0" marL="0">
              <a:buNone/>
            </a:pPr>
            <a:r>
              <a:rPr lang="en-US" sz="1150" b="1" dirty="0">
                <a:solidFill>
                  <a:srgbClr val="6E7796"/>
                </a:solidFill>
                <a:latin typeface="맑은 고딕" pitchFamily="34" charset="0"/>
                <a:ea typeface="맑은 고딕" pitchFamily="34" charset="-122"/>
                <a:cs typeface="맑은 고딕" pitchFamily="34" charset="-120"/>
              </a:rPr>
              <a:t>시민이 체감하는 것</a:t>
            </a:r>
            <a:endParaRPr lang="en-US" sz="1150" dirty="0"/>
          </a:p>
        </p:txBody>
      </p:sp>
      <p:sp>
        <p:nvSpPr>
          <p:cNvPr id="40" name="Text 38"/>
          <p:cNvSpPr/>
          <p:nvPr/>
        </p:nvSpPr>
        <p:spPr>
          <a:xfrm>
            <a:off x="2532888" y="4956048"/>
            <a:ext cx="2926080" cy="841248"/>
          </a:xfrm>
          <a:prstGeom prst="rect">
            <a:avLst/>
          </a:prstGeom>
          <a:noFill/>
          <a:ln/>
        </p:spPr>
        <p:txBody>
          <a:bodyPr wrap="square" lIns="0" tIns="0" rIns="0" bIns="0" rtlCol="0" anchor="ctr"/>
          <a:lstStyle/>
          <a:p>
            <a:pPr indent="0" marL="0">
              <a:lnSpc>
                <a:spcPct val="120000"/>
              </a:lnSpc>
              <a:buNone/>
            </a:pPr>
            <a:r>
              <a:rPr lang="en-US" sz="1100" b="1" dirty="0">
                <a:solidFill>
                  <a:srgbClr val="001871"/>
                </a:solidFill>
                <a:latin typeface="맑은 고딕" pitchFamily="34" charset="0"/>
                <a:ea typeface="맑은 고딕" pitchFamily="34" charset="-122"/>
                <a:cs typeface="맑은 고딕" pitchFamily="34" charset="-120"/>
              </a:rPr>
              <a:t>① 뙤약볕에 서 있던 시간이</a:t>
            </a:r>
            <a:endParaRPr lang="en-US" sz="1100" dirty="0"/>
          </a:p>
          <a:p>
            <a:pPr indent="0" marL="0">
              <a:lnSpc>
                <a:spcPct val="120000"/>
              </a:lnSpc>
              <a:buNone/>
            </a:pPr>
            <a:r>
              <a:rPr lang="en-US" sz="1100" b="1" dirty="0">
                <a:solidFill>
                  <a:srgbClr val="001871"/>
                </a:solidFill>
                <a:latin typeface="맑은 고딕" pitchFamily="34" charset="0"/>
                <a:ea typeface="맑은 고딕" pitchFamily="34" charset="-122"/>
                <a:cs typeface="맑은 고딕" pitchFamily="34" charset="-120"/>
              </a:rPr>
              <a:t>     실내 대기로 바뀝니다</a:t>
            </a:r>
            <a:endParaRPr lang="en-US" sz="1100" dirty="0"/>
          </a:p>
        </p:txBody>
      </p:sp>
      <p:sp>
        <p:nvSpPr>
          <p:cNvPr id="41" name="Text 39"/>
          <p:cNvSpPr/>
          <p:nvPr/>
        </p:nvSpPr>
        <p:spPr>
          <a:xfrm>
            <a:off x="5550408" y="4956048"/>
            <a:ext cx="2926080" cy="841248"/>
          </a:xfrm>
          <a:prstGeom prst="rect">
            <a:avLst/>
          </a:prstGeom>
          <a:noFill/>
          <a:ln/>
        </p:spPr>
        <p:txBody>
          <a:bodyPr wrap="square" lIns="0" tIns="0" rIns="0" bIns="0" rtlCol="0" anchor="ctr"/>
          <a:lstStyle/>
          <a:p>
            <a:pPr indent="0" marL="0">
              <a:lnSpc>
                <a:spcPct val="120000"/>
              </a:lnSpc>
              <a:buNone/>
            </a:pPr>
            <a:r>
              <a:rPr lang="en-US" sz="1100" b="1" dirty="0">
                <a:solidFill>
                  <a:srgbClr val="001871"/>
                </a:solidFill>
                <a:latin typeface="맑은 고딕" pitchFamily="34" charset="0"/>
                <a:ea typeface="맑은 고딕" pitchFamily="34" charset="-122"/>
                <a:cs typeface="맑은 고딕" pitchFamily="34" charset="-120"/>
              </a:rPr>
              <a:t>② 시설의 유무를</a:t>
            </a:r>
            <a:endParaRPr lang="en-US" sz="1100" dirty="0"/>
          </a:p>
          <a:p>
            <a:pPr indent="0" marL="0">
              <a:lnSpc>
                <a:spcPct val="120000"/>
              </a:lnSpc>
              <a:buNone/>
            </a:pPr>
            <a:r>
              <a:rPr lang="en-US" sz="1100" b="1" dirty="0">
                <a:solidFill>
                  <a:srgbClr val="001871"/>
                </a:solidFill>
                <a:latin typeface="맑은 고딕" pitchFamily="34" charset="0"/>
                <a:ea typeface="맑은 고딕" pitchFamily="34" charset="-122"/>
                <a:cs typeface="맑은 고딕" pitchFamily="34" charset="-120"/>
              </a:rPr>
              <a:t>     '가기 전에' 알 수 있습니다</a:t>
            </a:r>
            <a:endParaRPr lang="en-US" sz="1100" dirty="0"/>
          </a:p>
        </p:txBody>
      </p:sp>
      <p:sp>
        <p:nvSpPr>
          <p:cNvPr id="42" name="Text 40"/>
          <p:cNvSpPr/>
          <p:nvPr/>
        </p:nvSpPr>
        <p:spPr>
          <a:xfrm>
            <a:off x="8567928" y="4956048"/>
            <a:ext cx="2926080" cy="841248"/>
          </a:xfrm>
          <a:prstGeom prst="rect">
            <a:avLst/>
          </a:prstGeom>
          <a:noFill/>
          <a:ln/>
        </p:spPr>
        <p:txBody>
          <a:bodyPr wrap="square" lIns="0" tIns="0" rIns="0" bIns="0" rtlCol="0" anchor="ctr"/>
          <a:lstStyle/>
          <a:p>
            <a:pPr indent="0" marL="0">
              <a:lnSpc>
                <a:spcPct val="120000"/>
              </a:lnSpc>
              <a:buNone/>
            </a:pPr>
            <a:r>
              <a:rPr lang="en-US" sz="1100" b="1" dirty="0">
                <a:solidFill>
                  <a:srgbClr val="001871"/>
                </a:solidFill>
                <a:latin typeface="맑은 고딕" pitchFamily="34" charset="0"/>
                <a:ea typeface="맑은 고딕" pitchFamily="34" charset="-122"/>
                <a:cs typeface="맑은 고딕" pitchFamily="34" charset="-120"/>
              </a:rPr>
              <a:t>③ 이미 있는 쉼터를</a:t>
            </a:r>
            <a:endParaRPr lang="en-US" sz="1100" dirty="0"/>
          </a:p>
          <a:p>
            <a:pPr indent="0" marL="0">
              <a:lnSpc>
                <a:spcPct val="120000"/>
              </a:lnSpc>
              <a:buNone/>
            </a:pPr>
            <a:r>
              <a:rPr lang="en-US" sz="1100" b="1" dirty="0">
                <a:solidFill>
                  <a:srgbClr val="001871"/>
                </a:solidFill>
                <a:latin typeface="맑은 고딕" pitchFamily="34" charset="0"/>
                <a:ea typeface="맑은 고딕" pitchFamily="34" charset="-122"/>
                <a:cs typeface="맑은 고딕" pitchFamily="34" charset="-120"/>
              </a:rPr>
              <a:t>     비로소 쓰게 됩니다</a:t>
            </a:r>
            <a:endParaRPr lang="en-US" sz="1100" dirty="0"/>
          </a:p>
        </p:txBody>
      </p:sp>
      <p:sp>
        <p:nvSpPr>
          <p:cNvPr id="43" name="Text 41"/>
          <p:cNvSpPr/>
          <p:nvPr/>
        </p:nvSpPr>
        <p:spPr>
          <a:xfrm>
            <a:off x="566928" y="6327648"/>
            <a:ext cx="4572000" cy="274320"/>
          </a:xfrm>
          <a:prstGeom prst="rect">
            <a:avLst/>
          </a:prstGeom>
          <a:noFill/>
          <a:ln/>
        </p:spPr>
        <p:txBody>
          <a:bodyPr wrap="square" lIns="0" tIns="0" rIns="0" bIns="0" rtlCol="0" anchor="ctr"/>
          <a:lstStyle/>
          <a:p>
            <a:pPr algn="l" indent="0" marL="0">
              <a:buNone/>
            </a:pPr>
            <a:r>
              <a:rPr lang="en-US" sz="900" dirty="0">
                <a:solidFill>
                  <a:srgbClr val="6E7796"/>
                </a:solidFill>
                <a:latin typeface="맑은 고딕" pitchFamily="34" charset="0"/>
                <a:ea typeface="맑은 고딕" pitchFamily="34" charset="-122"/>
                <a:cs typeface="맑은 고딕" pitchFamily="34" charset="-120"/>
              </a:rPr>
              <a:t>쉼표정류장  ·  팀 오댕국</a:t>
            </a:r>
            <a:endParaRPr lang="en-US" sz="900" dirty="0"/>
          </a:p>
        </p:txBody>
      </p:sp>
      <p:sp>
        <p:nvSpPr>
          <p:cNvPr id="44" name="Text 42"/>
          <p:cNvSpPr/>
          <p:nvPr/>
        </p:nvSpPr>
        <p:spPr>
          <a:xfrm>
            <a:off x="10710367" y="6327648"/>
            <a:ext cx="914400" cy="274320"/>
          </a:xfrm>
          <a:prstGeom prst="rect">
            <a:avLst/>
          </a:prstGeom>
          <a:noFill/>
          <a:ln/>
        </p:spPr>
        <p:txBody>
          <a:bodyPr wrap="square" lIns="0" tIns="0" rIns="0" bIns="0" rtlCol="0" anchor="ctr"/>
          <a:lstStyle/>
          <a:p>
            <a:pPr algn="r" indent="0" marL="0">
              <a:buNone/>
            </a:pPr>
            <a:r>
              <a:rPr lang="en-US" sz="900" dirty="0">
                <a:solidFill>
                  <a:srgbClr val="6E7796"/>
                </a:solidFill>
                <a:latin typeface="맑은 고딕" pitchFamily="34" charset="0"/>
                <a:ea typeface="맑은 고딕" pitchFamily="34" charset="-122"/>
                <a:cs typeface="맑은 고딕"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11057839" cy="274320"/>
          </a:xfrm>
          <a:prstGeom prst="rect">
            <a:avLst/>
          </a:prstGeom>
          <a:noFill/>
          <a:ln/>
        </p:spPr>
        <p:txBody>
          <a:bodyPr wrap="square" lIns="0" tIns="0" rIns="0" bIns="0" rtlCol="0" anchor="ctr"/>
          <a:lstStyle/>
          <a:p>
            <a:pPr indent="0" marL="0">
              <a:buNone/>
            </a:pPr>
            <a:r>
              <a:rPr lang="en-US" sz="1100" b="1" dirty="0">
                <a:solidFill>
                  <a:srgbClr val="E8751A"/>
                </a:solidFill>
                <a:latin typeface="맑은 고딕" pitchFamily="34" charset="0"/>
                <a:ea typeface="맑은 고딕" pitchFamily="34" charset="-122"/>
                <a:cs typeface="맑은 고딕" pitchFamily="34" charset="-120"/>
              </a:rPr>
              <a:t>04</a:t>
            </a:r>
            <a:pPr indent="0" marL="0">
              <a:buNone/>
            </a:pPr>
            <a:r>
              <a:rPr lang="en-US" sz="1100" b="1" dirty="0">
                <a:solidFill>
                  <a:srgbClr val="6E7796"/>
                </a:solidFill>
                <a:latin typeface="맑은 고딕" pitchFamily="34" charset="0"/>
                <a:ea typeface="맑은 고딕" pitchFamily="34" charset="-122"/>
                <a:cs typeface="맑은 고딕" pitchFamily="34" charset="-120"/>
              </a:rPr>
              <a:t>   사용자 예상 시나리오</a:t>
            </a:r>
            <a:endParaRPr lang="en-US" sz="1100" dirty="0"/>
          </a:p>
        </p:txBody>
      </p:sp>
      <p:sp>
        <p:nvSpPr>
          <p:cNvPr id="3" name="Text 1"/>
          <p:cNvSpPr/>
          <p:nvPr/>
        </p:nvSpPr>
        <p:spPr>
          <a:xfrm>
            <a:off x="566928" y="749808"/>
            <a:ext cx="11057839" cy="566928"/>
          </a:xfrm>
          <a:prstGeom prst="rect">
            <a:avLst/>
          </a:prstGeom>
          <a:noFill/>
          <a:ln/>
        </p:spPr>
        <p:txBody>
          <a:bodyPr wrap="square" lIns="0" tIns="0" rIns="0" bIns="0" rtlCol="0" anchor="ctr"/>
          <a:lstStyle/>
          <a:p>
            <a:pPr indent="0" marL="0">
              <a:buNone/>
            </a:pPr>
            <a:r>
              <a:rPr lang="en-US" sz="2700" b="1" dirty="0">
                <a:solidFill>
                  <a:srgbClr val="141B33"/>
                </a:solidFill>
                <a:latin typeface="맑은 고딕" pitchFamily="34" charset="0"/>
                <a:ea typeface="맑은 고딕" pitchFamily="34" charset="-122"/>
                <a:cs typeface="맑은 고딕" pitchFamily="34" charset="-120"/>
              </a:rPr>
              <a:t>시나리오 ② 제보가 쌓이면 춘천시가 답을 얻습니다</a:t>
            </a:r>
            <a:endParaRPr lang="en-US" sz="2700" dirty="0"/>
          </a:p>
        </p:txBody>
      </p:sp>
      <p:sp>
        <p:nvSpPr>
          <p:cNvPr id="4" name="Text 2"/>
          <p:cNvSpPr/>
          <p:nvPr/>
        </p:nvSpPr>
        <p:spPr>
          <a:xfrm>
            <a:off x="566928" y="1335024"/>
            <a:ext cx="11057839" cy="310896"/>
          </a:xfrm>
          <a:prstGeom prst="rect">
            <a:avLst/>
          </a:prstGeom>
          <a:noFill/>
          <a:ln/>
        </p:spPr>
        <p:txBody>
          <a:bodyPr wrap="square" lIns="0" tIns="0" rIns="0" bIns="0" rtlCol="0" anchor="ctr"/>
          <a:lstStyle/>
          <a:p>
            <a:pPr indent="0" marL="0">
              <a:buNone/>
            </a:pPr>
            <a:r>
              <a:rPr lang="en-US" sz="1300" dirty="0">
                <a:solidFill>
                  <a:srgbClr val="6E7796"/>
                </a:solidFill>
                <a:latin typeface="맑은 고딕" pitchFamily="34" charset="0"/>
                <a:ea typeface="맑은 고딕" pitchFamily="34" charset="-122"/>
                <a:cs typeface="맑은 고딕" pitchFamily="34" charset="-120"/>
              </a:rPr>
              <a:t>지금 그늘 정보가 없는 정류장이 1,729곳(91.5%) — 이 숫자가 줄어드는 만큼 판단이 정확해집니다</a:t>
            </a:r>
            <a:endParaRPr lang="en-US" sz="1300" dirty="0"/>
          </a:p>
        </p:txBody>
      </p:sp>
      <p:sp>
        <p:nvSpPr>
          <p:cNvPr id="5" name="Shape 3"/>
          <p:cNvSpPr/>
          <p:nvPr/>
        </p:nvSpPr>
        <p:spPr>
          <a:xfrm>
            <a:off x="566928" y="1965960"/>
            <a:ext cx="5074920" cy="2148840"/>
          </a:xfrm>
          <a:prstGeom prst="roundRect">
            <a:avLst>
              <a:gd name="adj" fmla="val 5957"/>
            </a:avLst>
          </a:prstGeom>
          <a:solidFill>
            <a:srgbClr val="FFFFFF"/>
          </a:solidFill>
          <a:ln w="12700">
            <a:solidFill>
              <a:srgbClr val="D4DAEE"/>
            </a:solidFill>
            <a:prstDash val="solid"/>
          </a:ln>
          <a:effectLst>
            <a:outerShdw sx="100000" sy="100000" kx="0" ky="0" algn="bl" rotWithShape="0" blurRad="101600" dist="25400" dir="5400000">
              <a:srgbClr val="001871">
                <a:alpha val="7000"/>
              </a:srgbClr>
            </a:outerShdw>
          </a:effectLst>
        </p:spPr>
      </p:sp>
      <p:sp>
        <p:nvSpPr>
          <p:cNvPr id="6" name="Text 4"/>
          <p:cNvSpPr/>
          <p:nvPr/>
        </p:nvSpPr>
        <p:spPr>
          <a:xfrm>
            <a:off x="841248" y="2121408"/>
            <a:ext cx="4480560" cy="292608"/>
          </a:xfrm>
          <a:prstGeom prst="rect">
            <a:avLst/>
          </a:prstGeom>
          <a:noFill/>
          <a:ln/>
        </p:spPr>
        <p:txBody>
          <a:bodyPr wrap="square" lIns="0" tIns="0" rIns="0" bIns="0" rtlCol="0" anchor="ctr"/>
          <a:lstStyle/>
          <a:p>
            <a:pPr indent="0" marL="0">
              <a:buNone/>
            </a:pPr>
            <a:r>
              <a:rPr lang="en-US" sz="1200" b="1" dirty="0">
                <a:solidFill>
                  <a:srgbClr val="E8751A"/>
                </a:solidFill>
                <a:latin typeface="맑은 고딕" pitchFamily="34" charset="0"/>
                <a:ea typeface="맑은 고딕" pitchFamily="34" charset="-122"/>
                <a:cs typeface="맑은 고딕" pitchFamily="34" charset="-120"/>
              </a:rPr>
              <a:t>지금 데이터로 이미 알 수 있는 것</a:t>
            </a:r>
            <a:endParaRPr lang="en-US" sz="1200" dirty="0"/>
          </a:p>
        </p:txBody>
      </p:sp>
      <p:sp>
        <p:nvSpPr>
          <p:cNvPr id="7" name="Text 5"/>
          <p:cNvSpPr/>
          <p:nvPr/>
        </p:nvSpPr>
        <p:spPr>
          <a:xfrm>
            <a:off x="841248" y="2505456"/>
            <a:ext cx="1920240" cy="256032"/>
          </a:xfrm>
          <a:prstGeom prst="rect">
            <a:avLst/>
          </a:prstGeom>
          <a:noFill/>
          <a:ln/>
        </p:spPr>
        <p:txBody>
          <a:bodyPr wrap="square" lIns="0" tIns="0" rIns="0" bIns="0" rtlCol="0" anchor="ctr"/>
          <a:lstStyle/>
          <a:p>
            <a:pPr indent="0" marL="0">
              <a:buNone/>
            </a:pPr>
            <a:r>
              <a:rPr lang="en-US" sz="1100" b="1" dirty="0">
                <a:solidFill>
                  <a:srgbClr val="141B33"/>
                </a:solidFill>
                <a:latin typeface="맑은 고딕" pitchFamily="34" charset="0"/>
                <a:ea typeface="맑은 고딕" pitchFamily="34" charset="-122"/>
                <a:cs typeface="맑은 고딕" pitchFamily="34" charset="-120"/>
              </a:rPr>
              <a:t>폭염 취약 정류장</a:t>
            </a:r>
            <a:endParaRPr lang="en-US" sz="1100" dirty="0"/>
          </a:p>
        </p:txBody>
      </p:sp>
      <p:sp>
        <p:nvSpPr>
          <p:cNvPr id="8" name="Text 6"/>
          <p:cNvSpPr/>
          <p:nvPr/>
        </p:nvSpPr>
        <p:spPr>
          <a:xfrm>
            <a:off x="2761488" y="2505456"/>
            <a:ext cx="914400" cy="256032"/>
          </a:xfrm>
          <a:prstGeom prst="rect">
            <a:avLst/>
          </a:prstGeom>
          <a:noFill/>
          <a:ln/>
        </p:spPr>
        <p:txBody>
          <a:bodyPr wrap="square" lIns="0" tIns="0" rIns="0" bIns="0" rtlCol="0" anchor="ctr"/>
          <a:lstStyle/>
          <a:p>
            <a:pPr algn="r" indent="0" marL="0">
              <a:buNone/>
            </a:pPr>
            <a:r>
              <a:rPr lang="en-US" sz="1400" b="1" dirty="0">
                <a:solidFill>
                  <a:srgbClr val="001871"/>
                </a:solidFill>
                <a:latin typeface="맑은 고딕" pitchFamily="34" charset="0"/>
                <a:ea typeface="맑은 고딕" pitchFamily="34" charset="-122"/>
                <a:cs typeface="맑은 고딕" pitchFamily="34" charset="-120"/>
              </a:rPr>
              <a:t>1,369곳</a:t>
            </a:r>
            <a:endParaRPr lang="en-US" sz="1400" dirty="0"/>
          </a:p>
        </p:txBody>
      </p:sp>
      <p:sp>
        <p:nvSpPr>
          <p:cNvPr id="9" name="Text 7"/>
          <p:cNvSpPr/>
          <p:nvPr/>
        </p:nvSpPr>
        <p:spPr>
          <a:xfrm>
            <a:off x="841248" y="2743200"/>
            <a:ext cx="4572000" cy="237744"/>
          </a:xfrm>
          <a:prstGeom prst="rect">
            <a:avLst/>
          </a:prstGeom>
          <a:noFill/>
          <a:ln/>
        </p:spPr>
        <p:txBody>
          <a:bodyPr wrap="square" lIns="0" tIns="0" rIns="0" bIns="0" rtlCol="0" anchor="ctr"/>
          <a:lstStyle/>
          <a:p>
            <a:pPr indent="0" marL="0">
              <a:buNone/>
            </a:pPr>
            <a:r>
              <a:rPr lang="en-US" sz="950" dirty="0">
                <a:solidFill>
                  <a:srgbClr val="6E7796"/>
                </a:solidFill>
                <a:latin typeface="맑은 고딕" pitchFamily="34" charset="0"/>
                <a:ea typeface="맑은 고딕" pitchFamily="34" charset="-122"/>
                <a:cs typeface="맑은 고딕" pitchFamily="34" charset="-120"/>
              </a:rPr>
              <a:t>그늘 확인 안 됨 + 쉼터 300m 밖</a:t>
            </a:r>
            <a:endParaRPr lang="en-US" sz="950" dirty="0"/>
          </a:p>
        </p:txBody>
      </p:sp>
      <p:sp>
        <p:nvSpPr>
          <p:cNvPr id="10" name="Text 8"/>
          <p:cNvSpPr/>
          <p:nvPr/>
        </p:nvSpPr>
        <p:spPr>
          <a:xfrm>
            <a:off x="841248" y="3017520"/>
            <a:ext cx="1920240" cy="256032"/>
          </a:xfrm>
          <a:prstGeom prst="rect">
            <a:avLst/>
          </a:prstGeom>
          <a:noFill/>
          <a:ln/>
        </p:spPr>
        <p:txBody>
          <a:bodyPr wrap="square" lIns="0" tIns="0" rIns="0" bIns="0" rtlCol="0" anchor="ctr"/>
          <a:lstStyle/>
          <a:p>
            <a:pPr indent="0" marL="0">
              <a:buNone/>
            </a:pPr>
            <a:r>
              <a:rPr lang="en-US" sz="1100" b="1" dirty="0">
                <a:solidFill>
                  <a:srgbClr val="141B33"/>
                </a:solidFill>
                <a:latin typeface="맑은 고딕" pitchFamily="34" charset="0"/>
                <a:ea typeface="맑은 고딕" pitchFamily="34" charset="-122"/>
                <a:cs typeface="맑은 고딕" pitchFamily="34" charset="-120"/>
              </a:rPr>
              <a:t>쉼터 도보권 정류장</a:t>
            </a:r>
            <a:endParaRPr lang="en-US" sz="1100" dirty="0"/>
          </a:p>
        </p:txBody>
      </p:sp>
      <p:sp>
        <p:nvSpPr>
          <p:cNvPr id="11" name="Text 9"/>
          <p:cNvSpPr/>
          <p:nvPr/>
        </p:nvSpPr>
        <p:spPr>
          <a:xfrm>
            <a:off x="2761488" y="3017520"/>
            <a:ext cx="914400" cy="256032"/>
          </a:xfrm>
          <a:prstGeom prst="rect">
            <a:avLst/>
          </a:prstGeom>
          <a:noFill/>
          <a:ln/>
        </p:spPr>
        <p:txBody>
          <a:bodyPr wrap="square" lIns="0" tIns="0" rIns="0" bIns="0" rtlCol="0" anchor="ctr"/>
          <a:lstStyle/>
          <a:p>
            <a:pPr algn="r" indent="0" marL="0">
              <a:buNone/>
            </a:pPr>
            <a:r>
              <a:rPr lang="en-US" sz="1400" b="1" dirty="0">
                <a:solidFill>
                  <a:srgbClr val="001871"/>
                </a:solidFill>
                <a:latin typeface="맑은 고딕" pitchFamily="34" charset="0"/>
                <a:ea typeface="맑은 고딕" pitchFamily="34" charset="-122"/>
                <a:cs typeface="맑은 고딕" pitchFamily="34" charset="-120"/>
              </a:rPr>
              <a:t>503곳</a:t>
            </a:r>
            <a:endParaRPr lang="en-US" sz="1400" dirty="0"/>
          </a:p>
        </p:txBody>
      </p:sp>
      <p:sp>
        <p:nvSpPr>
          <p:cNvPr id="12" name="Text 10"/>
          <p:cNvSpPr/>
          <p:nvPr/>
        </p:nvSpPr>
        <p:spPr>
          <a:xfrm>
            <a:off x="841248" y="3255264"/>
            <a:ext cx="4572000" cy="237744"/>
          </a:xfrm>
          <a:prstGeom prst="rect">
            <a:avLst/>
          </a:prstGeom>
          <a:noFill/>
          <a:ln/>
        </p:spPr>
        <p:txBody>
          <a:bodyPr wrap="square" lIns="0" tIns="0" rIns="0" bIns="0" rtlCol="0" anchor="ctr"/>
          <a:lstStyle/>
          <a:p>
            <a:pPr indent="0" marL="0">
              <a:buNone/>
            </a:pPr>
            <a:r>
              <a:rPr lang="en-US" sz="950" dirty="0">
                <a:solidFill>
                  <a:srgbClr val="6E7796"/>
                </a:solidFill>
                <a:latin typeface="맑은 고딕" pitchFamily="34" charset="0"/>
                <a:ea typeface="맑은 고딕" pitchFamily="34" charset="-122"/>
                <a:cs typeface="맑은 고딕" pitchFamily="34" charset="-120"/>
              </a:rPr>
              <a:t>전체의 26.6%에 불과</a:t>
            </a:r>
            <a:endParaRPr lang="en-US" sz="950" dirty="0"/>
          </a:p>
        </p:txBody>
      </p:sp>
      <p:sp>
        <p:nvSpPr>
          <p:cNvPr id="13" name="Text 11"/>
          <p:cNvSpPr/>
          <p:nvPr/>
        </p:nvSpPr>
        <p:spPr>
          <a:xfrm>
            <a:off x="841248" y="3529584"/>
            <a:ext cx="1920240" cy="256032"/>
          </a:xfrm>
          <a:prstGeom prst="rect">
            <a:avLst/>
          </a:prstGeom>
          <a:noFill/>
          <a:ln/>
        </p:spPr>
        <p:txBody>
          <a:bodyPr wrap="square" lIns="0" tIns="0" rIns="0" bIns="0" rtlCol="0" anchor="ctr"/>
          <a:lstStyle/>
          <a:p>
            <a:pPr indent="0" marL="0">
              <a:buNone/>
            </a:pPr>
            <a:r>
              <a:rPr lang="en-US" sz="1100" b="1" dirty="0">
                <a:solidFill>
                  <a:srgbClr val="141B33"/>
                </a:solidFill>
                <a:latin typeface="맑은 고딕" pitchFamily="34" charset="0"/>
                <a:ea typeface="맑은 고딕" pitchFamily="34" charset="-122"/>
                <a:cs typeface="맑은 고딕" pitchFamily="34" charset="-120"/>
              </a:rPr>
              <a:t>시설 실태가 확인된 곳</a:t>
            </a:r>
            <a:endParaRPr lang="en-US" sz="1100" dirty="0"/>
          </a:p>
        </p:txBody>
      </p:sp>
      <p:sp>
        <p:nvSpPr>
          <p:cNvPr id="14" name="Text 12"/>
          <p:cNvSpPr/>
          <p:nvPr/>
        </p:nvSpPr>
        <p:spPr>
          <a:xfrm>
            <a:off x="2761488" y="3529584"/>
            <a:ext cx="914400" cy="256032"/>
          </a:xfrm>
          <a:prstGeom prst="rect">
            <a:avLst/>
          </a:prstGeom>
          <a:noFill/>
          <a:ln/>
        </p:spPr>
        <p:txBody>
          <a:bodyPr wrap="square" lIns="0" tIns="0" rIns="0" bIns="0" rtlCol="0" anchor="ctr"/>
          <a:lstStyle/>
          <a:p>
            <a:pPr algn="r" indent="0" marL="0">
              <a:buNone/>
            </a:pPr>
            <a:r>
              <a:rPr lang="en-US" sz="1400" b="1" dirty="0">
                <a:solidFill>
                  <a:srgbClr val="001871"/>
                </a:solidFill>
                <a:latin typeface="맑은 고딕" pitchFamily="34" charset="0"/>
                <a:ea typeface="맑은 고딕" pitchFamily="34" charset="-122"/>
                <a:cs typeface="맑은 고딕" pitchFamily="34" charset="-120"/>
              </a:rPr>
              <a:t>161곳</a:t>
            </a:r>
            <a:endParaRPr lang="en-US" sz="1400" dirty="0"/>
          </a:p>
        </p:txBody>
      </p:sp>
      <p:sp>
        <p:nvSpPr>
          <p:cNvPr id="15" name="Text 13"/>
          <p:cNvSpPr/>
          <p:nvPr/>
        </p:nvSpPr>
        <p:spPr>
          <a:xfrm>
            <a:off x="841248" y="3767328"/>
            <a:ext cx="4572000" cy="237744"/>
          </a:xfrm>
          <a:prstGeom prst="rect">
            <a:avLst/>
          </a:prstGeom>
          <a:noFill/>
          <a:ln/>
        </p:spPr>
        <p:txBody>
          <a:bodyPr wrap="square" lIns="0" tIns="0" rIns="0" bIns="0" rtlCol="0" anchor="ctr"/>
          <a:lstStyle/>
          <a:p>
            <a:pPr indent="0" marL="0">
              <a:buNone/>
            </a:pPr>
            <a:r>
              <a:rPr lang="en-US" sz="950" dirty="0">
                <a:solidFill>
                  <a:srgbClr val="6E7796"/>
                </a:solidFill>
                <a:latin typeface="맑은 고딕" pitchFamily="34" charset="0"/>
                <a:ea typeface="맑은 고딕" pitchFamily="34" charset="-122"/>
                <a:cs typeface="맑은 고딕" pitchFamily="34" charset="-120"/>
              </a:rPr>
              <a:t>로드뷰 육안 판독 — 나머지는 미확인</a:t>
            </a:r>
            <a:endParaRPr lang="en-US" sz="950" dirty="0"/>
          </a:p>
        </p:txBody>
      </p:sp>
      <p:sp>
        <p:nvSpPr>
          <p:cNvPr id="16" name="Shape 14"/>
          <p:cNvSpPr/>
          <p:nvPr/>
        </p:nvSpPr>
        <p:spPr>
          <a:xfrm>
            <a:off x="5916168" y="1965960"/>
            <a:ext cx="5708599" cy="2148840"/>
          </a:xfrm>
          <a:prstGeom prst="roundRect">
            <a:avLst>
              <a:gd name="adj" fmla="val 5957"/>
            </a:avLst>
          </a:prstGeom>
          <a:solidFill>
            <a:srgbClr val="001871"/>
          </a:solidFill>
          <a:ln w="12700">
            <a:solidFill>
              <a:srgbClr val="001871"/>
            </a:solidFill>
            <a:prstDash val="solid"/>
          </a:ln>
        </p:spPr>
      </p:sp>
      <p:sp>
        <p:nvSpPr>
          <p:cNvPr id="17" name="Text 15"/>
          <p:cNvSpPr/>
          <p:nvPr/>
        </p:nvSpPr>
        <p:spPr>
          <a:xfrm>
            <a:off x="6190488" y="2121408"/>
            <a:ext cx="5029200" cy="292608"/>
          </a:xfrm>
          <a:prstGeom prst="rect">
            <a:avLst/>
          </a:prstGeom>
          <a:noFill/>
          <a:ln/>
        </p:spPr>
        <p:txBody>
          <a:bodyPr wrap="square" lIns="0" tIns="0" rIns="0" bIns="0" rtlCol="0" anchor="ctr"/>
          <a:lstStyle/>
          <a:p>
            <a:pPr indent="0" marL="0">
              <a:buNone/>
            </a:pPr>
            <a:r>
              <a:rPr lang="en-US" sz="1200" b="1" dirty="0">
                <a:solidFill>
                  <a:srgbClr val="A6B3E6"/>
                </a:solidFill>
                <a:latin typeface="맑은 고딕" pitchFamily="34" charset="0"/>
                <a:ea typeface="맑은 고딕" pitchFamily="34" charset="-122"/>
                <a:cs typeface="맑은 고딕" pitchFamily="34" charset="-120"/>
              </a:rPr>
              <a:t>춘천시가 이 목록으로 할 수 있는 일</a:t>
            </a:r>
            <a:endParaRPr lang="en-US" sz="1200" dirty="0"/>
          </a:p>
        </p:txBody>
      </p:sp>
      <p:sp>
        <p:nvSpPr>
          <p:cNvPr id="18" name="Text 16"/>
          <p:cNvSpPr/>
          <p:nvPr/>
        </p:nvSpPr>
        <p:spPr>
          <a:xfrm>
            <a:off x="6190488" y="2542032"/>
            <a:ext cx="4983480" cy="493776"/>
          </a:xfrm>
          <a:prstGeom prst="rect">
            <a:avLst/>
          </a:prstGeom>
          <a:noFill/>
          <a:ln/>
        </p:spPr>
        <p:txBody>
          <a:bodyPr wrap="square" lIns="0" tIns="0" rIns="0" bIns="0" rtlCol="0" anchor="t"/>
          <a:lstStyle/>
          <a:p>
            <a:pPr indent="0" marL="0">
              <a:lnSpc>
                <a:spcPct val="120000"/>
              </a:lnSpc>
              <a:buNone/>
            </a:pPr>
            <a:r>
              <a:rPr lang="en-US" sz="1000" b="1" dirty="0">
                <a:solidFill>
                  <a:srgbClr val="E8751A"/>
                </a:solidFill>
                <a:latin typeface="맑은 고딕" pitchFamily="34" charset="0"/>
                <a:ea typeface="맑은 고딕" pitchFamily="34" charset="-122"/>
                <a:cs typeface="맑은 고딕" pitchFamily="34" charset="-120"/>
              </a:rPr>
              <a:t>·  </a:t>
            </a:r>
            <a:pPr indent="0" marL="0">
              <a:lnSpc>
                <a:spcPct val="120000"/>
              </a:lnSpc>
              <a:buNone/>
            </a:pPr>
            <a:r>
              <a:rPr lang="en-US" sz="1000" dirty="0">
                <a:solidFill>
                  <a:srgbClr val="D4DAEE"/>
                </a:solidFill>
                <a:latin typeface="맑은 고딕" pitchFamily="34" charset="0"/>
                <a:ea typeface="맑은 고딕" pitchFamily="34" charset="-122"/>
                <a:cs typeface="맑은 고딕" pitchFamily="34" charset="-120"/>
              </a:rPr>
              <a:t>취약 정류장이 몰린 구역을 안전총괄과와 공유 → 무더위쉼터 추가 지정·그늘막 설치 후보로</a:t>
            </a:r>
            <a:endParaRPr lang="en-US" sz="1000" dirty="0"/>
          </a:p>
        </p:txBody>
      </p:sp>
      <p:sp>
        <p:nvSpPr>
          <p:cNvPr id="19" name="Text 17"/>
          <p:cNvSpPr/>
          <p:nvPr/>
        </p:nvSpPr>
        <p:spPr>
          <a:xfrm>
            <a:off x="6190488" y="3072384"/>
            <a:ext cx="4983480" cy="493776"/>
          </a:xfrm>
          <a:prstGeom prst="rect">
            <a:avLst/>
          </a:prstGeom>
          <a:noFill/>
          <a:ln/>
        </p:spPr>
        <p:txBody>
          <a:bodyPr wrap="square" lIns="0" tIns="0" rIns="0" bIns="0" rtlCol="0" anchor="t"/>
          <a:lstStyle/>
          <a:p>
            <a:pPr indent="0" marL="0">
              <a:lnSpc>
                <a:spcPct val="120000"/>
              </a:lnSpc>
              <a:buNone/>
            </a:pPr>
            <a:r>
              <a:rPr lang="en-US" sz="1000" b="1" dirty="0">
                <a:solidFill>
                  <a:srgbClr val="E8751A"/>
                </a:solidFill>
                <a:latin typeface="맑은 고딕" pitchFamily="34" charset="0"/>
                <a:ea typeface="맑은 고딕" pitchFamily="34" charset="-122"/>
                <a:cs typeface="맑은 고딕" pitchFamily="34" charset="-120"/>
              </a:rPr>
              <a:t>·  </a:t>
            </a:r>
            <a:pPr indent="0" marL="0">
              <a:lnSpc>
                <a:spcPct val="120000"/>
              </a:lnSpc>
              <a:buNone/>
            </a:pPr>
            <a:r>
              <a:rPr lang="en-US" sz="1000" dirty="0">
                <a:solidFill>
                  <a:srgbClr val="D4DAEE"/>
                </a:solidFill>
                <a:latin typeface="맑은 고딕" pitchFamily="34" charset="0"/>
                <a:ea typeface="맑은 고딕" pitchFamily="34" charset="-122"/>
                <a:cs typeface="맑은 고딕" pitchFamily="34" charset="-120"/>
              </a:rPr>
              <a:t>'그늘 없음 + 쉼터 300m 밖 + 이용량 상위'를 겹쳐 유개식 승강장 설치 후보 목록 산출</a:t>
            </a:r>
            <a:endParaRPr lang="en-US" sz="1000" dirty="0"/>
          </a:p>
        </p:txBody>
      </p:sp>
      <p:sp>
        <p:nvSpPr>
          <p:cNvPr id="20" name="Text 18"/>
          <p:cNvSpPr/>
          <p:nvPr/>
        </p:nvSpPr>
        <p:spPr>
          <a:xfrm>
            <a:off x="6190488" y="3602736"/>
            <a:ext cx="4983480" cy="493776"/>
          </a:xfrm>
          <a:prstGeom prst="rect">
            <a:avLst/>
          </a:prstGeom>
          <a:noFill/>
          <a:ln/>
        </p:spPr>
        <p:txBody>
          <a:bodyPr wrap="square" lIns="0" tIns="0" rIns="0" bIns="0" rtlCol="0" anchor="t"/>
          <a:lstStyle/>
          <a:p>
            <a:pPr indent="0" marL="0">
              <a:lnSpc>
                <a:spcPct val="120000"/>
              </a:lnSpc>
              <a:buNone/>
            </a:pPr>
            <a:r>
              <a:rPr lang="en-US" sz="1000" b="1" dirty="0">
                <a:solidFill>
                  <a:srgbClr val="E8751A"/>
                </a:solidFill>
                <a:latin typeface="맑은 고딕" pitchFamily="34" charset="0"/>
                <a:ea typeface="맑은 고딕" pitchFamily="34" charset="-122"/>
                <a:cs typeface="맑은 고딕" pitchFamily="34" charset="-120"/>
              </a:rPr>
              <a:t>·  </a:t>
            </a:r>
            <a:pPr indent="0" marL="0">
              <a:lnSpc>
                <a:spcPct val="120000"/>
              </a:lnSpc>
              <a:buNone/>
            </a:pPr>
            <a:r>
              <a:rPr lang="en-US" sz="1000" dirty="0">
                <a:solidFill>
                  <a:srgbClr val="D4DAEE"/>
                </a:solidFill>
                <a:latin typeface="맑은 고딕" pitchFamily="34" charset="0"/>
                <a:ea typeface="맑은 고딕" pitchFamily="34" charset="-122"/>
                <a:cs typeface="맑은 고딕" pitchFamily="34" charset="-120"/>
              </a:rPr>
              <a:t>제보가 쌓일수록 실태가 정확해져, 다음 연도 예산 요구서에 '왜 이 정류장인지'를 숫자로 씀</a:t>
            </a:r>
            <a:endParaRPr lang="en-US" sz="1000" dirty="0"/>
          </a:p>
        </p:txBody>
      </p:sp>
      <p:sp>
        <p:nvSpPr>
          <p:cNvPr id="21" name="Shape 19"/>
          <p:cNvSpPr/>
          <p:nvPr/>
        </p:nvSpPr>
        <p:spPr>
          <a:xfrm>
            <a:off x="566928" y="4315968"/>
            <a:ext cx="11057839" cy="1481328"/>
          </a:xfrm>
          <a:prstGeom prst="roundRect">
            <a:avLst>
              <a:gd name="adj" fmla="val 8642"/>
            </a:avLst>
          </a:prstGeom>
          <a:solidFill>
            <a:srgbClr val="F4F6FC"/>
          </a:solidFill>
          <a:ln w="12700">
            <a:solidFill>
              <a:srgbClr val="D4DAEE"/>
            </a:solidFill>
            <a:prstDash val="solid"/>
          </a:ln>
        </p:spPr>
      </p:sp>
      <p:sp>
        <p:nvSpPr>
          <p:cNvPr id="22" name="Text 20"/>
          <p:cNvSpPr/>
          <p:nvPr/>
        </p:nvSpPr>
        <p:spPr>
          <a:xfrm>
            <a:off x="841248" y="4462272"/>
            <a:ext cx="2743200" cy="274320"/>
          </a:xfrm>
          <a:prstGeom prst="rect">
            <a:avLst/>
          </a:prstGeom>
          <a:noFill/>
          <a:ln/>
        </p:spPr>
        <p:txBody>
          <a:bodyPr wrap="square" lIns="0" tIns="0" rIns="0" bIns="0" rtlCol="0" anchor="ctr"/>
          <a:lstStyle/>
          <a:p>
            <a:pPr indent="0" marL="0">
              <a:buNone/>
            </a:pPr>
            <a:r>
              <a:rPr lang="en-US" sz="1200" b="1" dirty="0">
                <a:solidFill>
                  <a:srgbClr val="6E7796"/>
                </a:solidFill>
                <a:latin typeface="맑은 고딕" pitchFamily="34" charset="0"/>
                <a:ea typeface="맑은 고딕" pitchFamily="34" charset="-122"/>
                <a:cs typeface="맑은 고딕" pitchFamily="34" charset="-120"/>
              </a:rPr>
              <a:t>행정 활용 관점</a:t>
            </a:r>
            <a:endParaRPr lang="en-US" sz="1200" dirty="0"/>
          </a:p>
        </p:txBody>
      </p:sp>
      <p:sp>
        <p:nvSpPr>
          <p:cNvPr id="23" name="Text 21"/>
          <p:cNvSpPr/>
          <p:nvPr/>
        </p:nvSpPr>
        <p:spPr>
          <a:xfrm>
            <a:off x="841248" y="4791456"/>
            <a:ext cx="2011680" cy="237744"/>
          </a:xfrm>
          <a:prstGeom prst="rect">
            <a:avLst/>
          </a:prstGeom>
          <a:noFill/>
          <a:ln/>
        </p:spPr>
        <p:txBody>
          <a:bodyPr wrap="square" lIns="0" tIns="0" rIns="0" bIns="0" rtlCol="0" anchor="ctr"/>
          <a:lstStyle/>
          <a:p>
            <a:pPr indent="0" marL="0">
              <a:buNone/>
            </a:pPr>
            <a:r>
              <a:rPr lang="en-US" sz="1000" dirty="0">
                <a:solidFill>
                  <a:srgbClr val="6E7796"/>
                </a:solidFill>
                <a:latin typeface="맑은 고딕" pitchFamily="34" charset="0"/>
                <a:ea typeface="맑은 고딕" pitchFamily="34" charset="-122"/>
                <a:cs typeface="맑은 고딕" pitchFamily="34" charset="-120"/>
              </a:rPr>
              <a:t>담당 부서</a:t>
            </a:r>
            <a:endParaRPr lang="en-US" sz="1000" dirty="0"/>
          </a:p>
        </p:txBody>
      </p:sp>
      <p:sp>
        <p:nvSpPr>
          <p:cNvPr id="24" name="Text 22"/>
          <p:cNvSpPr/>
          <p:nvPr/>
        </p:nvSpPr>
        <p:spPr>
          <a:xfrm>
            <a:off x="841248" y="5029200"/>
            <a:ext cx="2011680" cy="438912"/>
          </a:xfrm>
          <a:prstGeom prst="rect">
            <a:avLst/>
          </a:prstGeom>
          <a:noFill/>
          <a:ln/>
        </p:spPr>
        <p:txBody>
          <a:bodyPr wrap="square" lIns="0" tIns="0" rIns="0" bIns="0" rtlCol="0" anchor="t"/>
          <a:lstStyle/>
          <a:p>
            <a:pPr indent="0" marL="0">
              <a:lnSpc>
                <a:spcPct val="115000"/>
              </a:lnSpc>
              <a:buNone/>
            </a:pPr>
            <a:r>
              <a:rPr lang="en-US" sz="1000" b="1" dirty="0">
                <a:solidFill>
                  <a:srgbClr val="141B33"/>
                </a:solidFill>
                <a:latin typeface="맑은 고딕" pitchFamily="34" charset="0"/>
                <a:ea typeface="맑은 고딕" pitchFamily="34" charset="-122"/>
                <a:cs typeface="맑은 고딕" pitchFamily="34" charset="-120"/>
              </a:rPr>
              <a:t>교통과 · 안전총괄과</a:t>
            </a:r>
            <a:endParaRPr lang="en-US" sz="1000" dirty="0"/>
          </a:p>
        </p:txBody>
      </p:sp>
      <p:sp>
        <p:nvSpPr>
          <p:cNvPr id="25" name="Text 23"/>
          <p:cNvSpPr/>
          <p:nvPr/>
        </p:nvSpPr>
        <p:spPr>
          <a:xfrm>
            <a:off x="2944368" y="4791456"/>
            <a:ext cx="2011680" cy="237744"/>
          </a:xfrm>
          <a:prstGeom prst="rect">
            <a:avLst/>
          </a:prstGeom>
          <a:noFill/>
          <a:ln/>
        </p:spPr>
        <p:txBody>
          <a:bodyPr wrap="square" lIns="0" tIns="0" rIns="0" bIns="0" rtlCol="0" anchor="ctr"/>
          <a:lstStyle/>
          <a:p>
            <a:pPr indent="0" marL="0">
              <a:buNone/>
            </a:pPr>
            <a:r>
              <a:rPr lang="en-US" sz="1000" dirty="0">
                <a:solidFill>
                  <a:srgbClr val="6E7796"/>
                </a:solidFill>
                <a:latin typeface="맑은 고딕" pitchFamily="34" charset="0"/>
                <a:ea typeface="맑은 고딕" pitchFamily="34" charset="-122"/>
                <a:cs typeface="맑은 고딕" pitchFamily="34" charset="-120"/>
              </a:rPr>
              <a:t>도입 비용</a:t>
            </a:r>
            <a:endParaRPr lang="en-US" sz="1000" dirty="0"/>
          </a:p>
        </p:txBody>
      </p:sp>
      <p:sp>
        <p:nvSpPr>
          <p:cNvPr id="26" name="Text 24"/>
          <p:cNvSpPr/>
          <p:nvPr/>
        </p:nvSpPr>
        <p:spPr>
          <a:xfrm>
            <a:off x="2944368" y="5029200"/>
            <a:ext cx="2011680" cy="438912"/>
          </a:xfrm>
          <a:prstGeom prst="rect">
            <a:avLst/>
          </a:prstGeom>
          <a:noFill/>
          <a:ln/>
        </p:spPr>
        <p:txBody>
          <a:bodyPr wrap="square" lIns="0" tIns="0" rIns="0" bIns="0" rtlCol="0" anchor="t"/>
          <a:lstStyle/>
          <a:p>
            <a:pPr indent="0" marL="0">
              <a:lnSpc>
                <a:spcPct val="115000"/>
              </a:lnSpc>
              <a:buNone/>
            </a:pPr>
            <a:r>
              <a:rPr lang="en-US" sz="1000" b="1" dirty="0">
                <a:solidFill>
                  <a:srgbClr val="141B33"/>
                </a:solidFill>
                <a:latin typeface="맑은 고딕" pitchFamily="34" charset="0"/>
                <a:ea typeface="맑은 고딕" pitchFamily="34" charset="-122"/>
                <a:cs typeface="맑은 고딕" pitchFamily="34" charset="-120"/>
              </a:rPr>
              <a:t>웹 주소 접속만 · 별도 설치 없음</a:t>
            </a:r>
            <a:endParaRPr lang="en-US" sz="1000" dirty="0"/>
          </a:p>
        </p:txBody>
      </p:sp>
      <p:sp>
        <p:nvSpPr>
          <p:cNvPr id="27" name="Text 25"/>
          <p:cNvSpPr/>
          <p:nvPr/>
        </p:nvSpPr>
        <p:spPr>
          <a:xfrm>
            <a:off x="5047488" y="4791456"/>
            <a:ext cx="2011680" cy="237744"/>
          </a:xfrm>
          <a:prstGeom prst="rect">
            <a:avLst/>
          </a:prstGeom>
          <a:noFill/>
          <a:ln/>
        </p:spPr>
        <p:txBody>
          <a:bodyPr wrap="square" lIns="0" tIns="0" rIns="0" bIns="0" rtlCol="0" anchor="ctr"/>
          <a:lstStyle/>
          <a:p>
            <a:pPr indent="0" marL="0">
              <a:buNone/>
            </a:pPr>
            <a:r>
              <a:rPr lang="en-US" sz="1000" dirty="0">
                <a:solidFill>
                  <a:srgbClr val="6E7796"/>
                </a:solidFill>
                <a:latin typeface="맑은 고딕" pitchFamily="34" charset="0"/>
                <a:ea typeface="맑은 고딕" pitchFamily="34" charset="-122"/>
                <a:cs typeface="맑은 고딕" pitchFamily="34" charset="-120"/>
              </a:rPr>
              <a:t>갱신 주기</a:t>
            </a:r>
            <a:endParaRPr lang="en-US" sz="1000" dirty="0"/>
          </a:p>
        </p:txBody>
      </p:sp>
      <p:sp>
        <p:nvSpPr>
          <p:cNvPr id="28" name="Text 26"/>
          <p:cNvSpPr/>
          <p:nvPr/>
        </p:nvSpPr>
        <p:spPr>
          <a:xfrm>
            <a:off x="5047488" y="5029200"/>
            <a:ext cx="2011680" cy="438912"/>
          </a:xfrm>
          <a:prstGeom prst="rect">
            <a:avLst/>
          </a:prstGeom>
          <a:noFill/>
          <a:ln/>
        </p:spPr>
        <p:txBody>
          <a:bodyPr wrap="square" lIns="0" tIns="0" rIns="0" bIns="0" rtlCol="0" anchor="t"/>
          <a:lstStyle/>
          <a:p>
            <a:pPr indent="0" marL="0">
              <a:lnSpc>
                <a:spcPct val="115000"/>
              </a:lnSpc>
              <a:buNone/>
            </a:pPr>
            <a:r>
              <a:rPr lang="en-US" sz="1000" b="1" dirty="0">
                <a:solidFill>
                  <a:srgbClr val="141B33"/>
                </a:solidFill>
                <a:latin typeface="맑은 고딕" pitchFamily="34" charset="0"/>
                <a:ea typeface="맑은 고딕" pitchFamily="34" charset="-122"/>
                <a:cs typeface="맑은 고딕" pitchFamily="34" charset="-120"/>
              </a:rPr>
              <a:t>시민 제보가 들어올 때마다 상시</a:t>
            </a:r>
            <a:endParaRPr lang="en-US" sz="1000" dirty="0"/>
          </a:p>
        </p:txBody>
      </p:sp>
      <p:sp>
        <p:nvSpPr>
          <p:cNvPr id="29" name="Text 27"/>
          <p:cNvSpPr/>
          <p:nvPr/>
        </p:nvSpPr>
        <p:spPr>
          <a:xfrm>
            <a:off x="7150608" y="4791456"/>
            <a:ext cx="2011680" cy="237744"/>
          </a:xfrm>
          <a:prstGeom prst="rect">
            <a:avLst/>
          </a:prstGeom>
          <a:noFill/>
          <a:ln/>
        </p:spPr>
        <p:txBody>
          <a:bodyPr wrap="square" lIns="0" tIns="0" rIns="0" bIns="0" rtlCol="0" anchor="ctr"/>
          <a:lstStyle/>
          <a:p>
            <a:pPr indent="0" marL="0">
              <a:buNone/>
            </a:pPr>
            <a:r>
              <a:rPr lang="en-US" sz="1000" dirty="0">
                <a:solidFill>
                  <a:srgbClr val="6E7796"/>
                </a:solidFill>
                <a:latin typeface="맑은 고딕" pitchFamily="34" charset="0"/>
                <a:ea typeface="맑은 고딕" pitchFamily="34" charset="-122"/>
                <a:cs typeface="맑은 고딕" pitchFamily="34" charset="-120"/>
              </a:rPr>
              <a:t>대체하는 것</a:t>
            </a:r>
            <a:endParaRPr lang="en-US" sz="1000" dirty="0"/>
          </a:p>
        </p:txBody>
      </p:sp>
      <p:sp>
        <p:nvSpPr>
          <p:cNvPr id="30" name="Text 28"/>
          <p:cNvSpPr/>
          <p:nvPr/>
        </p:nvSpPr>
        <p:spPr>
          <a:xfrm>
            <a:off x="7150608" y="5029200"/>
            <a:ext cx="2011680" cy="438912"/>
          </a:xfrm>
          <a:prstGeom prst="rect">
            <a:avLst/>
          </a:prstGeom>
          <a:noFill/>
          <a:ln/>
        </p:spPr>
        <p:txBody>
          <a:bodyPr wrap="square" lIns="0" tIns="0" rIns="0" bIns="0" rtlCol="0" anchor="t"/>
          <a:lstStyle/>
          <a:p>
            <a:pPr indent="0" marL="0">
              <a:lnSpc>
                <a:spcPct val="115000"/>
              </a:lnSpc>
              <a:buNone/>
            </a:pPr>
            <a:r>
              <a:rPr lang="en-US" sz="1000" b="1" dirty="0">
                <a:solidFill>
                  <a:srgbClr val="141B33"/>
                </a:solidFill>
                <a:latin typeface="맑은 고딕" pitchFamily="34" charset="0"/>
                <a:ea typeface="맑은 고딕" pitchFamily="34" charset="-122"/>
                <a:cs typeface="맑은 고딕" pitchFamily="34" charset="-120"/>
              </a:rPr>
              <a:t>정류장 전수 현장 실태조사</a:t>
            </a:r>
            <a:endParaRPr lang="en-US" sz="1000" dirty="0"/>
          </a:p>
        </p:txBody>
      </p:sp>
      <p:sp>
        <p:nvSpPr>
          <p:cNvPr id="31" name="Text 29"/>
          <p:cNvSpPr/>
          <p:nvPr/>
        </p:nvSpPr>
        <p:spPr>
          <a:xfrm>
            <a:off x="9253728" y="4791456"/>
            <a:ext cx="2011680" cy="237744"/>
          </a:xfrm>
          <a:prstGeom prst="rect">
            <a:avLst/>
          </a:prstGeom>
          <a:noFill/>
          <a:ln/>
        </p:spPr>
        <p:txBody>
          <a:bodyPr wrap="square" lIns="0" tIns="0" rIns="0" bIns="0" rtlCol="0" anchor="ctr"/>
          <a:lstStyle/>
          <a:p>
            <a:pPr indent="0" marL="0">
              <a:buNone/>
            </a:pPr>
            <a:r>
              <a:rPr lang="en-US" sz="1000" dirty="0">
                <a:solidFill>
                  <a:srgbClr val="6E7796"/>
                </a:solidFill>
                <a:latin typeface="맑은 고딕" pitchFamily="34" charset="0"/>
                <a:ea typeface="맑은 고딕" pitchFamily="34" charset="-122"/>
                <a:cs typeface="맑은 고딕" pitchFamily="34" charset="-120"/>
              </a:rPr>
              <a:t>산출물</a:t>
            </a:r>
            <a:endParaRPr lang="en-US" sz="1000" dirty="0"/>
          </a:p>
        </p:txBody>
      </p:sp>
      <p:sp>
        <p:nvSpPr>
          <p:cNvPr id="32" name="Text 30"/>
          <p:cNvSpPr/>
          <p:nvPr/>
        </p:nvSpPr>
        <p:spPr>
          <a:xfrm>
            <a:off x="9253728" y="5029200"/>
            <a:ext cx="2011680" cy="438912"/>
          </a:xfrm>
          <a:prstGeom prst="rect">
            <a:avLst/>
          </a:prstGeom>
          <a:noFill/>
          <a:ln/>
        </p:spPr>
        <p:txBody>
          <a:bodyPr wrap="square" lIns="0" tIns="0" rIns="0" bIns="0" rtlCol="0" anchor="t"/>
          <a:lstStyle/>
          <a:p>
            <a:pPr indent="0" marL="0">
              <a:lnSpc>
                <a:spcPct val="115000"/>
              </a:lnSpc>
              <a:buNone/>
            </a:pPr>
            <a:r>
              <a:rPr lang="en-US" sz="1000" b="1" dirty="0">
                <a:solidFill>
                  <a:srgbClr val="141B33"/>
                </a:solidFill>
                <a:latin typeface="맑은 고딕" pitchFamily="34" charset="0"/>
                <a:ea typeface="맑은 고딕" pitchFamily="34" charset="-122"/>
                <a:cs typeface="맑은 고딕" pitchFamily="34" charset="-120"/>
              </a:rPr>
              <a:t>폭염 취약 정류장 목록</a:t>
            </a:r>
            <a:endParaRPr lang="en-US" sz="1000" dirty="0"/>
          </a:p>
          <a:p>
            <a:pPr indent="0" marL="0">
              <a:lnSpc>
                <a:spcPct val="115000"/>
              </a:lnSpc>
              <a:buNone/>
            </a:pPr>
            <a:r>
              <a:rPr lang="en-US" sz="1000" b="1" dirty="0">
                <a:solidFill>
                  <a:srgbClr val="141B33"/>
                </a:solidFill>
                <a:latin typeface="맑은 고딕" pitchFamily="34" charset="0"/>
                <a:ea typeface="맑은 고딕" pitchFamily="34" charset="-122"/>
                <a:cs typeface="맑은 고딕" pitchFamily="34" charset="-120"/>
              </a:rPr>
              <a:t>시설 실태 5종</a:t>
            </a:r>
            <a:endParaRPr lang="en-US" sz="1000" dirty="0"/>
          </a:p>
        </p:txBody>
      </p:sp>
      <p:sp>
        <p:nvSpPr>
          <p:cNvPr id="33" name="Text 31"/>
          <p:cNvSpPr/>
          <p:nvPr/>
        </p:nvSpPr>
        <p:spPr>
          <a:xfrm>
            <a:off x="841248" y="5468112"/>
            <a:ext cx="10509199" cy="256032"/>
          </a:xfrm>
          <a:prstGeom prst="rect">
            <a:avLst/>
          </a:prstGeom>
          <a:noFill/>
          <a:ln/>
        </p:spPr>
        <p:txBody>
          <a:bodyPr wrap="square" lIns="0" tIns="0" rIns="0" bIns="0" rtlCol="0" anchor="ctr"/>
          <a:lstStyle/>
          <a:p>
            <a:pPr indent="0" marL="0">
              <a:buNone/>
            </a:pPr>
            <a:r>
              <a:rPr lang="en-US" sz="900" dirty="0">
                <a:solidFill>
                  <a:srgbClr val="6E7796"/>
                </a:solidFill>
                <a:latin typeface="맑은 고딕" pitchFamily="34" charset="0"/>
                <a:ea typeface="맑은 고딕" pitchFamily="34" charset="-122"/>
                <a:cs typeface="맑은 고딕" pitchFamily="34" charset="-120"/>
              </a:rPr>
              <a:t>※ 개인정보를 수집하지 않으므로(닉네임·연락처 필드 없음) 민원 접수 채널로 쓰더라도 개인정보 처리 부담이 발생하지 않습니다.</a:t>
            </a:r>
            <a:endParaRPr lang="en-US" sz="900" dirty="0"/>
          </a:p>
        </p:txBody>
      </p:sp>
      <p:sp>
        <p:nvSpPr>
          <p:cNvPr id="34" name="Text 32"/>
          <p:cNvSpPr/>
          <p:nvPr/>
        </p:nvSpPr>
        <p:spPr>
          <a:xfrm>
            <a:off x="566928" y="6327648"/>
            <a:ext cx="4572000" cy="274320"/>
          </a:xfrm>
          <a:prstGeom prst="rect">
            <a:avLst/>
          </a:prstGeom>
          <a:noFill/>
          <a:ln/>
        </p:spPr>
        <p:txBody>
          <a:bodyPr wrap="square" lIns="0" tIns="0" rIns="0" bIns="0" rtlCol="0" anchor="ctr"/>
          <a:lstStyle/>
          <a:p>
            <a:pPr algn="l" indent="0" marL="0">
              <a:buNone/>
            </a:pPr>
            <a:r>
              <a:rPr lang="en-US" sz="900" dirty="0">
                <a:solidFill>
                  <a:srgbClr val="6E7796"/>
                </a:solidFill>
                <a:latin typeface="맑은 고딕" pitchFamily="34" charset="0"/>
                <a:ea typeface="맑은 고딕" pitchFamily="34" charset="-122"/>
                <a:cs typeface="맑은 고딕" pitchFamily="34" charset="-120"/>
              </a:rPr>
              <a:t>쉼표정류장  ·  팀 오댕국</a:t>
            </a:r>
            <a:endParaRPr lang="en-US" sz="900" dirty="0"/>
          </a:p>
        </p:txBody>
      </p:sp>
      <p:sp>
        <p:nvSpPr>
          <p:cNvPr id="35" name="Text 33"/>
          <p:cNvSpPr/>
          <p:nvPr/>
        </p:nvSpPr>
        <p:spPr>
          <a:xfrm>
            <a:off x="10710367" y="6327648"/>
            <a:ext cx="914400" cy="274320"/>
          </a:xfrm>
          <a:prstGeom prst="rect">
            <a:avLst/>
          </a:prstGeom>
          <a:noFill/>
          <a:ln/>
        </p:spPr>
        <p:txBody>
          <a:bodyPr wrap="square" lIns="0" tIns="0" rIns="0" bIns="0" rtlCol="0" anchor="ctr"/>
          <a:lstStyle/>
          <a:p>
            <a:pPr algn="r" indent="0" marL="0">
              <a:buNone/>
            </a:pPr>
            <a:r>
              <a:rPr lang="en-US" sz="900" dirty="0">
                <a:solidFill>
                  <a:srgbClr val="6E7796"/>
                </a:solidFill>
                <a:latin typeface="맑은 고딕" pitchFamily="34" charset="0"/>
                <a:ea typeface="맑은 고딕" pitchFamily="34" charset="-122"/>
                <a:cs typeface="맑은 고딕"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11057839" cy="274320"/>
          </a:xfrm>
          <a:prstGeom prst="rect">
            <a:avLst/>
          </a:prstGeom>
          <a:noFill/>
          <a:ln/>
        </p:spPr>
        <p:txBody>
          <a:bodyPr wrap="square" lIns="0" tIns="0" rIns="0" bIns="0" rtlCol="0" anchor="ctr"/>
          <a:lstStyle/>
          <a:p>
            <a:pPr indent="0" marL="0">
              <a:buNone/>
            </a:pPr>
            <a:r>
              <a:rPr lang="en-US" sz="1100" b="1" dirty="0">
                <a:solidFill>
                  <a:srgbClr val="E8751A"/>
                </a:solidFill>
                <a:latin typeface="맑은 고딕" pitchFamily="34" charset="0"/>
                <a:ea typeface="맑은 고딕" pitchFamily="34" charset="-122"/>
                <a:cs typeface="맑은 고딕" pitchFamily="34" charset="-120"/>
              </a:rPr>
              <a:t>05</a:t>
            </a:r>
            <a:pPr indent="0" marL="0">
              <a:buNone/>
            </a:pPr>
            <a:r>
              <a:rPr lang="en-US" sz="1100" b="1" dirty="0">
                <a:solidFill>
                  <a:srgbClr val="6E7796"/>
                </a:solidFill>
                <a:latin typeface="맑은 고딕" pitchFamily="34" charset="0"/>
                <a:ea typeface="맑은 고딕" pitchFamily="34" charset="-122"/>
                <a:cs typeface="맑은 고딕" pitchFamily="34" charset="-120"/>
              </a:rPr>
              <a:t>   정책 적용 및 기대 효과</a:t>
            </a:r>
            <a:endParaRPr lang="en-US" sz="1100" dirty="0"/>
          </a:p>
        </p:txBody>
      </p:sp>
      <p:sp>
        <p:nvSpPr>
          <p:cNvPr id="3" name="Text 1"/>
          <p:cNvSpPr/>
          <p:nvPr/>
        </p:nvSpPr>
        <p:spPr>
          <a:xfrm>
            <a:off x="566928" y="749808"/>
            <a:ext cx="11057839" cy="566928"/>
          </a:xfrm>
          <a:prstGeom prst="rect">
            <a:avLst/>
          </a:prstGeom>
          <a:noFill/>
          <a:ln/>
        </p:spPr>
        <p:txBody>
          <a:bodyPr wrap="square" lIns="0" tIns="0" rIns="0" bIns="0" rtlCol="0" anchor="ctr"/>
          <a:lstStyle/>
          <a:p>
            <a:pPr indent="0" marL="0">
              <a:buNone/>
            </a:pPr>
            <a:r>
              <a:rPr lang="en-US" sz="2700" b="1" dirty="0">
                <a:solidFill>
                  <a:srgbClr val="141B33"/>
                </a:solidFill>
                <a:latin typeface="맑은 고딕" pitchFamily="34" charset="0"/>
                <a:ea typeface="맑은 고딕" pitchFamily="34" charset="-122"/>
                <a:cs typeface="맑은 고딕" pitchFamily="34" charset="-120"/>
              </a:rPr>
              <a:t>새로 짓기 전에, 이미 있는 것부터 연결합니다</a:t>
            </a:r>
            <a:endParaRPr lang="en-US" sz="2700" dirty="0"/>
          </a:p>
        </p:txBody>
      </p:sp>
      <p:sp>
        <p:nvSpPr>
          <p:cNvPr id="4" name="Shape 2"/>
          <p:cNvSpPr/>
          <p:nvPr/>
        </p:nvSpPr>
        <p:spPr>
          <a:xfrm>
            <a:off x="566928" y="1783080"/>
            <a:ext cx="3566160" cy="3154680"/>
          </a:xfrm>
          <a:prstGeom prst="roundRect">
            <a:avLst>
              <a:gd name="adj" fmla="val 4058"/>
            </a:avLst>
          </a:prstGeom>
          <a:solidFill>
            <a:srgbClr val="FFFFFF"/>
          </a:solidFill>
          <a:ln w="12700">
            <a:solidFill>
              <a:srgbClr val="D4DAEE"/>
            </a:solidFill>
            <a:prstDash val="solid"/>
          </a:ln>
          <a:effectLst>
            <a:outerShdw sx="100000" sy="100000" kx="0" ky="0" algn="bl" rotWithShape="0" blurRad="101600" dist="25400" dir="5400000">
              <a:srgbClr val="001871">
                <a:alpha val="7000"/>
              </a:srgbClr>
            </a:outerShdw>
          </a:effectLst>
        </p:spPr>
      </p:sp>
      <p:sp>
        <p:nvSpPr>
          <p:cNvPr id="5" name="Text 3"/>
          <p:cNvSpPr/>
          <p:nvPr/>
        </p:nvSpPr>
        <p:spPr>
          <a:xfrm>
            <a:off x="841248" y="1965960"/>
            <a:ext cx="457200" cy="457200"/>
          </a:xfrm>
          <a:prstGeom prst="rect">
            <a:avLst/>
          </a:prstGeom>
          <a:noFill/>
          <a:ln/>
        </p:spPr>
        <p:txBody>
          <a:bodyPr wrap="square" lIns="0" tIns="0" rIns="0" bIns="0" rtlCol="0" anchor="ctr"/>
          <a:lstStyle/>
          <a:p>
            <a:pPr indent="0" marL="0">
              <a:buNone/>
            </a:pPr>
            <a:r>
              <a:rPr lang="en-US" sz="3000" b="1" dirty="0">
                <a:solidFill>
                  <a:srgbClr val="E7EBF8"/>
                </a:solidFill>
                <a:latin typeface="맑은 고딕" pitchFamily="34" charset="0"/>
                <a:ea typeface="맑은 고딕" pitchFamily="34" charset="-122"/>
                <a:cs typeface="맑은 고딕" pitchFamily="34" charset="-120"/>
              </a:rPr>
              <a:t>1</a:t>
            </a:r>
            <a:endParaRPr lang="en-US" sz="3000" dirty="0"/>
          </a:p>
        </p:txBody>
      </p:sp>
      <p:sp>
        <p:nvSpPr>
          <p:cNvPr id="6" name="Text 4"/>
          <p:cNvSpPr/>
          <p:nvPr/>
        </p:nvSpPr>
        <p:spPr>
          <a:xfrm>
            <a:off x="841248" y="2450592"/>
            <a:ext cx="3017520" cy="365760"/>
          </a:xfrm>
          <a:prstGeom prst="rect">
            <a:avLst/>
          </a:prstGeom>
          <a:noFill/>
          <a:ln/>
        </p:spPr>
        <p:txBody>
          <a:bodyPr wrap="square" lIns="0" tIns="0" rIns="0" bIns="0" rtlCol="0" anchor="ctr"/>
          <a:lstStyle/>
          <a:p>
            <a:pPr indent="0" marL="0">
              <a:buNone/>
            </a:pPr>
            <a:r>
              <a:rPr lang="en-US" sz="1500" b="1" dirty="0">
                <a:solidFill>
                  <a:srgbClr val="001871"/>
                </a:solidFill>
                <a:latin typeface="맑은 고딕" pitchFamily="34" charset="0"/>
                <a:ea typeface="맑은 고딕" pitchFamily="34" charset="-122"/>
                <a:cs typeface="맑은 고딕" pitchFamily="34" charset="-120"/>
              </a:rPr>
              <a:t>취약 식별 → 저비용 우선</a:t>
            </a:r>
            <a:endParaRPr lang="en-US" sz="1500" dirty="0"/>
          </a:p>
        </p:txBody>
      </p:sp>
      <p:sp>
        <p:nvSpPr>
          <p:cNvPr id="7" name="Text 5"/>
          <p:cNvSpPr/>
          <p:nvPr/>
        </p:nvSpPr>
        <p:spPr>
          <a:xfrm>
            <a:off x="841248" y="2907792"/>
            <a:ext cx="3063240" cy="1371600"/>
          </a:xfrm>
          <a:prstGeom prst="rect">
            <a:avLst/>
          </a:prstGeom>
          <a:noFill/>
          <a:ln/>
        </p:spPr>
        <p:txBody>
          <a:bodyPr wrap="square" lIns="0" tIns="0" rIns="0" bIns="0" rtlCol="0" anchor="t"/>
          <a:lstStyle/>
          <a:p>
            <a:pPr indent="0" marL="0">
              <a:lnSpc>
                <a:spcPct val="130000"/>
              </a:lnSpc>
              <a:buNone/>
            </a:pPr>
            <a:r>
              <a:rPr lang="en-US" sz="1050" dirty="0">
                <a:solidFill>
                  <a:srgbClr val="3A4160"/>
                </a:solidFill>
                <a:latin typeface="맑은 고딕" pitchFamily="34" charset="0"/>
                <a:ea typeface="맑은 고딕" pitchFamily="34" charset="-122"/>
                <a:cs typeface="맑은 고딕" pitchFamily="34" charset="-120"/>
              </a:rPr>
              <a:t>1억 원짜리 스마트 정류장을 세우기 전에,</a:t>
            </a:r>
            <a:endParaRPr lang="en-US" sz="1050" dirty="0"/>
          </a:p>
          <a:p>
            <a:pPr indent="0" marL="0">
              <a:lnSpc>
                <a:spcPct val="130000"/>
              </a:lnSpc>
              <a:buNone/>
            </a:pPr>
            <a:r>
              <a:rPr lang="en-US" sz="1050" dirty="0">
                <a:solidFill>
                  <a:srgbClr val="3A4160"/>
                </a:solidFill>
                <a:latin typeface="맑은 고딕" pitchFamily="34" charset="0"/>
                <a:ea typeface="맑은 고딕" pitchFamily="34" charset="-122"/>
                <a:cs typeface="맑은 고딕" pitchFamily="34" charset="-120"/>
              </a:rPr>
              <a:t>그늘막을 놓거나 인근 건물을 무더위쉼터로</a:t>
            </a:r>
            <a:endParaRPr lang="en-US" sz="1050" dirty="0"/>
          </a:p>
          <a:p>
            <a:pPr indent="0" marL="0">
              <a:lnSpc>
                <a:spcPct val="130000"/>
              </a:lnSpc>
              <a:buNone/>
            </a:pPr>
            <a:r>
              <a:rPr lang="en-US" sz="1050" dirty="0">
                <a:solidFill>
                  <a:srgbClr val="3A4160"/>
                </a:solidFill>
                <a:latin typeface="맑은 고딕" pitchFamily="34" charset="0"/>
                <a:ea typeface="맑은 고딕" pitchFamily="34" charset="-122"/>
                <a:cs typeface="맑은 고딕" pitchFamily="34" charset="-120"/>
              </a:rPr>
              <a:t>추가 지정하는 것만으로 해결되는 정류장이</a:t>
            </a:r>
            <a:endParaRPr lang="en-US" sz="1050" dirty="0"/>
          </a:p>
          <a:p>
            <a:pPr indent="0" marL="0">
              <a:lnSpc>
                <a:spcPct val="130000"/>
              </a:lnSpc>
              <a:buNone/>
            </a:pPr>
            <a:r>
              <a:rPr lang="en-US" sz="1050" dirty="0">
                <a:solidFill>
                  <a:srgbClr val="3A4160"/>
                </a:solidFill>
                <a:latin typeface="맑은 고딕" pitchFamily="34" charset="0"/>
                <a:ea typeface="맑은 고딕" pitchFamily="34" charset="-122"/>
                <a:cs typeface="맑은 고딕" pitchFamily="34" charset="-120"/>
              </a:rPr>
              <a:t>있습니다. 그 구분을 데이터로 합니다.</a:t>
            </a:r>
            <a:endParaRPr lang="en-US" sz="1050" dirty="0"/>
          </a:p>
        </p:txBody>
      </p:sp>
      <p:sp>
        <p:nvSpPr>
          <p:cNvPr id="8" name="Shape 6"/>
          <p:cNvSpPr/>
          <p:nvPr/>
        </p:nvSpPr>
        <p:spPr>
          <a:xfrm>
            <a:off x="822960" y="4370832"/>
            <a:ext cx="3063240" cy="457200"/>
          </a:xfrm>
          <a:prstGeom prst="roundRect">
            <a:avLst>
              <a:gd name="adj" fmla="val 16000"/>
            </a:avLst>
          </a:prstGeom>
          <a:solidFill>
            <a:srgbClr val="F4F6FC"/>
          </a:solidFill>
          <a:ln w="12700">
            <a:solidFill>
              <a:srgbClr val="D4DAEE"/>
            </a:solidFill>
            <a:prstDash val="solid"/>
          </a:ln>
        </p:spPr>
      </p:sp>
      <p:sp>
        <p:nvSpPr>
          <p:cNvPr id="9" name="Text 7"/>
          <p:cNvSpPr/>
          <p:nvPr/>
        </p:nvSpPr>
        <p:spPr>
          <a:xfrm>
            <a:off x="950976" y="4370832"/>
            <a:ext cx="2807208" cy="457200"/>
          </a:xfrm>
          <a:prstGeom prst="rect">
            <a:avLst/>
          </a:prstGeom>
          <a:noFill/>
          <a:ln/>
        </p:spPr>
        <p:txBody>
          <a:bodyPr wrap="square" lIns="0" tIns="0" rIns="0" bIns="0" rtlCol="0" anchor="ctr"/>
          <a:lstStyle/>
          <a:p>
            <a:pPr indent="0" marL="0">
              <a:buNone/>
            </a:pPr>
            <a:r>
              <a:rPr lang="en-US" sz="900" b="1" dirty="0">
                <a:solidFill>
                  <a:srgbClr val="001871"/>
                </a:solidFill>
                <a:latin typeface="맑은 고딕" pitchFamily="34" charset="0"/>
                <a:ea typeface="맑은 고딕" pitchFamily="34" charset="-122"/>
                <a:cs typeface="맑은 고딕" pitchFamily="34" charset="-120"/>
              </a:rPr>
              <a:t>폭염 취약 1,369곳 중 저비용 해결 가능 구간 선별</a:t>
            </a:r>
            <a:endParaRPr lang="en-US" sz="900" dirty="0"/>
          </a:p>
        </p:txBody>
      </p:sp>
      <p:sp>
        <p:nvSpPr>
          <p:cNvPr id="10" name="Shape 8"/>
          <p:cNvSpPr/>
          <p:nvPr/>
        </p:nvSpPr>
        <p:spPr>
          <a:xfrm>
            <a:off x="4370832" y="1783080"/>
            <a:ext cx="3566160" cy="3154680"/>
          </a:xfrm>
          <a:prstGeom prst="roundRect">
            <a:avLst>
              <a:gd name="adj" fmla="val 4058"/>
            </a:avLst>
          </a:prstGeom>
          <a:solidFill>
            <a:srgbClr val="FFFFFF"/>
          </a:solidFill>
          <a:ln w="12700">
            <a:solidFill>
              <a:srgbClr val="D4DAEE"/>
            </a:solidFill>
            <a:prstDash val="solid"/>
          </a:ln>
          <a:effectLst>
            <a:outerShdw sx="100000" sy="100000" kx="0" ky="0" algn="bl" rotWithShape="0" blurRad="101600" dist="25400" dir="5400000">
              <a:srgbClr val="001871">
                <a:alpha val="7000"/>
              </a:srgbClr>
            </a:outerShdw>
          </a:effectLst>
        </p:spPr>
      </p:sp>
      <p:sp>
        <p:nvSpPr>
          <p:cNvPr id="11" name="Text 9"/>
          <p:cNvSpPr/>
          <p:nvPr/>
        </p:nvSpPr>
        <p:spPr>
          <a:xfrm>
            <a:off x="4645152" y="1965960"/>
            <a:ext cx="457200" cy="457200"/>
          </a:xfrm>
          <a:prstGeom prst="rect">
            <a:avLst/>
          </a:prstGeom>
          <a:noFill/>
          <a:ln/>
        </p:spPr>
        <p:txBody>
          <a:bodyPr wrap="square" lIns="0" tIns="0" rIns="0" bIns="0" rtlCol="0" anchor="ctr"/>
          <a:lstStyle/>
          <a:p>
            <a:pPr indent="0" marL="0">
              <a:buNone/>
            </a:pPr>
            <a:r>
              <a:rPr lang="en-US" sz="3000" b="1" dirty="0">
                <a:solidFill>
                  <a:srgbClr val="E7EBF8"/>
                </a:solidFill>
                <a:latin typeface="맑은 고딕" pitchFamily="34" charset="0"/>
                <a:ea typeface="맑은 고딕" pitchFamily="34" charset="-122"/>
                <a:cs typeface="맑은 고딕" pitchFamily="34" charset="-120"/>
              </a:rPr>
              <a:t>2</a:t>
            </a:r>
            <a:endParaRPr lang="en-US" sz="3000" dirty="0"/>
          </a:p>
        </p:txBody>
      </p:sp>
      <p:sp>
        <p:nvSpPr>
          <p:cNvPr id="12" name="Text 10"/>
          <p:cNvSpPr/>
          <p:nvPr/>
        </p:nvSpPr>
        <p:spPr>
          <a:xfrm>
            <a:off x="4645152" y="2450592"/>
            <a:ext cx="3017520" cy="365760"/>
          </a:xfrm>
          <a:prstGeom prst="rect">
            <a:avLst/>
          </a:prstGeom>
          <a:noFill/>
          <a:ln/>
        </p:spPr>
        <p:txBody>
          <a:bodyPr wrap="square" lIns="0" tIns="0" rIns="0" bIns="0" rtlCol="0" anchor="ctr"/>
          <a:lstStyle/>
          <a:p>
            <a:pPr indent="0" marL="0">
              <a:buNone/>
            </a:pPr>
            <a:r>
              <a:rPr lang="en-US" sz="1500" b="1" dirty="0">
                <a:solidFill>
                  <a:srgbClr val="001871"/>
                </a:solidFill>
                <a:latin typeface="맑은 고딕" pitchFamily="34" charset="0"/>
                <a:ea typeface="맑은 고딕" pitchFamily="34" charset="-122"/>
                <a:cs typeface="맑은 고딕" pitchFamily="34" charset="-120"/>
              </a:rPr>
              <a:t>부서 분산 → 통합 판단</a:t>
            </a:r>
            <a:endParaRPr lang="en-US" sz="1500" dirty="0"/>
          </a:p>
        </p:txBody>
      </p:sp>
      <p:sp>
        <p:nvSpPr>
          <p:cNvPr id="13" name="Text 11"/>
          <p:cNvSpPr/>
          <p:nvPr/>
        </p:nvSpPr>
        <p:spPr>
          <a:xfrm>
            <a:off x="4645152" y="2907792"/>
            <a:ext cx="3063240" cy="1371600"/>
          </a:xfrm>
          <a:prstGeom prst="rect">
            <a:avLst/>
          </a:prstGeom>
          <a:noFill/>
          <a:ln/>
        </p:spPr>
        <p:txBody>
          <a:bodyPr wrap="square" lIns="0" tIns="0" rIns="0" bIns="0" rtlCol="0" anchor="t"/>
          <a:lstStyle/>
          <a:p>
            <a:pPr indent="0" marL="0">
              <a:lnSpc>
                <a:spcPct val="130000"/>
              </a:lnSpc>
              <a:buNone/>
            </a:pPr>
            <a:r>
              <a:rPr lang="en-US" sz="1050" dirty="0">
                <a:solidFill>
                  <a:srgbClr val="3A4160"/>
                </a:solidFill>
                <a:latin typeface="맑은 고딕" pitchFamily="34" charset="0"/>
                <a:ea typeface="맑은 고딕" pitchFamily="34" charset="-122"/>
                <a:cs typeface="맑은 고딕" pitchFamily="34" charset="-120"/>
              </a:rPr>
              <a:t>쉼터는 안전총괄과, 벤치·정류장은 교통과,</a:t>
            </a:r>
            <a:endParaRPr lang="en-US" sz="1050" dirty="0"/>
          </a:p>
          <a:p>
            <a:pPr indent="0" marL="0">
              <a:lnSpc>
                <a:spcPct val="130000"/>
              </a:lnSpc>
              <a:buNone/>
            </a:pPr>
            <a:r>
              <a:rPr lang="en-US" sz="1050" dirty="0">
                <a:solidFill>
                  <a:srgbClr val="3A4160"/>
                </a:solidFill>
                <a:latin typeface="맑은 고딕" pitchFamily="34" charset="0"/>
                <a:ea typeface="맑은 고딕" pitchFamily="34" charset="-122"/>
                <a:cs typeface="맑은 고딕" pitchFamily="34" charset="-120"/>
              </a:rPr>
              <a:t>가로등은 도로과 자료입니다. 정류장 키 하나로</a:t>
            </a:r>
            <a:endParaRPr lang="en-US" sz="1050" dirty="0"/>
          </a:p>
          <a:p>
            <a:pPr indent="0" marL="0">
              <a:lnSpc>
                <a:spcPct val="130000"/>
              </a:lnSpc>
              <a:buNone/>
            </a:pPr>
            <a:r>
              <a:rPr lang="en-US" sz="1050" dirty="0">
                <a:solidFill>
                  <a:srgbClr val="3A4160"/>
                </a:solidFill>
                <a:latin typeface="맑은 고딕" pitchFamily="34" charset="0"/>
                <a:ea typeface="맑은 고딕" pitchFamily="34" charset="-122"/>
                <a:cs typeface="맑은 고딕" pitchFamily="34" charset="-120"/>
              </a:rPr>
              <a:t>묶어 두면 '이 정류장의 상태'를 한 번에</a:t>
            </a:r>
            <a:endParaRPr lang="en-US" sz="1050" dirty="0"/>
          </a:p>
          <a:p>
            <a:pPr indent="0" marL="0">
              <a:lnSpc>
                <a:spcPct val="130000"/>
              </a:lnSpc>
              <a:buNone/>
            </a:pPr>
            <a:r>
              <a:rPr lang="en-US" sz="1050" dirty="0">
                <a:solidFill>
                  <a:srgbClr val="3A4160"/>
                </a:solidFill>
                <a:latin typeface="맑은 고딕" pitchFamily="34" charset="0"/>
                <a:ea typeface="맑은 고딕" pitchFamily="34" charset="-122"/>
                <a:cs typeface="맑은 고딕" pitchFamily="34" charset="-120"/>
              </a:rPr>
              <a:t>볼 수 있습니다.</a:t>
            </a:r>
            <a:endParaRPr lang="en-US" sz="1050" dirty="0"/>
          </a:p>
        </p:txBody>
      </p:sp>
      <p:sp>
        <p:nvSpPr>
          <p:cNvPr id="14" name="Shape 12"/>
          <p:cNvSpPr/>
          <p:nvPr/>
        </p:nvSpPr>
        <p:spPr>
          <a:xfrm>
            <a:off x="4626864" y="4370832"/>
            <a:ext cx="3063240" cy="457200"/>
          </a:xfrm>
          <a:prstGeom prst="roundRect">
            <a:avLst>
              <a:gd name="adj" fmla="val 16000"/>
            </a:avLst>
          </a:prstGeom>
          <a:solidFill>
            <a:srgbClr val="F4F6FC"/>
          </a:solidFill>
          <a:ln w="12700">
            <a:solidFill>
              <a:srgbClr val="D4DAEE"/>
            </a:solidFill>
            <a:prstDash val="solid"/>
          </a:ln>
        </p:spPr>
      </p:sp>
      <p:sp>
        <p:nvSpPr>
          <p:cNvPr id="15" name="Text 13"/>
          <p:cNvSpPr/>
          <p:nvPr/>
        </p:nvSpPr>
        <p:spPr>
          <a:xfrm>
            <a:off x="4754880" y="4370832"/>
            <a:ext cx="2807208" cy="457200"/>
          </a:xfrm>
          <a:prstGeom prst="rect">
            <a:avLst/>
          </a:prstGeom>
          <a:noFill/>
          <a:ln/>
        </p:spPr>
        <p:txBody>
          <a:bodyPr wrap="square" lIns="0" tIns="0" rIns="0" bIns="0" rtlCol="0" anchor="ctr"/>
          <a:lstStyle/>
          <a:p>
            <a:pPr indent="0" marL="0">
              <a:buNone/>
            </a:pPr>
            <a:r>
              <a:rPr lang="en-US" sz="900" b="1" dirty="0">
                <a:solidFill>
                  <a:srgbClr val="001871"/>
                </a:solidFill>
                <a:latin typeface="맑은 고딕" pitchFamily="34" charset="0"/>
                <a:ea typeface="맑은 고딕" pitchFamily="34" charset="-122"/>
                <a:cs typeface="맑은 고딕" pitchFamily="34" charset="-120"/>
              </a:rPr>
              <a:t>공공데이터 9종을 정류장 1,890개 위에 결합</a:t>
            </a:r>
            <a:endParaRPr lang="en-US" sz="900" dirty="0"/>
          </a:p>
        </p:txBody>
      </p:sp>
      <p:sp>
        <p:nvSpPr>
          <p:cNvPr id="16" name="Shape 14"/>
          <p:cNvSpPr/>
          <p:nvPr/>
        </p:nvSpPr>
        <p:spPr>
          <a:xfrm>
            <a:off x="8174736" y="1783080"/>
            <a:ext cx="3566160" cy="3154680"/>
          </a:xfrm>
          <a:prstGeom prst="roundRect">
            <a:avLst>
              <a:gd name="adj" fmla="val 4058"/>
            </a:avLst>
          </a:prstGeom>
          <a:solidFill>
            <a:srgbClr val="FFFFFF"/>
          </a:solidFill>
          <a:ln w="12700">
            <a:solidFill>
              <a:srgbClr val="D4DAEE"/>
            </a:solidFill>
            <a:prstDash val="solid"/>
          </a:ln>
          <a:effectLst>
            <a:outerShdw sx="100000" sy="100000" kx="0" ky="0" algn="bl" rotWithShape="0" blurRad="101600" dist="25400" dir="5400000">
              <a:srgbClr val="001871">
                <a:alpha val="7000"/>
              </a:srgbClr>
            </a:outerShdw>
          </a:effectLst>
        </p:spPr>
      </p:sp>
      <p:sp>
        <p:nvSpPr>
          <p:cNvPr id="17" name="Text 15"/>
          <p:cNvSpPr/>
          <p:nvPr/>
        </p:nvSpPr>
        <p:spPr>
          <a:xfrm>
            <a:off x="8449056" y="1965960"/>
            <a:ext cx="457200" cy="457200"/>
          </a:xfrm>
          <a:prstGeom prst="rect">
            <a:avLst/>
          </a:prstGeom>
          <a:noFill/>
          <a:ln/>
        </p:spPr>
        <p:txBody>
          <a:bodyPr wrap="square" lIns="0" tIns="0" rIns="0" bIns="0" rtlCol="0" anchor="ctr"/>
          <a:lstStyle/>
          <a:p>
            <a:pPr indent="0" marL="0">
              <a:buNone/>
            </a:pPr>
            <a:r>
              <a:rPr lang="en-US" sz="3000" b="1" dirty="0">
                <a:solidFill>
                  <a:srgbClr val="E7EBF8"/>
                </a:solidFill>
                <a:latin typeface="맑은 고딕" pitchFamily="34" charset="0"/>
                <a:ea typeface="맑은 고딕" pitchFamily="34" charset="-122"/>
                <a:cs typeface="맑은 고딕" pitchFamily="34" charset="-120"/>
              </a:rPr>
              <a:t>3</a:t>
            </a:r>
            <a:endParaRPr lang="en-US" sz="3000" dirty="0"/>
          </a:p>
        </p:txBody>
      </p:sp>
      <p:sp>
        <p:nvSpPr>
          <p:cNvPr id="18" name="Text 16"/>
          <p:cNvSpPr/>
          <p:nvPr/>
        </p:nvSpPr>
        <p:spPr>
          <a:xfrm>
            <a:off x="8449056" y="2450592"/>
            <a:ext cx="3017520" cy="365760"/>
          </a:xfrm>
          <a:prstGeom prst="rect">
            <a:avLst/>
          </a:prstGeom>
          <a:noFill/>
          <a:ln/>
        </p:spPr>
        <p:txBody>
          <a:bodyPr wrap="square" lIns="0" tIns="0" rIns="0" bIns="0" rtlCol="0" anchor="ctr"/>
          <a:lstStyle/>
          <a:p>
            <a:pPr indent="0" marL="0">
              <a:buNone/>
            </a:pPr>
            <a:r>
              <a:rPr lang="en-US" sz="1500" b="1" dirty="0">
                <a:solidFill>
                  <a:srgbClr val="001871"/>
                </a:solidFill>
                <a:latin typeface="맑은 고딕" pitchFamily="34" charset="0"/>
                <a:ea typeface="맑은 고딕" pitchFamily="34" charset="-122"/>
                <a:cs typeface="맑은 고딕" pitchFamily="34" charset="-120"/>
              </a:rPr>
              <a:t>총량 계획 → 지점 선정</a:t>
            </a:r>
            <a:endParaRPr lang="en-US" sz="1500" dirty="0"/>
          </a:p>
        </p:txBody>
      </p:sp>
      <p:sp>
        <p:nvSpPr>
          <p:cNvPr id="19" name="Text 17"/>
          <p:cNvSpPr/>
          <p:nvPr/>
        </p:nvSpPr>
        <p:spPr>
          <a:xfrm>
            <a:off x="8449056" y="2907792"/>
            <a:ext cx="3063240" cy="1371600"/>
          </a:xfrm>
          <a:prstGeom prst="rect">
            <a:avLst/>
          </a:prstGeom>
          <a:noFill/>
          <a:ln/>
        </p:spPr>
        <p:txBody>
          <a:bodyPr wrap="square" lIns="0" tIns="0" rIns="0" bIns="0" rtlCol="0" anchor="t"/>
          <a:lstStyle/>
          <a:p>
            <a:pPr indent="0" marL="0">
              <a:lnSpc>
                <a:spcPct val="130000"/>
              </a:lnSpc>
              <a:buNone/>
            </a:pPr>
            <a:r>
              <a:rPr lang="en-US" sz="1050" dirty="0">
                <a:solidFill>
                  <a:srgbClr val="3A4160"/>
                </a:solidFill>
                <a:latin typeface="맑은 고딕" pitchFamily="34" charset="0"/>
                <a:ea typeface="맑은 고딕" pitchFamily="34" charset="-122"/>
                <a:cs typeface="맑은 고딕" pitchFamily="34" charset="-120"/>
              </a:rPr>
              <a:t>유개식 승강장 716곳 → 980곳 확대 계획의</a:t>
            </a:r>
            <a:endParaRPr lang="en-US" sz="1050" dirty="0"/>
          </a:p>
          <a:p>
            <a:pPr indent="0" marL="0">
              <a:lnSpc>
                <a:spcPct val="130000"/>
              </a:lnSpc>
              <a:buNone/>
            </a:pPr>
            <a:r>
              <a:rPr lang="en-US" sz="1050" dirty="0">
                <a:solidFill>
                  <a:srgbClr val="3A4160"/>
                </a:solidFill>
                <a:latin typeface="맑은 고딕" pitchFamily="34" charset="0"/>
                <a:ea typeface="맑은 고딕" pitchFamily="34" charset="-122"/>
                <a:cs typeface="맑은 고딕" pitchFamily="34" charset="-120"/>
              </a:rPr>
              <a:t>'어느 정류장부터'에 답을 줍니다.</a:t>
            </a:r>
            <a:endParaRPr lang="en-US" sz="1050" dirty="0"/>
          </a:p>
          <a:p>
            <a:pPr indent="0" marL="0">
              <a:lnSpc>
                <a:spcPct val="130000"/>
              </a:lnSpc>
              <a:buNone/>
            </a:pPr>
            <a:r>
              <a:rPr lang="en-US" sz="1050" dirty="0">
                <a:solidFill>
                  <a:srgbClr val="3A4160"/>
                </a:solidFill>
                <a:latin typeface="맑은 고딕" pitchFamily="34" charset="0"/>
                <a:ea typeface="맑은 고딕" pitchFamily="34" charset="-122"/>
                <a:cs typeface="맑은 고딕" pitchFamily="34" charset="-120"/>
              </a:rPr>
              <a:t>실태 조사 용역 없이, 시민 제보로</a:t>
            </a:r>
            <a:endParaRPr lang="en-US" sz="1050" dirty="0"/>
          </a:p>
          <a:p>
            <a:pPr indent="0" marL="0">
              <a:lnSpc>
                <a:spcPct val="130000"/>
              </a:lnSpc>
              <a:buNone/>
            </a:pPr>
            <a:r>
              <a:rPr lang="en-US" sz="1050" dirty="0">
                <a:solidFill>
                  <a:srgbClr val="3A4160"/>
                </a:solidFill>
                <a:latin typeface="맑은 고딕" pitchFamily="34" charset="0"/>
                <a:ea typeface="맑은 고딕" pitchFamily="34" charset="-122"/>
                <a:cs typeface="맑은 고딕" pitchFamily="34" charset="-120"/>
              </a:rPr>
              <a:t>상시 갱신됩니다.</a:t>
            </a:r>
            <a:endParaRPr lang="en-US" sz="1050" dirty="0"/>
          </a:p>
        </p:txBody>
      </p:sp>
      <p:sp>
        <p:nvSpPr>
          <p:cNvPr id="20" name="Shape 18"/>
          <p:cNvSpPr/>
          <p:nvPr/>
        </p:nvSpPr>
        <p:spPr>
          <a:xfrm>
            <a:off x="8430768" y="4370832"/>
            <a:ext cx="3063240" cy="457200"/>
          </a:xfrm>
          <a:prstGeom prst="roundRect">
            <a:avLst>
              <a:gd name="adj" fmla="val 16000"/>
            </a:avLst>
          </a:prstGeom>
          <a:solidFill>
            <a:srgbClr val="F4F6FC"/>
          </a:solidFill>
          <a:ln w="12700">
            <a:solidFill>
              <a:srgbClr val="D4DAEE"/>
            </a:solidFill>
            <a:prstDash val="solid"/>
          </a:ln>
        </p:spPr>
      </p:sp>
      <p:sp>
        <p:nvSpPr>
          <p:cNvPr id="21" name="Text 19"/>
          <p:cNvSpPr/>
          <p:nvPr/>
        </p:nvSpPr>
        <p:spPr>
          <a:xfrm>
            <a:off x="8558784" y="4370832"/>
            <a:ext cx="2807208" cy="457200"/>
          </a:xfrm>
          <a:prstGeom prst="rect">
            <a:avLst/>
          </a:prstGeom>
          <a:noFill/>
          <a:ln/>
        </p:spPr>
        <p:txBody>
          <a:bodyPr wrap="square" lIns="0" tIns="0" rIns="0" bIns="0" rtlCol="0" anchor="ctr"/>
          <a:lstStyle/>
          <a:p>
            <a:pPr indent="0" marL="0">
              <a:buNone/>
            </a:pPr>
            <a:r>
              <a:rPr lang="en-US" sz="900" b="1" dirty="0">
                <a:solidFill>
                  <a:srgbClr val="001871"/>
                </a:solidFill>
                <a:latin typeface="맑은 고딕" pitchFamily="34" charset="0"/>
                <a:ea typeface="맑은 고딕" pitchFamily="34" charset="-122"/>
                <a:cs typeface="맑은 고딕" pitchFamily="34" charset="-120"/>
              </a:rPr>
              <a:t>그늘 없음 + 쉼터 밖 + 이용량 상위 교집합</a:t>
            </a:r>
            <a:endParaRPr lang="en-US" sz="900" dirty="0"/>
          </a:p>
        </p:txBody>
      </p:sp>
      <p:sp>
        <p:nvSpPr>
          <p:cNvPr id="22" name="Shape 20"/>
          <p:cNvSpPr/>
          <p:nvPr/>
        </p:nvSpPr>
        <p:spPr>
          <a:xfrm>
            <a:off x="566928" y="5074920"/>
            <a:ext cx="11057839" cy="804672"/>
          </a:xfrm>
          <a:prstGeom prst="roundRect">
            <a:avLst>
              <a:gd name="adj" fmla="val 15909"/>
            </a:avLst>
          </a:prstGeom>
          <a:solidFill>
            <a:srgbClr val="FCF3EA"/>
          </a:solidFill>
          <a:ln w="12700">
            <a:solidFill>
              <a:srgbClr val="F2C99E"/>
            </a:solidFill>
            <a:prstDash val="solid"/>
          </a:ln>
        </p:spPr>
      </p:sp>
      <p:sp>
        <p:nvSpPr>
          <p:cNvPr id="23" name="Text 21"/>
          <p:cNvSpPr/>
          <p:nvPr/>
        </p:nvSpPr>
        <p:spPr>
          <a:xfrm>
            <a:off x="841248" y="5074920"/>
            <a:ext cx="1143000" cy="804672"/>
          </a:xfrm>
          <a:prstGeom prst="rect">
            <a:avLst/>
          </a:prstGeom>
          <a:noFill/>
          <a:ln/>
        </p:spPr>
        <p:txBody>
          <a:bodyPr wrap="square" lIns="0" tIns="0" rIns="0" bIns="0" rtlCol="0" anchor="ctr"/>
          <a:lstStyle/>
          <a:p>
            <a:pPr indent="0" marL="0">
              <a:buNone/>
            </a:pPr>
            <a:r>
              <a:rPr lang="en-US" sz="1150" b="1" dirty="0">
                <a:solidFill>
                  <a:srgbClr val="B3560A"/>
                </a:solidFill>
                <a:latin typeface="맑은 고딕" pitchFamily="34" charset="0"/>
                <a:ea typeface="맑은 고딕" pitchFamily="34" charset="-122"/>
                <a:cs typeface="맑은 고딕" pitchFamily="34" charset="-120"/>
              </a:rPr>
              <a:t>적용 방식</a:t>
            </a:r>
            <a:endParaRPr lang="en-US" sz="1150" dirty="0"/>
          </a:p>
        </p:txBody>
      </p:sp>
      <p:sp>
        <p:nvSpPr>
          <p:cNvPr id="24" name="Text 22"/>
          <p:cNvSpPr/>
          <p:nvPr/>
        </p:nvSpPr>
        <p:spPr>
          <a:xfrm>
            <a:off x="2048256" y="5074920"/>
            <a:ext cx="3063240" cy="804672"/>
          </a:xfrm>
          <a:prstGeom prst="rect">
            <a:avLst/>
          </a:prstGeom>
          <a:noFill/>
          <a:ln/>
        </p:spPr>
        <p:txBody>
          <a:bodyPr wrap="square" lIns="0" tIns="0" rIns="0" bIns="0" rtlCol="0" anchor="ctr"/>
          <a:lstStyle/>
          <a:p>
            <a:pPr indent="0" marL="0">
              <a:lnSpc>
                <a:spcPct val="120000"/>
              </a:lnSpc>
              <a:buNone/>
            </a:pPr>
            <a:r>
              <a:rPr lang="en-US" sz="1000" b="1" dirty="0">
                <a:solidFill>
                  <a:srgbClr val="8A5210"/>
                </a:solidFill>
                <a:latin typeface="맑은 고딕" pitchFamily="34" charset="0"/>
                <a:ea typeface="맑은 고딕" pitchFamily="34" charset="-122"/>
                <a:cs typeface="맑은 고딕" pitchFamily="34" charset="-120"/>
              </a:rPr>
              <a:t>① 정류장에 QR 스티커만 붙이면</a:t>
            </a:r>
            <a:endParaRPr lang="en-US" sz="1000" dirty="0"/>
          </a:p>
          <a:p>
            <a:pPr indent="0" marL="0">
              <a:lnSpc>
                <a:spcPct val="120000"/>
              </a:lnSpc>
              <a:buNone/>
            </a:pPr>
            <a:r>
              <a:rPr lang="en-US" sz="1000" b="1" dirty="0">
                <a:solidFill>
                  <a:srgbClr val="8A5210"/>
                </a:solidFill>
                <a:latin typeface="맑은 고딕" pitchFamily="34" charset="0"/>
                <a:ea typeface="맑은 고딕" pitchFamily="34" charset="-122"/>
                <a:cs typeface="맑은 고딕" pitchFamily="34" charset="-120"/>
              </a:rPr>
              <a:t>     어르신 진입 경로가 열립니다</a:t>
            </a:r>
            <a:endParaRPr lang="en-US" sz="1000" dirty="0"/>
          </a:p>
        </p:txBody>
      </p:sp>
      <p:sp>
        <p:nvSpPr>
          <p:cNvPr id="25" name="Text 23"/>
          <p:cNvSpPr/>
          <p:nvPr/>
        </p:nvSpPr>
        <p:spPr>
          <a:xfrm>
            <a:off x="5202936" y="5074920"/>
            <a:ext cx="3063240" cy="804672"/>
          </a:xfrm>
          <a:prstGeom prst="rect">
            <a:avLst/>
          </a:prstGeom>
          <a:noFill/>
          <a:ln/>
        </p:spPr>
        <p:txBody>
          <a:bodyPr wrap="square" lIns="0" tIns="0" rIns="0" bIns="0" rtlCol="0" anchor="ctr"/>
          <a:lstStyle/>
          <a:p>
            <a:pPr indent="0" marL="0">
              <a:lnSpc>
                <a:spcPct val="120000"/>
              </a:lnSpc>
              <a:buNone/>
            </a:pPr>
            <a:r>
              <a:rPr lang="en-US" sz="1000" b="1" dirty="0">
                <a:solidFill>
                  <a:srgbClr val="8A5210"/>
                </a:solidFill>
                <a:latin typeface="맑은 고딕" pitchFamily="34" charset="0"/>
                <a:ea typeface="맑은 고딕" pitchFamily="34" charset="-122"/>
                <a:cs typeface="맑은 고딕" pitchFamily="34" charset="-120"/>
              </a:rPr>
              <a:t>② 웹 주소 접속만 —</a:t>
            </a:r>
            <a:endParaRPr lang="en-US" sz="1000" dirty="0"/>
          </a:p>
          <a:p>
            <a:pPr indent="0" marL="0">
              <a:lnSpc>
                <a:spcPct val="120000"/>
              </a:lnSpc>
              <a:buNone/>
            </a:pPr>
            <a:r>
              <a:rPr lang="en-US" sz="1000" b="1" dirty="0">
                <a:solidFill>
                  <a:srgbClr val="8A5210"/>
                </a:solidFill>
                <a:latin typeface="맑은 고딕" pitchFamily="34" charset="0"/>
                <a:ea typeface="맑은 고딕" pitchFamily="34" charset="-122"/>
                <a:cs typeface="맑은 고딕" pitchFamily="34" charset="-120"/>
              </a:rPr>
              <a:t>     설치·계정 없음 (PWA)</a:t>
            </a:r>
            <a:endParaRPr lang="en-US" sz="1000" dirty="0"/>
          </a:p>
        </p:txBody>
      </p:sp>
      <p:sp>
        <p:nvSpPr>
          <p:cNvPr id="26" name="Text 24"/>
          <p:cNvSpPr/>
          <p:nvPr/>
        </p:nvSpPr>
        <p:spPr>
          <a:xfrm>
            <a:off x="8357616" y="5074920"/>
            <a:ext cx="3063240" cy="804672"/>
          </a:xfrm>
          <a:prstGeom prst="rect">
            <a:avLst/>
          </a:prstGeom>
          <a:noFill/>
          <a:ln/>
        </p:spPr>
        <p:txBody>
          <a:bodyPr wrap="square" lIns="0" tIns="0" rIns="0" bIns="0" rtlCol="0" anchor="ctr"/>
          <a:lstStyle/>
          <a:p>
            <a:pPr indent="0" marL="0">
              <a:lnSpc>
                <a:spcPct val="120000"/>
              </a:lnSpc>
              <a:buNone/>
            </a:pPr>
            <a:r>
              <a:rPr lang="en-US" sz="1000" b="1" dirty="0">
                <a:solidFill>
                  <a:srgbClr val="8A5210"/>
                </a:solidFill>
                <a:latin typeface="맑은 고딕" pitchFamily="34" charset="0"/>
                <a:ea typeface="맑은 고딕" pitchFamily="34" charset="-122"/>
                <a:cs typeface="맑은 고딕" pitchFamily="34" charset="-120"/>
              </a:rPr>
              <a:t>③ 축적된 실태 데이터는</a:t>
            </a:r>
            <a:endParaRPr lang="en-US" sz="1000" dirty="0"/>
          </a:p>
          <a:p>
            <a:pPr indent="0" marL="0">
              <a:lnSpc>
                <a:spcPct val="120000"/>
              </a:lnSpc>
              <a:buNone/>
            </a:pPr>
            <a:r>
              <a:rPr lang="en-US" sz="1000" b="1" dirty="0">
                <a:solidFill>
                  <a:srgbClr val="8A5210"/>
                </a:solidFill>
                <a:latin typeface="맑은 고딕" pitchFamily="34" charset="0"/>
                <a:ea typeface="맑은 고딕" pitchFamily="34" charset="-122"/>
                <a:cs typeface="맑은 고딕" pitchFamily="34" charset="-120"/>
              </a:rPr>
              <a:t>     춘천시 공공데이터로 재개방 가능</a:t>
            </a:r>
            <a:endParaRPr lang="en-US" sz="1000" dirty="0"/>
          </a:p>
        </p:txBody>
      </p:sp>
      <p:sp>
        <p:nvSpPr>
          <p:cNvPr id="27" name="Text 25"/>
          <p:cNvSpPr/>
          <p:nvPr/>
        </p:nvSpPr>
        <p:spPr>
          <a:xfrm>
            <a:off x="566928" y="5961888"/>
            <a:ext cx="11057839" cy="310896"/>
          </a:xfrm>
          <a:prstGeom prst="rect">
            <a:avLst/>
          </a:prstGeom>
          <a:noFill/>
          <a:ln/>
        </p:spPr>
        <p:txBody>
          <a:bodyPr wrap="square" lIns="0" tIns="0" rIns="0" bIns="0" rtlCol="0" anchor="ctr"/>
          <a:lstStyle/>
          <a:p>
            <a:pPr indent="0" marL="0">
              <a:buNone/>
            </a:pPr>
            <a:r>
              <a:rPr lang="en-US" sz="850" dirty="0">
                <a:solidFill>
                  <a:srgbClr val="6E7796"/>
                </a:solidFill>
                <a:latin typeface="맑은 고딕" pitchFamily="34" charset="0"/>
                <a:ea typeface="맑은 고딕" pitchFamily="34" charset="-122"/>
                <a:cs typeface="맑은 고딕" pitchFamily="34" charset="-120"/>
              </a:rPr>
              <a:t>출처 : 전자신문 2024-07-03 「춘천시, 친환경 시내버스 전량 교체」 — 유개식 승강장 716→980곳 확대 계획</a:t>
            </a:r>
            <a:endParaRPr lang="en-US" sz="850" dirty="0"/>
          </a:p>
        </p:txBody>
      </p:sp>
      <p:sp>
        <p:nvSpPr>
          <p:cNvPr id="28" name="Text 26"/>
          <p:cNvSpPr/>
          <p:nvPr/>
        </p:nvSpPr>
        <p:spPr>
          <a:xfrm>
            <a:off x="566928" y="6327648"/>
            <a:ext cx="4572000" cy="274320"/>
          </a:xfrm>
          <a:prstGeom prst="rect">
            <a:avLst/>
          </a:prstGeom>
          <a:noFill/>
          <a:ln/>
        </p:spPr>
        <p:txBody>
          <a:bodyPr wrap="square" lIns="0" tIns="0" rIns="0" bIns="0" rtlCol="0" anchor="ctr"/>
          <a:lstStyle/>
          <a:p>
            <a:pPr algn="l" indent="0" marL="0">
              <a:buNone/>
            </a:pPr>
            <a:r>
              <a:rPr lang="en-US" sz="900" dirty="0">
                <a:solidFill>
                  <a:srgbClr val="6E7796"/>
                </a:solidFill>
                <a:latin typeface="맑은 고딕" pitchFamily="34" charset="0"/>
                <a:ea typeface="맑은 고딕" pitchFamily="34" charset="-122"/>
                <a:cs typeface="맑은 고딕" pitchFamily="34" charset="-120"/>
              </a:rPr>
              <a:t>쉼표정류장  ·  팀 오댕국</a:t>
            </a:r>
            <a:endParaRPr lang="en-US" sz="900" dirty="0"/>
          </a:p>
        </p:txBody>
      </p:sp>
      <p:sp>
        <p:nvSpPr>
          <p:cNvPr id="29" name="Text 27"/>
          <p:cNvSpPr/>
          <p:nvPr/>
        </p:nvSpPr>
        <p:spPr>
          <a:xfrm>
            <a:off x="10710367" y="6327648"/>
            <a:ext cx="914400" cy="274320"/>
          </a:xfrm>
          <a:prstGeom prst="rect">
            <a:avLst/>
          </a:prstGeom>
          <a:noFill/>
          <a:ln/>
        </p:spPr>
        <p:txBody>
          <a:bodyPr wrap="square" lIns="0" tIns="0" rIns="0" bIns="0" rtlCol="0" anchor="ctr"/>
          <a:lstStyle/>
          <a:p>
            <a:pPr algn="r" indent="0" marL="0">
              <a:buNone/>
            </a:pPr>
            <a:r>
              <a:rPr lang="en-US" sz="900" dirty="0">
                <a:solidFill>
                  <a:srgbClr val="6E7796"/>
                </a:solidFill>
                <a:latin typeface="맑은 고딕" pitchFamily="34" charset="0"/>
                <a:ea typeface="맑은 고딕" pitchFamily="34" charset="-122"/>
                <a:cs typeface="맑은 고딕"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11057839" cy="274320"/>
          </a:xfrm>
          <a:prstGeom prst="rect">
            <a:avLst/>
          </a:prstGeom>
          <a:noFill/>
          <a:ln/>
        </p:spPr>
        <p:txBody>
          <a:bodyPr wrap="square" lIns="0" tIns="0" rIns="0" bIns="0" rtlCol="0" anchor="ctr"/>
          <a:lstStyle/>
          <a:p>
            <a:pPr indent="0" marL="0">
              <a:buNone/>
            </a:pPr>
            <a:r>
              <a:rPr lang="en-US" sz="1100" b="1" dirty="0">
                <a:solidFill>
                  <a:srgbClr val="E8751A"/>
                </a:solidFill>
                <a:latin typeface="맑은 고딕" pitchFamily="34" charset="0"/>
                <a:ea typeface="맑은 고딕" pitchFamily="34" charset="-122"/>
                <a:cs typeface="맑은 고딕" pitchFamily="34" charset="-120"/>
              </a:rPr>
              <a:t>05</a:t>
            </a:r>
            <a:pPr indent="0" marL="0">
              <a:buNone/>
            </a:pPr>
            <a:r>
              <a:rPr lang="en-US" sz="1100" b="1" dirty="0">
                <a:solidFill>
                  <a:srgbClr val="6E7796"/>
                </a:solidFill>
                <a:latin typeface="맑은 고딕" pitchFamily="34" charset="0"/>
                <a:ea typeface="맑은 고딕" pitchFamily="34" charset="-122"/>
                <a:cs typeface="맑은 고딕" pitchFamily="34" charset="-120"/>
              </a:rPr>
              <a:t>   정책 적용 및 기대 효과</a:t>
            </a:r>
            <a:endParaRPr lang="en-US" sz="1100" dirty="0"/>
          </a:p>
        </p:txBody>
      </p:sp>
      <p:sp>
        <p:nvSpPr>
          <p:cNvPr id="3" name="Text 1"/>
          <p:cNvSpPr/>
          <p:nvPr/>
        </p:nvSpPr>
        <p:spPr>
          <a:xfrm>
            <a:off x="566928" y="749808"/>
            <a:ext cx="11057839" cy="566928"/>
          </a:xfrm>
          <a:prstGeom prst="rect">
            <a:avLst/>
          </a:prstGeom>
          <a:noFill/>
          <a:ln/>
        </p:spPr>
        <p:txBody>
          <a:bodyPr wrap="square" lIns="0" tIns="0" rIns="0" bIns="0" rtlCol="0" anchor="ctr"/>
          <a:lstStyle/>
          <a:p>
            <a:pPr indent="0" marL="0">
              <a:buNone/>
            </a:pPr>
            <a:r>
              <a:rPr lang="en-US" sz="2700" b="1" dirty="0">
                <a:solidFill>
                  <a:srgbClr val="141B33"/>
                </a:solidFill>
                <a:latin typeface="맑은 고딕" pitchFamily="34" charset="0"/>
                <a:ea typeface="맑은 고딕" pitchFamily="34" charset="-122"/>
                <a:cs typeface="맑은 고딕" pitchFamily="34" charset="-120"/>
              </a:rPr>
              <a:t>기대 효과</a:t>
            </a:r>
            <a:endParaRPr lang="en-US" sz="2700" dirty="0"/>
          </a:p>
        </p:txBody>
      </p:sp>
      <p:sp>
        <p:nvSpPr>
          <p:cNvPr id="4" name="Shape 2"/>
          <p:cNvSpPr/>
          <p:nvPr/>
        </p:nvSpPr>
        <p:spPr>
          <a:xfrm>
            <a:off x="566928" y="1783080"/>
            <a:ext cx="3566160" cy="4023360"/>
          </a:xfrm>
          <a:prstGeom prst="roundRect">
            <a:avLst>
              <a:gd name="adj" fmla="val 3590"/>
            </a:avLst>
          </a:prstGeom>
          <a:solidFill>
            <a:srgbClr val="FFFFFF"/>
          </a:solidFill>
          <a:ln w="12700">
            <a:solidFill>
              <a:srgbClr val="D4DAEE"/>
            </a:solidFill>
            <a:prstDash val="solid"/>
          </a:ln>
          <a:effectLst>
            <a:outerShdw sx="100000" sy="100000" kx="0" ky="0" algn="bl" rotWithShape="0" blurRad="101600" dist="25400" dir="5400000">
              <a:srgbClr val="001871">
                <a:alpha val="7000"/>
              </a:srgbClr>
            </a:outerShdw>
          </a:effectLst>
        </p:spPr>
      </p:sp>
      <p:sp>
        <p:nvSpPr>
          <p:cNvPr id="5" name="Shape 3"/>
          <p:cNvSpPr/>
          <p:nvPr/>
        </p:nvSpPr>
        <p:spPr>
          <a:xfrm>
            <a:off x="841248" y="2011680"/>
            <a:ext cx="960120" cy="402336"/>
          </a:xfrm>
          <a:prstGeom prst="roundRect">
            <a:avLst>
              <a:gd name="adj" fmla="val 22727"/>
            </a:avLst>
          </a:prstGeom>
          <a:solidFill>
            <a:srgbClr val="001871"/>
          </a:solidFill>
          <a:ln w="12700">
            <a:solidFill>
              <a:srgbClr val="001871"/>
            </a:solidFill>
            <a:prstDash val="solid"/>
          </a:ln>
        </p:spPr>
      </p:sp>
      <p:sp>
        <p:nvSpPr>
          <p:cNvPr id="6" name="Text 4"/>
          <p:cNvSpPr/>
          <p:nvPr/>
        </p:nvSpPr>
        <p:spPr>
          <a:xfrm>
            <a:off x="841248" y="2011680"/>
            <a:ext cx="96012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시민</a:t>
            </a:r>
            <a:endParaRPr lang="en-US" sz="1300" dirty="0"/>
          </a:p>
        </p:txBody>
      </p:sp>
      <p:sp>
        <p:nvSpPr>
          <p:cNvPr id="7" name="Text 5"/>
          <p:cNvSpPr/>
          <p:nvPr/>
        </p:nvSpPr>
        <p:spPr>
          <a:xfrm>
            <a:off x="841248" y="2651760"/>
            <a:ext cx="3063240" cy="621792"/>
          </a:xfrm>
          <a:prstGeom prst="rect">
            <a:avLst/>
          </a:prstGeom>
          <a:noFill/>
          <a:ln/>
        </p:spPr>
        <p:txBody>
          <a:bodyPr wrap="square" lIns="0" tIns="0" rIns="0" bIns="0" rtlCol="0" anchor="t"/>
          <a:lstStyle/>
          <a:p>
            <a:pPr indent="0" marL="0">
              <a:lnSpc>
                <a:spcPct val="125000"/>
              </a:lnSpc>
              <a:buNone/>
            </a:pPr>
            <a:r>
              <a:rPr lang="en-US" sz="1100" b="1" dirty="0">
                <a:solidFill>
                  <a:srgbClr val="E8751A"/>
                </a:solidFill>
                <a:latin typeface="맑은 고딕" pitchFamily="34" charset="0"/>
                <a:ea typeface="맑은 고딕" pitchFamily="34" charset="-122"/>
                <a:cs typeface="맑은 고딕" pitchFamily="34" charset="-120"/>
              </a:rPr>
              <a:t>·  </a:t>
            </a:r>
            <a:pPr indent="0" marL="0">
              <a:lnSpc>
                <a:spcPct val="125000"/>
              </a:lnSpc>
              <a:buNone/>
            </a:pPr>
            <a:r>
              <a:rPr lang="en-US" sz="1100" dirty="0">
                <a:solidFill>
                  <a:srgbClr val="3A4160"/>
                </a:solidFill>
                <a:latin typeface="맑은 고딕" pitchFamily="34" charset="0"/>
                <a:ea typeface="맑은 고딕" pitchFamily="34" charset="-122"/>
                <a:cs typeface="맑은 고딕" pitchFamily="34" charset="-120"/>
              </a:rPr>
              <a:t>폭염 노출 시간 단축 (쉼터 안내)</a:t>
            </a:r>
            <a:endParaRPr lang="en-US" sz="1100" dirty="0"/>
          </a:p>
        </p:txBody>
      </p:sp>
      <p:sp>
        <p:nvSpPr>
          <p:cNvPr id="8" name="Text 6"/>
          <p:cNvSpPr/>
          <p:nvPr/>
        </p:nvSpPr>
        <p:spPr>
          <a:xfrm>
            <a:off x="841248" y="3310128"/>
            <a:ext cx="3063240" cy="621792"/>
          </a:xfrm>
          <a:prstGeom prst="rect">
            <a:avLst/>
          </a:prstGeom>
          <a:noFill/>
          <a:ln/>
        </p:spPr>
        <p:txBody>
          <a:bodyPr wrap="square" lIns="0" tIns="0" rIns="0" bIns="0" rtlCol="0" anchor="t"/>
          <a:lstStyle/>
          <a:p>
            <a:pPr indent="0" marL="0">
              <a:lnSpc>
                <a:spcPct val="125000"/>
              </a:lnSpc>
              <a:buNone/>
            </a:pPr>
            <a:r>
              <a:rPr lang="en-US" sz="1100" b="1" dirty="0">
                <a:solidFill>
                  <a:srgbClr val="E8751A"/>
                </a:solidFill>
                <a:latin typeface="맑은 고딕" pitchFamily="34" charset="0"/>
                <a:ea typeface="맑은 고딕" pitchFamily="34" charset="-122"/>
                <a:cs typeface="맑은 고딕" pitchFamily="34" charset="-120"/>
              </a:rPr>
              <a:t>·  </a:t>
            </a:r>
            <a:pPr indent="0" marL="0">
              <a:lnSpc>
                <a:spcPct val="125000"/>
              </a:lnSpc>
              <a:buNone/>
            </a:pPr>
            <a:r>
              <a:rPr lang="en-US" sz="1100" dirty="0">
                <a:solidFill>
                  <a:srgbClr val="3A4160"/>
                </a:solidFill>
                <a:latin typeface="맑은 고딕" pitchFamily="34" charset="0"/>
                <a:ea typeface="맑은 고딕" pitchFamily="34" charset="-122"/>
                <a:cs typeface="맑은 고딕" pitchFamily="34" charset="-120"/>
              </a:rPr>
              <a:t>이미 있는 무더위쉼터 226곳을 실제로 이용</a:t>
            </a:r>
            <a:endParaRPr lang="en-US" sz="1100" dirty="0"/>
          </a:p>
        </p:txBody>
      </p:sp>
      <p:sp>
        <p:nvSpPr>
          <p:cNvPr id="9" name="Text 7"/>
          <p:cNvSpPr/>
          <p:nvPr/>
        </p:nvSpPr>
        <p:spPr>
          <a:xfrm>
            <a:off x="841248" y="3968496"/>
            <a:ext cx="3063240" cy="621792"/>
          </a:xfrm>
          <a:prstGeom prst="rect">
            <a:avLst/>
          </a:prstGeom>
          <a:noFill/>
          <a:ln/>
        </p:spPr>
        <p:txBody>
          <a:bodyPr wrap="square" lIns="0" tIns="0" rIns="0" bIns="0" rtlCol="0" anchor="t"/>
          <a:lstStyle/>
          <a:p>
            <a:pPr indent="0" marL="0">
              <a:lnSpc>
                <a:spcPct val="125000"/>
              </a:lnSpc>
              <a:buNone/>
            </a:pPr>
            <a:r>
              <a:rPr lang="en-US" sz="1100" b="1" dirty="0">
                <a:solidFill>
                  <a:srgbClr val="E8751A"/>
                </a:solidFill>
                <a:latin typeface="맑은 고딕" pitchFamily="34" charset="0"/>
                <a:ea typeface="맑은 고딕" pitchFamily="34" charset="-122"/>
                <a:cs typeface="맑은 고딕" pitchFamily="34" charset="-120"/>
              </a:rPr>
              <a:t>·  </a:t>
            </a:r>
            <a:pPr indent="0" marL="0">
              <a:lnSpc>
                <a:spcPct val="125000"/>
              </a:lnSpc>
              <a:buNone/>
            </a:pPr>
            <a:r>
              <a:rPr lang="en-US" sz="1100" dirty="0">
                <a:solidFill>
                  <a:srgbClr val="3A4160"/>
                </a:solidFill>
                <a:latin typeface="맑은 고딕" pitchFamily="34" charset="0"/>
                <a:ea typeface="맑은 고딕" pitchFamily="34" charset="-122"/>
                <a:cs typeface="맑은 고딕" pitchFamily="34" charset="-120"/>
              </a:rPr>
              <a:t>가기 전에 시설을 알고 정류장을 선택</a:t>
            </a:r>
            <a:endParaRPr lang="en-US" sz="1100" dirty="0"/>
          </a:p>
        </p:txBody>
      </p:sp>
      <p:sp>
        <p:nvSpPr>
          <p:cNvPr id="10" name="Text 8"/>
          <p:cNvSpPr/>
          <p:nvPr/>
        </p:nvSpPr>
        <p:spPr>
          <a:xfrm>
            <a:off x="841248" y="4626864"/>
            <a:ext cx="3063240" cy="621792"/>
          </a:xfrm>
          <a:prstGeom prst="rect">
            <a:avLst/>
          </a:prstGeom>
          <a:noFill/>
          <a:ln/>
        </p:spPr>
        <p:txBody>
          <a:bodyPr wrap="square" lIns="0" tIns="0" rIns="0" bIns="0" rtlCol="0" anchor="t"/>
          <a:lstStyle/>
          <a:p>
            <a:pPr indent="0" marL="0">
              <a:lnSpc>
                <a:spcPct val="125000"/>
              </a:lnSpc>
              <a:buNone/>
            </a:pPr>
            <a:r>
              <a:rPr lang="en-US" sz="1100" b="1" dirty="0">
                <a:solidFill>
                  <a:srgbClr val="E8751A"/>
                </a:solidFill>
                <a:latin typeface="맑은 고딕" pitchFamily="34" charset="0"/>
                <a:ea typeface="맑은 고딕" pitchFamily="34" charset="-122"/>
                <a:cs typeface="맑은 고딕" pitchFamily="34" charset="-120"/>
              </a:rPr>
              <a:t>·  </a:t>
            </a:r>
            <a:pPr indent="0" marL="0">
              <a:lnSpc>
                <a:spcPct val="125000"/>
              </a:lnSpc>
              <a:buNone/>
            </a:pPr>
            <a:r>
              <a:rPr lang="en-US" sz="1100" dirty="0">
                <a:solidFill>
                  <a:srgbClr val="3A4160"/>
                </a:solidFill>
                <a:latin typeface="맑은 고딕" pitchFamily="34" charset="0"/>
                <a:ea typeface="맑은 고딕" pitchFamily="34" charset="-122"/>
                <a:cs typeface="맑은 고딕" pitchFamily="34" charset="-120"/>
              </a:rPr>
              <a:t>내릴 곳을 놓쳐 되돌아오는 왕복 감소</a:t>
            </a:r>
            <a:endParaRPr lang="en-US" sz="1100" dirty="0"/>
          </a:p>
        </p:txBody>
      </p:sp>
      <p:sp>
        <p:nvSpPr>
          <p:cNvPr id="11" name="Shape 9"/>
          <p:cNvSpPr/>
          <p:nvPr/>
        </p:nvSpPr>
        <p:spPr>
          <a:xfrm>
            <a:off x="822960" y="5303520"/>
            <a:ext cx="3063240" cy="347472"/>
          </a:xfrm>
          <a:prstGeom prst="roundRect">
            <a:avLst>
              <a:gd name="adj" fmla="val 21053"/>
            </a:avLst>
          </a:prstGeom>
          <a:solidFill>
            <a:srgbClr val="F4F6FC"/>
          </a:solidFill>
          <a:ln w="12700">
            <a:solidFill>
              <a:srgbClr val="D4DAEE"/>
            </a:solidFill>
            <a:prstDash val="solid"/>
          </a:ln>
        </p:spPr>
      </p:sp>
      <p:sp>
        <p:nvSpPr>
          <p:cNvPr id="12" name="Text 10"/>
          <p:cNvSpPr/>
          <p:nvPr/>
        </p:nvSpPr>
        <p:spPr>
          <a:xfrm>
            <a:off x="822960" y="5303520"/>
            <a:ext cx="3063240" cy="347472"/>
          </a:xfrm>
          <a:prstGeom prst="rect">
            <a:avLst/>
          </a:prstGeom>
          <a:noFill/>
          <a:ln/>
        </p:spPr>
        <p:txBody>
          <a:bodyPr wrap="square" lIns="0" tIns="0" rIns="0" bIns="0" rtlCol="0" anchor="ctr"/>
          <a:lstStyle/>
          <a:p>
            <a:pPr algn="ctr" indent="0" marL="0">
              <a:buNone/>
            </a:pPr>
            <a:r>
              <a:rPr lang="en-US" sz="950" b="1" dirty="0">
                <a:solidFill>
                  <a:srgbClr val="6E7796"/>
                </a:solidFill>
                <a:latin typeface="맑은 고딕" pitchFamily="34" charset="0"/>
                <a:ea typeface="맑은 고딕" pitchFamily="34" charset="-122"/>
                <a:cs typeface="맑은 고딕" pitchFamily="34" charset="-120"/>
              </a:rPr>
              <a:t>측정 : 쉼터 안내 노출 · 재방문율</a:t>
            </a:r>
            <a:endParaRPr lang="en-US" sz="950" dirty="0"/>
          </a:p>
        </p:txBody>
      </p:sp>
      <p:sp>
        <p:nvSpPr>
          <p:cNvPr id="13" name="Shape 11"/>
          <p:cNvSpPr/>
          <p:nvPr/>
        </p:nvSpPr>
        <p:spPr>
          <a:xfrm>
            <a:off x="4370832" y="1783080"/>
            <a:ext cx="3566160" cy="4023360"/>
          </a:xfrm>
          <a:prstGeom prst="roundRect">
            <a:avLst>
              <a:gd name="adj" fmla="val 3590"/>
            </a:avLst>
          </a:prstGeom>
          <a:solidFill>
            <a:srgbClr val="FFFFFF"/>
          </a:solidFill>
          <a:ln w="12700">
            <a:solidFill>
              <a:srgbClr val="D4DAEE"/>
            </a:solidFill>
            <a:prstDash val="solid"/>
          </a:ln>
          <a:effectLst>
            <a:outerShdw sx="100000" sy="100000" kx="0" ky="0" algn="bl" rotWithShape="0" blurRad="101600" dist="25400" dir="5400000">
              <a:srgbClr val="001871">
                <a:alpha val="7000"/>
              </a:srgbClr>
            </a:outerShdw>
          </a:effectLst>
        </p:spPr>
      </p:sp>
      <p:sp>
        <p:nvSpPr>
          <p:cNvPr id="14" name="Shape 12"/>
          <p:cNvSpPr/>
          <p:nvPr/>
        </p:nvSpPr>
        <p:spPr>
          <a:xfrm>
            <a:off x="4645152" y="2011680"/>
            <a:ext cx="960120" cy="402336"/>
          </a:xfrm>
          <a:prstGeom prst="roundRect">
            <a:avLst>
              <a:gd name="adj" fmla="val 22727"/>
            </a:avLst>
          </a:prstGeom>
          <a:solidFill>
            <a:srgbClr val="2B44A8"/>
          </a:solidFill>
          <a:ln w="12700">
            <a:solidFill>
              <a:srgbClr val="2B44A8"/>
            </a:solidFill>
            <a:prstDash val="solid"/>
          </a:ln>
        </p:spPr>
      </p:sp>
      <p:sp>
        <p:nvSpPr>
          <p:cNvPr id="15" name="Text 13"/>
          <p:cNvSpPr/>
          <p:nvPr/>
        </p:nvSpPr>
        <p:spPr>
          <a:xfrm>
            <a:off x="4645152" y="2011680"/>
            <a:ext cx="96012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행정</a:t>
            </a:r>
            <a:endParaRPr lang="en-US" sz="1300" dirty="0"/>
          </a:p>
        </p:txBody>
      </p:sp>
      <p:sp>
        <p:nvSpPr>
          <p:cNvPr id="16" name="Text 14"/>
          <p:cNvSpPr/>
          <p:nvPr/>
        </p:nvSpPr>
        <p:spPr>
          <a:xfrm>
            <a:off x="4645152" y="2651760"/>
            <a:ext cx="3063240" cy="621792"/>
          </a:xfrm>
          <a:prstGeom prst="rect">
            <a:avLst/>
          </a:prstGeom>
          <a:noFill/>
          <a:ln/>
        </p:spPr>
        <p:txBody>
          <a:bodyPr wrap="square" lIns="0" tIns="0" rIns="0" bIns="0" rtlCol="0" anchor="t"/>
          <a:lstStyle/>
          <a:p>
            <a:pPr indent="0" marL="0">
              <a:lnSpc>
                <a:spcPct val="125000"/>
              </a:lnSpc>
              <a:buNone/>
            </a:pPr>
            <a:r>
              <a:rPr lang="en-US" sz="1100" b="1" dirty="0">
                <a:solidFill>
                  <a:srgbClr val="E8751A"/>
                </a:solidFill>
                <a:latin typeface="맑은 고딕" pitchFamily="34" charset="0"/>
                <a:ea typeface="맑은 고딕" pitchFamily="34" charset="-122"/>
                <a:cs typeface="맑은 고딕" pitchFamily="34" charset="-120"/>
              </a:rPr>
              <a:t>·  </a:t>
            </a:r>
            <a:pPr indent="0" marL="0">
              <a:lnSpc>
                <a:spcPct val="125000"/>
              </a:lnSpc>
              <a:buNone/>
            </a:pPr>
            <a:r>
              <a:rPr lang="en-US" sz="1100" dirty="0">
                <a:solidFill>
                  <a:srgbClr val="3A4160"/>
                </a:solidFill>
                <a:latin typeface="맑은 고딕" pitchFamily="34" charset="0"/>
                <a:ea typeface="맑은 고딕" pitchFamily="34" charset="-122"/>
                <a:cs typeface="맑은 고딕" pitchFamily="34" charset="-120"/>
              </a:rPr>
              <a:t>폭염 취약 정류장 목록 1,369곳 최초 확보</a:t>
            </a:r>
            <a:endParaRPr lang="en-US" sz="1100" dirty="0"/>
          </a:p>
        </p:txBody>
      </p:sp>
      <p:sp>
        <p:nvSpPr>
          <p:cNvPr id="17" name="Text 15"/>
          <p:cNvSpPr/>
          <p:nvPr/>
        </p:nvSpPr>
        <p:spPr>
          <a:xfrm>
            <a:off x="4645152" y="3310128"/>
            <a:ext cx="3063240" cy="621792"/>
          </a:xfrm>
          <a:prstGeom prst="rect">
            <a:avLst/>
          </a:prstGeom>
          <a:noFill/>
          <a:ln/>
        </p:spPr>
        <p:txBody>
          <a:bodyPr wrap="square" lIns="0" tIns="0" rIns="0" bIns="0" rtlCol="0" anchor="t"/>
          <a:lstStyle/>
          <a:p>
            <a:pPr indent="0" marL="0">
              <a:lnSpc>
                <a:spcPct val="125000"/>
              </a:lnSpc>
              <a:buNone/>
            </a:pPr>
            <a:r>
              <a:rPr lang="en-US" sz="1100" b="1" dirty="0">
                <a:solidFill>
                  <a:srgbClr val="E8751A"/>
                </a:solidFill>
                <a:latin typeface="맑은 고딕" pitchFamily="34" charset="0"/>
                <a:ea typeface="맑은 고딕" pitchFamily="34" charset="-122"/>
                <a:cs typeface="맑은 고딕" pitchFamily="34" charset="-120"/>
              </a:rPr>
              <a:t>·  </a:t>
            </a:r>
            <a:pPr indent="0" marL="0">
              <a:lnSpc>
                <a:spcPct val="125000"/>
              </a:lnSpc>
              <a:buNone/>
            </a:pPr>
            <a:r>
              <a:rPr lang="en-US" sz="1100" dirty="0">
                <a:solidFill>
                  <a:srgbClr val="3A4160"/>
                </a:solidFill>
                <a:latin typeface="맑은 고딕" pitchFamily="34" charset="0"/>
                <a:ea typeface="맑은 고딕" pitchFamily="34" charset="-122"/>
                <a:cs typeface="맑은 고딕" pitchFamily="34" charset="-120"/>
              </a:rPr>
              <a:t>저비용 수단(그늘막·쉼터 지정) 우선 적용</a:t>
            </a:r>
            <a:endParaRPr lang="en-US" sz="1100" dirty="0"/>
          </a:p>
        </p:txBody>
      </p:sp>
      <p:sp>
        <p:nvSpPr>
          <p:cNvPr id="18" name="Text 16"/>
          <p:cNvSpPr/>
          <p:nvPr/>
        </p:nvSpPr>
        <p:spPr>
          <a:xfrm>
            <a:off x="4645152" y="3968496"/>
            <a:ext cx="3063240" cy="621792"/>
          </a:xfrm>
          <a:prstGeom prst="rect">
            <a:avLst/>
          </a:prstGeom>
          <a:noFill/>
          <a:ln/>
        </p:spPr>
        <p:txBody>
          <a:bodyPr wrap="square" lIns="0" tIns="0" rIns="0" bIns="0" rtlCol="0" anchor="t"/>
          <a:lstStyle/>
          <a:p>
            <a:pPr indent="0" marL="0">
              <a:lnSpc>
                <a:spcPct val="125000"/>
              </a:lnSpc>
              <a:buNone/>
            </a:pPr>
            <a:r>
              <a:rPr lang="en-US" sz="1100" b="1" dirty="0">
                <a:solidFill>
                  <a:srgbClr val="E8751A"/>
                </a:solidFill>
                <a:latin typeface="맑은 고딕" pitchFamily="34" charset="0"/>
                <a:ea typeface="맑은 고딕" pitchFamily="34" charset="-122"/>
                <a:cs typeface="맑은 고딕" pitchFamily="34" charset="-120"/>
              </a:rPr>
              <a:t>·  </a:t>
            </a:r>
            <a:pPr indent="0" marL="0">
              <a:lnSpc>
                <a:spcPct val="125000"/>
              </a:lnSpc>
              <a:buNone/>
            </a:pPr>
            <a:r>
              <a:rPr lang="en-US" sz="1100" dirty="0">
                <a:solidFill>
                  <a:srgbClr val="3A4160"/>
                </a:solidFill>
                <a:latin typeface="맑은 고딕" pitchFamily="34" charset="0"/>
                <a:ea typeface="맑은 고딕" pitchFamily="34" charset="-122"/>
                <a:cs typeface="맑은 고딕" pitchFamily="34" charset="-120"/>
              </a:rPr>
              <a:t>전수 현장조사 용역 없이 상시 갱신</a:t>
            </a:r>
            <a:endParaRPr lang="en-US" sz="1100" dirty="0"/>
          </a:p>
        </p:txBody>
      </p:sp>
      <p:sp>
        <p:nvSpPr>
          <p:cNvPr id="19" name="Text 17"/>
          <p:cNvSpPr/>
          <p:nvPr/>
        </p:nvSpPr>
        <p:spPr>
          <a:xfrm>
            <a:off x="4645152" y="4626864"/>
            <a:ext cx="3063240" cy="621792"/>
          </a:xfrm>
          <a:prstGeom prst="rect">
            <a:avLst/>
          </a:prstGeom>
          <a:noFill/>
          <a:ln/>
        </p:spPr>
        <p:txBody>
          <a:bodyPr wrap="square" lIns="0" tIns="0" rIns="0" bIns="0" rtlCol="0" anchor="t"/>
          <a:lstStyle/>
          <a:p>
            <a:pPr indent="0" marL="0">
              <a:lnSpc>
                <a:spcPct val="125000"/>
              </a:lnSpc>
              <a:buNone/>
            </a:pPr>
            <a:r>
              <a:rPr lang="en-US" sz="1100" b="1" dirty="0">
                <a:solidFill>
                  <a:srgbClr val="E8751A"/>
                </a:solidFill>
                <a:latin typeface="맑은 고딕" pitchFamily="34" charset="0"/>
                <a:ea typeface="맑은 고딕" pitchFamily="34" charset="-122"/>
                <a:cs typeface="맑은 고딕" pitchFamily="34" charset="-120"/>
              </a:rPr>
              <a:t>·  </a:t>
            </a:r>
            <a:pPr indent="0" marL="0">
              <a:lnSpc>
                <a:spcPct val="125000"/>
              </a:lnSpc>
              <a:buNone/>
            </a:pPr>
            <a:r>
              <a:rPr lang="en-US" sz="1100" dirty="0">
                <a:solidFill>
                  <a:srgbClr val="3A4160"/>
                </a:solidFill>
                <a:latin typeface="맑은 고딕" pitchFamily="34" charset="0"/>
                <a:ea typeface="맑은 고딕" pitchFamily="34" charset="-122"/>
                <a:cs typeface="맑은 고딕" pitchFamily="34" charset="-120"/>
              </a:rPr>
              <a:t>예산 배분에 대한 설명 가능성 확보</a:t>
            </a:r>
            <a:endParaRPr lang="en-US" sz="1100" dirty="0"/>
          </a:p>
        </p:txBody>
      </p:sp>
      <p:sp>
        <p:nvSpPr>
          <p:cNvPr id="20" name="Shape 18"/>
          <p:cNvSpPr/>
          <p:nvPr/>
        </p:nvSpPr>
        <p:spPr>
          <a:xfrm>
            <a:off x="4626864" y="5303520"/>
            <a:ext cx="3063240" cy="347472"/>
          </a:xfrm>
          <a:prstGeom prst="roundRect">
            <a:avLst>
              <a:gd name="adj" fmla="val 21053"/>
            </a:avLst>
          </a:prstGeom>
          <a:solidFill>
            <a:srgbClr val="F4F6FC"/>
          </a:solidFill>
          <a:ln w="12700">
            <a:solidFill>
              <a:srgbClr val="D4DAEE"/>
            </a:solidFill>
            <a:prstDash val="solid"/>
          </a:ln>
        </p:spPr>
      </p:sp>
      <p:sp>
        <p:nvSpPr>
          <p:cNvPr id="21" name="Text 19"/>
          <p:cNvSpPr/>
          <p:nvPr/>
        </p:nvSpPr>
        <p:spPr>
          <a:xfrm>
            <a:off x="4626864" y="5303520"/>
            <a:ext cx="3063240" cy="347472"/>
          </a:xfrm>
          <a:prstGeom prst="rect">
            <a:avLst/>
          </a:prstGeom>
          <a:noFill/>
          <a:ln/>
        </p:spPr>
        <p:txBody>
          <a:bodyPr wrap="square" lIns="0" tIns="0" rIns="0" bIns="0" rtlCol="0" anchor="ctr"/>
          <a:lstStyle/>
          <a:p>
            <a:pPr algn="ctr" indent="0" marL="0">
              <a:buNone/>
            </a:pPr>
            <a:r>
              <a:rPr lang="en-US" sz="950" b="1" dirty="0">
                <a:solidFill>
                  <a:srgbClr val="6E7796"/>
                </a:solidFill>
                <a:latin typeface="맑은 고딕" pitchFamily="34" charset="0"/>
                <a:ea typeface="맑은 고딕" pitchFamily="34" charset="-122"/>
                <a:cs typeface="맑은 고딕" pitchFamily="34" charset="-120"/>
              </a:rPr>
              <a:t>측정 : 취약 정류장 수 · 조사 비용</a:t>
            </a:r>
            <a:endParaRPr lang="en-US" sz="950" dirty="0"/>
          </a:p>
        </p:txBody>
      </p:sp>
      <p:sp>
        <p:nvSpPr>
          <p:cNvPr id="22" name="Shape 20"/>
          <p:cNvSpPr/>
          <p:nvPr/>
        </p:nvSpPr>
        <p:spPr>
          <a:xfrm>
            <a:off x="8174736" y="1783080"/>
            <a:ext cx="3566160" cy="4023360"/>
          </a:xfrm>
          <a:prstGeom prst="roundRect">
            <a:avLst>
              <a:gd name="adj" fmla="val 3590"/>
            </a:avLst>
          </a:prstGeom>
          <a:solidFill>
            <a:srgbClr val="FFFFFF"/>
          </a:solidFill>
          <a:ln w="12700">
            <a:solidFill>
              <a:srgbClr val="D4DAEE"/>
            </a:solidFill>
            <a:prstDash val="solid"/>
          </a:ln>
          <a:effectLst>
            <a:outerShdw sx="100000" sy="100000" kx="0" ky="0" algn="bl" rotWithShape="0" blurRad="101600" dist="25400" dir="5400000">
              <a:srgbClr val="001871">
                <a:alpha val="7000"/>
              </a:srgbClr>
            </a:outerShdw>
          </a:effectLst>
        </p:spPr>
      </p:sp>
      <p:sp>
        <p:nvSpPr>
          <p:cNvPr id="23" name="Shape 21"/>
          <p:cNvSpPr/>
          <p:nvPr/>
        </p:nvSpPr>
        <p:spPr>
          <a:xfrm>
            <a:off x="8449056" y="2011680"/>
            <a:ext cx="960120" cy="402336"/>
          </a:xfrm>
          <a:prstGeom prst="roundRect">
            <a:avLst>
              <a:gd name="adj" fmla="val 22727"/>
            </a:avLst>
          </a:prstGeom>
          <a:solidFill>
            <a:srgbClr val="E8751A"/>
          </a:solidFill>
          <a:ln w="12700">
            <a:solidFill>
              <a:srgbClr val="E8751A"/>
            </a:solidFill>
            <a:prstDash val="solid"/>
          </a:ln>
        </p:spPr>
      </p:sp>
      <p:sp>
        <p:nvSpPr>
          <p:cNvPr id="24" name="Text 22"/>
          <p:cNvSpPr/>
          <p:nvPr/>
        </p:nvSpPr>
        <p:spPr>
          <a:xfrm>
            <a:off x="8449056" y="2011680"/>
            <a:ext cx="96012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데이터</a:t>
            </a:r>
            <a:endParaRPr lang="en-US" sz="1300" dirty="0"/>
          </a:p>
        </p:txBody>
      </p:sp>
      <p:sp>
        <p:nvSpPr>
          <p:cNvPr id="25" name="Text 23"/>
          <p:cNvSpPr/>
          <p:nvPr/>
        </p:nvSpPr>
        <p:spPr>
          <a:xfrm>
            <a:off x="8449056" y="2651760"/>
            <a:ext cx="3063240" cy="621792"/>
          </a:xfrm>
          <a:prstGeom prst="rect">
            <a:avLst/>
          </a:prstGeom>
          <a:noFill/>
          <a:ln/>
        </p:spPr>
        <p:txBody>
          <a:bodyPr wrap="square" lIns="0" tIns="0" rIns="0" bIns="0" rtlCol="0" anchor="t"/>
          <a:lstStyle/>
          <a:p>
            <a:pPr indent="0" marL="0">
              <a:lnSpc>
                <a:spcPct val="125000"/>
              </a:lnSpc>
              <a:buNone/>
            </a:pPr>
            <a:r>
              <a:rPr lang="en-US" sz="1100" b="1" dirty="0">
                <a:solidFill>
                  <a:srgbClr val="E8751A"/>
                </a:solidFill>
                <a:latin typeface="맑은 고딕" pitchFamily="34" charset="0"/>
                <a:ea typeface="맑은 고딕" pitchFamily="34" charset="-122"/>
                <a:cs typeface="맑은 고딕" pitchFamily="34" charset="-120"/>
              </a:rPr>
              <a:t>·  </a:t>
            </a:r>
            <a:pPr indent="0" marL="0">
              <a:lnSpc>
                <a:spcPct val="125000"/>
              </a:lnSpc>
              <a:buNone/>
            </a:pPr>
            <a:r>
              <a:rPr lang="en-US" sz="1100" dirty="0">
                <a:solidFill>
                  <a:srgbClr val="3A4160"/>
                </a:solidFill>
                <a:latin typeface="맑은 고딕" pitchFamily="34" charset="0"/>
                <a:ea typeface="맑은 고딕" pitchFamily="34" charset="-122"/>
                <a:cs typeface="맑은 고딕" pitchFamily="34" charset="-120"/>
              </a:rPr>
              <a:t>쉼터·정류장 대장을 정류장 키로 통합</a:t>
            </a:r>
            <a:endParaRPr lang="en-US" sz="1100" dirty="0"/>
          </a:p>
        </p:txBody>
      </p:sp>
      <p:sp>
        <p:nvSpPr>
          <p:cNvPr id="26" name="Text 24"/>
          <p:cNvSpPr/>
          <p:nvPr/>
        </p:nvSpPr>
        <p:spPr>
          <a:xfrm>
            <a:off x="8449056" y="3310128"/>
            <a:ext cx="3063240" cy="621792"/>
          </a:xfrm>
          <a:prstGeom prst="rect">
            <a:avLst/>
          </a:prstGeom>
          <a:noFill/>
          <a:ln/>
        </p:spPr>
        <p:txBody>
          <a:bodyPr wrap="square" lIns="0" tIns="0" rIns="0" bIns="0" rtlCol="0" anchor="t"/>
          <a:lstStyle/>
          <a:p>
            <a:pPr indent="0" marL="0">
              <a:lnSpc>
                <a:spcPct val="125000"/>
              </a:lnSpc>
              <a:buNone/>
            </a:pPr>
            <a:r>
              <a:rPr lang="en-US" sz="1100" b="1" dirty="0">
                <a:solidFill>
                  <a:srgbClr val="E8751A"/>
                </a:solidFill>
                <a:latin typeface="맑은 고딕" pitchFamily="34" charset="0"/>
                <a:ea typeface="맑은 고딕" pitchFamily="34" charset="-122"/>
                <a:cs typeface="맑은 고딕" pitchFamily="34" charset="-120"/>
              </a:rPr>
              <a:t>·  </a:t>
            </a:r>
            <a:pPr indent="0" marL="0">
              <a:lnSpc>
                <a:spcPct val="125000"/>
              </a:lnSpc>
              <a:buNone/>
            </a:pPr>
            <a:r>
              <a:rPr lang="en-US" sz="1100" dirty="0">
                <a:solidFill>
                  <a:srgbClr val="3A4160"/>
                </a:solidFill>
                <a:latin typeface="맑은 고딕" pitchFamily="34" charset="0"/>
                <a:ea typeface="맑은 고딕" pitchFamily="34" charset="-122"/>
                <a:cs typeface="맑은 고딕" pitchFamily="34" charset="-120"/>
              </a:rPr>
              <a:t>그늘 미확인 1,729곳이 제보에 따라 감소</a:t>
            </a:r>
            <a:endParaRPr lang="en-US" sz="1100" dirty="0"/>
          </a:p>
        </p:txBody>
      </p:sp>
      <p:sp>
        <p:nvSpPr>
          <p:cNvPr id="27" name="Text 25"/>
          <p:cNvSpPr/>
          <p:nvPr/>
        </p:nvSpPr>
        <p:spPr>
          <a:xfrm>
            <a:off x="8449056" y="3968496"/>
            <a:ext cx="3063240" cy="621792"/>
          </a:xfrm>
          <a:prstGeom prst="rect">
            <a:avLst/>
          </a:prstGeom>
          <a:noFill/>
          <a:ln/>
        </p:spPr>
        <p:txBody>
          <a:bodyPr wrap="square" lIns="0" tIns="0" rIns="0" bIns="0" rtlCol="0" anchor="t"/>
          <a:lstStyle/>
          <a:p>
            <a:pPr indent="0" marL="0">
              <a:lnSpc>
                <a:spcPct val="125000"/>
              </a:lnSpc>
              <a:buNone/>
            </a:pPr>
            <a:r>
              <a:rPr lang="en-US" sz="1100" b="1" dirty="0">
                <a:solidFill>
                  <a:srgbClr val="E8751A"/>
                </a:solidFill>
                <a:latin typeface="맑은 고딕" pitchFamily="34" charset="0"/>
                <a:ea typeface="맑은 고딕" pitchFamily="34" charset="-122"/>
                <a:cs typeface="맑은 고딕" pitchFamily="34" charset="-120"/>
              </a:rPr>
              <a:t>·  </a:t>
            </a:r>
            <a:pPr indent="0" marL="0">
              <a:lnSpc>
                <a:spcPct val="125000"/>
              </a:lnSpc>
              <a:buNone/>
            </a:pPr>
            <a:r>
              <a:rPr lang="en-US" sz="1100" dirty="0">
                <a:solidFill>
                  <a:srgbClr val="3A4160"/>
                </a:solidFill>
                <a:latin typeface="맑은 고딕" pitchFamily="34" charset="0"/>
                <a:ea typeface="맑은 고딕" pitchFamily="34" charset="-122"/>
                <a:cs typeface="맑은 고딕" pitchFamily="34" charset="-120"/>
              </a:rPr>
              <a:t>공개된 춘천 데이터의 재사용 가치 상승</a:t>
            </a:r>
            <a:endParaRPr lang="en-US" sz="1100" dirty="0"/>
          </a:p>
        </p:txBody>
      </p:sp>
      <p:sp>
        <p:nvSpPr>
          <p:cNvPr id="28" name="Text 26"/>
          <p:cNvSpPr/>
          <p:nvPr/>
        </p:nvSpPr>
        <p:spPr>
          <a:xfrm>
            <a:off x="8449056" y="4626864"/>
            <a:ext cx="3063240" cy="621792"/>
          </a:xfrm>
          <a:prstGeom prst="rect">
            <a:avLst/>
          </a:prstGeom>
          <a:noFill/>
          <a:ln/>
        </p:spPr>
        <p:txBody>
          <a:bodyPr wrap="square" lIns="0" tIns="0" rIns="0" bIns="0" rtlCol="0" anchor="t"/>
          <a:lstStyle/>
          <a:p>
            <a:pPr indent="0" marL="0">
              <a:lnSpc>
                <a:spcPct val="125000"/>
              </a:lnSpc>
              <a:buNone/>
            </a:pPr>
            <a:r>
              <a:rPr lang="en-US" sz="1100" b="1" dirty="0">
                <a:solidFill>
                  <a:srgbClr val="E8751A"/>
                </a:solidFill>
                <a:latin typeface="맑은 고딕" pitchFamily="34" charset="0"/>
                <a:ea typeface="맑은 고딕" pitchFamily="34" charset="-122"/>
                <a:cs typeface="맑은 고딕" pitchFamily="34" charset="-120"/>
              </a:rPr>
              <a:t>·  </a:t>
            </a:r>
            <a:pPr indent="0" marL="0">
              <a:lnSpc>
                <a:spcPct val="125000"/>
              </a:lnSpc>
              <a:buNone/>
            </a:pPr>
            <a:r>
              <a:rPr lang="en-US" sz="1100" dirty="0">
                <a:solidFill>
                  <a:srgbClr val="3A4160"/>
                </a:solidFill>
                <a:latin typeface="맑은 고딕" pitchFamily="34" charset="0"/>
                <a:ea typeface="맑은 고딕" pitchFamily="34" charset="-122"/>
                <a:cs typeface="맑은 고딕" pitchFamily="34" charset="-120"/>
              </a:rPr>
              <a:t>동일 구조를 타 시·군에 그대로 이식 가능</a:t>
            </a:r>
            <a:endParaRPr lang="en-US" sz="1100" dirty="0"/>
          </a:p>
        </p:txBody>
      </p:sp>
      <p:sp>
        <p:nvSpPr>
          <p:cNvPr id="29" name="Shape 27"/>
          <p:cNvSpPr/>
          <p:nvPr/>
        </p:nvSpPr>
        <p:spPr>
          <a:xfrm>
            <a:off x="8430768" y="5303520"/>
            <a:ext cx="3063240" cy="347472"/>
          </a:xfrm>
          <a:prstGeom prst="roundRect">
            <a:avLst>
              <a:gd name="adj" fmla="val 21053"/>
            </a:avLst>
          </a:prstGeom>
          <a:solidFill>
            <a:srgbClr val="F4F6FC"/>
          </a:solidFill>
          <a:ln w="12700">
            <a:solidFill>
              <a:srgbClr val="D4DAEE"/>
            </a:solidFill>
            <a:prstDash val="solid"/>
          </a:ln>
        </p:spPr>
      </p:sp>
      <p:sp>
        <p:nvSpPr>
          <p:cNvPr id="30" name="Text 28"/>
          <p:cNvSpPr/>
          <p:nvPr/>
        </p:nvSpPr>
        <p:spPr>
          <a:xfrm>
            <a:off x="8430768" y="5303520"/>
            <a:ext cx="3063240" cy="347472"/>
          </a:xfrm>
          <a:prstGeom prst="rect">
            <a:avLst/>
          </a:prstGeom>
          <a:noFill/>
          <a:ln/>
        </p:spPr>
        <p:txBody>
          <a:bodyPr wrap="square" lIns="0" tIns="0" rIns="0" bIns="0" rtlCol="0" anchor="ctr"/>
          <a:lstStyle/>
          <a:p>
            <a:pPr algn="ctr" indent="0" marL="0">
              <a:buNone/>
            </a:pPr>
            <a:r>
              <a:rPr lang="en-US" sz="950" b="1" dirty="0">
                <a:solidFill>
                  <a:srgbClr val="6E7796"/>
                </a:solidFill>
                <a:latin typeface="맑은 고딕" pitchFamily="34" charset="0"/>
                <a:ea typeface="맑은 고딕" pitchFamily="34" charset="-122"/>
                <a:cs typeface="맑은 고딕" pitchFamily="34" charset="-120"/>
              </a:rPr>
              <a:t>측정 : 시설 확인율 · 결합 커버리지</a:t>
            </a:r>
            <a:endParaRPr lang="en-US" sz="950" dirty="0"/>
          </a:p>
        </p:txBody>
      </p:sp>
      <p:sp>
        <p:nvSpPr>
          <p:cNvPr id="31" name="Text 29"/>
          <p:cNvSpPr/>
          <p:nvPr/>
        </p:nvSpPr>
        <p:spPr>
          <a:xfrm>
            <a:off x="566928" y="6327648"/>
            <a:ext cx="4572000" cy="274320"/>
          </a:xfrm>
          <a:prstGeom prst="rect">
            <a:avLst/>
          </a:prstGeom>
          <a:noFill/>
          <a:ln/>
        </p:spPr>
        <p:txBody>
          <a:bodyPr wrap="square" lIns="0" tIns="0" rIns="0" bIns="0" rtlCol="0" anchor="ctr"/>
          <a:lstStyle/>
          <a:p>
            <a:pPr algn="l" indent="0" marL="0">
              <a:buNone/>
            </a:pPr>
            <a:r>
              <a:rPr lang="en-US" sz="900" dirty="0">
                <a:solidFill>
                  <a:srgbClr val="6E7796"/>
                </a:solidFill>
                <a:latin typeface="맑은 고딕" pitchFamily="34" charset="0"/>
                <a:ea typeface="맑은 고딕" pitchFamily="34" charset="-122"/>
                <a:cs typeface="맑은 고딕" pitchFamily="34" charset="-120"/>
              </a:rPr>
              <a:t>쉼표정류장  ·  팀 오댕국</a:t>
            </a:r>
            <a:endParaRPr lang="en-US" sz="900" dirty="0"/>
          </a:p>
        </p:txBody>
      </p:sp>
      <p:sp>
        <p:nvSpPr>
          <p:cNvPr id="32" name="Text 30"/>
          <p:cNvSpPr/>
          <p:nvPr/>
        </p:nvSpPr>
        <p:spPr>
          <a:xfrm>
            <a:off x="10710367" y="6327648"/>
            <a:ext cx="914400" cy="274320"/>
          </a:xfrm>
          <a:prstGeom prst="rect">
            <a:avLst/>
          </a:prstGeom>
          <a:noFill/>
          <a:ln/>
        </p:spPr>
        <p:txBody>
          <a:bodyPr wrap="square" lIns="0" tIns="0" rIns="0" bIns="0" rtlCol="0" anchor="ctr"/>
          <a:lstStyle/>
          <a:p>
            <a:pPr algn="r" indent="0" marL="0">
              <a:buNone/>
            </a:pPr>
            <a:r>
              <a:rPr lang="en-US" sz="900" dirty="0">
                <a:solidFill>
                  <a:srgbClr val="6E7796"/>
                </a:solidFill>
                <a:latin typeface="맑은 고딕" pitchFamily="34" charset="0"/>
                <a:ea typeface="맑은 고딕" pitchFamily="34" charset="-122"/>
                <a:cs typeface="맑은 고딕"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11057839" cy="274320"/>
          </a:xfrm>
          <a:prstGeom prst="rect">
            <a:avLst/>
          </a:prstGeom>
          <a:noFill/>
          <a:ln/>
        </p:spPr>
        <p:txBody>
          <a:bodyPr wrap="square" lIns="0" tIns="0" rIns="0" bIns="0" rtlCol="0" anchor="ctr"/>
          <a:lstStyle/>
          <a:p>
            <a:pPr indent="0" marL="0">
              <a:buNone/>
            </a:pPr>
            <a:r>
              <a:rPr lang="en-US" sz="1100" b="1" dirty="0">
                <a:solidFill>
                  <a:srgbClr val="E8751A"/>
                </a:solidFill>
                <a:latin typeface="맑은 고딕" pitchFamily="34" charset="0"/>
                <a:ea typeface="맑은 고딕" pitchFamily="34" charset="-122"/>
                <a:cs typeface="맑은 고딕" pitchFamily="34" charset="-120"/>
              </a:rPr>
              <a:t>06</a:t>
            </a:r>
            <a:pPr indent="0" marL="0">
              <a:buNone/>
            </a:pPr>
            <a:r>
              <a:rPr lang="en-US" sz="1100" b="1" dirty="0">
                <a:solidFill>
                  <a:srgbClr val="6E7796"/>
                </a:solidFill>
                <a:latin typeface="맑은 고딕" pitchFamily="34" charset="0"/>
                <a:ea typeface="맑은 고딕" pitchFamily="34" charset="-122"/>
                <a:cs typeface="맑은 고딕" pitchFamily="34" charset="-120"/>
              </a:rPr>
              <a:t>   확장 계획 및 마무리</a:t>
            </a:r>
            <a:endParaRPr lang="en-US" sz="1100" dirty="0"/>
          </a:p>
        </p:txBody>
      </p:sp>
      <p:sp>
        <p:nvSpPr>
          <p:cNvPr id="3" name="Text 1"/>
          <p:cNvSpPr/>
          <p:nvPr/>
        </p:nvSpPr>
        <p:spPr>
          <a:xfrm>
            <a:off x="566928" y="749808"/>
            <a:ext cx="11057839" cy="566928"/>
          </a:xfrm>
          <a:prstGeom prst="rect">
            <a:avLst/>
          </a:prstGeom>
          <a:noFill/>
          <a:ln/>
        </p:spPr>
        <p:txBody>
          <a:bodyPr wrap="square" lIns="0" tIns="0" rIns="0" bIns="0" rtlCol="0" anchor="ctr"/>
          <a:lstStyle/>
          <a:p>
            <a:pPr indent="0" marL="0">
              <a:buNone/>
            </a:pPr>
            <a:r>
              <a:rPr lang="en-US" sz="2700" b="1" dirty="0">
                <a:solidFill>
                  <a:srgbClr val="141B33"/>
                </a:solidFill>
                <a:latin typeface="맑은 고딕" pitchFamily="34" charset="0"/>
                <a:ea typeface="맑은 고딕" pitchFamily="34" charset="-122"/>
                <a:cs typeface="맑은 고딕" pitchFamily="34" charset="-120"/>
              </a:rPr>
              <a:t>확장 계획</a:t>
            </a:r>
            <a:endParaRPr lang="en-US" sz="2700" dirty="0"/>
          </a:p>
        </p:txBody>
      </p:sp>
      <p:sp>
        <p:nvSpPr>
          <p:cNvPr id="4" name="Text 2"/>
          <p:cNvSpPr/>
          <p:nvPr/>
        </p:nvSpPr>
        <p:spPr>
          <a:xfrm>
            <a:off x="566928" y="1335024"/>
            <a:ext cx="11057839" cy="310896"/>
          </a:xfrm>
          <a:prstGeom prst="rect">
            <a:avLst/>
          </a:prstGeom>
          <a:noFill/>
          <a:ln/>
        </p:spPr>
        <p:txBody>
          <a:bodyPr wrap="square" lIns="0" tIns="0" rIns="0" bIns="0" rtlCol="0" anchor="ctr"/>
          <a:lstStyle/>
          <a:p>
            <a:pPr indent="0" marL="0">
              <a:buNone/>
            </a:pPr>
            <a:r>
              <a:rPr lang="en-US" sz="1300" dirty="0">
                <a:solidFill>
                  <a:srgbClr val="6E7796"/>
                </a:solidFill>
                <a:latin typeface="맑은 고딕" pitchFamily="34" charset="0"/>
                <a:ea typeface="맑은 고딕" pitchFamily="34" charset="-122"/>
                <a:cs typeface="맑은 고딕" pitchFamily="34" charset="-120"/>
              </a:rPr>
              <a:t>아래 항목은 모두 현재 미구현이며, 오늘 시연은 실제로 동작하는 기능만 보여드렸습니다</a:t>
            </a:r>
            <a:endParaRPr lang="en-US" sz="1300" dirty="0"/>
          </a:p>
        </p:txBody>
      </p:sp>
      <p:sp>
        <p:nvSpPr>
          <p:cNvPr id="5" name="Shape 3"/>
          <p:cNvSpPr/>
          <p:nvPr/>
        </p:nvSpPr>
        <p:spPr>
          <a:xfrm>
            <a:off x="566928" y="1874520"/>
            <a:ext cx="3566160" cy="3200400"/>
          </a:xfrm>
          <a:prstGeom prst="roundRect">
            <a:avLst>
              <a:gd name="adj" fmla="val 4000"/>
            </a:avLst>
          </a:prstGeom>
          <a:solidFill>
            <a:srgbClr val="FFFFFF"/>
          </a:solidFill>
          <a:ln w="12700">
            <a:solidFill>
              <a:srgbClr val="D4DAEE"/>
            </a:solidFill>
            <a:prstDash val="solid"/>
          </a:ln>
          <a:effectLst>
            <a:outerShdw sx="100000" sy="100000" kx="0" ky="0" algn="bl" rotWithShape="0" blurRad="101600" dist="25400" dir="5400000">
              <a:srgbClr val="001871">
                <a:alpha val="7000"/>
              </a:srgbClr>
            </a:outerShdw>
          </a:effectLst>
        </p:spPr>
      </p:sp>
      <p:sp>
        <p:nvSpPr>
          <p:cNvPr id="6" name="Shape 4"/>
          <p:cNvSpPr/>
          <p:nvPr/>
        </p:nvSpPr>
        <p:spPr>
          <a:xfrm>
            <a:off x="841248" y="2103120"/>
            <a:ext cx="777240" cy="365760"/>
          </a:xfrm>
          <a:prstGeom prst="roundRect">
            <a:avLst>
              <a:gd name="adj" fmla="val 25000"/>
            </a:avLst>
          </a:prstGeom>
          <a:solidFill>
            <a:srgbClr val="001871"/>
          </a:solidFill>
          <a:ln w="12700">
            <a:solidFill>
              <a:srgbClr val="001871"/>
            </a:solidFill>
            <a:prstDash val="solid"/>
          </a:ln>
        </p:spPr>
      </p:sp>
      <p:sp>
        <p:nvSpPr>
          <p:cNvPr id="7" name="Text 5"/>
          <p:cNvSpPr/>
          <p:nvPr/>
        </p:nvSpPr>
        <p:spPr>
          <a:xfrm>
            <a:off x="841248" y="2103120"/>
            <a:ext cx="77724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단기</a:t>
            </a:r>
            <a:endParaRPr lang="en-US" sz="1200" dirty="0"/>
          </a:p>
        </p:txBody>
      </p:sp>
      <p:sp>
        <p:nvSpPr>
          <p:cNvPr id="8" name="Text 6"/>
          <p:cNvSpPr/>
          <p:nvPr/>
        </p:nvSpPr>
        <p:spPr>
          <a:xfrm>
            <a:off x="1709928" y="2103120"/>
            <a:ext cx="2103120" cy="365760"/>
          </a:xfrm>
          <a:prstGeom prst="rect">
            <a:avLst/>
          </a:prstGeom>
          <a:noFill/>
          <a:ln/>
        </p:spPr>
        <p:txBody>
          <a:bodyPr wrap="square" lIns="0" tIns="0" rIns="0" bIns="0" rtlCol="0" anchor="ctr"/>
          <a:lstStyle/>
          <a:p>
            <a:pPr indent="0" marL="0">
              <a:buNone/>
            </a:pPr>
            <a:r>
              <a:rPr lang="en-US" sz="1150" b="1" dirty="0">
                <a:solidFill>
                  <a:srgbClr val="6E7796"/>
                </a:solidFill>
                <a:latin typeface="맑은 고딕" pitchFamily="34" charset="0"/>
                <a:ea typeface="맑은 고딕" pitchFamily="34" charset="-122"/>
                <a:cs typeface="맑은 고딕" pitchFamily="34" charset="-120"/>
              </a:rPr>
              <a:t>3개월</a:t>
            </a:r>
            <a:endParaRPr lang="en-US" sz="1150" dirty="0"/>
          </a:p>
        </p:txBody>
      </p:sp>
      <p:sp>
        <p:nvSpPr>
          <p:cNvPr id="9" name="Text 7"/>
          <p:cNvSpPr/>
          <p:nvPr/>
        </p:nvSpPr>
        <p:spPr>
          <a:xfrm>
            <a:off x="841248" y="2651760"/>
            <a:ext cx="3063240" cy="530352"/>
          </a:xfrm>
          <a:prstGeom prst="rect">
            <a:avLst/>
          </a:prstGeom>
          <a:noFill/>
          <a:ln/>
        </p:spPr>
        <p:txBody>
          <a:bodyPr wrap="square" lIns="0" tIns="0" rIns="0" bIns="0" rtlCol="0" anchor="t"/>
          <a:lstStyle/>
          <a:p>
            <a:pPr indent="0" marL="0">
              <a:lnSpc>
                <a:spcPct val="122000"/>
              </a:lnSpc>
              <a:buNone/>
            </a:pPr>
            <a:r>
              <a:rPr lang="en-US" sz="1050" dirty="0">
                <a:solidFill>
                  <a:srgbClr val="3A4160"/>
                </a:solidFill>
                <a:latin typeface="맑은 고딕" pitchFamily="34" charset="0"/>
                <a:ea typeface="맑은 고딕" pitchFamily="34" charset="-122"/>
                <a:cs typeface="맑은 고딕" pitchFamily="34" charset="-120"/>
              </a:rPr>
              <a:t>·  겨울 버전 — 한파쉼터·온기쉼터로 데이터만 교체</a:t>
            </a:r>
            <a:endParaRPr lang="en-US" sz="1050" dirty="0"/>
          </a:p>
        </p:txBody>
      </p:sp>
      <p:sp>
        <p:nvSpPr>
          <p:cNvPr id="10" name="Text 8"/>
          <p:cNvSpPr/>
          <p:nvPr/>
        </p:nvSpPr>
        <p:spPr>
          <a:xfrm>
            <a:off x="841248" y="3218688"/>
            <a:ext cx="3063240" cy="530352"/>
          </a:xfrm>
          <a:prstGeom prst="rect">
            <a:avLst/>
          </a:prstGeom>
          <a:noFill/>
          <a:ln/>
        </p:spPr>
        <p:txBody>
          <a:bodyPr wrap="square" lIns="0" tIns="0" rIns="0" bIns="0" rtlCol="0" anchor="t"/>
          <a:lstStyle/>
          <a:p>
            <a:pPr indent="0" marL="0">
              <a:lnSpc>
                <a:spcPct val="122000"/>
              </a:lnSpc>
              <a:buNone/>
            </a:pPr>
            <a:r>
              <a:rPr lang="en-US" sz="1050" dirty="0">
                <a:solidFill>
                  <a:srgbClr val="3A4160"/>
                </a:solidFill>
                <a:latin typeface="맑은 고딕" pitchFamily="34" charset="0"/>
                <a:ea typeface="맑은 고딕" pitchFamily="34" charset="-122"/>
                <a:cs typeface="맑은 고딕" pitchFamily="34" charset="-120"/>
              </a:rPr>
              <a:t>·  제보 누적으로 그늘·쉘터 실태 전수화</a:t>
            </a:r>
            <a:endParaRPr lang="en-US" sz="1050" dirty="0"/>
          </a:p>
        </p:txBody>
      </p:sp>
      <p:sp>
        <p:nvSpPr>
          <p:cNvPr id="11" name="Text 9"/>
          <p:cNvSpPr/>
          <p:nvPr/>
        </p:nvSpPr>
        <p:spPr>
          <a:xfrm>
            <a:off x="841248" y="3785616"/>
            <a:ext cx="3063240" cy="530352"/>
          </a:xfrm>
          <a:prstGeom prst="rect">
            <a:avLst/>
          </a:prstGeom>
          <a:noFill/>
          <a:ln/>
        </p:spPr>
        <p:txBody>
          <a:bodyPr wrap="square" lIns="0" tIns="0" rIns="0" bIns="0" rtlCol="0" anchor="t"/>
          <a:lstStyle/>
          <a:p>
            <a:pPr indent="0" marL="0">
              <a:lnSpc>
                <a:spcPct val="122000"/>
              </a:lnSpc>
              <a:buNone/>
            </a:pPr>
            <a:r>
              <a:rPr lang="en-US" sz="1050" dirty="0">
                <a:solidFill>
                  <a:srgbClr val="3A4160"/>
                </a:solidFill>
                <a:latin typeface="맑은 고딕" pitchFamily="34" charset="0"/>
                <a:ea typeface="맑은 고딕" pitchFamily="34" charset="-122"/>
                <a:cs typeface="맑은 고딕" pitchFamily="34" charset="-120"/>
              </a:rPr>
              <a:t>·  쉼터 개방시간·도로변 여부 필터 적용</a:t>
            </a:r>
            <a:endParaRPr lang="en-US" sz="1050" dirty="0"/>
          </a:p>
        </p:txBody>
      </p:sp>
      <p:sp>
        <p:nvSpPr>
          <p:cNvPr id="12" name="Text 10"/>
          <p:cNvSpPr/>
          <p:nvPr/>
        </p:nvSpPr>
        <p:spPr>
          <a:xfrm>
            <a:off x="841248" y="4352544"/>
            <a:ext cx="3063240" cy="530352"/>
          </a:xfrm>
          <a:prstGeom prst="rect">
            <a:avLst/>
          </a:prstGeom>
          <a:noFill/>
          <a:ln/>
        </p:spPr>
        <p:txBody>
          <a:bodyPr wrap="square" lIns="0" tIns="0" rIns="0" bIns="0" rtlCol="0" anchor="t"/>
          <a:lstStyle/>
          <a:p>
            <a:pPr indent="0" marL="0">
              <a:lnSpc>
                <a:spcPct val="122000"/>
              </a:lnSpc>
              <a:buNone/>
            </a:pPr>
            <a:r>
              <a:rPr lang="en-US" sz="1050" dirty="0">
                <a:solidFill>
                  <a:srgbClr val="3A4160"/>
                </a:solidFill>
                <a:latin typeface="맑은 고딕" pitchFamily="34" charset="0"/>
                <a:ea typeface="맑은 고딕" pitchFamily="34" charset="-122"/>
                <a:cs typeface="맑은 고딕" pitchFamily="34" charset="-120"/>
              </a:rPr>
              <a:t>·  BIT 미설치 정류장 QR 도착정보 스티커</a:t>
            </a:r>
            <a:endParaRPr lang="en-US" sz="1050" dirty="0"/>
          </a:p>
        </p:txBody>
      </p:sp>
      <p:sp>
        <p:nvSpPr>
          <p:cNvPr id="13" name="Shape 11"/>
          <p:cNvSpPr/>
          <p:nvPr/>
        </p:nvSpPr>
        <p:spPr>
          <a:xfrm>
            <a:off x="4370832" y="1874520"/>
            <a:ext cx="3566160" cy="3200400"/>
          </a:xfrm>
          <a:prstGeom prst="roundRect">
            <a:avLst>
              <a:gd name="adj" fmla="val 4000"/>
            </a:avLst>
          </a:prstGeom>
          <a:solidFill>
            <a:srgbClr val="FFFFFF"/>
          </a:solidFill>
          <a:ln w="12700">
            <a:solidFill>
              <a:srgbClr val="D4DAEE"/>
            </a:solidFill>
            <a:prstDash val="solid"/>
          </a:ln>
          <a:effectLst>
            <a:outerShdw sx="100000" sy="100000" kx="0" ky="0" algn="bl" rotWithShape="0" blurRad="101600" dist="25400" dir="5400000">
              <a:srgbClr val="001871">
                <a:alpha val="7000"/>
              </a:srgbClr>
            </a:outerShdw>
          </a:effectLst>
        </p:spPr>
      </p:sp>
      <p:sp>
        <p:nvSpPr>
          <p:cNvPr id="14" name="Shape 12"/>
          <p:cNvSpPr/>
          <p:nvPr/>
        </p:nvSpPr>
        <p:spPr>
          <a:xfrm>
            <a:off x="4645152" y="2103120"/>
            <a:ext cx="777240" cy="365760"/>
          </a:xfrm>
          <a:prstGeom prst="roundRect">
            <a:avLst>
              <a:gd name="adj" fmla="val 25000"/>
            </a:avLst>
          </a:prstGeom>
          <a:solidFill>
            <a:srgbClr val="2B44A8"/>
          </a:solidFill>
          <a:ln w="12700">
            <a:solidFill>
              <a:srgbClr val="2B44A8"/>
            </a:solidFill>
            <a:prstDash val="solid"/>
          </a:ln>
        </p:spPr>
      </p:sp>
      <p:sp>
        <p:nvSpPr>
          <p:cNvPr id="15" name="Text 13"/>
          <p:cNvSpPr/>
          <p:nvPr/>
        </p:nvSpPr>
        <p:spPr>
          <a:xfrm>
            <a:off x="4645152" y="2103120"/>
            <a:ext cx="77724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중기</a:t>
            </a:r>
            <a:endParaRPr lang="en-US" sz="1200" dirty="0"/>
          </a:p>
        </p:txBody>
      </p:sp>
      <p:sp>
        <p:nvSpPr>
          <p:cNvPr id="16" name="Text 14"/>
          <p:cNvSpPr/>
          <p:nvPr/>
        </p:nvSpPr>
        <p:spPr>
          <a:xfrm>
            <a:off x="5513832" y="2103120"/>
            <a:ext cx="2103120" cy="365760"/>
          </a:xfrm>
          <a:prstGeom prst="rect">
            <a:avLst/>
          </a:prstGeom>
          <a:noFill/>
          <a:ln/>
        </p:spPr>
        <p:txBody>
          <a:bodyPr wrap="square" lIns="0" tIns="0" rIns="0" bIns="0" rtlCol="0" anchor="ctr"/>
          <a:lstStyle/>
          <a:p>
            <a:pPr indent="0" marL="0">
              <a:buNone/>
            </a:pPr>
            <a:r>
              <a:rPr lang="en-US" sz="1150" b="1" dirty="0">
                <a:solidFill>
                  <a:srgbClr val="6E7796"/>
                </a:solidFill>
                <a:latin typeface="맑은 고딕" pitchFamily="34" charset="0"/>
                <a:ea typeface="맑은 고딕" pitchFamily="34" charset="-122"/>
                <a:cs typeface="맑은 고딕" pitchFamily="34" charset="-120"/>
              </a:rPr>
              <a:t>6~12개월</a:t>
            </a:r>
            <a:endParaRPr lang="en-US" sz="1150" dirty="0"/>
          </a:p>
        </p:txBody>
      </p:sp>
      <p:sp>
        <p:nvSpPr>
          <p:cNvPr id="17" name="Text 15"/>
          <p:cNvSpPr/>
          <p:nvPr/>
        </p:nvSpPr>
        <p:spPr>
          <a:xfrm>
            <a:off x="4645152" y="2651760"/>
            <a:ext cx="3063240" cy="530352"/>
          </a:xfrm>
          <a:prstGeom prst="rect">
            <a:avLst/>
          </a:prstGeom>
          <a:noFill/>
          <a:ln/>
        </p:spPr>
        <p:txBody>
          <a:bodyPr wrap="square" lIns="0" tIns="0" rIns="0" bIns="0" rtlCol="0" anchor="t"/>
          <a:lstStyle/>
          <a:p>
            <a:pPr indent="0" marL="0">
              <a:lnSpc>
                <a:spcPct val="122000"/>
              </a:lnSpc>
              <a:buNone/>
            </a:pPr>
            <a:r>
              <a:rPr lang="en-US" sz="1050" dirty="0">
                <a:solidFill>
                  <a:srgbClr val="3A4160"/>
                </a:solidFill>
                <a:latin typeface="맑은 고딕" pitchFamily="34" charset="0"/>
                <a:ea typeface="맑은 고딕" pitchFamily="34" charset="-122"/>
                <a:cs typeface="맑은 고딕" pitchFamily="34" charset="-120"/>
              </a:rPr>
              <a:t>·  춘천시 담당자용 폭염 취약 정류장 대시보드</a:t>
            </a:r>
            <a:endParaRPr lang="en-US" sz="1050" dirty="0"/>
          </a:p>
        </p:txBody>
      </p:sp>
      <p:sp>
        <p:nvSpPr>
          <p:cNvPr id="18" name="Text 16"/>
          <p:cNvSpPr/>
          <p:nvPr/>
        </p:nvSpPr>
        <p:spPr>
          <a:xfrm>
            <a:off x="4645152" y="3218688"/>
            <a:ext cx="3063240" cy="530352"/>
          </a:xfrm>
          <a:prstGeom prst="rect">
            <a:avLst/>
          </a:prstGeom>
          <a:noFill/>
          <a:ln/>
        </p:spPr>
        <p:txBody>
          <a:bodyPr wrap="square" lIns="0" tIns="0" rIns="0" bIns="0" rtlCol="0" anchor="t"/>
          <a:lstStyle/>
          <a:p>
            <a:pPr indent="0" marL="0">
              <a:lnSpc>
                <a:spcPct val="122000"/>
              </a:lnSpc>
              <a:buNone/>
            </a:pPr>
            <a:r>
              <a:rPr lang="en-US" sz="1050" dirty="0">
                <a:solidFill>
                  <a:srgbClr val="3A4160"/>
                </a:solidFill>
                <a:latin typeface="맑은 고딕" pitchFamily="34" charset="0"/>
                <a:ea typeface="맑은 고딕" pitchFamily="34" charset="-122"/>
                <a:cs typeface="맑은 고딕" pitchFamily="34" charset="-120"/>
              </a:rPr>
              <a:t>·  예산 우선순위 추천 모델 (가중치는 춘천시와 공동 설계)</a:t>
            </a:r>
            <a:endParaRPr lang="en-US" sz="1050" dirty="0"/>
          </a:p>
        </p:txBody>
      </p:sp>
      <p:sp>
        <p:nvSpPr>
          <p:cNvPr id="19" name="Text 17"/>
          <p:cNvSpPr/>
          <p:nvPr/>
        </p:nvSpPr>
        <p:spPr>
          <a:xfrm>
            <a:off x="4645152" y="3785616"/>
            <a:ext cx="3063240" cy="530352"/>
          </a:xfrm>
          <a:prstGeom prst="rect">
            <a:avLst/>
          </a:prstGeom>
          <a:noFill/>
          <a:ln/>
        </p:spPr>
        <p:txBody>
          <a:bodyPr wrap="square" lIns="0" tIns="0" rIns="0" bIns="0" rtlCol="0" anchor="t"/>
          <a:lstStyle/>
          <a:p>
            <a:pPr indent="0" marL="0">
              <a:lnSpc>
                <a:spcPct val="122000"/>
              </a:lnSpc>
              <a:buNone/>
            </a:pPr>
            <a:r>
              <a:rPr lang="en-US" sz="1050" dirty="0">
                <a:solidFill>
                  <a:srgbClr val="3A4160"/>
                </a:solidFill>
                <a:latin typeface="맑은 고딕" pitchFamily="34" charset="0"/>
                <a:ea typeface="맑은 고딕" pitchFamily="34" charset="-122"/>
                <a:cs typeface="맑은 고딕" pitchFamily="34" charset="-120"/>
              </a:rPr>
              <a:t>·  쉼터 신규 지정 후보 추천 (취약 구역 기반)</a:t>
            </a:r>
            <a:endParaRPr lang="en-US" sz="1050" dirty="0"/>
          </a:p>
        </p:txBody>
      </p:sp>
      <p:sp>
        <p:nvSpPr>
          <p:cNvPr id="20" name="Text 18"/>
          <p:cNvSpPr/>
          <p:nvPr/>
        </p:nvSpPr>
        <p:spPr>
          <a:xfrm>
            <a:off x="4645152" y="4352544"/>
            <a:ext cx="3063240" cy="530352"/>
          </a:xfrm>
          <a:prstGeom prst="rect">
            <a:avLst/>
          </a:prstGeom>
          <a:noFill/>
          <a:ln/>
        </p:spPr>
        <p:txBody>
          <a:bodyPr wrap="square" lIns="0" tIns="0" rIns="0" bIns="0" rtlCol="0" anchor="t"/>
          <a:lstStyle/>
          <a:p>
            <a:pPr indent="0" marL="0">
              <a:lnSpc>
                <a:spcPct val="122000"/>
              </a:lnSpc>
              <a:buNone/>
            </a:pPr>
            <a:r>
              <a:rPr lang="en-US" sz="1050" dirty="0">
                <a:solidFill>
                  <a:srgbClr val="3A4160"/>
                </a:solidFill>
                <a:latin typeface="맑은 고딕" pitchFamily="34" charset="0"/>
                <a:ea typeface="맑은 고딕" pitchFamily="34" charset="-122"/>
                <a:cs typeface="맑은 고딕" pitchFamily="34" charset="-120"/>
              </a:rPr>
              <a:t>·  수리 완료 Before/After 피드백</a:t>
            </a:r>
            <a:endParaRPr lang="en-US" sz="1050" dirty="0"/>
          </a:p>
        </p:txBody>
      </p:sp>
      <p:sp>
        <p:nvSpPr>
          <p:cNvPr id="21" name="Shape 19"/>
          <p:cNvSpPr/>
          <p:nvPr/>
        </p:nvSpPr>
        <p:spPr>
          <a:xfrm>
            <a:off x="8174736" y="1874520"/>
            <a:ext cx="3566160" cy="3200400"/>
          </a:xfrm>
          <a:prstGeom prst="roundRect">
            <a:avLst>
              <a:gd name="adj" fmla="val 4000"/>
            </a:avLst>
          </a:prstGeom>
          <a:solidFill>
            <a:srgbClr val="FFFFFF"/>
          </a:solidFill>
          <a:ln w="12700">
            <a:solidFill>
              <a:srgbClr val="D4DAEE"/>
            </a:solidFill>
            <a:prstDash val="solid"/>
          </a:ln>
          <a:effectLst>
            <a:outerShdw sx="100000" sy="100000" kx="0" ky="0" algn="bl" rotWithShape="0" blurRad="101600" dist="25400" dir="5400000">
              <a:srgbClr val="001871">
                <a:alpha val="7000"/>
              </a:srgbClr>
            </a:outerShdw>
          </a:effectLst>
        </p:spPr>
      </p:sp>
      <p:sp>
        <p:nvSpPr>
          <p:cNvPr id="22" name="Shape 20"/>
          <p:cNvSpPr/>
          <p:nvPr/>
        </p:nvSpPr>
        <p:spPr>
          <a:xfrm>
            <a:off x="8449056" y="2103120"/>
            <a:ext cx="777240" cy="365760"/>
          </a:xfrm>
          <a:prstGeom prst="roundRect">
            <a:avLst>
              <a:gd name="adj" fmla="val 25000"/>
            </a:avLst>
          </a:prstGeom>
          <a:solidFill>
            <a:srgbClr val="E8751A"/>
          </a:solidFill>
          <a:ln w="12700">
            <a:solidFill>
              <a:srgbClr val="E8751A"/>
            </a:solidFill>
            <a:prstDash val="solid"/>
          </a:ln>
        </p:spPr>
      </p:sp>
      <p:sp>
        <p:nvSpPr>
          <p:cNvPr id="23" name="Text 21"/>
          <p:cNvSpPr/>
          <p:nvPr/>
        </p:nvSpPr>
        <p:spPr>
          <a:xfrm>
            <a:off x="8449056" y="2103120"/>
            <a:ext cx="77724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장기</a:t>
            </a:r>
            <a:endParaRPr lang="en-US" sz="1200" dirty="0"/>
          </a:p>
        </p:txBody>
      </p:sp>
      <p:sp>
        <p:nvSpPr>
          <p:cNvPr id="24" name="Text 22"/>
          <p:cNvSpPr/>
          <p:nvPr/>
        </p:nvSpPr>
        <p:spPr>
          <a:xfrm>
            <a:off x="9317736" y="2103120"/>
            <a:ext cx="2103120" cy="365760"/>
          </a:xfrm>
          <a:prstGeom prst="rect">
            <a:avLst/>
          </a:prstGeom>
          <a:noFill/>
          <a:ln/>
        </p:spPr>
        <p:txBody>
          <a:bodyPr wrap="square" lIns="0" tIns="0" rIns="0" bIns="0" rtlCol="0" anchor="ctr"/>
          <a:lstStyle/>
          <a:p>
            <a:pPr indent="0" marL="0">
              <a:buNone/>
            </a:pPr>
            <a:r>
              <a:rPr lang="en-US" sz="1150" b="1" dirty="0">
                <a:solidFill>
                  <a:srgbClr val="6E7796"/>
                </a:solidFill>
                <a:latin typeface="맑은 고딕" pitchFamily="34" charset="0"/>
                <a:ea typeface="맑은 고딕" pitchFamily="34" charset="-122"/>
                <a:cs typeface="맑은 고딕" pitchFamily="34" charset="-120"/>
              </a:rPr>
              <a:t>1년 이후</a:t>
            </a:r>
            <a:endParaRPr lang="en-US" sz="1150" dirty="0"/>
          </a:p>
        </p:txBody>
      </p:sp>
      <p:sp>
        <p:nvSpPr>
          <p:cNvPr id="25" name="Text 23"/>
          <p:cNvSpPr/>
          <p:nvPr/>
        </p:nvSpPr>
        <p:spPr>
          <a:xfrm>
            <a:off x="8449056" y="2651760"/>
            <a:ext cx="3063240" cy="530352"/>
          </a:xfrm>
          <a:prstGeom prst="rect">
            <a:avLst/>
          </a:prstGeom>
          <a:noFill/>
          <a:ln/>
        </p:spPr>
        <p:txBody>
          <a:bodyPr wrap="square" lIns="0" tIns="0" rIns="0" bIns="0" rtlCol="0" anchor="t"/>
          <a:lstStyle/>
          <a:p>
            <a:pPr indent="0" marL="0">
              <a:lnSpc>
                <a:spcPct val="122000"/>
              </a:lnSpc>
              <a:buNone/>
            </a:pPr>
            <a:r>
              <a:rPr lang="en-US" sz="1050" dirty="0">
                <a:solidFill>
                  <a:srgbClr val="3A4160"/>
                </a:solidFill>
                <a:latin typeface="맑은 고딕" pitchFamily="34" charset="0"/>
                <a:ea typeface="맑은 고딕" pitchFamily="34" charset="-122"/>
                <a:cs typeface="맑은 고딕" pitchFamily="34" charset="-120"/>
              </a:rPr>
              <a:t>·  고령자 대기시간 분석 (통신·교통카드 결합)</a:t>
            </a:r>
            <a:endParaRPr lang="en-US" sz="1050" dirty="0"/>
          </a:p>
        </p:txBody>
      </p:sp>
      <p:sp>
        <p:nvSpPr>
          <p:cNvPr id="26" name="Text 24"/>
          <p:cNvSpPr/>
          <p:nvPr/>
        </p:nvSpPr>
        <p:spPr>
          <a:xfrm>
            <a:off x="8449056" y="3218688"/>
            <a:ext cx="3063240" cy="530352"/>
          </a:xfrm>
          <a:prstGeom prst="rect">
            <a:avLst/>
          </a:prstGeom>
          <a:noFill/>
          <a:ln/>
        </p:spPr>
        <p:txBody>
          <a:bodyPr wrap="square" lIns="0" tIns="0" rIns="0" bIns="0" rtlCol="0" anchor="t"/>
          <a:lstStyle/>
          <a:p>
            <a:pPr indent="0" marL="0">
              <a:lnSpc>
                <a:spcPct val="122000"/>
              </a:lnSpc>
              <a:buNone/>
            </a:pPr>
            <a:r>
              <a:rPr lang="en-US" sz="1050" dirty="0">
                <a:solidFill>
                  <a:srgbClr val="3A4160"/>
                </a:solidFill>
                <a:latin typeface="맑은 고딕" pitchFamily="34" charset="0"/>
                <a:ea typeface="맑은 고딕" pitchFamily="34" charset="-122"/>
                <a:cs typeface="맑은 고딕" pitchFamily="34" charset="-120"/>
              </a:rPr>
              <a:t>·  → 통신사·카드사·춘천시 협력이 전제</a:t>
            </a:r>
            <a:endParaRPr lang="en-US" sz="1050" dirty="0"/>
          </a:p>
        </p:txBody>
      </p:sp>
      <p:sp>
        <p:nvSpPr>
          <p:cNvPr id="27" name="Text 25"/>
          <p:cNvSpPr/>
          <p:nvPr/>
        </p:nvSpPr>
        <p:spPr>
          <a:xfrm>
            <a:off x="8449056" y="3785616"/>
            <a:ext cx="3063240" cy="530352"/>
          </a:xfrm>
          <a:prstGeom prst="rect">
            <a:avLst/>
          </a:prstGeom>
          <a:noFill/>
          <a:ln/>
        </p:spPr>
        <p:txBody>
          <a:bodyPr wrap="square" lIns="0" tIns="0" rIns="0" bIns="0" rtlCol="0" anchor="t"/>
          <a:lstStyle/>
          <a:p>
            <a:pPr indent="0" marL="0">
              <a:lnSpc>
                <a:spcPct val="122000"/>
              </a:lnSpc>
              <a:buNone/>
            </a:pPr>
            <a:r>
              <a:rPr lang="en-US" sz="1050" dirty="0">
                <a:solidFill>
                  <a:srgbClr val="3A4160"/>
                </a:solidFill>
                <a:latin typeface="맑은 고딕" pitchFamily="34" charset="0"/>
                <a:ea typeface="맑은 고딕" pitchFamily="34" charset="-122"/>
                <a:cs typeface="맑은 고딕" pitchFamily="34" charset="-120"/>
              </a:rPr>
              <a:t>·  강원 시·군 확산 — 데이터만 교체해 이식</a:t>
            </a:r>
            <a:endParaRPr lang="en-US" sz="1050" dirty="0"/>
          </a:p>
        </p:txBody>
      </p:sp>
      <p:sp>
        <p:nvSpPr>
          <p:cNvPr id="28" name="Text 26"/>
          <p:cNvSpPr/>
          <p:nvPr/>
        </p:nvSpPr>
        <p:spPr>
          <a:xfrm>
            <a:off x="8449056" y="4352544"/>
            <a:ext cx="3063240" cy="530352"/>
          </a:xfrm>
          <a:prstGeom prst="rect">
            <a:avLst/>
          </a:prstGeom>
          <a:noFill/>
          <a:ln/>
        </p:spPr>
        <p:txBody>
          <a:bodyPr wrap="square" lIns="0" tIns="0" rIns="0" bIns="0" rtlCol="0" anchor="t"/>
          <a:lstStyle/>
          <a:p>
            <a:pPr indent="0" marL="0">
              <a:lnSpc>
                <a:spcPct val="122000"/>
              </a:lnSpc>
              <a:buNone/>
            </a:pPr>
            <a:r>
              <a:rPr lang="en-US" sz="1050" dirty="0">
                <a:solidFill>
                  <a:srgbClr val="3A4160"/>
                </a:solidFill>
                <a:latin typeface="맑은 고딕" pitchFamily="34" charset="0"/>
                <a:ea typeface="맑은 고딕" pitchFamily="34" charset="-122"/>
                <a:cs typeface="맑은 고딕" pitchFamily="34" charset="-120"/>
              </a:rPr>
              <a:t>·  실태 데이터를 춘천시 공공데이터로 재개방</a:t>
            </a:r>
            <a:endParaRPr lang="en-US" sz="1050" dirty="0"/>
          </a:p>
        </p:txBody>
      </p:sp>
      <p:sp>
        <p:nvSpPr>
          <p:cNvPr id="29" name="Shape 27"/>
          <p:cNvSpPr/>
          <p:nvPr/>
        </p:nvSpPr>
        <p:spPr>
          <a:xfrm>
            <a:off x="566928" y="5230368"/>
            <a:ext cx="11057839" cy="566928"/>
          </a:xfrm>
          <a:prstGeom prst="roundRect">
            <a:avLst>
              <a:gd name="adj" fmla="val 22581"/>
            </a:avLst>
          </a:prstGeom>
          <a:solidFill>
            <a:srgbClr val="F4F6FC"/>
          </a:solidFill>
          <a:ln w="12700">
            <a:solidFill>
              <a:srgbClr val="D4DAEE"/>
            </a:solidFill>
            <a:prstDash val="solid"/>
          </a:ln>
        </p:spPr>
      </p:sp>
      <p:sp>
        <p:nvSpPr>
          <p:cNvPr id="30" name="Text 28"/>
          <p:cNvSpPr/>
          <p:nvPr/>
        </p:nvSpPr>
        <p:spPr>
          <a:xfrm>
            <a:off x="841248" y="5230368"/>
            <a:ext cx="10509199" cy="566928"/>
          </a:xfrm>
          <a:prstGeom prst="rect">
            <a:avLst/>
          </a:prstGeom>
          <a:noFill/>
          <a:ln/>
        </p:spPr>
        <p:txBody>
          <a:bodyPr wrap="square" lIns="0" tIns="0" rIns="0" bIns="0" rtlCol="0" anchor="ctr"/>
          <a:lstStyle/>
          <a:p>
            <a:pPr indent="0" marL="0">
              <a:buNone/>
            </a:pPr>
            <a:r>
              <a:rPr lang="en-US" sz="1150" b="1" dirty="0">
                <a:solidFill>
                  <a:srgbClr val="001871"/>
                </a:solidFill>
                <a:latin typeface="맑은 고딕" pitchFamily="34" charset="0"/>
                <a:ea typeface="맑은 고딕" pitchFamily="34" charset="-122"/>
                <a:cs typeface="맑은 고딕" pitchFamily="34" charset="-120"/>
              </a:rPr>
              <a:t>미구현 항목은 목업 화면으로 만들지 않았습니다. 데모에서 보여드린 것은 전부 실제로 동작하는 기능입니다.</a:t>
            </a:r>
            <a:endParaRPr lang="en-US" sz="1150" dirty="0"/>
          </a:p>
        </p:txBody>
      </p:sp>
      <p:sp>
        <p:nvSpPr>
          <p:cNvPr id="31" name="Text 29"/>
          <p:cNvSpPr/>
          <p:nvPr/>
        </p:nvSpPr>
        <p:spPr>
          <a:xfrm>
            <a:off x="566928" y="6327648"/>
            <a:ext cx="4572000" cy="274320"/>
          </a:xfrm>
          <a:prstGeom prst="rect">
            <a:avLst/>
          </a:prstGeom>
          <a:noFill/>
          <a:ln/>
        </p:spPr>
        <p:txBody>
          <a:bodyPr wrap="square" lIns="0" tIns="0" rIns="0" bIns="0" rtlCol="0" anchor="ctr"/>
          <a:lstStyle/>
          <a:p>
            <a:pPr algn="l" indent="0" marL="0">
              <a:buNone/>
            </a:pPr>
            <a:r>
              <a:rPr lang="en-US" sz="900" dirty="0">
                <a:solidFill>
                  <a:srgbClr val="6E7796"/>
                </a:solidFill>
                <a:latin typeface="맑은 고딕" pitchFamily="34" charset="0"/>
                <a:ea typeface="맑은 고딕" pitchFamily="34" charset="-122"/>
                <a:cs typeface="맑은 고딕" pitchFamily="34" charset="-120"/>
              </a:rPr>
              <a:t>쉼표정류장  ·  팀 오댕국</a:t>
            </a:r>
            <a:endParaRPr lang="en-US" sz="900" dirty="0"/>
          </a:p>
        </p:txBody>
      </p:sp>
      <p:sp>
        <p:nvSpPr>
          <p:cNvPr id="32" name="Text 30"/>
          <p:cNvSpPr/>
          <p:nvPr/>
        </p:nvSpPr>
        <p:spPr>
          <a:xfrm>
            <a:off x="10710367" y="6327648"/>
            <a:ext cx="914400" cy="274320"/>
          </a:xfrm>
          <a:prstGeom prst="rect">
            <a:avLst/>
          </a:prstGeom>
          <a:noFill/>
          <a:ln/>
        </p:spPr>
        <p:txBody>
          <a:bodyPr wrap="square" lIns="0" tIns="0" rIns="0" bIns="0" rtlCol="0" anchor="ctr"/>
          <a:lstStyle/>
          <a:p>
            <a:pPr algn="r" indent="0" marL="0">
              <a:buNone/>
            </a:pPr>
            <a:r>
              <a:rPr lang="en-US" sz="900" dirty="0">
                <a:solidFill>
                  <a:srgbClr val="6E7796"/>
                </a:solidFill>
                <a:latin typeface="맑은 고딕" pitchFamily="34" charset="0"/>
                <a:ea typeface="맑은 고딕" pitchFamily="34" charset="-122"/>
                <a:cs typeface="맑은 고딕"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1240"/>
        </a:solidFill>
      </p:bgPr>
    </p:bg>
    <p:spTree>
      <p:nvGrpSpPr>
        <p:cNvPr id="1" name=""/>
        <p:cNvGrpSpPr/>
        <p:nvPr/>
      </p:nvGrpSpPr>
      <p:grpSpPr>
        <a:xfrm>
          <a:off x="0" y="0"/>
          <a:ext cx="0" cy="0"/>
          <a:chOff x="0" y="0"/>
          <a:chExt cx="0" cy="0"/>
        </a:xfrm>
      </p:grpSpPr>
      <p:sp>
        <p:nvSpPr>
          <p:cNvPr id="2" name="Text 0"/>
          <p:cNvSpPr/>
          <p:nvPr/>
        </p:nvSpPr>
        <p:spPr>
          <a:xfrm>
            <a:off x="566928" y="2148840"/>
            <a:ext cx="11057839" cy="777240"/>
          </a:xfrm>
          <a:prstGeom prst="rect">
            <a:avLst/>
          </a:prstGeom>
          <a:noFill/>
          <a:ln/>
        </p:spPr>
        <p:txBody>
          <a:bodyPr wrap="square" lIns="0" tIns="0" rIns="0" bIns="0" rtlCol="0" anchor="ctr"/>
          <a:lstStyle/>
          <a:p>
            <a:pPr algn="ctr" indent="0" marL="0">
              <a:buNone/>
            </a:pPr>
            <a:r>
              <a:rPr lang="en-US" sz="3400" b="1" dirty="0">
                <a:solidFill>
                  <a:srgbClr val="FFFFFF"/>
                </a:solidFill>
                <a:latin typeface="맑은 고딕" pitchFamily="34" charset="0"/>
                <a:ea typeface="맑은 고딕" pitchFamily="34" charset="-122"/>
                <a:cs typeface="맑은 고딕" pitchFamily="34" charset="-120"/>
              </a:rPr>
              <a:t>버스를 기다리는 시간, 어르신을 그늘 아래로.</a:t>
            </a:r>
            <a:endParaRPr lang="en-US" sz="3400" dirty="0"/>
          </a:p>
        </p:txBody>
      </p:sp>
      <p:sp>
        <p:nvSpPr>
          <p:cNvPr id="3" name="Text 1"/>
          <p:cNvSpPr/>
          <p:nvPr/>
        </p:nvSpPr>
        <p:spPr>
          <a:xfrm>
            <a:off x="566928" y="3063240"/>
            <a:ext cx="11057839" cy="914400"/>
          </a:xfrm>
          <a:prstGeom prst="rect">
            <a:avLst/>
          </a:prstGeom>
          <a:noFill/>
          <a:ln/>
        </p:spPr>
        <p:txBody>
          <a:bodyPr wrap="square" lIns="0" tIns="0" rIns="0" bIns="0" rtlCol="0" anchor="t"/>
          <a:lstStyle/>
          <a:p>
            <a:pPr algn="ctr" indent="0" marL="0">
              <a:lnSpc>
                <a:spcPct val="150000"/>
              </a:lnSpc>
              <a:buNone/>
            </a:pPr>
            <a:r>
              <a:rPr lang="en-US" sz="1600" dirty="0">
                <a:solidFill>
                  <a:srgbClr val="C7D0EE"/>
                </a:solidFill>
                <a:latin typeface="맑은 고딕" pitchFamily="34" charset="0"/>
                <a:ea typeface="맑은 고딕" pitchFamily="34" charset="-122"/>
                <a:cs typeface="맑은 고딕" pitchFamily="34" charset="-120"/>
              </a:rPr>
              <a:t>춘천에 이미 있는 무더위쉼터 226곳을,</a:t>
            </a:r>
            <a:endParaRPr lang="en-US" sz="1600" dirty="0"/>
          </a:p>
          <a:p>
            <a:pPr algn="ctr" indent="0" marL="0">
              <a:lnSpc>
                <a:spcPct val="150000"/>
              </a:lnSpc>
              <a:buNone/>
            </a:pPr>
            <a:r>
              <a:rPr lang="en-US" sz="1600" dirty="0">
                <a:solidFill>
                  <a:srgbClr val="C7D0EE"/>
                </a:solidFill>
                <a:latin typeface="맑은 고딕" pitchFamily="34" charset="0"/>
                <a:ea typeface="맑은 고딕" pitchFamily="34" charset="-122"/>
                <a:cs typeface="맑은 고딕" pitchFamily="34" charset="-120"/>
              </a:rPr>
              <a:t>정류장에 서 있는 어르신에게 연결합니다.</a:t>
            </a:r>
            <a:endParaRPr lang="en-US" sz="1600" dirty="0"/>
          </a:p>
        </p:txBody>
      </p:sp>
      <p:sp>
        <p:nvSpPr>
          <p:cNvPr id="4" name="Shape 2"/>
          <p:cNvSpPr/>
          <p:nvPr/>
        </p:nvSpPr>
        <p:spPr>
          <a:xfrm>
            <a:off x="3032608" y="4206240"/>
            <a:ext cx="1211580" cy="457200"/>
          </a:xfrm>
          <a:prstGeom prst="roundRect">
            <a:avLst>
              <a:gd name="adj" fmla="val 24000"/>
            </a:avLst>
          </a:prstGeom>
          <a:solidFill>
            <a:srgbClr val="16205C"/>
          </a:solidFill>
          <a:ln w="12700">
            <a:solidFill>
              <a:srgbClr val="8B9CDD"/>
            </a:solidFill>
            <a:prstDash val="solid"/>
          </a:ln>
        </p:spPr>
      </p:sp>
      <p:sp>
        <p:nvSpPr>
          <p:cNvPr id="5" name="Text 3"/>
          <p:cNvSpPr/>
          <p:nvPr/>
        </p:nvSpPr>
        <p:spPr>
          <a:xfrm>
            <a:off x="3032608" y="4206240"/>
            <a:ext cx="1211580" cy="457200"/>
          </a:xfrm>
          <a:prstGeom prst="rect">
            <a:avLst/>
          </a:prstGeom>
          <a:noFill/>
          <a:ln/>
        </p:spPr>
        <p:txBody>
          <a:bodyPr wrap="square" lIns="0" tIns="0" rIns="0" bIns="0" rtlCol="0" anchor="ctr"/>
          <a:lstStyle/>
          <a:p>
            <a:pPr algn="ctr" indent="0" marL="0">
              <a:buNone/>
            </a:pPr>
            <a:r>
              <a:rPr lang="en-US" sz="1200" b="1" dirty="0">
                <a:solidFill>
                  <a:srgbClr val="8B9CDD"/>
                </a:solidFill>
                <a:latin typeface="맑은 고딕" pitchFamily="34" charset="0"/>
                <a:ea typeface="맑은 고딕" pitchFamily="34" charset="-122"/>
                <a:cs typeface="맑은 고딕" pitchFamily="34" charset="-120"/>
              </a:rPr>
              <a:t>지붕 없음</a:t>
            </a:r>
            <a:endParaRPr lang="en-US" sz="1200" dirty="0"/>
          </a:p>
        </p:txBody>
      </p:sp>
      <p:sp>
        <p:nvSpPr>
          <p:cNvPr id="6" name="Shape 4"/>
          <p:cNvSpPr/>
          <p:nvPr/>
        </p:nvSpPr>
        <p:spPr>
          <a:xfrm>
            <a:off x="4500220" y="4206240"/>
            <a:ext cx="2487168" cy="457200"/>
          </a:xfrm>
          <a:prstGeom prst="roundRect">
            <a:avLst>
              <a:gd name="adj" fmla="val 24000"/>
            </a:avLst>
          </a:prstGeom>
          <a:solidFill>
            <a:srgbClr val="16205C"/>
          </a:solidFill>
          <a:ln w="12700">
            <a:solidFill>
              <a:srgbClr val="E8751A"/>
            </a:solidFill>
            <a:prstDash val="solid"/>
          </a:ln>
        </p:spPr>
      </p:sp>
      <p:sp>
        <p:nvSpPr>
          <p:cNvPr id="7" name="Text 5"/>
          <p:cNvSpPr/>
          <p:nvPr/>
        </p:nvSpPr>
        <p:spPr>
          <a:xfrm>
            <a:off x="4500220" y="4206240"/>
            <a:ext cx="2487168" cy="457200"/>
          </a:xfrm>
          <a:prstGeom prst="rect">
            <a:avLst/>
          </a:prstGeom>
          <a:noFill/>
          <a:ln/>
        </p:spPr>
        <p:txBody>
          <a:bodyPr wrap="square" lIns="0" tIns="0" rIns="0" bIns="0" rtlCol="0" anchor="ctr"/>
          <a:lstStyle/>
          <a:p>
            <a:pPr algn="ctr" indent="0" marL="0">
              <a:buNone/>
            </a:pPr>
            <a:r>
              <a:rPr lang="en-US" sz="1200" b="1" dirty="0">
                <a:solidFill>
                  <a:srgbClr val="E8751A"/>
                </a:solidFill>
                <a:latin typeface="맑은 고딕" pitchFamily="34" charset="0"/>
                <a:ea typeface="맑은 고딕" pitchFamily="34" charset="-122"/>
                <a:cs typeface="맑은 고딕" pitchFamily="34" charset="-120"/>
              </a:rPr>
              <a:t>가장 가까운 쉼터 240m</a:t>
            </a:r>
            <a:endParaRPr lang="en-US" sz="1200" dirty="0"/>
          </a:p>
        </p:txBody>
      </p:sp>
      <p:sp>
        <p:nvSpPr>
          <p:cNvPr id="8" name="Shape 6"/>
          <p:cNvSpPr/>
          <p:nvPr/>
        </p:nvSpPr>
        <p:spPr>
          <a:xfrm>
            <a:off x="7243420" y="4206240"/>
            <a:ext cx="1211580" cy="457200"/>
          </a:xfrm>
          <a:prstGeom prst="roundRect">
            <a:avLst>
              <a:gd name="adj" fmla="val 24000"/>
            </a:avLst>
          </a:prstGeom>
          <a:solidFill>
            <a:srgbClr val="16205C"/>
          </a:solidFill>
          <a:ln w="12700">
            <a:solidFill>
              <a:srgbClr val="8B9CDD"/>
            </a:solidFill>
            <a:prstDash val="solid"/>
          </a:ln>
        </p:spPr>
      </p:sp>
      <p:sp>
        <p:nvSpPr>
          <p:cNvPr id="9" name="Text 7"/>
          <p:cNvSpPr/>
          <p:nvPr/>
        </p:nvSpPr>
        <p:spPr>
          <a:xfrm>
            <a:off x="7243420" y="4206240"/>
            <a:ext cx="1211580" cy="457200"/>
          </a:xfrm>
          <a:prstGeom prst="rect">
            <a:avLst/>
          </a:prstGeom>
          <a:noFill/>
          <a:ln/>
        </p:spPr>
        <p:txBody>
          <a:bodyPr wrap="square" lIns="0" tIns="0" rIns="0" bIns="0" rtlCol="0" anchor="ctr"/>
          <a:lstStyle/>
          <a:p>
            <a:pPr algn="ctr" indent="0" marL="0">
              <a:buNone/>
            </a:pPr>
            <a:r>
              <a:rPr lang="en-US" sz="1200" b="1" dirty="0">
                <a:solidFill>
                  <a:srgbClr val="8B9CDD"/>
                </a:solidFill>
                <a:latin typeface="맑은 고딕" pitchFamily="34" charset="0"/>
                <a:ea typeface="맑은 고딕" pitchFamily="34" charset="-122"/>
                <a:cs typeface="맑은 고딕" pitchFamily="34" charset="-120"/>
              </a:rPr>
              <a:t>도보 4분</a:t>
            </a:r>
            <a:endParaRPr lang="en-US" sz="1200" dirty="0"/>
          </a:p>
        </p:txBody>
      </p:sp>
      <p:sp>
        <p:nvSpPr>
          <p:cNvPr id="10" name="Text 8"/>
          <p:cNvSpPr/>
          <p:nvPr/>
        </p:nvSpPr>
        <p:spPr>
          <a:xfrm>
            <a:off x="566928" y="5029200"/>
            <a:ext cx="11057839" cy="502920"/>
          </a:xfrm>
          <a:prstGeom prst="rect">
            <a:avLst/>
          </a:prstGeom>
          <a:noFill/>
          <a:ln/>
        </p:spPr>
        <p:txBody>
          <a:bodyPr wrap="square" lIns="0" tIns="0" rIns="0" bIns="0" rtlCol="0" anchor="ctr"/>
          <a:lstStyle/>
          <a:p>
            <a:pPr algn="ctr" indent="0" marL="0">
              <a:buNone/>
            </a:pPr>
            <a:r>
              <a:rPr lang="en-US" sz="2600" b="1" dirty="0">
                <a:solidFill>
                  <a:srgbClr val="FFFFFF"/>
                </a:solidFill>
                <a:latin typeface="맑은 고딕" pitchFamily="34" charset="0"/>
                <a:ea typeface="맑은 고딕" pitchFamily="34" charset="-122"/>
                <a:cs typeface="맑은 고딕" pitchFamily="34" charset="-120"/>
              </a:rPr>
              <a:t>쉼표정류장</a:t>
            </a:r>
            <a:endParaRPr lang="en-US" sz="2600" dirty="0"/>
          </a:p>
        </p:txBody>
      </p:sp>
      <p:sp>
        <p:nvSpPr>
          <p:cNvPr id="11" name="Text 9"/>
          <p:cNvSpPr/>
          <p:nvPr/>
        </p:nvSpPr>
        <p:spPr>
          <a:xfrm>
            <a:off x="566928" y="5532120"/>
            <a:ext cx="11057839" cy="347472"/>
          </a:xfrm>
          <a:prstGeom prst="rect">
            <a:avLst/>
          </a:prstGeom>
          <a:noFill/>
          <a:ln/>
        </p:spPr>
        <p:txBody>
          <a:bodyPr wrap="square" lIns="0" tIns="0" rIns="0" bIns="0" rtlCol="0" anchor="ctr"/>
          <a:lstStyle/>
          <a:p>
            <a:pPr algn="ctr" indent="0" marL="0">
              <a:buNone/>
            </a:pPr>
            <a:r>
              <a:rPr lang="en-US" sz="1300" dirty="0">
                <a:solidFill>
                  <a:srgbClr val="A6B3E6"/>
                </a:solidFill>
                <a:latin typeface="맑은 고딕" pitchFamily="34" charset="0"/>
                <a:ea typeface="맑은 고딕" pitchFamily="34" charset="-122"/>
                <a:cs typeface="맑은 고딕" pitchFamily="34" charset="-120"/>
              </a:rPr>
              <a:t>팀 오댕국 (13번 팀)  ·  감사합니다</a:t>
            </a:r>
            <a:endParaRPr lang="en-US" sz="1300" dirty="0"/>
          </a:p>
        </p:txBody>
      </p:sp>
      <p:sp>
        <p:nvSpPr>
          <p:cNvPr id="12" name="Text 10"/>
          <p:cNvSpPr/>
          <p:nvPr/>
        </p:nvSpPr>
        <p:spPr>
          <a:xfrm>
            <a:off x="566928" y="6327648"/>
            <a:ext cx="4572000" cy="274320"/>
          </a:xfrm>
          <a:prstGeom prst="rect">
            <a:avLst/>
          </a:prstGeom>
          <a:noFill/>
          <a:ln/>
        </p:spPr>
        <p:txBody>
          <a:bodyPr wrap="square" lIns="0" tIns="0" rIns="0" bIns="0" rtlCol="0" anchor="ctr"/>
          <a:lstStyle/>
          <a:p>
            <a:pPr algn="l" indent="0" marL="0">
              <a:buNone/>
            </a:pPr>
            <a:r>
              <a:rPr lang="en-US" sz="900" dirty="0">
                <a:solidFill>
                  <a:srgbClr val="8B9CDD"/>
                </a:solidFill>
                <a:latin typeface="맑은 고딕" pitchFamily="34" charset="0"/>
                <a:ea typeface="맑은 고딕" pitchFamily="34" charset="-122"/>
                <a:cs typeface="맑은 고딕" pitchFamily="34" charset="-120"/>
              </a:rPr>
              <a:t>쉼표정류장  ·  팀 오댕국</a:t>
            </a:r>
            <a:endParaRPr lang="en-US" sz="900" dirty="0"/>
          </a:p>
        </p:txBody>
      </p:sp>
      <p:sp>
        <p:nvSpPr>
          <p:cNvPr id="13" name="Text 11"/>
          <p:cNvSpPr/>
          <p:nvPr/>
        </p:nvSpPr>
        <p:spPr>
          <a:xfrm>
            <a:off x="10710367" y="6327648"/>
            <a:ext cx="914400" cy="274320"/>
          </a:xfrm>
          <a:prstGeom prst="rect">
            <a:avLst/>
          </a:prstGeom>
          <a:noFill/>
          <a:ln/>
        </p:spPr>
        <p:txBody>
          <a:bodyPr wrap="square" lIns="0" tIns="0" rIns="0" bIns="0" rtlCol="0" anchor="ctr"/>
          <a:lstStyle/>
          <a:p>
            <a:pPr algn="r" indent="0" marL="0">
              <a:buNone/>
            </a:pPr>
            <a:r>
              <a:rPr lang="en-US" sz="900" dirty="0">
                <a:solidFill>
                  <a:srgbClr val="8B9CDD"/>
                </a:solidFill>
                <a:latin typeface="맑은 고딕" pitchFamily="34" charset="0"/>
                <a:ea typeface="맑은 고딕" pitchFamily="34" charset="-122"/>
                <a:cs typeface="맑은 고딕"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11057839" cy="274320"/>
          </a:xfrm>
          <a:prstGeom prst="rect">
            <a:avLst/>
          </a:prstGeom>
          <a:noFill/>
          <a:ln/>
        </p:spPr>
        <p:txBody>
          <a:bodyPr wrap="square" lIns="0" tIns="0" rIns="0" bIns="0" rtlCol="0" anchor="ctr"/>
          <a:lstStyle/>
          <a:p>
            <a:pPr indent="0" marL="0">
              <a:buNone/>
            </a:pPr>
            <a:r>
              <a:rPr lang="en-US" sz="1100" b="1" dirty="0">
                <a:solidFill>
                  <a:srgbClr val="E8751A"/>
                </a:solidFill>
                <a:latin typeface="맑은 고딕" pitchFamily="34" charset="0"/>
                <a:ea typeface="맑은 고딕" pitchFamily="34" charset="-122"/>
                <a:cs typeface="맑은 고딕" pitchFamily="34" charset="-120"/>
              </a:rPr>
              <a:t>별첨</a:t>
            </a:r>
            <a:pPr indent="0" marL="0">
              <a:buNone/>
            </a:pPr>
            <a:r>
              <a:rPr lang="en-US" sz="1100" b="1" dirty="0">
                <a:solidFill>
                  <a:srgbClr val="6E7796"/>
                </a:solidFill>
                <a:latin typeface="맑은 고딕" pitchFamily="34" charset="0"/>
                <a:ea typeface="맑은 고딕" pitchFamily="34" charset="-122"/>
                <a:cs typeface="맑은 고딕" pitchFamily="34" charset="-120"/>
              </a:rPr>
              <a:t>   활용 데이터 및 외부 자료</a:t>
            </a:r>
            <a:endParaRPr lang="en-US" sz="1100" dirty="0"/>
          </a:p>
        </p:txBody>
      </p:sp>
      <p:sp>
        <p:nvSpPr>
          <p:cNvPr id="3" name="Text 1"/>
          <p:cNvSpPr/>
          <p:nvPr/>
        </p:nvSpPr>
        <p:spPr>
          <a:xfrm>
            <a:off x="566928" y="749808"/>
            <a:ext cx="11057839" cy="566928"/>
          </a:xfrm>
          <a:prstGeom prst="rect">
            <a:avLst/>
          </a:prstGeom>
          <a:noFill/>
          <a:ln/>
        </p:spPr>
        <p:txBody>
          <a:bodyPr wrap="square" lIns="0" tIns="0" rIns="0" bIns="0" rtlCol="0" anchor="ctr"/>
          <a:lstStyle/>
          <a:p>
            <a:pPr indent="0" marL="0">
              <a:buNone/>
            </a:pPr>
            <a:r>
              <a:rPr lang="en-US" sz="2700" b="1" dirty="0">
                <a:solidFill>
                  <a:srgbClr val="141B33"/>
                </a:solidFill>
                <a:latin typeface="맑은 고딕" pitchFamily="34" charset="0"/>
                <a:ea typeface="맑은 고딕" pitchFamily="34" charset="-122"/>
                <a:cs typeface="맑은 고딕" pitchFamily="34" charset="-120"/>
              </a:rPr>
              <a:t>활용 데이터 출처 ① 공공데이터</a:t>
            </a:r>
            <a:endParaRPr lang="en-US" sz="2700" dirty="0"/>
          </a:p>
        </p:txBody>
      </p:sp>
      <p:sp>
        <p:nvSpPr>
          <p:cNvPr id="4" name="Text 2"/>
          <p:cNvSpPr/>
          <p:nvPr/>
        </p:nvSpPr>
        <p:spPr>
          <a:xfrm>
            <a:off x="566928" y="1335024"/>
            <a:ext cx="11057839" cy="310896"/>
          </a:xfrm>
          <a:prstGeom prst="rect">
            <a:avLst/>
          </a:prstGeom>
          <a:noFill/>
          <a:ln/>
        </p:spPr>
        <p:txBody>
          <a:bodyPr wrap="square" lIns="0" tIns="0" rIns="0" bIns="0" rtlCol="0" anchor="ctr"/>
          <a:lstStyle/>
          <a:p>
            <a:pPr indent="0" marL="0">
              <a:buNone/>
            </a:pPr>
            <a:r>
              <a:rPr lang="en-US" sz="1300" dirty="0">
                <a:solidFill>
                  <a:srgbClr val="6E7796"/>
                </a:solidFill>
                <a:latin typeface="맑은 고딕" pitchFamily="34" charset="0"/>
                <a:ea typeface="맑은 고딕" pitchFamily="34" charset="-122"/>
                <a:cs typeface="맑은 고딕" pitchFamily="34" charset="-120"/>
              </a:rPr>
              <a:t>모두 공공데이터포털(www.data.go.kr) 및 춘천시가 공개한 데이터입니다</a:t>
            </a:r>
            <a:endParaRPr lang="en-US" sz="1300" dirty="0"/>
          </a:p>
        </p:txBody>
      </p:sp>
      <p:sp>
        <p:nvSpPr>
          <p:cNvPr id="5" name="Text 3"/>
          <p:cNvSpPr/>
          <p:nvPr/>
        </p:nvSpPr>
        <p:spPr>
          <a:xfrm>
            <a:off x="566928" y="1847088"/>
            <a:ext cx="11057839" cy="256032"/>
          </a:xfrm>
          <a:prstGeom prst="rect">
            <a:avLst/>
          </a:prstGeom>
          <a:noFill/>
          <a:ln/>
        </p:spPr>
        <p:txBody>
          <a:bodyPr wrap="square" lIns="0" tIns="0" rIns="0" bIns="0" rtlCol="0" anchor="ctr"/>
          <a:lstStyle/>
          <a:p>
            <a:pPr indent="0" marL="0">
              <a:buNone/>
            </a:pPr>
            <a:r>
              <a:rPr lang="en-US" sz="1150" b="1" dirty="0">
                <a:solidFill>
                  <a:srgbClr val="E8751A"/>
                </a:solidFill>
                <a:latin typeface="맑은 고딕" pitchFamily="34" charset="0"/>
                <a:ea typeface="맑은 고딕" pitchFamily="34" charset="-122"/>
                <a:cs typeface="맑은 고딕" pitchFamily="34" charset="-120"/>
              </a:rPr>
              <a:t>공공데이터 9종</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2139696"/>
          <a:ext cx="11057839" cy="914400"/>
        </p:xfrm>
        <a:graphic>
          <a:graphicData uri="http://schemas.openxmlformats.org/drawingml/2006/table">
            <a:tbl>
              <a:tblPr/>
              <a:tblGrid>
                <a:gridCol w="3200400"/>
                <a:gridCol w="1737360"/>
                <a:gridCol w="4480560"/>
                <a:gridCol w="1655064"/>
              </a:tblGrid>
              <a:tr h="219456">
                <a:tc>
                  <a:txBody>
                    <a:bodyPr/>
                    <a:lstStyle/>
                    <a:p>
                      <a:pPr indent="0" marL="0">
                        <a:buNone/>
                      </a:pPr>
                      <a:r>
                        <a:rPr lang="en-US" sz="850" b="1" dirty="0">
                          <a:solidFill>
                            <a:srgbClr val="6E7796"/>
                          </a:solidFill>
                          <a:latin typeface="맑은 고딕" pitchFamily="34" charset="0"/>
                          <a:ea typeface="맑은 고딕" pitchFamily="34" charset="-122"/>
                          <a:cs typeface="맑은 고딕" pitchFamily="34" charset="-120"/>
                        </a:rPr>
                        <a:t>데이터명</a:t>
                      </a:r>
                      <a:endParaRPr lang="en-US" sz="8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4F6FC"/>
                    </a:solidFill>
                  </a:tcPr>
                </a:tc>
                <a:tc>
                  <a:txBody>
                    <a:bodyPr/>
                    <a:lstStyle/>
                    <a:p>
                      <a:pPr indent="0" marL="0">
                        <a:buNone/>
                      </a:pPr>
                      <a:r>
                        <a:rPr lang="en-US" sz="850" b="1" dirty="0">
                          <a:solidFill>
                            <a:srgbClr val="6E7796"/>
                          </a:solidFill>
                          <a:latin typeface="맑은 고딕" pitchFamily="34" charset="0"/>
                          <a:ea typeface="맑은 고딕" pitchFamily="34" charset="-122"/>
                          <a:cs typeface="맑은 고딕" pitchFamily="34" charset="-120"/>
                        </a:rPr>
                        <a:t>제공기관</a:t>
                      </a:r>
                      <a:endParaRPr lang="en-US" sz="8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4F6FC"/>
                    </a:solidFill>
                  </a:tcPr>
                </a:tc>
                <a:tc>
                  <a:txBody>
                    <a:bodyPr/>
                    <a:lstStyle/>
                    <a:p>
                      <a:pPr indent="0" marL="0">
                        <a:buNone/>
                      </a:pPr>
                      <a:r>
                        <a:rPr lang="en-US" sz="850" b="1" dirty="0">
                          <a:solidFill>
                            <a:srgbClr val="6E7796"/>
                          </a:solidFill>
                          <a:latin typeface="맑은 고딕" pitchFamily="34" charset="0"/>
                          <a:ea typeface="맑은 고딕" pitchFamily="34" charset="-122"/>
                          <a:cs typeface="맑은 고딕" pitchFamily="34" charset="-120"/>
                        </a:rPr>
                        <a:t>활용 내용</a:t>
                      </a:r>
                      <a:endParaRPr lang="en-US" sz="8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4F6FC"/>
                    </a:solidFill>
                  </a:tcPr>
                </a:tc>
                <a:tc>
                  <a:txBody>
                    <a:bodyPr/>
                    <a:lstStyle/>
                    <a:p>
                      <a:pPr indent="0" marL="0">
                        <a:buNone/>
                      </a:pPr>
                      <a:r>
                        <a:rPr lang="en-US" sz="850" b="1" dirty="0">
                          <a:solidFill>
                            <a:srgbClr val="6E7796"/>
                          </a:solidFill>
                          <a:latin typeface="맑은 고딕" pitchFamily="34" charset="0"/>
                          <a:ea typeface="맑은 고딕" pitchFamily="34" charset="-122"/>
                          <a:cs typeface="맑은 고딕" pitchFamily="34" charset="-120"/>
                        </a:rPr>
                        <a:t>기준시점</a:t>
                      </a:r>
                      <a:endParaRPr lang="en-US" sz="8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4F6FC"/>
                    </a:solidFill>
                  </a:tcPr>
                </a:tc>
              </a:tr>
              <a:tr h="219456">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춘천시 무더위쉼터 (228개소)</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춘천시</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좌표 100% — 근처 쉼터 안내, 지도 레이어, 폭염 취약 판정(300m)</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2026 공개분</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r h="219456">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춘천시 폭염저감시설 (319개소)</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춘천시</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그늘막 281·스마트그늘막 25·쿨링포그 13 → 정류장 반경 그늘 보정</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2026-06-10</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r h="219456">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춘천시 버스정류장 위치정보</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춘천시</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정류장 1,890개의 좌표·정류장번호·관리번호 — 전 서비스의 기준 마스터</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2026-03-26</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r h="219456">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춘천시 버스정류장 노선정보</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춘천시</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정류장-노선 16,168행, 223개 노선의 경유 순서 → 경로 탐색 알고리즘</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2026-03-26</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r h="219456">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춘천시 벤치 현황</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춘천시</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정류장 벤치 681건 → 시설 정보(의자) 819개 정류장 시딩</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2026-06-01</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r h="219456">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춘천시 버스정보안내단말기(BIT) 현황</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춘천시</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안내단말기 345건 → 시설 정보(도착안내기) 307개 정류장 시딩</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2025-11-14</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r h="219456">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춘천시 가로등정보</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춘천시</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가로등 13,713건 → 정류장 30m 반경 존재 여부로 조명 시딩 778곳(추정값, 출처 라벨 표기)</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2026-06-10</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r h="219456">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춘천시 버스노선별 시간대별 승하차 인원</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춘천시</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정류장별 24시간 이용량 산출(1,595곳 매칭) → 우선순위 판단의 이용량 축</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2025-12-09 공개</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r h="219456">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국토교통부 정류장 현황</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국토교통부</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승차자료 정류장ID ↔ 춘천시 정류장번호 대응(법정동 기준)</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2025-06-13</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r h="219456">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춘천시 2026년 6월 인구통계(연령별)</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춘천시</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65세 이상 66,488명 / 23.3%, 읍면별 고령 비율 — 문제 정의 수치</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50" dirty="0">
                          <a:solidFill>
                            <a:srgbClr val="141B33"/>
                          </a:solidFill>
                          <a:latin typeface="맑은 고딕" pitchFamily="34" charset="0"/>
                          <a:ea typeface="맑은 고딕" pitchFamily="34" charset="-122"/>
                          <a:cs typeface="맑은 고딕" pitchFamily="34" charset="-120"/>
                        </a:rPr>
                        <a:t>2026-06</a:t>
                      </a:r>
                      <a:endParaRPr lang="en-US" sz="9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bl>
          </a:graphicData>
        </a:graphic>
      </p:graphicFrame>
      <p:sp>
        <p:nvSpPr>
          <p:cNvPr id="7" name="Text 4"/>
          <p:cNvSpPr/>
          <p:nvPr/>
        </p:nvSpPr>
        <p:spPr>
          <a:xfrm>
            <a:off x="566928" y="5961888"/>
            <a:ext cx="11057839" cy="310896"/>
          </a:xfrm>
          <a:prstGeom prst="rect">
            <a:avLst/>
          </a:prstGeom>
          <a:noFill/>
          <a:ln/>
        </p:spPr>
        <p:txBody>
          <a:bodyPr wrap="square" lIns="0" tIns="0" rIns="0" bIns="0" rtlCol="0" anchor="ctr"/>
          <a:lstStyle/>
          <a:p>
            <a:pPr indent="0" marL="0">
              <a:buNone/>
            </a:pPr>
            <a:r>
              <a:rPr lang="en-US" sz="850" dirty="0">
                <a:solidFill>
                  <a:srgbClr val="6E7796"/>
                </a:solidFill>
                <a:latin typeface="맑은 고딕" pitchFamily="34" charset="0"/>
                <a:ea typeface="맑은 고딕" pitchFamily="34" charset="-122"/>
                <a:cs typeface="맑은 고딕" pitchFamily="34" charset="-120"/>
              </a:rPr>
              <a:t>※ 각 데이터셋은 공공데이터포털에서 위 데이터명으로 검색하여 확인할 수 있습니다.</a:t>
            </a:r>
            <a:endParaRPr lang="en-US" sz="850" dirty="0"/>
          </a:p>
        </p:txBody>
      </p:sp>
      <p:sp>
        <p:nvSpPr>
          <p:cNvPr id="8" name="Text 5"/>
          <p:cNvSpPr/>
          <p:nvPr/>
        </p:nvSpPr>
        <p:spPr>
          <a:xfrm>
            <a:off x="566928" y="6327648"/>
            <a:ext cx="4572000" cy="274320"/>
          </a:xfrm>
          <a:prstGeom prst="rect">
            <a:avLst/>
          </a:prstGeom>
          <a:noFill/>
          <a:ln/>
        </p:spPr>
        <p:txBody>
          <a:bodyPr wrap="square" lIns="0" tIns="0" rIns="0" bIns="0" rtlCol="0" anchor="ctr"/>
          <a:lstStyle/>
          <a:p>
            <a:pPr algn="l" indent="0" marL="0">
              <a:buNone/>
            </a:pPr>
            <a:r>
              <a:rPr lang="en-US" sz="900" dirty="0">
                <a:solidFill>
                  <a:srgbClr val="6E7796"/>
                </a:solidFill>
                <a:latin typeface="맑은 고딕" pitchFamily="34" charset="0"/>
                <a:ea typeface="맑은 고딕" pitchFamily="34" charset="-122"/>
                <a:cs typeface="맑은 고딕" pitchFamily="34" charset="-120"/>
              </a:rPr>
              <a:t>쉼표정류장  ·  팀 오댕국</a:t>
            </a:r>
            <a:endParaRPr lang="en-US" sz="900" dirty="0"/>
          </a:p>
        </p:txBody>
      </p:sp>
      <p:sp>
        <p:nvSpPr>
          <p:cNvPr id="9" name="Text 6"/>
          <p:cNvSpPr/>
          <p:nvPr/>
        </p:nvSpPr>
        <p:spPr>
          <a:xfrm>
            <a:off x="10710367" y="6327648"/>
            <a:ext cx="914400" cy="274320"/>
          </a:xfrm>
          <a:prstGeom prst="rect">
            <a:avLst/>
          </a:prstGeom>
          <a:noFill/>
          <a:ln/>
        </p:spPr>
        <p:txBody>
          <a:bodyPr wrap="square" lIns="0" tIns="0" rIns="0" bIns="0" rtlCol="0" anchor="ctr"/>
          <a:lstStyle/>
          <a:p>
            <a:pPr algn="r" indent="0" marL="0">
              <a:buNone/>
            </a:pPr>
            <a:r>
              <a:rPr lang="en-US" sz="900" dirty="0">
                <a:solidFill>
                  <a:srgbClr val="6E7796"/>
                </a:solidFill>
                <a:latin typeface="맑은 고딕" pitchFamily="34" charset="0"/>
                <a:ea typeface="맑은 고딕" pitchFamily="34" charset="-122"/>
                <a:cs typeface="맑은 고딕"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11057839" cy="274320"/>
          </a:xfrm>
          <a:prstGeom prst="rect">
            <a:avLst/>
          </a:prstGeom>
          <a:noFill/>
          <a:ln/>
        </p:spPr>
        <p:txBody>
          <a:bodyPr wrap="square" lIns="0" tIns="0" rIns="0" bIns="0" rtlCol="0" anchor="ctr"/>
          <a:lstStyle/>
          <a:p>
            <a:pPr indent="0" marL="0">
              <a:buNone/>
            </a:pPr>
            <a:r>
              <a:rPr lang="en-US" sz="1100" b="1" dirty="0">
                <a:solidFill>
                  <a:srgbClr val="E8751A"/>
                </a:solidFill>
                <a:latin typeface="맑은 고딕" pitchFamily="34" charset="0"/>
                <a:ea typeface="맑은 고딕" pitchFamily="34" charset="-122"/>
                <a:cs typeface="맑은 고딕" pitchFamily="34" charset="-120"/>
              </a:rPr>
              <a:t>별첨</a:t>
            </a:r>
            <a:pPr indent="0" marL="0">
              <a:buNone/>
            </a:pPr>
            <a:r>
              <a:rPr lang="en-US" sz="1100" b="1" dirty="0">
                <a:solidFill>
                  <a:srgbClr val="6E7796"/>
                </a:solidFill>
                <a:latin typeface="맑은 고딕" pitchFamily="34" charset="0"/>
                <a:ea typeface="맑은 고딕" pitchFamily="34" charset="-122"/>
                <a:cs typeface="맑은 고딕" pitchFamily="34" charset="-120"/>
              </a:rPr>
              <a:t>   활용 데이터 및 외부 자료</a:t>
            </a:r>
            <a:endParaRPr lang="en-US" sz="1100" dirty="0"/>
          </a:p>
        </p:txBody>
      </p:sp>
      <p:sp>
        <p:nvSpPr>
          <p:cNvPr id="3" name="Text 1"/>
          <p:cNvSpPr/>
          <p:nvPr/>
        </p:nvSpPr>
        <p:spPr>
          <a:xfrm>
            <a:off x="566928" y="749808"/>
            <a:ext cx="11057839" cy="566928"/>
          </a:xfrm>
          <a:prstGeom prst="rect">
            <a:avLst/>
          </a:prstGeom>
          <a:noFill/>
          <a:ln/>
        </p:spPr>
        <p:txBody>
          <a:bodyPr wrap="square" lIns="0" tIns="0" rIns="0" bIns="0" rtlCol="0" anchor="ctr"/>
          <a:lstStyle/>
          <a:p>
            <a:pPr indent="0" marL="0">
              <a:buNone/>
            </a:pPr>
            <a:r>
              <a:rPr lang="en-US" sz="2700" b="1" dirty="0">
                <a:solidFill>
                  <a:srgbClr val="141B33"/>
                </a:solidFill>
                <a:latin typeface="맑은 고딕" pitchFamily="34" charset="0"/>
                <a:ea typeface="맑은 고딕" pitchFamily="34" charset="-122"/>
                <a:cs typeface="맑은 고딕" pitchFamily="34" charset="-120"/>
              </a:rPr>
              <a:t>활용 데이터 출처 ② 외부 API · 자체 구축 · 참고 자료</a:t>
            </a:r>
            <a:endParaRPr lang="en-US" sz="2700" dirty="0"/>
          </a:p>
        </p:txBody>
      </p:sp>
      <p:sp>
        <p:nvSpPr>
          <p:cNvPr id="4" name="Text 2"/>
          <p:cNvSpPr/>
          <p:nvPr/>
        </p:nvSpPr>
        <p:spPr>
          <a:xfrm>
            <a:off x="566928" y="1700784"/>
            <a:ext cx="11057839" cy="256032"/>
          </a:xfrm>
          <a:prstGeom prst="rect">
            <a:avLst/>
          </a:prstGeom>
          <a:noFill/>
          <a:ln/>
        </p:spPr>
        <p:txBody>
          <a:bodyPr wrap="square" lIns="0" tIns="0" rIns="0" bIns="0" rtlCol="0" anchor="ctr"/>
          <a:lstStyle/>
          <a:p>
            <a:pPr indent="0" marL="0">
              <a:buNone/>
            </a:pPr>
            <a:r>
              <a:rPr lang="en-US" sz="1150" b="1" dirty="0">
                <a:solidFill>
                  <a:srgbClr val="E8751A"/>
                </a:solidFill>
                <a:latin typeface="맑은 고딕" pitchFamily="34" charset="0"/>
                <a:ea typeface="맑은 고딕" pitchFamily="34" charset="-122"/>
                <a:cs typeface="맑은 고딕" pitchFamily="34" charset="-120"/>
              </a:rPr>
              <a:t>외부 API 4종</a:t>
            </a:r>
            <a:endParaRPr lang="en-US" sz="11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1993392"/>
          <a:ext cx="11057839" cy="914400"/>
        </p:xfrm>
        <a:graphic>
          <a:graphicData uri="http://schemas.openxmlformats.org/drawingml/2006/table">
            <a:tbl>
              <a:tblPr/>
              <a:tblGrid>
                <a:gridCol w="3200400"/>
                <a:gridCol w="2194560"/>
                <a:gridCol w="2377440"/>
                <a:gridCol w="3300984"/>
              </a:tblGrid>
              <a:tr h="182880">
                <a:tc>
                  <a:txBody>
                    <a:bodyPr/>
                    <a:lstStyle/>
                    <a:p>
                      <a:pPr indent="0" marL="0">
                        <a:buNone/>
                      </a:pPr>
                      <a:r>
                        <a:rPr lang="en-US" sz="850" b="1" dirty="0">
                          <a:solidFill>
                            <a:srgbClr val="6E7796"/>
                          </a:solidFill>
                          <a:latin typeface="맑은 고딕" pitchFamily="34" charset="0"/>
                          <a:ea typeface="맑은 고딕" pitchFamily="34" charset="-122"/>
                          <a:cs typeface="맑은 고딕" pitchFamily="34" charset="-120"/>
                        </a:rPr>
                        <a:t>API명</a:t>
                      </a:r>
                      <a:endParaRPr lang="en-US" sz="8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4F6FC"/>
                    </a:solidFill>
                  </a:tcPr>
                </a:tc>
                <a:tc>
                  <a:txBody>
                    <a:bodyPr/>
                    <a:lstStyle/>
                    <a:p>
                      <a:pPr indent="0" marL="0">
                        <a:buNone/>
                      </a:pPr>
                      <a:r>
                        <a:rPr lang="en-US" sz="850" b="1" dirty="0">
                          <a:solidFill>
                            <a:srgbClr val="6E7796"/>
                          </a:solidFill>
                          <a:latin typeface="맑은 고딕" pitchFamily="34" charset="0"/>
                          <a:ea typeface="맑은 고딕" pitchFamily="34" charset="-122"/>
                          <a:cs typeface="맑은 고딕" pitchFamily="34" charset="-120"/>
                        </a:rPr>
                        <a:t>제공기관</a:t>
                      </a:r>
                      <a:endParaRPr lang="en-US" sz="8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4F6FC"/>
                    </a:solidFill>
                  </a:tcPr>
                </a:tc>
                <a:tc>
                  <a:txBody>
                    <a:bodyPr/>
                    <a:lstStyle/>
                    <a:p>
                      <a:pPr indent="0" marL="0">
                        <a:buNone/>
                      </a:pPr>
                      <a:r>
                        <a:rPr lang="en-US" sz="850" b="1" dirty="0">
                          <a:solidFill>
                            <a:srgbClr val="6E7796"/>
                          </a:solidFill>
                          <a:latin typeface="맑은 고딕" pitchFamily="34" charset="0"/>
                          <a:ea typeface="맑은 고딕" pitchFamily="34" charset="-122"/>
                          <a:cs typeface="맑은 고딕" pitchFamily="34" charset="-120"/>
                        </a:rPr>
                        <a:t>출처</a:t>
                      </a:r>
                      <a:endParaRPr lang="en-US" sz="8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4F6FC"/>
                    </a:solidFill>
                  </a:tcPr>
                </a:tc>
                <a:tc>
                  <a:txBody>
                    <a:bodyPr/>
                    <a:lstStyle/>
                    <a:p>
                      <a:pPr indent="0" marL="0">
                        <a:buNone/>
                      </a:pPr>
                      <a:r>
                        <a:rPr lang="en-US" sz="850" b="1" dirty="0">
                          <a:solidFill>
                            <a:srgbClr val="6E7796"/>
                          </a:solidFill>
                          <a:latin typeface="맑은 고딕" pitchFamily="34" charset="0"/>
                          <a:ea typeface="맑은 고딕" pitchFamily="34" charset="-122"/>
                          <a:cs typeface="맑은 고딕" pitchFamily="34" charset="-120"/>
                        </a:rPr>
                        <a:t>활용 내용</a:t>
                      </a:r>
                      <a:endParaRPr lang="en-US" sz="8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4F6FC"/>
                    </a:solidFill>
                  </a:tcPr>
                </a:tc>
              </a:tr>
              <a:tr h="182880">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TAGO 버스도착정보 조회 서비스</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국토교통부</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www.data.go.kr</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실시간 버스 도착 예정 정보 (서버 프록시 경유)</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r h="182880">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TAGO 버스정류소정보 조회 서비스</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국토교통부</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www.data.go.kr</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정류장 nodeId 대응 1,845곳 및 경유 노선 확인</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r h="182880">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카카오맵 JavaScript SDK</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카카오</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apis.map.kakao.com</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지도 표시 · 장소 검색 · 좌표→주소 역지오코딩</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r h="182880">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카카오맵 로드뷰</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카카오</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map.kakao.com</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시설 육안 조사 시 참조 (이미지 재배포 없음)</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bl>
          </a:graphicData>
        </a:graphic>
      </p:graphicFrame>
      <p:sp>
        <p:nvSpPr>
          <p:cNvPr id="6" name="Text 3"/>
          <p:cNvSpPr/>
          <p:nvPr/>
        </p:nvSpPr>
        <p:spPr>
          <a:xfrm>
            <a:off x="566928" y="3305556"/>
            <a:ext cx="11057839" cy="256032"/>
          </a:xfrm>
          <a:prstGeom prst="rect">
            <a:avLst/>
          </a:prstGeom>
          <a:noFill/>
          <a:ln/>
        </p:spPr>
        <p:txBody>
          <a:bodyPr wrap="square" lIns="0" tIns="0" rIns="0" bIns="0" rtlCol="0" anchor="ctr"/>
          <a:lstStyle/>
          <a:p>
            <a:pPr indent="0" marL="0">
              <a:buNone/>
            </a:pPr>
            <a:r>
              <a:rPr lang="en-US" sz="1150" b="1" dirty="0">
                <a:solidFill>
                  <a:srgbClr val="E8751A"/>
                </a:solidFill>
                <a:latin typeface="맑은 고딕" pitchFamily="34" charset="0"/>
                <a:ea typeface="맑은 고딕" pitchFamily="34" charset="-122"/>
                <a:cs typeface="맑은 고딕" pitchFamily="34" charset="-120"/>
              </a:rPr>
              <a:t>자체 구축 데이터 3종</a:t>
            </a:r>
            <a:endParaRPr lang="en-US" sz="115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566928" y="3598164"/>
          <a:ext cx="11057839" cy="914400"/>
        </p:xfrm>
        <a:graphic>
          <a:graphicData uri="http://schemas.openxmlformats.org/drawingml/2006/table">
            <a:tbl>
              <a:tblPr/>
              <a:tblGrid>
                <a:gridCol w="3200400"/>
                <a:gridCol w="2926080"/>
                <a:gridCol w="1645920"/>
                <a:gridCol w="3300984"/>
              </a:tblGrid>
              <a:tr h="182880">
                <a:tc>
                  <a:txBody>
                    <a:bodyPr/>
                    <a:lstStyle/>
                    <a:p>
                      <a:pPr indent="0" marL="0">
                        <a:buNone/>
                      </a:pPr>
                      <a:r>
                        <a:rPr lang="en-US" sz="850" b="1" dirty="0">
                          <a:solidFill>
                            <a:srgbClr val="6E7796"/>
                          </a:solidFill>
                          <a:latin typeface="맑은 고딕" pitchFamily="34" charset="0"/>
                          <a:ea typeface="맑은 고딕" pitchFamily="34" charset="-122"/>
                          <a:cs typeface="맑은 고딕" pitchFamily="34" charset="-120"/>
                        </a:rPr>
                        <a:t>데이터명</a:t>
                      </a:r>
                      <a:endParaRPr lang="en-US" sz="8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4F6FC"/>
                    </a:solidFill>
                  </a:tcPr>
                </a:tc>
                <a:tc>
                  <a:txBody>
                    <a:bodyPr/>
                    <a:lstStyle/>
                    <a:p>
                      <a:pPr indent="0" marL="0">
                        <a:buNone/>
                      </a:pPr>
                      <a:r>
                        <a:rPr lang="en-US" sz="850" b="1" dirty="0">
                          <a:solidFill>
                            <a:srgbClr val="6E7796"/>
                          </a:solidFill>
                          <a:latin typeface="맑은 고딕" pitchFamily="34" charset="0"/>
                          <a:ea typeface="맑은 고딕" pitchFamily="34" charset="-122"/>
                          <a:cs typeface="맑은 고딕" pitchFamily="34" charset="-120"/>
                        </a:rPr>
                        <a:t>구축 방법</a:t>
                      </a:r>
                      <a:endParaRPr lang="en-US" sz="8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4F6FC"/>
                    </a:solidFill>
                  </a:tcPr>
                </a:tc>
                <a:tc>
                  <a:txBody>
                    <a:bodyPr/>
                    <a:lstStyle/>
                    <a:p>
                      <a:pPr indent="0" marL="0">
                        <a:buNone/>
                      </a:pPr>
                      <a:r>
                        <a:rPr lang="en-US" sz="850" b="1" dirty="0">
                          <a:solidFill>
                            <a:srgbClr val="6E7796"/>
                          </a:solidFill>
                          <a:latin typeface="맑은 고딕" pitchFamily="34" charset="0"/>
                          <a:ea typeface="맑은 고딕" pitchFamily="34" charset="-122"/>
                          <a:cs typeface="맑은 고딕" pitchFamily="34" charset="-120"/>
                        </a:rPr>
                        <a:t>규모</a:t>
                      </a:r>
                      <a:endParaRPr lang="en-US" sz="8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4F6FC"/>
                    </a:solidFill>
                  </a:tcPr>
                </a:tc>
                <a:tc>
                  <a:txBody>
                    <a:bodyPr/>
                    <a:lstStyle/>
                    <a:p>
                      <a:pPr indent="0" marL="0">
                        <a:buNone/>
                      </a:pPr>
                      <a:r>
                        <a:rPr lang="en-US" sz="850" b="1" dirty="0">
                          <a:solidFill>
                            <a:srgbClr val="6E7796"/>
                          </a:solidFill>
                          <a:latin typeface="맑은 고딕" pitchFamily="34" charset="0"/>
                          <a:ea typeface="맑은 고딕" pitchFamily="34" charset="-122"/>
                          <a:cs typeface="맑은 고딕" pitchFamily="34" charset="-120"/>
                        </a:rPr>
                        <a:t>활용 내용</a:t>
                      </a:r>
                      <a:endParaRPr lang="en-US" sz="8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4F6FC"/>
                    </a:solidFill>
                  </a:tcPr>
                </a:tc>
              </a:tr>
              <a:tr h="182880">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정류장 시설 현황 조사</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카카오맵 로드뷰 육안 판독 + 라벨링</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161개 정류장</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그늘·의자·쉘터·안내기 있음/없음 판정</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r h="182880">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정류장 ID 대응 테이블</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정류장명·법정동·좌표 기반 4단계 매칭</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4개 ID 체계</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승차ID ↔ 정류장번호 ↔ 관리번호 ↔ nodeId</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r h="182880">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시민 사진 제보 + AI 판독</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사진 1장 → VLM 민원 분류·시설 판독</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런타임 생성</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미확인 구간 보완('AI 판독' 출처), 민원 피드</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bl>
          </a:graphicData>
        </a:graphic>
      </p:graphicFrame>
      <p:sp>
        <p:nvSpPr>
          <p:cNvPr id="8" name="Text 4"/>
          <p:cNvSpPr/>
          <p:nvPr/>
        </p:nvSpPr>
        <p:spPr>
          <a:xfrm>
            <a:off x="566928" y="4695444"/>
            <a:ext cx="11057839" cy="256032"/>
          </a:xfrm>
          <a:prstGeom prst="rect">
            <a:avLst/>
          </a:prstGeom>
          <a:noFill/>
          <a:ln/>
        </p:spPr>
        <p:txBody>
          <a:bodyPr wrap="square" lIns="0" tIns="0" rIns="0" bIns="0" rtlCol="0" anchor="ctr"/>
          <a:lstStyle/>
          <a:p>
            <a:pPr indent="0" marL="0">
              <a:buNone/>
            </a:pPr>
            <a:r>
              <a:rPr lang="en-US" sz="1150" b="1" dirty="0">
                <a:solidFill>
                  <a:srgbClr val="E8751A"/>
                </a:solidFill>
                <a:latin typeface="맑은 고딕" pitchFamily="34" charset="0"/>
                <a:ea typeface="맑은 고딕" pitchFamily="34" charset="-122"/>
                <a:cs typeface="맑은 고딕" pitchFamily="34" charset="-120"/>
              </a:rPr>
              <a:t>보도자료 · 참고 자료</a:t>
            </a:r>
            <a:endParaRPr lang="en-US" sz="1150" dirty="0"/>
          </a:p>
        </p:txBody>
      </p:sp>
      <p:graphicFrame>
        <p:nvGraphicFramePr>
          <p:cNvPr id="64" name="Table 2"/>
          <p:cNvGraphicFramePr>
            <a:graphicFrameLocks noGrp="1"/>
          </p:cNvGraphicFramePr>
          <p:nvPr>
            <p:extLst>
              <p:ext uri="{D42A27DB-BD31-4B8C-83A1-F6EECF244321}">
                <p14:modId xmlns:p14="http://schemas.microsoft.com/office/powerpoint/2010/main" val="1579011935"/>
              </p:ext>
            </p:extLst>
          </p:nvPr>
        </p:nvGraphicFramePr>
        <p:xfrm>
          <a:off x="566928" y="4988052"/>
          <a:ext cx="11057839" cy="914400"/>
        </p:xfrm>
        <a:graphic>
          <a:graphicData uri="http://schemas.openxmlformats.org/drawingml/2006/table">
            <a:tbl>
              <a:tblPr/>
              <a:tblGrid>
                <a:gridCol w="3794760"/>
                <a:gridCol w="1143000"/>
                <a:gridCol w="2971800"/>
                <a:gridCol w="3163824"/>
              </a:tblGrid>
              <a:tr h="182880">
                <a:tc>
                  <a:txBody>
                    <a:bodyPr/>
                    <a:lstStyle/>
                    <a:p>
                      <a:pPr indent="0" marL="0">
                        <a:buNone/>
                      </a:pPr>
                      <a:r>
                        <a:rPr lang="en-US" sz="850" b="1" dirty="0">
                          <a:solidFill>
                            <a:srgbClr val="6E7796"/>
                          </a:solidFill>
                          <a:latin typeface="맑은 고딕" pitchFamily="34" charset="0"/>
                          <a:ea typeface="맑은 고딕" pitchFamily="34" charset="-122"/>
                          <a:cs typeface="맑은 고딕" pitchFamily="34" charset="-120"/>
                        </a:rPr>
                        <a:t>자료명</a:t>
                      </a:r>
                      <a:endParaRPr lang="en-US" sz="8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4F6FC"/>
                    </a:solidFill>
                  </a:tcPr>
                </a:tc>
                <a:tc>
                  <a:txBody>
                    <a:bodyPr/>
                    <a:lstStyle/>
                    <a:p>
                      <a:pPr indent="0" marL="0">
                        <a:buNone/>
                      </a:pPr>
                      <a:r>
                        <a:rPr lang="en-US" sz="850" b="1" dirty="0">
                          <a:solidFill>
                            <a:srgbClr val="6E7796"/>
                          </a:solidFill>
                          <a:latin typeface="맑은 고딕" pitchFamily="34" charset="0"/>
                          <a:ea typeface="맑은 고딕" pitchFamily="34" charset="-122"/>
                          <a:cs typeface="맑은 고딕" pitchFamily="34" charset="-120"/>
                        </a:rPr>
                        <a:t>출처</a:t>
                      </a:r>
                      <a:endParaRPr lang="en-US" sz="8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4F6FC"/>
                    </a:solidFill>
                  </a:tcPr>
                </a:tc>
                <a:tc>
                  <a:txBody>
                    <a:bodyPr/>
                    <a:lstStyle/>
                    <a:p>
                      <a:pPr indent="0" marL="0">
                        <a:buNone/>
                      </a:pPr>
                      <a:r>
                        <a:rPr lang="en-US" sz="850" b="1" dirty="0">
                          <a:solidFill>
                            <a:srgbClr val="6E7796"/>
                          </a:solidFill>
                          <a:latin typeface="맑은 고딕" pitchFamily="34" charset="0"/>
                          <a:ea typeface="맑은 고딕" pitchFamily="34" charset="-122"/>
                          <a:cs typeface="맑은 고딕" pitchFamily="34" charset="-120"/>
                        </a:rPr>
                        <a:t>URL</a:t>
                      </a:r>
                      <a:endParaRPr lang="en-US" sz="8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4F6FC"/>
                    </a:solidFill>
                  </a:tcPr>
                </a:tc>
                <a:tc>
                  <a:txBody>
                    <a:bodyPr/>
                    <a:lstStyle/>
                    <a:p>
                      <a:pPr indent="0" marL="0">
                        <a:buNone/>
                      </a:pPr>
                      <a:r>
                        <a:rPr lang="en-US" sz="850" b="1" dirty="0">
                          <a:solidFill>
                            <a:srgbClr val="6E7796"/>
                          </a:solidFill>
                          <a:latin typeface="맑은 고딕" pitchFamily="34" charset="0"/>
                          <a:ea typeface="맑은 고딕" pitchFamily="34" charset="-122"/>
                          <a:cs typeface="맑은 고딕" pitchFamily="34" charset="-120"/>
                        </a:rPr>
                        <a:t>활용 내용</a:t>
                      </a:r>
                      <a:endParaRPr lang="en-US" sz="8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4F6FC"/>
                    </a:solidFill>
                  </a:tcPr>
                </a:tc>
              </a:tr>
              <a:tr h="182880">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도내 버스정류장 표지판이 '대부분' (2026-02-05)</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강원일보</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m.kwnews.co.kr/article/202602042093714</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표지판형 1,200곳(63.5%) — 문제 정의 수치</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r h="182880">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초고령사회 진입한 춘천시 2,545억원 투입 (2025-02-25)</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강원일보</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m.kwnews.co.kr/article/202502250064262</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2023년 7월 진입 · 61,370명(21.4%)</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r h="182880">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춘천시, 친환경 시내버스 전량 교체 (2024-07-03)</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전자신문</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www.etnews.com/20240703000135</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유개식 승강장 716→980곳 확대 계획</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bl>
          </a:graphicData>
        </a:graphic>
      </p:graphicFrame>
      <p:sp>
        <p:nvSpPr>
          <p:cNvPr id="10" name="Text 5"/>
          <p:cNvSpPr/>
          <p:nvPr/>
        </p:nvSpPr>
        <p:spPr>
          <a:xfrm>
            <a:off x="566928" y="6327648"/>
            <a:ext cx="4572000" cy="274320"/>
          </a:xfrm>
          <a:prstGeom prst="rect">
            <a:avLst/>
          </a:prstGeom>
          <a:noFill/>
          <a:ln/>
        </p:spPr>
        <p:txBody>
          <a:bodyPr wrap="square" lIns="0" tIns="0" rIns="0" bIns="0" rtlCol="0" anchor="ctr"/>
          <a:lstStyle/>
          <a:p>
            <a:pPr algn="l" indent="0" marL="0">
              <a:buNone/>
            </a:pPr>
            <a:r>
              <a:rPr lang="en-US" sz="900" dirty="0">
                <a:solidFill>
                  <a:srgbClr val="6E7796"/>
                </a:solidFill>
                <a:latin typeface="맑은 고딕" pitchFamily="34" charset="0"/>
                <a:ea typeface="맑은 고딕" pitchFamily="34" charset="-122"/>
                <a:cs typeface="맑은 고딕" pitchFamily="34" charset="-120"/>
              </a:rPr>
              <a:t>쉼표정류장  ·  팀 오댕국</a:t>
            </a:r>
            <a:endParaRPr lang="en-US" sz="900" dirty="0"/>
          </a:p>
        </p:txBody>
      </p:sp>
      <p:sp>
        <p:nvSpPr>
          <p:cNvPr id="11" name="Text 6"/>
          <p:cNvSpPr/>
          <p:nvPr/>
        </p:nvSpPr>
        <p:spPr>
          <a:xfrm>
            <a:off x="10710367" y="6327648"/>
            <a:ext cx="914400" cy="274320"/>
          </a:xfrm>
          <a:prstGeom prst="rect">
            <a:avLst/>
          </a:prstGeom>
          <a:noFill/>
          <a:ln/>
        </p:spPr>
        <p:txBody>
          <a:bodyPr wrap="square" lIns="0" tIns="0" rIns="0" bIns="0" rtlCol="0" anchor="ctr"/>
          <a:lstStyle/>
          <a:p>
            <a:pPr algn="r" indent="0" marL="0">
              <a:buNone/>
            </a:pPr>
            <a:r>
              <a:rPr lang="en-US" sz="900" dirty="0">
                <a:solidFill>
                  <a:srgbClr val="6E7796"/>
                </a:solidFill>
                <a:latin typeface="맑은 고딕" pitchFamily="34" charset="0"/>
                <a:ea typeface="맑은 고딕" pitchFamily="34" charset="-122"/>
                <a:cs typeface="맑은 고딕"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11057839" cy="274320"/>
          </a:xfrm>
          <a:prstGeom prst="rect">
            <a:avLst/>
          </a:prstGeom>
          <a:noFill/>
          <a:ln/>
        </p:spPr>
        <p:txBody>
          <a:bodyPr wrap="square" lIns="0" tIns="0" rIns="0" bIns="0" rtlCol="0" anchor="ctr"/>
          <a:lstStyle/>
          <a:p>
            <a:pPr indent="0" marL="0">
              <a:buNone/>
            </a:pPr>
            <a:r>
              <a:rPr lang="en-US" sz="1100" b="1" dirty="0">
                <a:solidFill>
                  <a:srgbClr val="E8751A"/>
                </a:solidFill>
                <a:latin typeface="맑은 고딕" pitchFamily="34" charset="0"/>
                <a:ea typeface="맑은 고딕" pitchFamily="34" charset="-122"/>
                <a:cs typeface="맑은 고딕" pitchFamily="34" charset="-120"/>
              </a:rPr>
              <a:t>별첨</a:t>
            </a:r>
            <a:pPr indent="0" marL="0">
              <a:buNone/>
            </a:pPr>
            <a:r>
              <a:rPr lang="en-US" sz="1100" b="1" dirty="0">
                <a:solidFill>
                  <a:srgbClr val="6E7796"/>
                </a:solidFill>
                <a:latin typeface="맑은 고딕" pitchFamily="34" charset="0"/>
                <a:ea typeface="맑은 고딕" pitchFamily="34" charset="-122"/>
                <a:cs typeface="맑은 고딕" pitchFamily="34" charset="-120"/>
              </a:rPr>
              <a:t>   활용 데이터 및 외부 자료</a:t>
            </a:r>
            <a:endParaRPr lang="en-US" sz="1100" dirty="0"/>
          </a:p>
        </p:txBody>
      </p:sp>
      <p:sp>
        <p:nvSpPr>
          <p:cNvPr id="3" name="Text 1"/>
          <p:cNvSpPr/>
          <p:nvPr/>
        </p:nvSpPr>
        <p:spPr>
          <a:xfrm>
            <a:off x="566928" y="749808"/>
            <a:ext cx="11057839" cy="566928"/>
          </a:xfrm>
          <a:prstGeom prst="rect">
            <a:avLst/>
          </a:prstGeom>
          <a:noFill/>
          <a:ln/>
        </p:spPr>
        <p:txBody>
          <a:bodyPr wrap="square" lIns="0" tIns="0" rIns="0" bIns="0" rtlCol="0" anchor="ctr"/>
          <a:lstStyle/>
          <a:p>
            <a:pPr indent="0" marL="0">
              <a:buNone/>
            </a:pPr>
            <a:r>
              <a:rPr lang="en-US" sz="2700" b="1" dirty="0">
                <a:solidFill>
                  <a:srgbClr val="141B33"/>
                </a:solidFill>
                <a:latin typeface="맑은 고딕" pitchFamily="34" charset="0"/>
                <a:ea typeface="맑은 고딕" pitchFamily="34" charset="-122"/>
                <a:cs typeface="맑은 고딕" pitchFamily="34" charset="-120"/>
              </a:rPr>
              <a:t>활용 데이터 출처 ③ 오픈소스 라이브러리 · 생성형 AI</a:t>
            </a:r>
            <a:endParaRPr lang="en-US" sz="2700" dirty="0"/>
          </a:p>
        </p:txBody>
      </p:sp>
      <p:sp>
        <p:nvSpPr>
          <p:cNvPr id="4" name="Text 2"/>
          <p:cNvSpPr/>
          <p:nvPr/>
        </p:nvSpPr>
        <p:spPr>
          <a:xfrm>
            <a:off x="566928" y="1700784"/>
            <a:ext cx="11057839" cy="256032"/>
          </a:xfrm>
          <a:prstGeom prst="rect">
            <a:avLst/>
          </a:prstGeom>
          <a:noFill/>
          <a:ln/>
        </p:spPr>
        <p:txBody>
          <a:bodyPr wrap="square" lIns="0" tIns="0" rIns="0" bIns="0" rtlCol="0" anchor="ctr"/>
          <a:lstStyle/>
          <a:p>
            <a:pPr indent="0" marL="0">
              <a:buNone/>
            </a:pPr>
            <a:r>
              <a:rPr lang="en-US" sz="1150" b="1" dirty="0">
                <a:solidFill>
                  <a:srgbClr val="E8751A"/>
                </a:solidFill>
                <a:latin typeface="맑은 고딕" pitchFamily="34" charset="0"/>
                <a:ea typeface="맑은 고딕" pitchFamily="34" charset="-122"/>
                <a:cs typeface="맑은 고딕" pitchFamily="34" charset="-120"/>
              </a:rPr>
              <a:t>오픈소스 라이브러리</a:t>
            </a:r>
            <a:endParaRPr lang="en-US" sz="11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993392"/>
          <a:ext cx="11057839" cy="914400"/>
        </p:xfrm>
        <a:graphic>
          <a:graphicData uri="http://schemas.openxmlformats.org/drawingml/2006/table">
            <a:tbl>
              <a:tblPr/>
              <a:tblGrid>
                <a:gridCol w="2377440"/>
                <a:gridCol w="1645920"/>
                <a:gridCol w="2743200"/>
                <a:gridCol w="4306824"/>
              </a:tblGrid>
              <a:tr h="182880">
                <a:tc>
                  <a:txBody>
                    <a:bodyPr/>
                    <a:lstStyle/>
                    <a:p>
                      <a:pPr indent="0" marL="0">
                        <a:buNone/>
                      </a:pPr>
                      <a:r>
                        <a:rPr lang="en-US" sz="850" b="1" dirty="0">
                          <a:solidFill>
                            <a:srgbClr val="6E7796"/>
                          </a:solidFill>
                          <a:latin typeface="맑은 고딕" pitchFamily="34" charset="0"/>
                          <a:ea typeface="맑은 고딕" pitchFamily="34" charset="-122"/>
                          <a:cs typeface="맑은 고딕" pitchFamily="34" charset="-120"/>
                        </a:rPr>
                        <a:t>이름</a:t>
                      </a:r>
                      <a:endParaRPr lang="en-US" sz="8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4F6FC"/>
                    </a:solidFill>
                  </a:tcPr>
                </a:tc>
                <a:tc>
                  <a:txBody>
                    <a:bodyPr/>
                    <a:lstStyle/>
                    <a:p>
                      <a:pPr indent="0" marL="0">
                        <a:buNone/>
                      </a:pPr>
                      <a:r>
                        <a:rPr lang="en-US" sz="850" b="1" dirty="0">
                          <a:solidFill>
                            <a:srgbClr val="6E7796"/>
                          </a:solidFill>
                          <a:latin typeface="맑은 고딕" pitchFamily="34" charset="0"/>
                          <a:ea typeface="맑은 고딕" pitchFamily="34" charset="-122"/>
                          <a:cs typeface="맑은 고딕" pitchFamily="34" charset="-120"/>
                        </a:rPr>
                        <a:t>라이선스</a:t>
                      </a:r>
                      <a:endParaRPr lang="en-US" sz="8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4F6FC"/>
                    </a:solidFill>
                  </a:tcPr>
                </a:tc>
                <a:tc>
                  <a:txBody>
                    <a:bodyPr/>
                    <a:lstStyle/>
                    <a:p>
                      <a:pPr indent="0" marL="0">
                        <a:buNone/>
                      </a:pPr>
                      <a:r>
                        <a:rPr lang="en-US" sz="850" b="1" dirty="0">
                          <a:solidFill>
                            <a:srgbClr val="6E7796"/>
                          </a:solidFill>
                          <a:latin typeface="맑은 고딕" pitchFamily="34" charset="0"/>
                          <a:ea typeface="맑은 고딕" pitchFamily="34" charset="-122"/>
                          <a:cs typeface="맑은 고딕" pitchFamily="34" charset="-120"/>
                        </a:rPr>
                        <a:t>출처</a:t>
                      </a:r>
                      <a:endParaRPr lang="en-US" sz="8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4F6FC"/>
                    </a:solidFill>
                  </a:tcPr>
                </a:tc>
                <a:tc>
                  <a:txBody>
                    <a:bodyPr/>
                    <a:lstStyle/>
                    <a:p>
                      <a:pPr indent="0" marL="0">
                        <a:buNone/>
                      </a:pPr>
                      <a:r>
                        <a:rPr lang="en-US" sz="850" b="1" dirty="0">
                          <a:solidFill>
                            <a:srgbClr val="6E7796"/>
                          </a:solidFill>
                          <a:latin typeface="맑은 고딕" pitchFamily="34" charset="0"/>
                          <a:ea typeface="맑은 고딕" pitchFamily="34" charset="-122"/>
                          <a:cs typeface="맑은 고딕" pitchFamily="34" charset="-120"/>
                        </a:rPr>
                        <a:t>활용 내용</a:t>
                      </a:r>
                      <a:endParaRPr lang="en-US" sz="8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4F6FC"/>
                    </a:solidFill>
                  </a:tcPr>
                </a:tc>
              </a:tr>
              <a:tr h="182880">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Next.js</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MIT</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nextjs.org</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웹 프레임워크 (App Router)</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r h="182880">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React</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MIT</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react.dev</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UI 렌더링</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r h="182880">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TypeScript</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Apache-2.0</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typescriptlang.org</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정적 타입</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r h="182880">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Tailwind CSS</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MIT</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tailwindcss.com</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스타일링</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r h="182880">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Supabase JS</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MIT</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supabase.com</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제보 사진 저장 · 판독 결과 기록</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bl>
          </a:graphicData>
        </a:graphic>
      </p:graphicFrame>
      <p:sp>
        <p:nvSpPr>
          <p:cNvPr id="6" name="Text 3"/>
          <p:cNvSpPr/>
          <p:nvPr/>
        </p:nvSpPr>
        <p:spPr>
          <a:xfrm>
            <a:off x="566928" y="3520440"/>
            <a:ext cx="11057839" cy="256032"/>
          </a:xfrm>
          <a:prstGeom prst="rect">
            <a:avLst/>
          </a:prstGeom>
          <a:noFill/>
          <a:ln/>
        </p:spPr>
        <p:txBody>
          <a:bodyPr wrap="square" lIns="0" tIns="0" rIns="0" bIns="0" rtlCol="0" anchor="ctr"/>
          <a:lstStyle/>
          <a:p>
            <a:pPr indent="0" marL="0">
              <a:buNone/>
            </a:pPr>
            <a:r>
              <a:rPr lang="en-US" sz="1150" b="1" dirty="0">
                <a:solidFill>
                  <a:srgbClr val="E8751A"/>
                </a:solidFill>
                <a:latin typeface="맑은 고딕" pitchFamily="34" charset="0"/>
                <a:ea typeface="맑은 고딕" pitchFamily="34" charset="-122"/>
                <a:cs typeface="맑은 고딕" pitchFamily="34" charset="-120"/>
              </a:rPr>
              <a:t>생성형 AI</a:t>
            </a:r>
            <a:endParaRPr lang="en-US" sz="115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566928" y="3813048"/>
          <a:ext cx="11057839" cy="914400"/>
        </p:xfrm>
        <a:graphic>
          <a:graphicData uri="http://schemas.openxmlformats.org/drawingml/2006/table">
            <a:tbl>
              <a:tblPr/>
              <a:tblGrid>
                <a:gridCol w="2743200"/>
                <a:gridCol w="8330184"/>
              </a:tblGrid>
              <a:tr h="182880">
                <a:tc>
                  <a:txBody>
                    <a:bodyPr/>
                    <a:lstStyle/>
                    <a:p>
                      <a:pPr indent="0" marL="0">
                        <a:buNone/>
                      </a:pPr>
                      <a:r>
                        <a:rPr lang="en-US" sz="850" b="1" dirty="0">
                          <a:solidFill>
                            <a:srgbClr val="6E7796"/>
                          </a:solidFill>
                          <a:latin typeface="맑은 고딕" pitchFamily="34" charset="0"/>
                          <a:ea typeface="맑은 고딕" pitchFamily="34" charset="-122"/>
                          <a:cs typeface="맑은 고딕" pitchFamily="34" charset="-120"/>
                        </a:rPr>
                        <a:t>도구</a:t>
                      </a:r>
                      <a:endParaRPr lang="en-US" sz="8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4F6FC"/>
                    </a:solidFill>
                  </a:tcPr>
                </a:tc>
                <a:tc>
                  <a:txBody>
                    <a:bodyPr/>
                    <a:lstStyle/>
                    <a:p>
                      <a:pPr indent="0" marL="0">
                        <a:buNone/>
                      </a:pPr>
                      <a:r>
                        <a:rPr lang="en-US" sz="850" b="1" dirty="0">
                          <a:solidFill>
                            <a:srgbClr val="6E7796"/>
                          </a:solidFill>
                          <a:latin typeface="맑은 고딕" pitchFamily="34" charset="0"/>
                          <a:ea typeface="맑은 고딕" pitchFamily="34" charset="-122"/>
                          <a:cs typeface="맑은 고딕" pitchFamily="34" charset="-120"/>
                        </a:rPr>
                        <a:t>활용 범위</a:t>
                      </a:r>
                      <a:endParaRPr lang="en-US" sz="85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4F6FC"/>
                    </a:solidFill>
                  </a:tcPr>
                </a:tc>
              </a:tr>
              <a:tr h="182880">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Claude Code (Anthropic)</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코드 작성 보조, 데이터 구조 분석 보조, 기획 검토 보조</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r h="182880">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OpenRouter 경유 VLM</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① 사전 준비 : 로드뷰 이미지의 시설 유무 초안 라벨 생성 (최종 라벨은 사람이 검수·확정)</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r h="182880">
                <a:tc>
                  <a:txBody>
                    <a:bodyPr/>
                    <a:lstStyle/>
                    <a:p>
                      <a:pPr indent="0" marL="0">
                        <a:buNone/>
                      </a:pP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c>
                  <a:txBody>
                    <a:bodyPr/>
                    <a:lstStyle/>
                    <a:p>
                      <a:pPr indent="0" marL="0">
                        <a:buNone/>
                      </a:pPr>
                      <a:r>
                        <a:rPr lang="en-US" sz="900" dirty="0">
                          <a:solidFill>
                            <a:srgbClr val="141B33"/>
                          </a:solidFill>
                          <a:latin typeface="맑은 고딕" pitchFamily="34" charset="0"/>
                          <a:ea typeface="맑은 고딕" pitchFamily="34" charset="-122"/>
                          <a:cs typeface="맑은 고딕" pitchFamily="34" charset="-120"/>
                        </a:rPr>
                        <a:t>② 서비스 런타임 : 시민 제보 사진의 시설 유무 판독 및 민원 자동 분류 (서버에서 호출, 'AI 판독' 출처 표기)</a:t>
                      </a:r>
                      <a:endParaRPr lang="en-US" sz="900" dirty="0">
                        <a:latin typeface="맑은 고딕" charset="0"/>
                        <a:ea typeface="맑은 고딕" charset="0"/>
                        <a:cs typeface="맑은 고딕" charset="0"/>
                      </a:endParaRPr>
                    </a:p>
                  </a:txBody>
                  <a:tcPr marL="76200" marR="76200" marT="25400" marB="25400" anchor="ctr">
                    <a:lnL w="6350" cap="flat" cmpd="sng" algn="ctr">
                      <a:solidFill>
                        <a:srgbClr val="D4DAEE"/>
                      </a:solidFill>
                      <a:prstDash val="solid"/>
                      <a:round/>
                      <a:headEnd type="none" w="med" len="med"/>
                      <a:tailEnd type="none" w="med" len="med"/>
                    </a:lnL>
                    <a:lnR w="6350" cap="flat" cmpd="sng" algn="ctr">
                      <a:solidFill>
                        <a:srgbClr val="D4DAEE"/>
                      </a:solidFill>
                      <a:prstDash val="solid"/>
                      <a:round/>
                      <a:headEnd type="none" w="med" len="med"/>
                      <a:tailEnd type="none" w="med" len="med"/>
                    </a:lnR>
                    <a:lnT w="6350" cap="flat" cmpd="sng" algn="ctr">
                      <a:solidFill>
                        <a:srgbClr val="D4DAEE"/>
                      </a:solidFill>
                      <a:prstDash val="solid"/>
                      <a:round/>
                      <a:headEnd type="none" w="med" len="med"/>
                      <a:tailEnd type="none" w="med" len="med"/>
                    </a:lnT>
                    <a:lnB w="6350" cap="flat" cmpd="sng" algn="ctr">
                      <a:solidFill>
                        <a:srgbClr val="D4DAEE"/>
                      </a:solidFill>
                      <a:prstDash val="solid"/>
                      <a:round/>
                      <a:headEnd type="none" w="med" len="med"/>
                      <a:tailEnd type="none" w="med" len="med"/>
                    </a:lnB>
                    <a:solidFill>
                      <a:srgbClr val="FFFFFF"/>
                    </a:solidFill>
                  </a:tcPr>
                </a:tc>
              </a:tr>
            </a:tbl>
          </a:graphicData>
        </a:graphic>
      </p:graphicFrame>
      <p:sp>
        <p:nvSpPr>
          <p:cNvPr id="8" name="Text 4"/>
          <p:cNvSpPr/>
          <p:nvPr/>
        </p:nvSpPr>
        <p:spPr>
          <a:xfrm>
            <a:off x="566928" y="5961888"/>
            <a:ext cx="11057839" cy="310896"/>
          </a:xfrm>
          <a:prstGeom prst="rect">
            <a:avLst/>
          </a:prstGeom>
          <a:noFill/>
          <a:ln/>
        </p:spPr>
        <p:txBody>
          <a:bodyPr wrap="square" lIns="0" tIns="0" rIns="0" bIns="0" rtlCol="0" anchor="ctr"/>
          <a:lstStyle/>
          <a:p>
            <a:pPr indent="0" marL="0">
              <a:buNone/>
            </a:pPr>
            <a:r>
              <a:rPr lang="en-US" sz="850" dirty="0">
                <a:solidFill>
                  <a:srgbClr val="6E7796"/>
                </a:solidFill>
                <a:latin typeface="맑은 고딕" pitchFamily="34" charset="0"/>
                <a:ea typeface="맑은 고딕" pitchFamily="34" charset="-122"/>
                <a:cs typeface="맑은 고딕" pitchFamily="34" charset="-120"/>
              </a:rPr>
              <a:t>개인정보 미수집 :  제보 기능은 닉네임·연락처 등 식별정보를 받지 않으며, reports 테이블에도 개인정보 필드가 없습니다.</a:t>
            </a:r>
            <a:endParaRPr lang="en-US" sz="850" dirty="0"/>
          </a:p>
        </p:txBody>
      </p:sp>
      <p:sp>
        <p:nvSpPr>
          <p:cNvPr id="9" name="Text 5"/>
          <p:cNvSpPr/>
          <p:nvPr/>
        </p:nvSpPr>
        <p:spPr>
          <a:xfrm>
            <a:off x="566928" y="6327648"/>
            <a:ext cx="4572000" cy="274320"/>
          </a:xfrm>
          <a:prstGeom prst="rect">
            <a:avLst/>
          </a:prstGeom>
          <a:noFill/>
          <a:ln/>
        </p:spPr>
        <p:txBody>
          <a:bodyPr wrap="square" lIns="0" tIns="0" rIns="0" bIns="0" rtlCol="0" anchor="ctr"/>
          <a:lstStyle/>
          <a:p>
            <a:pPr algn="l" indent="0" marL="0">
              <a:buNone/>
            </a:pPr>
            <a:r>
              <a:rPr lang="en-US" sz="900" dirty="0">
                <a:solidFill>
                  <a:srgbClr val="6E7796"/>
                </a:solidFill>
                <a:latin typeface="맑은 고딕" pitchFamily="34" charset="0"/>
                <a:ea typeface="맑은 고딕" pitchFamily="34" charset="-122"/>
                <a:cs typeface="맑은 고딕" pitchFamily="34" charset="-120"/>
              </a:rPr>
              <a:t>쉼표정류장  ·  팀 오댕국</a:t>
            </a:r>
            <a:endParaRPr lang="en-US" sz="900" dirty="0"/>
          </a:p>
        </p:txBody>
      </p:sp>
      <p:sp>
        <p:nvSpPr>
          <p:cNvPr id="10" name="Text 6"/>
          <p:cNvSpPr/>
          <p:nvPr/>
        </p:nvSpPr>
        <p:spPr>
          <a:xfrm>
            <a:off x="10710367" y="6327648"/>
            <a:ext cx="914400" cy="274320"/>
          </a:xfrm>
          <a:prstGeom prst="rect">
            <a:avLst/>
          </a:prstGeom>
          <a:noFill/>
          <a:ln/>
        </p:spPr>
        <p:txBody>
          <a:bodyPr wrap="square" lIns="0" tIns="0" rIns="0" bIns="0" rtlCol="0" anchor="ctr"/>
          <a:lstStyle/>
          <a:p>
            <a:pPr algn="r" indent="0" marL="0">
              <a:buNone/>
            </a:pPr>
            <a:r>
              <a:rPr lang="en-US" sz="900" dirty="0">
                <a:solidFill>
                  <a:srgbClr val="6E7796"/>
                </a:solidFill>
                <a:latin typeface="맑은 고딕" pitchFamily="34" charset="0"/>
                <a:ea typeface="맑은 고딕" pitchFamily="34" charset="-122"/>
                <a:cs typeface="맑은 고딕" pitchFamily="34" charset="-120"/>
              </a:rPr>
              <a:t>22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쉼표정류장 — 2026 춘천시 공공데이터 활용 해커톤</dc:title>
  <dc:subject>PptxGenJS Presentation</dc:subject>
  <dc:creator>팀 오댕국</dc:creator>
  <cp:lastModifiedBy>팀 오댕국</cp:lastModifiedBy>
  <cp:revision>1</cp:revision>
  <dcterms:created xsi:type="dcterms:W3CDTF">2026-07-31T23:18:13Z</dcterms:created>
  <dcterms:modified xsi:type="dcterms:W3CDTF">2026-07-31T23:18:13Z</dcterms:modified>
</cp:coreProperties>
</file>