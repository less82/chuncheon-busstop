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1" r:id="rId6"/>
    <p:sldId id="262" r:id="rId7"/>
    <p:sldId id="263" r:id="rId8"/>
    <p:sldId id="266" r:id="rId9"/>
    <p:sldId id="267" r:id="rId10"/>
    <p:sldId id="270" r:id="rId11"/>
    <p:sldId id="269" r:id="rId12"/>
    <p:sldId id="272" r:id="rId13"/>
    <p:sldId id="273" r:id="rId14"/>
    <p:sldId id="274" r:id="rId15"/>
    <p:sldId id="275" r:id="rId16"/>
    <p:sldId id="276" r:id="rId17"/>
    <p:sldId id="277" r:id="rId18"/>
    <p:sldId id="278" r:id="rId19"/>
    <p:sldId id="279" r:id="rId20"/>
    <p:sldId id="280" r:id="rId21"/>
    <p:sldId id="281" r:id="rId22"/>
    <p:sldId id="282"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정류장 유형</c:v>
                </c:pt>
              </c:strCache>
            </c:strRef>
          </c:tx>
          <c:spPr>
            <a:solidFill>
              <a:schemeClr val="accent1"/>
            </a:solidFill>
            <a:ln w="9525" cap="flat">
              <a:solidFill>
                <a:srgbClr val="F9F9F9"/>
              </a:solidFill>
              <a:prstDash val="solid"/>
              <a:round/>
            </a:ln>
            <a:effectLst/>
          </c:spPr>
          <c:dPt>
            <c:idx val="0"/>
            <c:bubble3D val="0"/>
            <c:spPr>
              <a:solidFill>
                <a:srgbClr val="E8751A"/>
              </a:solidFill>
              <a:ln w="25400" cap="flat">
                <a:solidFill>
                  <a:srgbClr val="FFFFFF"/>
                </a:solidFill>
                <a:prstDash val="solid"/>
                <a:round/>
              </a:ln>
              <a:effectLst/>
            </c:spPr>
            <c:extLst>
              <c:ext xmlns:c16="http://schemas.microsoft.com/office/drawing/2014/chart" uri="{C3380CC4-5D6E-409C-BE32-E72D297353CC}">
                <c16:uniqueId val="{00000001-CA88-4560-A137-B287EED2273B}"/>
              </c:ext>
            </c:extLst>
          </c:dPt>
          <c:dPt>
            <c:idx val="1"/>
            <c:bubble3D val="0"/>
            <c:spPr>
              <a:solidFill>
                <a:srgbClr val="D4DAEE"/>
              </a:solidFill>
              <a:ln w="25400" cap="flat">
                <a:solidFill>
                  <a:srgbClr val="FFFFFF"/>
                </a:solidFill>
                <a:prstDash val="solid"/>
                <a:round/>
              </a:ln>
              <a:effectLst/>
            </c:spPr>
            <c:extLst>
              <c:ext xmlns:c16="http://schemas.microsoft.com/office/drawing/2014/chart" uri="{C3380CC4-5D6E-409C-BE32-E72D297353CC}">
                <c16:uniqueId val="{00000003-CA88-4560-A137-B287EED2273B}"/>
              </c:ext>
            </c:extLst>
          </c:dPt>
          <c:cat>
            <c:strRef>
              <c:f>Sheet1!$A$2:$A$3</c:f>
              <c:strCache>
                <c:ptCount val="2"/>
                <c:pt idx="0">
                  <c:v>표지판형 (지붕 없음)</c:v>
                </c:pt>
                <c:pt idx="1">
                  <c:v>그 외 (유개식 등)</c:v>
                </c:pt>
              </c:strCache>
            </c:strRef>
          </c:cat>
          <c:val>
            <c:numRef>
              <c:f>Sheet1!$B$2:$B$3</c:f>
              <c:numCache>
                <c:formatCode>General</c:formatCode>
                <c:ptCount val="2"/>
                <c:pt idx="0">
                  <c:v>1200</c:v>
                </c:pt>
                <c:pt idx="1">
                  <c:v>690</c:v>
                </c:pt>
              </c:numCache>
            </c:numRef>
          </c:val>
          <c:extLst>
            <c:ext xmlns:c16="http://schemas.microsoft.com/office/drawing/2014/chart" uri="{C3380CC4-5D6E-409C-BE32-E72D297353CC}">
              <c16:uniqueId val="{00000004-CA88-4560-A137-B287EED2273B}"/>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100">
              <a:solidFill>
                <a:srgbClr val="39415E"/>
              </a:solidFill>
              <a:latin typeface="맑은 고딕"/>
              <a:cs typeface="맑은 고딕"/>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979627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오댕국의 쉼표정류장 발표를 시작하겠습니다. 저희 서비스는 한 문장으로 말하면, 버스를 기다리는 어르신에게 '지금 서 계신 정류장에 그늘이 있는지, 없다면 가장 가까운 무더위쉼터가 어디인지'를 알려주는 서비스입니다.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문제 정의부터 데이터, 기능 시연, 활용 시나리오, 정책 효과, 확장 계획 순으로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춘천시 인구의 22%, 약 6만 4천 명이 65세 이상입니다. 그리고 저희가 분석한 승하차 데이터에서 버스 이용의 45.9%가 낮 12시에서 5시 사이, 하루 중 가장 더운 시간에 몰려 있었습니다. 더위에 가장 약한 사람이 가장 더운 시간에 버스를 탑니다.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2026년 2월 강원일보 보도에 따르면 춘천 정류장의 63.5%인 1,200곳이 기둥에 노선표만 붙은 표지판형입니다. 냉난방 스마트 정류장은 한 곳당 1억 원이라 전부 세울 수 없습니다. 시설이 갖춰지는 데는 몇 년이 걸리는데, 어르신은 오늘도 버스를 탑니다. 그래서 저희는 다음 장의 관점에서 접근했습니다.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서비스의 흐름입니다. 어르신이 정류장을 찾고, 여기서 기다려도 되는지 확인하고, 그늘이 없으면 가장 가까운 쉼터로 안내받습니다. 이 세 단계가 서비스의 전부입니다. 아래는 그 안내를 정확하게 유지하는 장치입니다. 시민이 사진을 보내면 AI가 시설 유무를 읽어 안내 정보를 갱신하고, 그 데이터가 쌓여 춘천시가 어느 정류장부터 고칠지 판단할 수 있게 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쓴 데이터입니다. 가장 중요한 것은 맨 위 무더위쉼터 230개소입니다. 좌표가 100% 있어서 정류장 전부에 대해 최근접 쉼터를 계산할 수 있었습니다. 반대로 정류장에 그늘이 있는지는 어느 공개 데이터에도 없어서 직접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 작업에서 가장 오래 걸린 부분입니다. 쉼터는 안전 부서, 벤치는 교통 부서, 가로등은 도로 부서 자료라 연결 키가 전부 다릅니다. 네 단계 매칭으로 1,038행짜리 ID 대응 테이블을 만들어 모든 데이터를 정류장 1,890개 위에 얹었습니다.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쉼터와 정류장처럼 변하지 않는 데이터는 빌드 시점에 넣어 두어 오프라인에 가까운 속도로 안내됩니다. 실시간 도착만 서버 프록시로 TAGO를 호출합니다. 아래는 안내 데이터를 갱신하는 파이프라인입니다. API가 죽어도 가짜 데이터를 보여주지 않고, 개인 식별정보는 아예 받지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기능은 시민용 네 가지가 중심입니다. 1번 쉼터 안내가 서비스의 목적이고, 2·3·4번은 그 안내에 닿기 위한 경로입니다. 아래 두 가지는 안내를 유지하고 행정으로 넘기는 뒷받침 기능입니다. 이제 실제 화면을 보여드리겠습니다.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맞은편에서 잘못 타는 문제를 해결하는 기능입니다. 잘못 타면 되돌아오는 동안 다시 뙤약볕에 서 있게 되므로, 이것도 폭염 노출을 줄이는 기능입니다.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지도에서 정류장과 쉼터를 겹쳐 보는 화면입니다. 어느 구역에 쉼터가 비어 있는지가 시각적으로 드러나기 때문에, 시민에게도 담당자에게도 유용합니다.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춘천시 담당자 화면입니다. 가장 위 KPI가 폭염 취약 정류장 수입니다. 지도에서 취약 정류장이 어디에 몰려 있는지 보고, 유개식 승강장 설치 후보를 뽑을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여유 페이지입니다. 추가로 보여줄 화면이 있으면 여기에 넣고, 없으면 이 장을 삭제하세요.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사용 장면입니다. 오후 2시 폭염특보 속에서 어르신이 정류장에 도착합니다. 말로 정류장을 찾고, 그늘이 없다는 것과 버스가 12분 뒤라는 것을 확인하고, 240m 떨어진 경로당에서 기다립니다. 이 경로당은 원래부터 무더위쉼터였습니다. 저희가 한 일은 그 존재를 정류장에 서 있는 어르신에게 알려준 것뿐입니다.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행정 쪽 시나리오입니다. 담당자는 그늘도 쉼터도 없는 정류장이 어디에 몰려 있는지를 먼저 봅니다. 그 구역은 쉼터를 추가 지정하거나 그늘막을 놓는 것으로 훨씬 싸게 해결될 수도 있습니다. 승강장 설치는 그 다음 선택지입니다.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정책 제안의 핵심은 순서입니다. 1억 원짜리 스마트 정류장을 세우기 전에, 그늘막을 놓거나 인근 건물을 쉼터로 추가 지정하는 것만으로 해결되는 정류장이 있습니다. 그 구분을 데이터로 할 수 있게 하는 것이 저희 서비스의 행정 가치입니다.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기대 효과는 시민·행정·데이터 세 축으로 정리했고 각각 측정 지표를 붙였습니다. 저희가 가장 중요하게 보는 효과는, 춘천이 이미 갖고 있는 쉼터 230곳이 비로소 버스 이용자에게 쓰이기 시작한다는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 계획입니다. 가장 먼저 할 일은 겨울 버전입니다. 춘천은 겨울 추위도 심하고, 한파쉼터·온기쉼터 데이터가 이미 있습니다. 여름에 만든 구조를 데이터만 바꿔 그대로 쓸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버스를 기다리는 10분, 어르신을 그늘 아래로. 춘천에 이미 있는 무더위쉼터 230곳을 정류장에 서 있는 어르신에게 연결하는 것, 그것이 쉼표정류장입니다.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 확인] ① 무더위쉼터 데이터의 기준시점과 정확한 데이터셋명을 확인해 '—' 칸을 채우세요. ② 폭염저감시설(319개소)은 검증 전이며 사용하지 않았으므로 제외했습니다 — 사용했다면 행을 추가하세요.</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 확인] 표에 적힌 자료 외에 추가로 사용한 데이터·API가 있다면 반드시 이 별첨에 추가하세요(미기재 시 실격 사유). 실제로 쓰지 않은 항목은 삭제해야 감점을 피할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[제출 전 확인] 디자인 자산(폰트·아이콘·이미지)을 외부에서 가져다 썼다면 이 장에 표를 하나 더 추가하고 라이선스를 명시하세요.</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871"/>
        </a:solidFill>
        <a:effectLst/>
      </p:bgPr>
    </p:bg>
    <p:spTree>
      <p:nvGrpSpPr>
        <p:cNvPr id="1" name=""/>
        <p:cNvGrpSpPr/>
        <p:nvPr/>
      </p:nvGrpSpPr>
      <p:grpSpPr>
        <a:xfrm>
          <a:off x="0" y="0"/>
          <a:ext cx="0" cy="0"/>
          <a:chOff x="0" y="0"/>
          <a:chExt cx="0" cy="0"/>
        </a:xfrm>
      </p:grpSpPr>
      <p:sp>
        <p:nvSpPr>
          <p:cNvPr id="2" name="Shape 0"/>
          <p:cNvSpPr/>
          <p:nvPr/>
        </p:nvSpPr>
        <p:spPr>
          <a:xfrm>
            <a:off x="8595360" y="-1737360"/>
            <a:ext cx="5852160" cy="5852160"/>
          </a:xfrm>
          <a:prstGeom prst="ellipse">
            <a:avLst/>
          </a:prstGeom>
          <a:solidFill>
            <a:srgbClr val="0A2384"/>
          </a:solidFill>
          <a:ln w="12700">
            <a:solidFill>
              <a:srgbClr val="0A2384"/>
            </a:solidFill>
            <a:prstDash val="solid"/>
          </a:ln>
        </p:spPr>
        <p:txBody>
          <a:bodyPr/>
          <a:lstStyle/>
          <a:p>
            <a:endParaRPr lang="ko-KR" altLang="en-US"/>
          </a:p>
        </p:txBody>
      </p:sp>
      <p:sp>
        <p:nvSpPr>
          <p:cNvPr id="3" name="Shape 1"/>
          <p:cNvSpPr/>
          <p:nvPr/>
        </p:nvSpPr>
        <p:spPr>
          <a:xfrm>
            <a:off x="10241280" y="3291840"/>
            <a:ext cx="3108960" cy="3108960"/>
          </a:xfrm>
          <a:prstGeom prst="ellipse">
            <a:avLst/>
          </a:prstGeom>
          <a:solidFill>
            <a:srgbClr val="00104F"/>
          </a:solidFill>
          <a:ln w="12700">
            <a:solidFill>
              <a:srgbClr val="00104F"/>
            </a:solidFill>
            <a:prstDash val="solid"/>
          </a:ln>
        </p:spPr>
        <p:txBody>
          <a:bodyPr/>
          <a:lstStyle/>
          <a:p>
            <a:endParaRPr lang="ko-KR" altLang="en-US"/>
          </a:p>
        </p:txBody>
      </p:sp>
      <p:sp>
        <p:nvSpPr>
          <p:cNvPr id="4" name="Text 2"/>
          <p:cNvSpPr/>
          <p:nvPr/>
        </p:nvSpPr>
        <p:spPr>
          <a:xfrm>
            <a:off x="566928" y="914400"/>
            <a:ext cx="7315200" cy="274320"/>
          </a:xfrm>
          <a:prstGeom prst="rect">
            <a:avLst/>
          </a:prstGeom>
          <a:noFill/>
          <a:ln/>
        </p:spPr>
        <p:txBody>
          <a:bodyPr wrap="square" lIns="0" tIns="0" rIns="0" bIns="0" rtlCol="0" anchor="ctr"/>
          <a:lstStyle/>
          <a:p>
            <a:pPr marL="0" indent="0">
              <a:buNone/>
            </a:pPr>
            <a:r>
              <a:rPr lang="en-US" sz="1300" kern="0" spc="100" dirty="0">
                <a:solidFill>
                  <a:srgbClr val="8B9CDD"/>
                </a:solidFill>
                <a:latin typeface="맑은 고딕" pitchFamily="34" charset="0"/>
                <a:ea typeface="맑은 고딕" pitchFamily="34" charset="-122"/>
                <a:cs typeface="맑은 고딕" pitchFamily="34" charset="-120"/>
              </a:rPr>
              <a:t>2026 춘천시 공공데이터 </a:t>
            </a:r>
            <a:r>
              <a:rPr lang="en-US" sz="1300" kern="0" spc="100" dirty="0" err="1">
                <a:solidFill>
                  <a:srgbClr val="8B9CDD"/>
                </a:solidFill>
                <a:latin typeface="맑은 고딕" pitchFamily="34" charset="0"/>
                <a:ea typeface="맑은 고딕" pitchFamily="34" charset="-122"/>
                <a:cs typeface="맑은 고딕" pitchFamily="34" charset="-120"/>
              </a:rPr>
              <a:t>활용</a:t>
            </a:r>
            <a:r>
              <a:rPr lang="en-US" sz="1300" kern="0" spc="100" dirty="0">
                <a:solidFill>
                  <a:srgbClr val="8B9CDD"/>
                </a:solidFill>
                <a:latin typeface="맑은 고딕" pitchFamily="34" charset="0"/>
                <a:ea typeface="맑은 고딕" pitchFamily="34" charset="-122"/>
                <a:cs typeface="맑은 고딕" pitchFamily="34" charset="-120"/>
              </a:rPr>
              <a:t> </a:t>
            </a:r>
            <a:r>
              <a:rPr lang="en-US" sz="1300" kern="0" spc="100" dirty="0" err="1">
                <a:solidFill>
                  <a:srgbClr val="8B9CDD"/>
                </a:solidFill>
                <a:latin typeface="맑은 고딕" pitchFamily="34" charset="0"/>
                <a:ea typeface="맑은 고딕" pitchFamily="34" charset="-122"/>
                <a:cs typeface="맑은 고딕" pitchFamily="34" charset="-120"/>
              </a:rPr>
              <a:t>해커톤</a:t>
            </a:r>
            <a:endParaRPr lang="en-US" sz="1300" dirty="0"/>
          </a:p>
        </p:txBody>
      </p:sp>
      <p:sp>
        <p:nvSpPr>
          <p:cNvPr id="5" name="Text 3"/>
          <p:cNvSpPr/>
          <p:nvPr/>
        </p:nvSpPr>
        <p:spPr>
          <a:xfrm>
            <a:off x="566928" y="1436808"/>
            <a:ext cx="7863840" cy="1143000"/>
          </a:xfrm>
          <a:prstGeom prst="rect">
            <a:avLst/>
          </a:prstGeom>
          <a:noFill/>
          <a:ln/>
        </p:spPr>
        <p:txBody>
          <a:bodyPr wrap="square" lIns="0" tIns="0" rIns="0" bIns="0" rtlCol="0" anchor="ctr"/>
          <a:lstStyle/>
          <a:p>
            <a:pPr marL="0" indent="0">
              <a:buNone/>
            </a:pPr>
            <a:r>
              <a:rPr lang="en-US" sz="6200" b="1" dirty="0">
                <a:solidFill>
                  <a:srgbClr val="FFFFFF"/>
                </a:solidFill>
                <a:latin typeface="맑은 고딕" pitchFamily="34" charset="0"/>
                <a:ea typeface="맑은 고딕" pitchFamily="34" charset="-122"/>
                <a:cs typeface="맑은 고딕" pitchFamily="34" charset="-120"/>
              </a:rPr>
              <a:t>쉼표정류장</a:t>
            </a:r>
            <a:endParaRPr lang="en-US" sz="6200" dirty="0"/>
          </a:p>
        </p:txBody>
      </p:sp>
      <p:sp>
        <p:nvSpPr>
          <p:cNvPr id="6" name="Text 4"/>
          <p:cNvSpPr/>
          <p:nvPr/>
        </p:nvSpPr>
        <p:spPr>
          <a:xfrm>
            <a:off x="566928" y="2856251"/>
            <a:ext cx="8595360" cy="420624"/>
          </a:xfrm>
          <a:prstGeom prst="rect">
            <a:avLst/>
          </a:prstGeom>
          <a:noFill/>
          <a:ln/>
        </p:spPr>
        <p:txBody>
          <a:bodyPr wrap="square" lIns="0" tIns="0" rIns="0" bIns="0" rtlCol="0" anchor="ctr"/>
          <a:lstStyle/>
          <a:p>
            <a:pPr marL="0" indent="0">
              <a:buNone/>
            </a:pPr>
            <a:r>
              <a:rPr lang="en-US" sz="2200" dirty="0">
                <a:solidFill>
                  <a:srgbClr val="B9C4EE"/>
                </a:solidFill>
                <a:latin typeface="맑은 고딕" pitchFamily="34" charset="0"/>
                <a:ea typeface="맑은 고딕" pitchFamily="34" charset="-122"/>
                <a:cs typeface="맑은 고딕" pitchFamily="34" charset="-120"/>
              </a:rPr>
              <a:t>버스를 기다리는 10분, 어르신을 그늘 아래로</a:t>
            </a:r>
            <a:endParaRPr lang="en-US" sz="2200" dirty="0"/>
          </a:p>
        </p:txBody>
      </p:sp>
      <p:sp>
        <p:nvSpPr>
          <p:cNvPr id="7" name="Shape 5"/>
          <p:cNvSpPr/>
          <p:nvPr/>
        </p:nvSpPr>
        <p:spPr>
          <a:xfrm>
            <a:off x="566928" y="4003778"/>
            <a:ext cx="7589520" cy="1133856"/>
          </a:xfrm>
          <a:prstGeom prst="roundRect">
            <a:avLst>
              <a:gd name="adj" fmla="val 4839"/>
            </a:avLst>
          </a:prstGeom>
          <a:solidFill>
            <a:srgbClr val="0A2589"/>
          </a:solidFill>
          <a:ln w="12700">
            <a:solidFill>
              <a:srgbClr val="2544B5"/>
            </a:solidFill>
            <a:prstDash val="solid"/>
          </a:ln>
        </p:spPr>
        <p:txBody>
          <a:bodyPr/>
          <a:lstStyle/>
          <a:p>
            <a:endParaRPr lang="ko-KR" altLang="en-US"/>
          </a:p>
        </p:txBody>
      </p:sp>
      <p:sp>
        <p:nvSpPr>
          <p:cNvPr id="8" name="Text 6"/>
          <p:cNvSpPr/>
          <p:nvPr/>
        </p:nvSpPr>
        <p:spPr>
          <a:xfrm>
            <a:off x="822960" y="4013005"/>
            <a:ext cx="7132320" cy="1133856"/>
          </a:xfrm>
          <a:prstGeom prst="rect">
            <a:avLst/>
          </a:prstGeom>
          <a:noFill/>
          <a:ln/>
        </p:spPr>
        <p:txBody>
          <a:bodyPr wrap="square" lIns="0" tIns="0" rIns="0" bIns="0" rtlCol="0" anchor="ctr"/>
          <a:lstStyle/>
          <a:p>
            <a:pPr marL="0" indent="0">
              <a:lnSpc>
                <a:spcPts val="2400"/>
              </a:lnSpc>
              <a:buNone/>
            </a:pPr>
            <a:r>
              <a:rPr lang="en-US" sz="1400" b="1" dirty="0">
                <a:solidFill>
                  <a:srgbClr val="8FA2E4"/>
                </a:solidFill>
                <a:latin typeface="맑은 고딕" pitchFamily="34" charset="0"/>
                <a:ea typeface="맑은 고딕" pitchFamily="34" charset="-122"/>
                <a:cs typeface="맑은 고딕" pitchFamily="34" charset="-120"/>
              </a:rPr>
              <a:t>시민  </a:t>
            </a:r>
            <a:r>
              <a:rPr lang="en-US" sz="1400" dirty="0">
                <a:solidFill>
                  <a:srgbClr val="D3DAF6"/>
                </a:solidFill>
                <a:latin typeface="맑은 고딕" pitchFamily="34" charset="0"/>
                <a:ea typeface="맑은 고딕" pitchFamily="34" charset="-122"/>
                <a:cs typeface="맑은 고딕" pitchFamily="34" charset="-120"/>
              </a:rPr>
              <a:t>정류장 시설 안내 + 가장 가까운 무더위쉼터 안내</a:t>
            </a:r>
            <a:endParaRPr lang="en-US" sz="1400" dirty="0"/>
          </a:p>
          <a:p>
            <a:pPr marL="0" indent="0">
              <a:lnSpc>
                <a:spcPts val="2400"/>
              </a:lnSpc>
              <a:buNone/>
            </a:pPr>
            <a:r>
              <a:rPr lang="en-US" sz="1400" b="1" dirty="0">
                <a:solidFill>
                  <a:srgbClr val="E8751A"/>
                </a:solidFill>
                <a:latin typeface="맑은 고딕" pitchFamily="34" charset="0"/>
                <a:ea typeface="맑은 고딕" pitchFamily="34" charset="-122"/>
                <a:cs typeface="맑은 고딕" pitchFamily="34" charset="-120"/>
              </a:rPr>
              <a:t>춘천시  </a:t>
            </a:r>
            <a:endParaRPr lang="en-US" sz="1400" dirty="0"/>
          </a:p>
          <a:p>
            <a:pPr marL="0" indent="0">
              <a:lnSpc>
                <a:spcPts val="2400"/>
              </a:lnSpc>
              <a:buNone/>
            </a:pPr>
            <a:r>
              <a:rPr lang="en-US" sz="1400" dirty="0">
                <a:solidFill>
                  <a:srgbClr val="D3DAF6"/>
                </a:solidFill>
                <a:latin typeface="맑은 고딕" pitchFamily="34" charset="0"/>
                <a:ea typeface="맑은 고딕" pitchFamily="34" charset="-122"/>
                <a:cs typeface="맑은 고딕" pitchFamily="34" charset="-120"/>
              </a:rPr>
              <a:t>그늘도 쉼터도 없는 '폭염 취약 정류장'을 데이터로 식별</a:t>
            </a:r>
            <a:endParaRPr lang="en-US" sz="1400" dirty="0"/>
          </a:p>
        </p:txBody>
      </p:sp>
      <p:sp>
        <p:nvSpPr>
          <p:cNvPr id="16" name="Text 14"/>
          <p:cNvSpPr/>
          <p:nvPr/>
        </p:nvSpPr>
        <p:spPr>
          <a:xfrm>
            <a:off x="566928" y="5806440"/>
            <a:ext cx="7315200" cy="329184"/>
          </a:xfrm>
          <a:prstGeom prst="rect">
            <a:avLst/>
          </a:prstGeom>
          <a:noFill/>
          <a:ln/>
        </p:spPr>
        <p:txBody>
          <a:bodyPr wrap="square" lIns="0" tIns="0" rIns="0" bIns="0"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팀 </a:t>
            </a:r>
            <a:r>
              <a:rPr lang="en-US" sz="1700" b="1" dirty="0" err="1">
                <a:solidFill>
                  <a:srgbClr val="FFFFFF"/>
                </a:solidFill>
                <a:latin typeface="맑은 고딕" pitchFamily="34" charset="0"/>
                <a:ea typeface="맑은 고딕" pitchFamily="34" charset="-122"/>
                <a:cs typeface="맑은 고딕" pitchFamily="34" charset="-120"/>
              </a:rPr>
              <a:t>오댕</a:t>
            </a:r>
            <a:r>
              <a:rPr lang="ko-KR" altLang="en-US" sz="1700" b="1" dirty="0">
                <a:solidFill>
                  <a:srgbClr val="FFFFFF"/>
                </a:solidFill>
                <a:latin typeface="맑은 고딕" pitchFamily="34" charset="0"/>
                <a:ea typeface="맑은 고딕" pitchFamily="34" charset="-122"/>
                <a:cs typeface="맑은 고딕" pitchFamily="34" charset="-120"/>
              </a:rPr>
              <a:t>국</a:t>
            </a:r>
            <a:endParaRPr lang="en-US" sz="1700" dirty="0"/>
          </a:p>
        </p:txBody>
      </p:sp>
      <p:sp>
        <p:nvSpPr>
          <p:cNvPr id="18" name="Text 15"/>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6B7CC0"/>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9" name="Text 16"/>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6B7CC0"/>
                </a:solidFill>
                <a:latin typeface="맑은 고딕" pitchFamily="34" charset="0"/>
                <a:ea typeface="맑은 고딕" pitchFamily="34" charset="-122"/>
                <a:cs typeface="맑은 고딕"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CONTENTS</a:t>
            </a:r>
            <a:endParaRPr lang="en-US" sz="1200" dirty="0"/>
          </a:p>
        </p:txBody>
      </p:sp>
      <p:sp>
        <p:nvSpPr>
          <p:cNvPr id="3" name="Text 1"/>
          <p:cNvSpPr/>
          <p:nvPr/>
        </p:nvSpPr>
        <p:spPr>
          <a:xfrm>
            <a:off x="560527" y="740664"/>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발표 순서</a:t>
            </a:r>
            <a:endParaRPr lang="en-US" sz="3000" dirty="0"/>
          </a:p>
        </p:txBody>
      </p:sp>
      <p:sp>
        <p:nvSpPr>
          <p:cNvPr id="4" name="Shape 2"/>
          <p:cNvSpPr/>
          <p:nvPr/>
        </p:nvSpPr>
        <p:spPr>
          <a:xfrm>
            <a:off x="566928" y="1700784"/>
            <a:ext cx="5257800" cy="1225296"/>
          </a:xfrm>
          <a:prstGeom prst="roundRect">
            <a:avLst>
              <a:gd name="adj" fmla="val 4478"/>
            </a:avLst>
          </a:prstGeom>
          <a:solidFill>
            <a:srgbClr val="F4F6FC"/>
          </a:solidFill>
          <a:ln w="12700">
            <a:solidFill>
              <a:srgbClr val="D4DAEE"/>
            </a:solidFill>
            <a:prstDash val="solid"/>
          </a:ln>
        </p:spPr>
        <p:txBody>
          <a:bodyPr/>
          <a:lstStyle/>
          <a:p>
            <a:endParaRPr lang="ko-KR" altLang="en-US"/>
          </a:p>
        </p:txBody>
      </p:sp>
      <p:sp>
        <p:nvSpPr>
          <p:cNvPr id="5" name="Text 3"/>
          <p:cNvSpPr/>
          <p:nvPr/>
        </p:nvSpPr>
        <p:spPr>
          <a:xfrm>
            <a:off x="804672" y="1865376"/>
            <a:ext cx="640080" cy="365760"/>
          </a:xfrm>
          <a:prstGeom prst="rect">
            <a:avLst/>
          </a:prstGeom>
          <a:noFill/>
          <a:ln/>
        </p:spPr>
        <p:txBody>
          <a:bodyPr wrap="square" lIns="0" tIns="0" rIns="0" bIns="0" rtlCol="0" anchor="ctr"/>
          <a:lstStyle/>
          <a:p>
            <a:pPr marL="0" indent="0">
              <a:buNone/>
            </a:pPr>
            <a:r>
              <a:rPr lang="en-US" sz="2200" b="1" dirty="0">
                <a:solidFill>
                  <a:srgbClr val="001871"/>
                </a:solidFill>
                <a:latin typeface="맑은 고딕" pitchFamily="34" charset="0"/>
                <a:ea typeface="맑은 고딕" pitchFamily="34" charset="-122"/>
                <a:cs typeface="맑은 고딕" pitchFamily="34" charset="-120"/>
              </a:rPr>
              <a:t>01</a:t>
            </a:r>
            <a:endParaRPr lang="en-US" sz="2200" dirty="0"/>
          </a:p>
        </p:txBody>
      </p:sp>
      <p:sp>
        <p:nvSpPr>
          <p:cNvPr id="6" name="Text 4"/>
          <p:cNvSpPr/>
          <p:nvPr/>
        </p:nvSpPr>
        <p:spPr>
          <a:xfrm>
            <a:off x="1435608" y="1865376"/>
            <a:ext cx="4206240" cy="365760"/>
          </a:xfrm>
          <a:prstGeom prst="rect">
            <a:avLst/>
          </a:prstGeom>
          <a:noFill/>
          <a:ln/>
        </p:spPr>
        <p:txBody>
          <a:bodyPr wrap="square" lIns="0" tIns="0" rIns="0" bIns="0" rtlCol="0" anchor="ctr"/>
          <a:lstStyle/>
          <a:p>
            <a:pPr marL="0" indent="0">
              <a:buNone/>
            </a:pPr>
            <a:r>
              <a:rPr lang="en-US" sz="1600" b="1" dirty="0" err="1">
                <a:solidFill>
                  <a:srgbClr val="141B33"/>
                </a:solidFill>
                <a:latin typeface="맑은 고딕" pitchFamily="34" charset="0"/>
                <a:ea typeface="맑은 고딕" pitchFamily="34" charset="-122"/>
                <a:cs typeface="맑은 고딕" pitchFamily="34" charset="-120"/>
              </a:rPr>
              <a:t>문제</a:t>
            </a:r>
            <a:r>
              <a:rPr lang="en-US" sz="1600" b="1" dirty="0">
                <a:solidFill>
                  <a:srgbClr val="141B33"/>
                </a:solidFill>
                <a:latin typeface="맑은 고딕" pitchFamily="34" charset="0"/>
                <a:ea typeface="맑은 고딕" pitchFamily="34" charset="-122"/>
                <a:cs typeface="맑은 고딕" pitchFamily="34" charset="-120"/>
              </a:rPr>
              <a:t> </a:t>
            </a:r>
            <a:r>
              <a:rPr lang="ko-KR" altLang="en-US" sz="1600" b="1" dirty="0">
                <a:solidFill>
                  <a:srgbClr val="141B33"/>
                </a:solidFill>
                <a:latin typeface="맑은 고딕" pitchFamily="34" charset="0"/>
                <a:ea typeface="맑은 고딕" pitchFamily="34" charset="-122"/>
                <a:cs typeface="맑은 고딕" pitchFamily="34" charset="-120"/>
              </a:rPr>
              <a:t>정의 및 해결방안 제시</a:t>
            </a:r>
            <a:endParaRPr lang="en-US" sz="1600" dirty="0"/>
          </a:p>
        </p:txBody>
      </p:sp>
      <p:sp>
        <p:nvSpPr>
          <p:cNvPr id="7" name="Text 5"/>
          <p:cNvSpPr/>
          <p:nvPr/>
        </p:nvSpPr>
        <p:spPr>
          <a:xfrm>
            <a:off x="1435608" y="2276856"/>
            <a:ext cx="4251960" cy="502920"/>
          </a:xfrm>
          <a:prstGeom prst="rect">
            <a:avLst/>
          </a:prstGeom>
          <a:noFill/>
          <a:ln/>
        </p:spPr>
        <p:txBody>
          <a:bodyPr wrap="square" lIns="0" tIns="0" rIns="0" bIns="0" rtlCol="0" anchor="t"/>
          <a:lstStyle/>
          <a:p>
            <a:pPr>
              <a:lnSpc>
                <a:spcPts val="1600"/>
              </a:lnSpc>
            </a:pPr>
            <a:r>
              <a:rPr lang="en-US" sz="1100" dirty="0">
                <a:solidFill>
                  <a:srgbClr val="6E7796"/>
                </a:solidFill>
                <a:latin typeface="맑은 고딕" pitchFamily="34" charset="0"/>
                <a:ea typeface="맑은 고딕" pitchFamily="34" charset="-122"/>
                <a:cs typeface="맑은 고딕" pitchFamily="34" charset="-120"/>
              </a:rPr>
              <a:t>초고령 도시 · 지붕 </a:t>
            </a:r>
            <a:r>
              <a:rPr lang="en-US" sz="1100" dirty="0" err="1">
                <a:solidFill>
                  <a:srgbClr val="6E7796"/>
                </a:solidFill>
                <a:latin typeface="맑은 고딕" pitchFamily="34" charset="0"/>
                <a:ea typeface="맑은 고딕" pitchFamily="34" charset="-122"/>
                <a:cs typeface="맑은 고딕" pitchFamily="34" charset="-120"/>
              </a:rPr>
              <a:t>없는</a:t>
            </a:r>
            <a:r>
              <a:rPr lang="en-US" sz="1100" dirty="0">
                <a:solidFill>
                  <a:srgbClr val="6E7796"/>
                </a:solidFill>
                <a:latin typeface="맑은 고딕" pitchFamily="34" charset="0"/>
                <a:ea typeface="맑은 고딕" pitchFamily="34" charset="-122"/>
                <a:cs typeface="맑은 고딕" pitchFamily="34" charset="-120"/>
              </a:rPr>
              <a:t> </a:t>
            </a:r>
            <a:r>
              <a:rPr lang="en-US" sz="1100" dirty="0" err="1">
                <a:solidFill>
                  <a:srgbClr val="6E7796"/>
                </a:solidFill>
                <a:latin typeface="맑은 고딕" pitchFamily="34" charset="0"/>
                <a:ea typeface="맑은 고딕" pitchFamily="34" charset="-122"/>
                <a:cs typeface="맑은 고딕" pitchFamily="34" charset="-120"/>
              </a:rPr>
              <a:t>정류장</a:t>
            </a:r>
            <a:r>
              <a:rPr lang="en-US" altLang="ko-KR" sz="1100" dirty="0">
                <a:solidFill>
                  <a:srgbClr val="6E7796"/>
                </a:solidFill>
                <a:latin typeface="맑은 고딕" pitchFamily="34" charset="0"/>
                <a:ea typeface="맑은 고딕" pitchFamily="34" charset="-122"/>
                <a:cs typeface="맑은 고딕" pitchFamily="34" charset="-120"/>
              </a:rPr>
              <a:t> · </a:t>
            </a:r>
            <a:r>
              <a:rPr lang="ko-KR" altLang="en-US" sz="1100" dirty="0">
                <a:solidFill>
                  <a:srgbClr val="6E7796"/>
                </a:solidFill>
                <a:latin typeface="맑은 고딕" pitchFamily="34" charset="0"/>
                <a:ea typeface="맑은 고딕" pitchFamily="34" charset="-122"/>
                <a:cs typeface="맑은 고딕" pitchFamily="34" charset="-120"/>
              </a:rPr>
              <a:t>쉼터 안내</a:t>
            </a:r>
            <a:endParaRPr lang="en-US" sz="1100" dirty="0"/>
          </a:p>
        </p:txBody>
      </p:sp>
      <p:sp>
        <p:nvSpPr>
          <p:cNvPr id="8" name="Shape 6"/>
          <p:cNvSpPr/>
          <p:nvPr/>
        </p:nvSpPr>
        <p:spPr>
          <a:xfrm>
            <a:off x="566928" y="3191256"/>
            <a:ext cx="5257800" cy="1225296"/>
          </a:xfrm>
          <a:prstGeom prst="roundRect">
            <a:avLst>
              <a:gd name="adj" fmla="val 4478"/>
            </a:avLst>
          </a:prstGeom>
          <a:solidFill>
            <a:srgbClr val="F4F6FC"/>
          </a:solidFill>
          <a:ln w="12700">
            <a:solidFill>
              <a:srgbClr val="D4DAEE"/>
            </a:solidFill>
            <a:prstDash val="solid"/>
          </a:ln>
        </p:spPr>
        <p:txBody>
          <a:bodyPr/>
          <a:lstStyle/>
          <a:p>
            <a:endParaRPr lang="ko-KR" altLang="en-US"/>
          </a:p>
        </p:txBody>
      </p:sp>
      <p:sp>
        <p:nvSpPr>
          <p:cNvPr id="9" name="Text 7"/>
          <p:cNvSpPr/>
          <p:nvPr/>
        </p:nvSpPr>
        <p:spPr>
          <a:xfrm>
            <a:off x="804672" y="3355848"/>
            <a:ext cx="640080" cy="365760"/>
          </a:xfrm>
          <a:prstGeom prst="rect">
            <a:avLst/>
          </a:prstGeom>
          <a:noFill/>
          <a:ln/>
        </p:spPr>
        <p:txBody>
          <a:bodyPr wrap="square" lIns="0" tIns="0" rIns="0" bIns="0" rtlCol="0" anchor="ctr"/>
          <a:lstStyle/>
          <a:p>
            <a:pPr marL="0" indent="0">
              <a:buNone/>
            </a:pPr>
            <a:r>
              <a:rPr lang="en-US" sz="2200" b="1" dirty="0">
                <a:solidFill>
                  <a:srgbClr val="001871"/>
                </a:solidFill>
                <a:latin typeface="맑은 고딕" pitchFamily="34" charset="0"/>
                <a:ea typeface="맑은 고딕" pitchFamily="34" charset="-122"/>
                <a:cs typeface="맑은 고딕" pitchFamily="34" charset="-120"/>
              </a:rPr>
              <a:t>02</a:t>
            </a:r>
            <a:endParaRPr lang="en-US" sz="2200" dirty="0"/>
          </a:p>
        </p:txBody>
      </p:sp>
      <p:sp>
        <p:nvSpPr>
          <p:cNvPr id="10" name="Text 8"/>
          <p:cNvSpPr/>
          <p:nvPr/>
        </p:nvSpPr>
        <p:spPr>
          <a:xfrm>
            <a:off x="1435608" y="3355848"/>
            <a:ext cx="4206240" cy="365760"/>
          </a:xfrm>
          <a:prstGeom prst="rect">
            <a:avLst/>
          </a:prstGeom>
          <a:noFill/>
          <a:ln/>
        </p:spPr>
        <p:txBody>
          <a:bodyPr wrap="square" lIns="0" tIns="0" rIns="0" bIns="0" rtlCol="0" anchor="ctr"/>
          <a:lstStyle/>
          <a:p>
            <a:pPr marL="0" indent="0">
              <a:buNone/>
            </a:pPr>
            <a:r>
              <a:rPr lang="en-US" sz="1600" b="1" dirty="0" err="1">
                <a:solidFill>
                  <a:srgbClr val="141B33"/>
                </a:solidFill>
                <a:latin typeface="맑은 고딕" pitchFamily="34" charset="0"/>
                <a:ea typeface="맑은 고딕" pitchFamily="34" charset="-122"/>
                <a:cs typeface="맑은 고딕" pitchFamily="34" charset="-120"/>
              </a:rPr>
              <a:t>활용</a:t>
            </a:r>
            <a:r>
              <a:rPr lang="ko-KR" altLang="en-US" sz="1600" b="1" dirty="0">
                <a:solidFill>
                  <a:srgbClr val="141B33"/>
                </a:solidFill>
                <a:latin typeface="맑은 고딕" pitchFamily="34" charset="0"/>
                <a:ea typeface="맑은 고딕" pitchFamily="34" charset="-122"/>
                <a:cs typeface="맑은 고딕" pitchFamily="34" charset="-120"/>
              </a:rPr>
              <a:t>한</a:t>
            </a:r>
            <a:r>
              <a:rPr lang="en-US" sz="1600" b="1" dirty="0">
                <a:solidFill>
                  <a:srgbClr val="141B33"/>
                </a:solidFill>
                <a:latin typeface="맑은 고딕" pitchFamily="34" charset="0"/>
                <a:ea typeface="맑은 고딕" pitchFamily="34" charset="-122"/>
                <a:cs typeface="맑은 고딕" pitchFamily="34" charset="-120"/>
              </a:rPr>
              <a:t> </a:t>
            </a:r>
            <a:r>
              <a:rPr lang="en-US" sz="1600" b="1" dirty="0" err="1">
                <a:solidFill>
                  <a:srgbClr val="141B33"/>
                </a:solidFill>
                <a:latin typeface="맑은 고딕" pitchFamily="34" charset="0"/>
                <a:ea typeface="맑은 고딕" pitchFamily="34" charset="-122"/>
                <a:cs typeface="맑은 고딕" pitchFamily="34" charset="-120"/>
              </a:rPr>
              <a:t>데이터</a:t>
            </a:r>
            <a:r>
              <a:rPr lang="ko-KR" altLang="en-US" sz="1600" b="1" dirty="0">
                <a:solidFill>
                  <a:srgbClr val="141B33"/>
                </a:solidFill>
                <a:latin typeface="맑은 고딕" pitchFamily="34" charset="0"/>
                <a:ea typeface="맑은 고딕" pitchFamily="34" charset="-122"/>
                <a:cs typeface="맑은 고딕" pitchFamily="34" charset="-120"/>
              </a:rPr>
              <a:t>와 처리 구조</a:t>
            </a:r>
            <a:endParaRPr lang="en-US" sz="1600" dirty="0"/>
          </a:p>
        </p:txBody>
      </p:sp>
      <p:sp>
        <p:nvSpPr>
          <p:cNvPr id="11" name="Text 9"/>
          <p:cNvSpPr/>
          <p:nvPr/>
        </p:nvSpPr>
        <p:spPr>
          <a:xfrm>
            <a:off x="1435608" y="3767328"/>
            <a:ext cx="4251960" cy="502920"/>
          </a:xfrm>
          <a:prstGeom prst="rect">
            <a:avLst/>
          </a:prstGeom>
          <a:noFill/>
          <a:ln/>
        </p:spPr>
        <p:txBody>
          <a:bodyPr wrap="square" lIns="0" tIns="0" rIns="0" bIns="0" rtlCol="0" anchor="t"/>
          <a:lstStyle/>
          <a:p>
            <a:pPr marL="0" indent="0">
              <a:lnSpc>
                <a:spcPts val="1600"/>
              </a:lnSpc>
              <a:buNone/>
            </a:pPr>
            <a:r>
              <a:rPr lang="en-US" sz="1100" dirty="0">
                <a:solidFill>
                  <a:srgbClr val="6E7796"/>
                </a:solidFill>
                <a:latin typeface="맑은 고딕" pitchFamily="34" charset="0"/>
                <a:ea typeface="맑은 고딕" pitchFamily="34" charset="-122"/>
                <a:cs typeface="맑은 고딕" pitchFamily="34" charset="-120"/>
              </a:rPr>
              <a:t>정류장 1,890 × 무더위쉼터 230 </a:t>
            </a:r>
            <a:r>
              <a:rPr lang="en-US" sz="1100" dirty="0" err="1">
                <a:solidFill>
                  <a:srgbClr val="6E7796"/>
                </a:solidFill>
                <a:latin typeface="맑은 고딕" pitchFamily="34" charset="0"/>
                <a:ea typeface="맑은 고딕" pitchFamily="34" charset="-122"/>
                <a:cs typeface="맑은 고딕" pitchFamily="34" charset="-120"/>
              </a:rPr>
              <a:t>결합</a:t>
            </a:r>
            <a:endParaRPr lang="en-US" sz="1100" dirty="0"/>
          </a:p>
        </p:txBody>
      </p:sp>
      <p:sp>
        <p:nvSpPr>
          <p:cNvPr id="12" name="Shape 10"/>
          <p:cNvSpPr/>
          <p:nvPr/>
        </p:nvSpPr>
        <p:spPr>
          <a:xfrm>
            <a:off x="566928" y="4681728"/>
            <a:ext cx="5257800" cy="1225296"/>
          </a:xfrm>
          <a:prstGeom prst="roundRect">
            <a:avLst>
              <a:gd name="adj" fmla="val 4478"/>
            </a:avLst>
          </a:prstGeom>
          <a:solidFill>
            <a:srgbClr val="F4F6FC"/>
          </a:solidFill>
          <a:ln w="12700">
            <a:solidFill>
              <a:srgbClr val="D4DAEE"/>
            </a:solidFill>
            <a:prstDash val="solid"/>
          </a:ln>
        </p:spPr>
        <p:txBody>
          <a:bodyPr/>
          <a:lstStyle/>
          <a:p>
            <a:endParaRPr lang="ko-KR" altLang="en-US"/>
          </a:p>
        </p:txBody>
      </p:sp>
      <p:sp>
        <p:nvSpPr>
          <p:cNvPr id="13" name="Text 11"/>
          <p:cNvSpPr/>
          <p:nvPr/>
        </p:nvSpPr>
        <p:spPr>
          <a:xfrm>
            <a:off x="804672" y="4846320"/>
            <a:ext cx="640080" cy="365760"/>
          </a:xfrm>
          <a:prstGeom prst="rect">
            <a:avLst/>
          </a:prstGeom>
          <a:noFill/>
          <a:ln/>
        </p:spPr>
        <p:txBody>
          <a:bodyPr wrap="square" lIns="0" tIns="0" rIns="0" bIns="0" rtlCol="0" anchor="ctr"/>
          <a:lstStyle/>
          <a:p>
            <a:pPr marL="0" indent="0">
              <a:buNone/>
            </a:pPr>
            <a:r>
              <a:rPr lang="en-US" sz="2200" b="1" dirty="0">
                <a:solidFill>
                  <a:srgbClr val="001871"/>
                </a:solidFill>
                <a:latin typeface="맑은 고딕" pitchFamily="34" charset="0"/>
                <a:ea typeface="맑은 고딕" pitchFamily="34" charset="-122"/>
                <a:cs typeface="맑은 고딕" pitchFamily="34" charset="-120"/>
              </a:rPr>
              <a:t>03</a:t>
            </a:r>
            <a:endParaRPr lang="en-US" sz="2200" dirty="0"/>
          </a:p>
        </p:txBody>
      </p:sp>
      <p:sp>
        <p:nvSpPr>
          <p:cNvPr id="14" name="Text 12"/>
          <p:cNvSpPr/>
          <p:nvPr/>
        </p:nvSpPr>
        <p:spPr>
          <a:xfrm>
            <a:off x="1435608" y="4846320"/>
            <a:ext cx="4206240" cy="365760"/>
          </a:xfrm>
          <a:prstGeom prst="rect">
            <a:avLst/>
          </a:prstGeom>
          <a:noFill/>
          <a:ln/>
        </p:spPr>
        <p:txBody>
          <a:bodyPr wrap="square" lIns="0" tIns="0" rIns="0" bIns="0" rtlCol="0" anchor="ctr"/>
          <a:lstStyle/>
          <a:p>
            <a:pPr marL="0" indent="0">
              <a:buNone/>
            </a:pPr>
            <a:r>
              <a:rPr lang="en-US" sz="1600" b="1" dirty="0">
                <a:solidFill>
                  <a:srgbClr val="141B33"/>
                </a:solidFill>
                <a:latin typeface="맑은 고딕" pitchFamily="34" charset="0"/>
                <a:ea typeface="맑은 고딕" pitchFamily="34" charset="-122"/>
                <a:cs typeface="맑은 고딕" pitchFamily="34" charset="-120"/>
              </a:rPr>
              <a:t>서비스 </a:t>
            </a:r>
            <a:r>
              <a:rPr lang="en-US" sz="1600" b="1" dirty="0" err="1">
                <a:solidFill>
                  <a:srgbClr val="141B33"/>
                </a:solidFill>
                <a:latin typeface="맑은 고딕" pitchFamily="34" charset="0"/>
                <a:ea typeface="맑은 고딕" pitchFamily="34" charset="-122"/>
                <a:cs typeface="맑은 고딕" pitchFamily="34" charset="-120"/>
              </a:rPr>
              <a:t>핵심</a:t>
            </a:r>
            <a:r>
              <a:rPr lang="en-US" sz="1600" b="1" dirty="0">
                <a:solidFill>
                  <a:srgbClr val="141B33"/>
                </a:solidFill>
                <a:latin typeface="맑은 고딕" pitchFamily="34" charset="0"/>
                <a:ea typeface="맑은 고딕" pitchFamily="34" charset="-122"/>
                <a:cs typeface="맑은 고딕" pitchFamily="34" charset="-120"/>
              </a:rPr>
              <a:t> </a:t>
            </a:r>
            <a:r>
              <a:rPr lang="en-US" sz="1600" b="1" dirty="0" err="1">
                <a:solidFill>
                  <a:srgbClr val="141B33"/>
                </a:solidFill>
                <a:latin typeface="맑은 고딕" pitchFamily="34" charset="0"/>
                <a:ea typeface="맑은 고딕" pitchFamily="34" charset="-122"/>
                <a:cs typeface="맑은 고딕" pitchFamily="34" charset="-120"/>
              </a:rPr>
              <a:t>기능</a:t>
            </a:r>
            <a:r>
              <a:rPr lang="en-US" sz="1600" b="1" dirty="0">
                <a:solidFill>
                  <a:srgbClr val="141B33"/>
                </a:solidFill>
                <a:latin typeface="맑은 고딕" pitchFamily="34" charset="0"/>
                <a:ea typeface="맑은 고딕" pitchFamily="34" charset="-122"/>
                <a:cs typeface="맑은 고딕" pitchFamily="34" charset="-120"/>
              </a:rPr>
              <a:t> </a:t>
            </a:r>
            <a:r>
              <a:rPr lang="ko-KR" altLang="en-US" sz="1600" b="1" dirty="0">
                <a:solidFill>
                  <a:srgbClr val="141B33"/>
                </a:solidFill>
                <a:latin typeface="맑은 고딕" pitchFamily="34" charset="0"/>
                <a:ea typeface="맑은 고딕" pitchFamily="34" charset="-122"/>
                <a:cs typeface="맑은 고딕" pitchFamily="34" charset="-120"/>
              </a:rPr>
              <a:t>설명</a:t>
            </a:r>
            <a:r>
              <a:rPr lang="en-US" sz="1600" b="1" dirty="0">
                <a:solidFill>
                  <a:srgbClr val="141B33"/>
                </a:solidFill>
                <a:latin typeface="맑은 고딕" pitchFamily="34" charset="0"/>
                <a:ea typeface="맑은 고딕" pitchFamily="34" charset="-122"/>
                <a:cs typeface="맑은 고딕" pitchFamily="34" charset="-120"/>
              </a:rPr>
              <a:t> 및 시연</a:t>
            </a:r>
            <a:endParaRPr lang="en-US" sz="1600" dirty="0"/>
          </a:p>
        </p:txBody>
      </p:sp>
      <p:sp>
        <p:nvSpPr>
          <p:cNvPr id="15" name="Text 13"/>
          <p:cNvSpPr/>
          <p:nvPr/>
        </p:nvSpPr>
        <p:spPr>
          <a:xfrm>
            <a:off x="1435608" y="5257800"/>
            <a:ext cx="4251960" cy="502920"/>
          </a:xfrm>
          <a:prstGeom prst="rect">
            <a:avLst/>
          </a:prstGeom>
          <a:noFill/>
          <a:ln/>
        </p:spPr>
        <p:txBody>
          <a:bodyPr wrap="square" lIns="0" tIns="0" rIns="0" bIns="0" rtlCol="0" anchor="t"/>
          <a:lstStyle/>
          <a:p>
            <a:pPr marL="0" indent="0">
              <a:lnSpc>
                <a:spcPts val="1600"/>
              </a:lnSpc>
              <a:buNone/>
            </a:pPr>
            <a:r>
              <a:rPr lang="en-US" sz="1100" dirty="0">
                <a:solidFill>
                  <a:srgbClr val="6E7796"/>
                </a:solidFill>
                <a:latin typeface="맑은 고딕" pitchFamily="34" charset="0"/>
                <a:ea typeface="맑은 고딕" pitchFamily="34" charset="-122"/>
                <a:cs typeface="맑은 고딕" pitchFamily="34" charset="-120"/>
              </a:rPr>
              <a:t>쉼터 안내 · 시설 안내 · 음성 검색 · </a:t>
            </a:r>
            <a:r>
              <a:rPr lang="ko-KR" altLang="en-US" sz="1100" dirty="0">
                <a:solidFill>
                  <a:srgbClr val="6E7796"/>
                </a:solidFill>
                <a:latin typeface="맑은 고딕" pitchFamily="34" charset="0"/>
                <a:ea typeface="맑은 고딕" pitchFamily="34" charset="-122"/>
                <a:cs typeface="맑은 고딕" pitchFamily="34" charset="-120"/>
              </a:rPr>
              <a:t>관리자</a:t>
            </a:r>
            <a:r>
              <a:rPr lang="en-US" sz="1100" dirty="0">
                <a:solidFill>
                  <a:srgbClr val="6E7796"/>
                </a:solidFill>
                <a:latin typeface="맑은 고딕" pitchFamily="34" charset="0"/>
                <a:ea typeface="맑은 고딕" pitchFamily="34" charset="-122"/>
                <a:cs typeface="맑은 고딕" pitchFamily="34" charset="-120"/>
              </a:rPr>
              <a:t> </a:t>
            </a:r>
            <a:r>
              <a:rPr lang="en-US" sz="1100" dirty="0" err="1">
                <a:solidFill>
                  <a:srgbClr val="6E7796"/>
                </a:solidFill>
                <a:latin typeface="맑은 고딕" pitchFamily="34" charset="0"/>
                <a:ea typeface="맑은 고딕" pitchFamily="34" charset="-122"/>
                <a:cs typeface="맑은 고딕" pitchFamily="34" charset="-120"/>
              </a:rPr>
              <a:t>대시보드</a:t>
            </a:r>
            <a:endParaRPr lang="en-US" sz="1100" dirty="0"/>
          </a:p>
        </p:txBody>
      </p:sp>
      <p:sp>
        <p:nvSpPr>
          <p:cNvPr id="16" name="Shape 14"/>
          <p:cNvSpPr/>
          <p:nvPr/>
        </p:nvSpPr>
        <p:spPr>
          <a:xfrm>
            <a:off x="6382512" y="1700784"/>
            <a:ext cx="5257800" cy="1225296"/>
          </a:xfrm>
          <a:prstGeom prst="roundRect">
            <a:avLst>
              <a:gd name="adj" fmla="val 4478"/>
            </a:avLst>
          </a:prstGeom>
          <a:solidFill>
            <a:srgbClr val="FFFFFF"/>
          </a:solidFill>
          <a:ln w="12700">
            <a:solidFill>
              <a:srgbClr val="D4DAEE"/>
            </a:solidFill>
            <a:prstDash val="solid"/>
          </a:ln>
        </p:spPr>
        <p:txBody>
          <a:bodyPr/>
          <a:lstStyle/>
          <a:p>
            <a:endParaRPr lang="ko-KR" altLang="en-US"/>
          </a:p>
        </p:txBody>
      </p:sp>
      <p:sp>
        <p:nvSpPr>
          <p:cNvPr id="17" name="Text 15"/>
          <p:cNvSpPr/>
          <p:nvPr/>
        </p:nvSpPr>
        <p:spPr>
          <a:xfrm>
            <a:off x="6620256" y="1865376"/>
            <a:ext cx="640080" cy="365760"/>
          </a:xfrm>
          <a:prstGeom prst="rect">
            <a:avLst/>
          </a:prstGeom>
          <a:noFill/>
          <a:ln/>
        </p:spPr>
        <p:txBody>
          <a:bodyPr wrap="square" lIns="0" tIns="0" rIns="0" bIns="0" rtlCol="0" anchor="ctr"/>
          <a:lstStyle/>
          <a:p>
            <a:pPr marL="0" indent="0">
              <a:buNone/>
            </a:pPr>
            <a:r>
              <a:rPr lang="en-US" sz="2200" b="1" dirty="0">
                <a:solidFill>
                  <a:srgbClr val="001871"/>
                </a:solidFill>
                <a:latin typeface="맑은 고딕" pitchFamily="34" charset="0"/>
                <a:ea typeface="맑은 고딕" pitchFamily="34" charset="-122"/>
                <a:cs typeface="맑은 고딕" pitchFamily="34" charset="-120"/>
              </a:rPr>
              <a:t>04</a:t>
            </a:r>
            <a:endParaRPr lang="en-US" sz="2200" dirty="0"/>
          </a:p>
        </p:txBody>
      </p:sp>
      <p:sp>
        <p:nvSpPr>
          <p:cNvPr id="18" name="Text 16"/>
          <p:cNvSpPr/>
          <p:nvPr/>
        </p:nvSpPr>
        <p:spPr>
          <a:xfrm>
            <a:off x="7251192" y="1865376"/>
            <a:ext cx="4206240" cy="365760"/>
          </a:xfrm>
          <a:prstGeom prst="rect">
            <a:avLst/>
          </a:prstGeom>
          <a:noFill/>
          <a:ln/>
        </p:spPr>
        <p:txBody>
          <a:bodyPr wrap="square" lIns="0" tIns="0" rIns="0" bIns="0" rtlCol="0" anchor="ctr"/>
          <a:lstStyle/>
          <a:p>
            <a:pPr marL="0" indent="0">
              <a:buNone/>
            </a:pPr>
            <a:r>
              <a:rPr lang="en-US" sz="1600" b="1" dirty="0" err="1">
                <a:solidFill>
                  <a:srgbClr val="141B33"/>
                </a:solidFill>
                <a:latin typeface="맑은 고딕" pitchFamily="34" charset="0"/>
                <a:ea typeface="맑은 고딕" pitchFamily="34" charset="-122"/>
                <a:cs typeface="맑은 고딕" pitchFamily="34" charset="-120"/>
              </a:rPr>
              <a:t>사용자</a:t>
            </a:r>
            <a:r>
              <a:rPr lang="en-US" sz="1600" b="1" dirty="0">
                <a:solidFill>
                  <a:srgbClr val="141B33"/>
                </a:solidFill>
                <a:latin typeface="맑은 고딕" pitchFamily="34" charset="0"/>
                <a:ea typeface="맑은 고딕" pitchFamily="34" charset="-122"/>
                <a:cs typeface="맑은 고딕" pitchFamily="34" charset="-120"/>
              </a:rPr>
              <a:t> </a:t>
            </a:r>
            <a:r>
              <a:rPr lang="ko-KR" altLang="en-US" sz="1600" b="1" dirty="0">
                <a:solidFill>
                  <a:srgbClr val="141B33"/>
                </a:solidFill>
                <a:latin typeface="맑은 고딕" pitchFamily="34" charset="0"/>
                <a:ea typeface="맑은 고딕" pitchFamily="34" charset="-122"/>
                <a:cs typeface="맑은 고딕" pitchFamily="34" charset="-120"/>
              </a:rPr>
              <a:t>예상</a:t>
            </a:r>
            <a:r>
              <a:rPr lang="en-US" sz="1600" b="1" dirty="0">
                <a:solidFill>
                  <a:srgbClr val="141B33"/>
                </a:solidFill>
                <a:latin typeface="맑은 고딕" pitchFamily="34" charset="0"/>
                <a:ea typeface="맑은 고딕" pitchFamily="34" charset="-122"/>
                <a:cs typeface="맑은 고딕" pitchFamily="34" charset="-120"/>
              </a:rPr>
              <a:t> 시나리오</a:t>
            </a:r>
            <a:endParaRPr lang="en-US" sz="1600" dirty="0"/>
          </a:p>
        </p:txBody>
      </p:sp>
      <p:sp>
        <p:nvSpPr>
          <p:cNvPr id="19" name="Text 17"/>
          <p:cNvSpPr/>
          <p:nvPr/>
        </p:nvSpPr>
        <p:spPr>
          <a:xfrm>
            <a:off x="7251192" y="2276856"/>
            <a:ext cx="4251960" cy="502920"/>
          </a:xfrm>
          <a:prstGeom prst="rect">
            <a:avLst/>
          </a:prstGeom>
          <a:noFill/>
          <a:ln/>
        </p:spPr>
        <p:txBody>
          <a:bodyPr wrap="square" lIns="0" tIns="0" rIns="0" bIns="0" rtlCol="0" anchor="t"/>
          <a:lstStyle/>
          <a:p>
            <a:pPr marL="0" indent="0">
              <a:lnSpc>
                <a:spcPts val="1600"/>
              </a:lnSpc>
              <a:buNone/>
            </a:pPr>
            <a:r>
              <a:rPr lang="en-US" sz="1100" dirty="0">
                <a:solidFill>
                  <a:srgbClr val="6E7796"/>
                </a:solidFill>
                <a:latin typeface="맑은 고딕" pitchFamily="34" charset="0"/>
                <a:ea typeface="맑은 고딕" pitchFamily="34" charset="-122"/>
                <a:cs typeface="맑은 고딕" pitchFamily="34" charset="-120"/>
              </a:rPr>
              <a:t>어르신의 폭염 오후 / 춘천시 담당자의 월요일 아침</a:t>
            </a:r>
            <a:endParaRPr lang="en-US" sz="1100" dirty="0"/>
          </a:p>
        </p:txBody>
      </p:sp>
      <p:sp>
        <p:nvSpPr>
          <p:cNvPr id="20" name="Shape 18"/>
          <p:cNvSpPr/>
          <p:nvPr/>
        </p:nvSpPr>
        <p:spPr>
          <a:xfrm>
            <a:off x="6382512" y="3191256"/>
            <a:ext cx="5257800" cy="1225296"/>
          </a:xfrm>
          <a:prstGeom prst="roundRect">
            <a:avLst>
              <a:gd name="adj" fmla="val 4478"/>
            </a:avLst>
          </a:prstGeom>
          <a:solidFill>
            <a:srgbClr val="FFFFFF"/>
          </a:solidFill>
          <a:ln w="12700">
            <a:solidFill>
              <a:srgbClr val="D4DAEE"/>
            </a:solidFill>
            <a:prstDash val="solid"/>
          </a:ln>
        </p:spPr>
        <p:txBody>
          <a:bodyPr/>
          <a:lstStyle/>
          <a:p>
            <a:endParaRPr lang="ko-KR" altLang="en-US"/>
          </a:p>
        </p:txBody>
      </p:sp>
      <p:sp>
        <p:nvSpPr>
          <p:cNvPr id="21" name="Text 19"/>
          <p:cNvSpPr/>
          <p:nvPr/>
        </p:nvSpPr>
        <p:spPr>
          <a:xfrm>
            <a:off x="6620256" y="3355848"/>
            <a:ext cx="640080" cy="365760"/>
          </a:xfrm>
          <a:prstGeom prst="rect">
            <a:avLst/>
          </a:prstGeom>
          <a:noFill/>
          <a:ln/>
        </p:spPr>
        <p:txBody>
          <a:bodyPr wrap="square" lIns="0" tIns="0" rIns="0" bIns="0" rtlCol="0" anchor="ctr"/>
          <a:lstStyle/>
          <a:p>
            <a:pPr marL="0" indent="0">
              <a:buNone/>
            </a:pPr>
            <a:r>
              <a:rPr lang="en-US" sz="2200" b="1" dirty="0">
                <a:solidFill>
                  <a:srgbClr val="001871"/>
                </a:solidFill>
                <a:latin typeface="맑은 고딕" pitchFamily="34" charset="0"/>
                <a:ea typeface="맑은 고딕" pitchFamily="34" charset="-122"/>
                <a:cs typeface="맑은 고딕" pitchFamily="34" charset="-120"/>
              </a:rPr>
              <a:t>05</a:t>
            </a:r>
            <a:endParaRPr lang="en-US" sz="2200" dirty="0"/>
          </a:p>
        </p:txBody>
      </p:sp>
      <p:sp>
        <p:nvSpPr>
          <p:cNvPr id="22" name="Text 20"/>
          <p:cNvSpPr/>
          <p:nvPr/>
        </p:nvSpPr>
        <p:spPr>
          <a:xfrm>
            <a:off x="7251192" y="3355848"/>
            <a:ext cx="4206240" cy="365760"/>
          </a:xfrm>
          <a:prstGeom prst="rect">
            <a:avLst/>
          </a:prstGeom>
          <a:noFill/>
          <a:ln/>
        </p:spPr>
        <p:txBody>
          <a:bodyPr wrap="square" lIns="0" tIns="0" rIns="0" bIns="0" rtlCol="0" anchor="ctr"/>
          <a:lstStyle/>
          <a:p>
            <a:pPr marL="0" indent="0">
              <a:buNone/>
            </a:pPr>
            <a:r>
              <a:rPr lang="en-US" sz="1600" b="1" dirty="0" err="1">
                <a:solidFill>
                  <a:srgbClr val="141B33"/>
                </a:solidFill>
                <a:latin typeface="맑은 고딕" pitchFamily="34" charset="0"/>
                <a:ea typeface="맑은 고딕" pitchFamily="34" charset="-122"/>
                <a:cs typeface="맑은 고딕" pitchFamily="34" charset="-120"/>
              </a:rPr>
              <a:t>기대</a:t>
            </a:r>
            <a:r>
              <a:rPr lang="en-US" sz="1600" b="1" dirty="0">
                <a:solidFill>
                  <a:srgbClr val="141B33"/>
                </a:solidFill>
                <a:latin typeface="맑은 고딕" pitchFamily="34" charset="0"/>
                <a:ea typeface="맑은 고딕" pitchFamily="34" charset="-122"/>
                <a:cs typeface="맑은 고딕" pitchFamily="34" charset="-120"/>
              </a:rPr>
              <a:t> 효과</a:t>
            </a:r>
            <a:endParaRPr lang="en-US" sz="1600" dirty="0"/>
          </a:p>
        </p:txBody>
      </p:sp>
      <p:sp>
        <p:nvSpPr>
          <p:cNvPr id="23" name="Text 21"/>
          <p:cNvSpPr/>
          <p:nvPr/>
        </p:nvSpPr>
        <p:spPr>
          <a:xfrm>
            <a:off x="7251192" y="3767328"/>
            <a:ext cx="4251960" cy="502920"/>
          </a:xfrm>
          <a:prstGeom prst="rect">
            <a:avLst/>
          </a:prstGeom>
          <a:noFill/>
          <a:ln/>
        </p:spPr>
        <p:txBody>
          <a:bodyPr wrap="square" lIns="0" tIns="0" rIns="0" bIns="0" rtlCol="0" anchor="t"/>
          <a:lstStyle/>
          <a:p>
            <a:pPr marL="0" indent="0">
              <a:lnSpc>
                <a:spcPts val="1600"/>
              </a:lnSpc>
              <a:buNone/>
            </a:pPr>
            <a:r>
              <a:rPr lang="en-US" sz="1100" dirty="0">
                <a:solidFill>
                  <a:srgbClr val="6E7796"/>
                </a:solidFill>
                <a:latin typeface="맑은 고딕" pitchFamily="34" charset="0"/>
                <a:ea typeface="맑은 고딕" pitchFamily="34" charset="-122"/>
                <a:cs typeface="맑은 고딕" pitchFamily="34" charset="-120"/>
              </a:rPr>
              <a:t>폭</a:t>
            </a:r>
            <a:endParaRPr lang="en-US" sz="1100" dirty="0"/>
          </a:p>
        </p:txBody>
      </p:sp>
      <p:sp>
        <p:nvSpPr>
          <p:cNvPr id="24" name="Shape 22"/>
          <p:cNvSpPr/>
          <p:nvPr/>
        </p:nvSpPr>
        <p:spPr>
          <a:xfrm>
            <a:off x="6382512" y="4681728"/>
            <a:ext cx="5257800" cy="1225296"/>
          </a:xfrm>
          <a:prstGeom prst="roundRect">
            <a:avLst>
              <a:gd name="adj" fmla="val 4478"/>
            </a:avLst>
          </a:prstGeom>
          <a:solidFill>
            <a:srgbClr val="FFFFFF"/>
          </a:solidFill>
          <a:ln w="12700">
            <a:solidFill>
              <a:srgbClr val="D4DAEE"/>
            </a:solidFill>
            <a:prstDash val="solid"/>
          </a:ln>
        </p:spPr>
        <p:txBody>
          <a:bodyPr/>
          <a:lstStyle/>
          <a:p>
            <a:endParaRPr lang="ko-KR" altLang="en-US"/>
          </a:p>
        </p:txBody>
      </p:sp>
      <p:sp>
        <p:nvSpPr>
          <p:cNvPr id="25" name="Text 23"/>
          <p:cNvSpPr/>
          <p:nvPr/>
        </p:nvSpPr>
        <p:spPr>
          <a:xfrm>
            <a:off x="6620256" y="4846320"/>
            <a:ext cx="640080" cy="365760"/>
          </a:xfrm>
          <a:prstGeom prst="rect">
            <a:avLst/>
          </a:prstGeom>
          <a:noFill/>
          <a:ln/>
        </p:spPr>
        <p:txBody>
          <a:bodyPr wrap="square" lIns="0" tIns="0" rIns="0" bIns="0" rtlCol="0" anchor="ctr"/>
          <a:lstStyle/>
          <a:p>
            <a:pPr marL="0" indent="0">
              <a:buNone/>
            </a:pPr>
            <a:r>
              <a:rPr lang="en-US" sz="2200" b="1" dirty="0">
                <a:solidFill>
                  <a:srgbClr val="001871"/>
                </a:solidFill>
                <a:latin typeface="맑은 고딕" pitchFamily="34" charset="0"/>
                <a:ea typeface="맑은 고딕" pitchFamily="34" charset="-122"/>
                <a:cs typeface="맑은 고딕" pitchFamily="34" charset="-120"/>
              </a:rPr>
              <a:t>06</a:t>
            </a:r>
            <a:endParaRPr lang="en-US" sz="2200" dirty="0"/>
          </a:p>
        </p:txBody>
      </p:sp>
      <p:sp>
        <p:nvSpPr>
          <p:cNvPr id="26" name="Text 24"/>
          <p:cNvSpPr/>
          <p:nvPr/>
        </p:nvSpPr>
        <p:spPr>
          <a:xfrm>
            <a:off x="7251192" y="4846320"/>
            <a:ext cx="4206240" cy="365760"/>
          </a:xfrm>
          <a:prstGeom prst="rect">
            <a:avLst/>
          </a:prstGeom>
          <a:noFill/>
          <a:ln/>
        </p:spPr>
        <p:txBody>
          <a:bodyPr wrap="square" lIns="0" tIns="0" rIns="0" bIns="0" rtlCol="0" anchor="ctr"/>
          <a:lstStyle/>
          <a:p>
            <a:pPr marL="0" indent="0">
              <a:buNone/>
            </a:pPr>
            <a:r>
              <a:rPr lang="en-US" sz="1600" b="1" dirty="0" err="1">
                <a:solidFill>
                  <a:srgbClr val="141B33"/>
                </a:solidFill>
                <a:latin typeface="맑은 고딕" pitchFamily="34" charset="0"/>
                <a:ea typeface="맑은 고딕" pitchFamily="34" charset="-122"/>
                <a:cs typeface="맑은 고딕" pitchFamily="34" charset="-120"/>
              </a:rPr>
              <a:t>확장</a:t>
            </a:r>
            <a:r>
              <a:rPr lang="en-US" sz="1600" b="1" dirty="0">
                <a:solidFill>
                  <a:srgbClr val="141B33"/>
                </a:solidFill>
                <a:latin typeface="맑은 고딕" pitchFamily="34" charset="0"/>
                <a:ea typeface="맑은 고딕" pitchFamily="34" charset="-122"/>
                <a:cs typeface="맑은 고딕" pitchFamily="34" charset="-120"/>
              </a:rPr>
              <a:t> </a:t>
            </a:r>
            <a:r>
              <a:rPr lang="en-US" sz="1600" b="1" dirty="0" err="1">
                <a:solidFill>
                  <a:srgbClr val="141B33"/>
                </a:solidFill>
                <a:latin typeface="맑은 고딕" pitchFamily="34" charset="0"/>
                <a:ea typeface="맑은 고딕" pitchFamily="34" charset="-122"/>
                <a:cs typeface="맑은 고딕" pitchFamily="34" charset="-120"/>
              </a:rPr>
              <a:t>계획</a:t>
            </a:r>
            <a:endParaRPr lang="en-US" sz="1600" dirty="0"/>
          </a:p>
        </p:txBody>
      </p:sp>
      <p:sp>
        <p:nvSpPr>
          <p:cNvPr id="27" name="Text 25"/>
          <p:cNvSpPr/>
          <p:nvPr/>
        </p:nvSpPr>
        <p:spPr>
          <a:xfrm>
            <a:off x="7251192" y="5257800"/>
            <a:ext cx="4251960" cy="502920"/>
          </a:xfrm>
          <a:prstGeom prst="rect">
            <a:avLst/>
          </a:prstGeom>
          <a:noFill/>
          <a:ln/>
        </p:spPr>
        <p:txBody>
          <a:bodyPr wrap="square" lIns="0" tIns="0" rIns="0" bIns="0" rtlCol="0" anchor="t"/>
          <a:lstStyle/>
          <a:p>
            <a:pPr marL="0" indent="0">
              <a:lnSpc>
                <a:spcPts val="1600"/>
              </a:lnSpc>
              <a:buNone/>
            </a:pPr>
            <a:r>
              <a:rPr lang="en-US" sz="1100" dirty="0">
                <a:solidFill>
                  <a:srgbClr val="6E7796"/>
                </a:solidFill>
                <a:latin typeface="맑은 고딕" pitchFamily="34" charset="0"/>
                <a:ea typeface="맑은 고딕" pitchFamily="34" charset="-122"/>
                <a:cs typeface="맑은 고딕" pitchFamily="34" charset="-120"/>
              </a:rPr>
              <a:t>겨</a:t>
            </a:r>
            <a:endParaRPr lang="en-US" sz="1100" dirty="0"/>
          </a:p>
        </p:txBody>
      </p:sp>
      <p:sp>
        <p:nvSpPr>
          <p:cNvPr id="29" name="Text 26"/>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0" name="Text 27"/>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9" name="Shape 7"/>
          <p:cNvSpPr/>
          <p:nvPr/>
        </p:nvSpPr>
        <p:spPr>
          <a:xfrm>
            <a:off x="584934" y="1792224"/>
            <a:ext cx="3429000" cy="1874520"/>
          </a:xfrm>
          <a:prstGeom prst="roundRect">
            <a:avLst>
              <a:gd name="adj" fmla="val 2927"/>
            </a:avLst>
          </a:prstGeom>
          <a:solidFill>
            <a:srgbClr val="F4F6FC"/>
          </a:solidFill>
          <a:ln w="12700">
            <a:solidFill>
              <a:srgbClr val="D4DAEE"/>
            </a:solidFill>
            <a:prstDash val="solid"/>
          </a:ln>
        </p:spPr>
        <p:txBody>
          <a:bodyPr/>
          <a:lstStyle/>
          <a:p>
            <a:endParaRPr lang="ko-KR" altLang="en-US"/>
          </a:p>
        </p:txBody>
      </p:sp>
      <p:sp>
        <p:nvSpPr>
          <p:cNvPr id="10" name="Text 8"/>
          <p:cNvSpPr/>
          <p:nvPr/>
        </p:nvSpPr>
        <p:spPr>
          <a:xfrm>
            <a:off x="859254" y="1993392"/>
            <a:ext cx="2926080" cy="713232"/>
          </a:xfrm>
          <a:prstGeom prst="rect">
            <a:avLst/>
          </a:prstGeom>
          <a:noFill/>
          <a:ln/>
        </p:spPr>
        <p:txBody>
          <a:bodyPr wrap="square" lIns="0" tIns="0" rIns="0" bIns="0" rtlCol="0" anchor="ctr"/>
          <a:lstStyle/>
          <a:p>
            <a:pPr marL="0" indent="0">
              <a:buNone/>
            </a:pPr>
            <a:r>
              <a:rPr lang="en-US" sz="4400" b="1" dirty="0">
                <a:solidFill>
                  <a:srgbClr val="001871"/>
                </a:solidFill>
                <a:latin typeface="맑은 고딕" pitchFamily="34" charset="0"/>
                <a:ea typeface="맑은 고딕" pitchFamily="34" charset="-122"/>
                <a:cs typeface="맑은 고딕" pitchFamily="34" charset="-120"/>
              </a:rPr>
              <a:t>2023년</a:t>
            </a:r>
            <a:endParaRPr lang="en-US" sz="4400" dirty="0"/>
          </a:p>
        </p:txBody>
      </p:sp>
      <p:sp>
        <p:nvSpPr>
          <p:cNvPr id="11" name="Text 9"/>
          <p:cNvSpPr/>
          <p:nvPr/>
        </p:nvSpPr>
        <p:spPr>
          <a:xfrm>
            <a:off x="859254" y="2724912"/>
            <a:ext cx="2926080" cy="329184"/>
          </a:xfrm>
          <a:prstGeom prst="rect">
            <a:avLst/>
          </a:prstGeom>
          <a:noFill/>
          <a:ln/>
        </p:spPr>
        <p:txBody>
          <a:bodyPr wrap="square" lIns="0" tIns="0" rIns="0" bIns="0" rtlCol="0" anchor="ctr"/>
          <a:lstStyle/>
          <a:p>
            <a:pPr marL="0" indent="0">
              <a:buNone/>
            </a:pPr>
            <a:r>
              <a:rPr lang="ko-KR" altLang="en-US" sz="1400" b="1" dirty="0">
                <a:solidFill>
                  <a:srgbClr val="141B33"/>
                </a:solidFill>
                <a:latin typeface="맑은 고딕" pitchFamily="34" charset="0"/>
                <a:ea typeface="맑은 고딕" pitchFamily="34" charset="-122"/>
                <a:cs typeface="맑은 고딕" pitchFamily="34" charset="-120"/>
              </a:rPr>
              <a:t>춘천시 </a:t>
            </a:r>
            <a:r>
              <a:rPr lang="en-US" sz="1400" b="1" dirty="0" err="1">
                <a:solidFill>
                  <a:srgbClr val="141B33"/>
                </a:solidFill>
                <a:latin typeface="맑은 고딕" pitchFamily="34" charset="0"/>
                <a:ea typeface="맑은 고딕" pitchFamily="34" charset="-122"/>
                <a:cs typeface="맑은 고딕" pitchFamily="34" charset="-120"/>
              </a:rPr>
              <a:t>초고령사회</a:t>
            </a:r>
            <a:r>
              <a:rPr lang="en-US" sz="1400" b="1" dirty="0">
                <a:solidFill>
                  <a:srgbClr val="141B33"/>
                </a:solidFill>
                <a:latin typeface="맑은 고딕" pitchFamily="34" charset="0"/>
                <a:ea typeface="맑은 고딕" pitchFamily="34" charset="-122"/>
                <a:cs typeface="맑은 고딕" pitchFamily="34" charset="-120"/>
              </a:rPr>
              <a:t> 진입</a:t>
            </a:r>
            <a:endParaRPr lang="en-US" sz="1400" dirty="0"/>
          </a:p>
        </p:txBody>
      </p:sp>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01 </a:t>
            </a:r>
            <a:r>
              <a:rPr lang="ko-KR" altLang="en-US" sz="1200" b="1" kern="0" spc="140" dirty="0">
                <a:solidFill>
                  <a:srgbClr val="001871"/>
                </a:solidFill>
                <a:latin typeface="맑은 고딕" pitchFamily="34" charset="0"/>
                <a:ea typeface="맑은 고딕" pitchFamily="34" charset="-122"/>
                <a:cs typeface="맑은 고딕" pitchFamily="34" charset="-120"/>
              </a:rPr>
              <a:t>문제 정의 및 해결방안 제시</a:t>
            </a:r>
            <a:r>
              <a:rPr lang="en-US" sz="1200" b="1" kern="0" spc="140" dirty="0">
                <a:solidFill>
                  <a:srgbClr val="001871"/>
                </a:solidFill>
                <a:latin typeface="맑은 고딕" pitchFamily="34" charset="0"/>
                <a:ea typeface="맑은 고딕" pitchFamily="34" charset="-122"/>
                <a:cs typeface="맑은 고딕" pitchFamily="34" charset="-120"/>
              </a:rPr>
              <a:t> </a:t>
            </a:r>
            <a:endParaRPr lang="en-US" sz="1200" dirty="0"/>
          </a:p>
        </p:txBody>
      </p:sp>
      <p:sp>
        <p:nvSpPr>
          <p:cNvPr id="3" name="Text 1"/>
          <p:cNvSpPr/>
          <p:nvPr/>
        </p:nvSpPr>
        <p:spPr>
          <a:xfrm>
            <a:off x="566928" y="768096"/>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춘천은 이미 초고령 도시입니다</a:t>
            </a:r>
            <a:endParaRPr lang="en-US" sz="3000" dirty="0"/>
          </a:p>
        </p:txBody>
      </p:sp>
      <p:sp>
        <p:nvSpPr>
          <p:cNvPr id="5" name="Shape 3"/>
          <p:cNvSpPr/>
          <p:nvPr/>
        </p:nvSpPr>
        <p:spPr>
          <a:xfrm>
            <a:off x="4279251" y="1792224"/>
            <a:ext cx="3429000" cy="1874520"/>
          </a:xfrm>
          <a:prstGeom prst="roundRect">
            <a:avLst>
              <a:gd name="adj" fmla="val 2927"/>
            </a:avLst>
          </a:prstGeom>
          <a:solidFill>
            <a:srgbClr val="F4F6FC"/>
          </a:solidFill>
          <a:ln w="12700">
            <a:solidFill>
              <a:srgbClr val="D4DAEE"/>
            </a:solidFill>
            <a:prstDash val="solid"/>
          </a:ln>
        </p:spPr>
        <p:txBody>
          <a:bodyPr/>
          <a:lstStyle/>
          <a:p>
            <a:endParaRPr lang="ko-KR" altLang="en-US"/>
          </a:p>
        </p:txBody>
      </p:sp>
      <p:sp>
        <p:nvSpPr>
          <p:cNvPr id="6" name="Text 4"/>
          <p:cNvSpPr/>
          <p:nvPr/>
        </p:nvSpPr>
        <p:spPr>
          <a:xfrm>
            <a:off x="4581981" y="1993392"/>
            <a:ext cx="2926080" cy="713232"/>
          </a:xfrm>
          <a:prstGeom prst="rect">
            <a:avLst/>
          </a:prstGeom>
          <a:noFill/>
          <a:ln/>
        </p:spPr>
        <p:txBody>
          <a:bodyPr wrap="square" lIns="0" tIns="0" rIns="0" bIns="0" rtlCol="0" anchor="ctr"/>
          <a:lstStyle/>
          <a:p>
            <a:pPr marL="0" indent="0">
              <a:buNone/>
            </a:pPr>
            <a:r>
              <a:rPr lang="en-US" sz="4400" b="1" dirty="0">
                <a:solidFill>
                  <a:srgbClr val="001871"/>
                </a:solidFill>
                <a:latin typeface="맑은 고딕" pitchFamily="34" charset="0"/>
                <a:ea typeface="맑은 고딕" pitchFamily="34" charset="-122"/>
                <a:cs typeface="맑은 고딕" pitchFamily="34" charset="-120"/>
              </a:rPr>
              <a:t>23.3%</a:t>
            </a:r>
            <a:endParaRPr lang="en-US" sz="4400" dirty="0"/>
          </a:p>
        </p:txBody>
      </p:sp>
      <p:sp>
        <p:nvSpPr>
          <p:cNvPr id="7" name="Text 5"/>
          <p:cNvSpPr/>
          <p:nvPr/>
        </p:nvSpPr>
        <p:spPr>
          <a:xfrm>
            <a:off x="4581981" y="2724912"/>
            <a:ext cx="2926080" cy="329184"/>
          </a:xfrm>
          <a:prstGeom prst="rect">
            <a:avLst/>
          </a:prstGeom>
          <a:noFill/>
          <a:ln/>
        </p:spPr>
        <p:txBody>
          <a:bodyPr wrap="square" lIns="0" tIns="0" rIns="0" bIns="0" rtlCol="0" anchor="ctr"/>
          <a:lstStyle/>
          <a:p>
            <a:pPr marL="0" indent="0">
              <a:buNone/>
            </a:pPr>
            <a:r>
              <a:rPr lang="en-US" sz="1400" b="1" dirty="0">
                <a:solidFill>
                  <a:srgbClr val="141B33"/>
                </a:solidFill>
                <a:latin typeface="맑은 고딕" pitchFamily="34" charset="0"/>
                <a:ea typeface="맑은 고딕" pitchFamily="34" charset="-122"/>
                <a:cs typeface="맑은 고딕" pitchFamily="34" charset="-120"/>
              </a:rPr>
              <a:t>2026</a:t>
            </a:r>
            <a:r>
              <a:rPr lang="ko-KR" altLang="en-US" sz="1400" b="1" dirty="0">
                <a:solidFill>
                  <a:srgbClr val="141B33"/>
                </a:solidFill>
                <a:latin typeface="맑은 고딕" pitchFamily="34" charset="0"/>
                <a:ea typeface="맑은 고딕" pitchFamily="34" charset="-122"/>
                <a:cs typeface="맑은 고딕" pitchFamily="34" charset="-120"/>
              </a:rPr>
              <a:t>년 기준</a:t>
            </a:r>
            <a:r>
              <a:rPr lang="en-US" altLang="ko-KR" sz="1400" b="1" dirty="0">
                <a:solidFill>
                  <a:srgbClr val="141B33"/>
                </a:solidFill>
                <a:latin typeface="맑은 고딕" pitchFamily="34" charset="0"/>
                <a:ea typeface="맑은 고딕" pitchFamily="34" charset="-122"/>
                <a:cs typeface="맑은 고딕" pitchFamily="34" charset="-120"/>
              </a:rPr>
              <a:t>,</a:t>
            </a:r>
          </a:p>
          <a:p>
            <a:pPr marL="0" indent="0">
              <a:buNone/>
            </a:pPr>
            <a:r>
              <a:rPr lang="en-US" sz="1400" b="1" dirty="0" err="1">
                <a:solidFill>
                  <a:srgbClr val="141B33"/>
                </a:solidFill>
                <a:latin typeface="맑은 고딕" pitchFamily="34" charset="0"/>
                <a:ea typeface="맑은 고딕" pitchFamily="34" charset="-122"/>
                <a:cs typeface="맑은 고딕" pitchFamily="34" charset="-120"/>
              </a:rPr>
              <a:t>춘천시</a:t>
            </a:r>
            <a:r>
              <a:rPr lang="en-US" sz="1400" b="1" dirty="0">
                <a:solidFill>
                  <a:srgbClr val="141B33"/>
                </a:solidFill>
                <a:latin typeface="맑은 고딕" pitchFamily="34" charset="0"/>
                <a:ea typeface="맑은 고딕" pitchFamily="34" charset="-122"/>
                <a:cs typeface="맑은 고딕" pitchFamily="34" charset="-120"/>
              </a:rPr>
              <a:t> 65세 이상 </a:t>
            </a:r>
            <a:r>
              <a:rPr lang="en-US" sz="1400" b="1" dirty="0" err="1">
                <a:solidFill>
                  <a:srgbClr val="141B33"/>
                </a:solidFill>
                <a:latin typeface="맑은 고딕" pitchFamily="34" charset="0"/>
                <a:ea typeface="맑은 고딕" pitchFamily="34" charset="-122"/>
                <a:cs typeface="맑은 고딕" pitchFamily="34" charset="-120"/>
              </a:rPr>
              <a:t>인구</a:t>
            </a:r>
            <a:r>
              <a:rPr lang="en-US" sz="1400" b="1" dirty="0">
                <a:solidFill>
                  <a:srgbClr val="141B33"/>
                </a:solidFill>
                <a:latin typeface="맑은 고딕" pitchFamily="34" charset="0"/>
                <a:ea typeface="맑은 고딕" pitchFamily="34" charset="-122"/>
                <a:cs typeface="맑은 고딕" pitchFamily="34" charset="-120"/>
              </a:rPr>
              <a:t> 66,500</a:t>
            </a:r>
            <a:r>
              <a:rPr lang="ko-KR" altLang="en-US" sz="1400" b="1" dirty="0">
                <a:solidFill>
                  <a:srgbClr val="141B33"/>
                </a:solidFill>
                <a:latin typeface="맑은 고딕" pitchFamily="34" charset="0"/>
                <a:ea typeface="맑은 고딕" pitchFamily="34" charset="-122"/>
                <a:cs typeface="맑은 고딕" pitchFamily="34" charset="-120"/>
              </a:rPr>
              <a:t>명</a:t>
            </a:r>
            <a:endParaRPr lang="en-US" sz="1400" dirty="0"/>
          </a:p>
        </p:txBody>
      </p:sp>
      <p:sp>
        <p:nvSpPr>
          <p:cNvPr id="13" name="Shape 11"/>
          <p:cNvSpPr/>
          <p:nvPr/>
        </p:nvSpPr>
        <p:spPr>
          <a:xfrm>
            <a:off x="7973568" y="1792224"/>
            <a:ext cx="3429000" cy="1874520"/>
          </a:xfrm>
          <a:prstGeom prst="roundRect">
            <a:avLst>
              <a:gd name="adj" fmla="val 2927"/>
            </a:avLst>
          </a:prstGeom>
          <a:solidFill>
            <a:srgbClr val="FCEEE0"/>
          </a:solidFill>
          <a:ln w="12700">
            <a:solidFill>
              <a:srgbClr val="F2C99E"/>
            </a:solidFill>
            <a:prstDash val="solid"/>
          </a:ln>
        </p:spPr>
        <p:txBody>
          <a:bodyPr/>
          <a:lstStyle/>
          <a:p>
            <a:endParaRPr lang="ko-KR" altLang="en-US" dirty="0"/>
          </a:p>
        </p:txBody>
      </p:sp>
      <p:sp>
        <p:nvSpPr>
          <p:cNvPr id="17" name="Shape 15"/>
          <p:cNvSpPr/>
          <p:nvPr/>
        </p:nvSpPr>
        <p:spPr>
          <a:xfrm>
            <a:off x="566928" y="3950208"/>
            <a:ext cx="11064240" cy="1444752"/>
          </a:xfrm>
          <a:prstGeom prst="roundRect">
            <a:avLst>
              <a:gd name="adj" fmla="val 3797"/>
            </a:avLst>
          </a:prstGeom>
          <a:solidFill>
            <a:srgbClr val="001871"/>
          </a:solidFill>
          <a:ln w="12700">
            <a:solidFill>
              <a:srgbClr val="001871"/>
            </a:solidFill>
            <a:prstDash val="solid"/>
          </a:ln>
        </p:spPr>
        <p:txBody>
          <a:bodyPr/>
          <a:lstStyle/>
          <a:p>
            <a:endParaRPr lang="ko-KR" altLang="en-US"/>
          </a:p>
        </p:txBody>
      </p:sp>
      <p:sp>
        <p:nvSpPr>
          <p:cNvPr id="18" name="Text 16"/>
          <p:cNvSpPr/>
          <p:nvPr/>
        </p:nvSpPr>
        <p:spPr>
          <a:xfrm>
            <a:off x="950976" y="4133088"/>
            <a:ext cx="10332720" cy="384048"/>
          </a:xfrm>
          <a:prstGeom prst="rect">
            <a:avLst/>
          </a:prstGeom>
          <a:noFill/>
          <a:ln/>
        </p:spPr>
        <p:txBody>
          <a:bodyPr wrap="square" lIns="0" tIns="0" rIns="0" bIns="0" rtlCol="0" anchor="ctr"/>
          <a:lstStyle/>
          <a:p>
            <a:pPr marL="0" indent="0">
              <a:buNone/>
            </a:pPr>
            <a:r>
              <a:rPr lang="ko-KR" altLang="en-US" sz="1900" b="1" dirty="0">
                <a:solidFill>
                  <a:srgbClr val="FFFFFF"/>
                </a:solidFill>
                <a:latin typeface="맑은 고딕" pitchFamily="34" charset="0"/>
                <a:ea typeface="맑은 고딕" pitchFamily="34" charset="-122"/>
                <a:cs typeface="맑은 고딕" pitchFamily="34" charset="-120"/>
              </a:rPr>
              <a:t>폭염에 노출된 고령자들</a:t>
            </a:r>
            <a:endParaRPr lang="en-US" sz="1900" dirty="0"/>
          </a:p>
        </p:txBody>
      </p:sp>
      <p:sp>
        <p:nvSpPr>
          <p:cNvPr id="19" name="Text 17"/>
          <p:cNvSpPr/>
          <p:nvPr/>
        </p:nvSpPr>
        <p:spPr>
          <a:xfrm>
            <a:off x="950976" y="4553712"/>
            <a:ext cx="10332720" cy="731520"/>
          </a:xfrm>
          <a:prstGeom prst="rect">
            <a:avLst/>
          </a:prstGeom>
          <a:noFill/>
          <a:ln/>
        </p:spPr>
        <p:txBody>
          <a:bodyPr wrap="square" lIns="0" tIns="0" rIns="0" bIns="0" rtlCol="0" anchor="t"/>
          <a:lstStyle/>
          <a:p>
            <a:pPr marL="0" indent="0">
              <a:lnSpc>
                <a:spcPts val="2000"/>
              </a:lnSpc>
              <a:buNone/>
            </a:pPr>
            <a:r>
              <a:rPr lang="en-US" sz="1250" dirty="0" err="1">
                <a:solidFill>
                  <a:srgbClr val="A6B3E6"/>
                </a:solidFill>
                <a:latin typeface="맑은 고딕" pitchFamily="34" charset="0"/>
                <a:ea typeface="맑은 고딕" pitchFamily="34" charset="-122"/>
                <a:cs typeface="맑은 고딕" pitchFamily="34" charset="-120"/>
              </a:rPr>
              <a:t>폭염</a:t>
            </a:r>
            <a:r>
              <a:rPr lang="en-US" sz="1250" dirty="0">
                <a:solidFill>
                  <a:srgbClr val="A6B3E6"/>
                </a:solidFill>
                <a:latin typeface="맑은 고딕" pitchFamily="34" charset="0"/>
                <a:ea typeface="맑은 고딕" pitchFamily="34" charset="-122"/>
                <a:cs typeface="맑은 고딕" pitchFamily="34" charset="-120"/>
              </a:rPr>
              <a:t> 특보 속에서 10분 넘게 뙤약볕에 서 있는 일은, 고령자에게 온열질환으로 이어질 수 있는 문제입니다.</a:t>
            </a:r>
            <a:endParaRPr lang="en-US" sz="1250" dirty="0"/>
          </a:p>
        </p:txBody>
      </p:sp>
      <p:sp>
        <p:nvSpPr>
          <p:cNvPr id="20" name="Text 18"/>
          <p:cNvSpPr/>
          <p:nvPr/>
        </p:nvSpPr>
        <p:spPr>
          <a:xfrm>
            <a:off x="566928" y="5541264"/>
            <a:ext cx="11064240" cy="274320"/>
          </a:xfrm>
          <a:prstGeom prst="rect">
            <a:avLst/>
          </a:prstGeom>
          <a:noFill/>
          <a:ln/>
        </p:spPr>
        <p:txBody>
          <a:bodyPr wrap="square" lIns="0" tIns="0" rIns="0" bIns="0" rtlCol="0" anchor="ctr"/>
          <a:lstStyle/>
          <a:p>
            <a:pPr marL="0" indent="0">
              <a:buNone/>
            </a:pPr>
            <a:r>
              <a:rPr lang="en-US" sz="950" dirty="0" err="1">
                <a:solidFill>
                  <a:srgbClr val="98A0BA"/>
                </a:solidFill>
                <a:latin typeface="맑은 고딕" pitchFamily="34" charset="0"/>
                <a:ea typeface="맑은 고딕" pitchFamily="34" charset="-122"/>
                <a:cs typeface="맑은 고딕" pitchFamily="34" charset="-120"/>
              </a:rPr>
              <a:t>출처</a:t>
            </a:r>
            <a:r>
              <a:rPr lang="en-US" sz="950" dirty="0">
                <a:solidFill>
                  <a:srgbClr val="98A0BA"/>
                </a:solidFill>
                <a:latin typeface="맑은 고딕" pitchFamily="34" charset="0"/>
                <a:ea typeface="맑은 고딕" pitchFamily="34" charset="-122"/>
                <a:cs typeface="맑은 고딕" pitchFamily="34" charset="-120"/>
              </a:rPr>
              <a:t> : </a:t>
            </a:r>
            <a:r>
              <a:rPr lang="ko-KR" altLang="en-US" sz="950" dirty="0">
                <a:solidFill>
                  <a:srgbClr val="98A0BA"/>
                </a:solidFill>
                <a:latin typeface="맑은 고딕" pitchFamily="34" charset="0"/>
                <a:ea typeface="맑은 고딕" pitchFamily="34" charset="-122"/>
                <a:cs typeface="맑은 고딕" pitchFamily="34" charset="-120"/>
              </a:rPr>
              <a:t>춘천시 </a:t>
            </a:r>
            <a:r>
              <a:rPr lang="en-US" altLang="ko-KR" sz="950" dirty="0">
                <a:solidFill>
                  <a:srgbClr val="98A0BA"/>
                </a:solidFill>
                <a:latin typeface="맑은 고딕" pitchFamily="34" charset="0"/>
                <a:ea typeface="맑은 고딕" pitchFamily="34" charset="-122"/>
                <a:cs typeface="맑은 고딕" pitchFamily="34" charset="-120"/>
              </a:rPr>
              <a:t>2026</a:t>
            </a:r>
            <a:r>
              <a:rPr lang="ko-KR" altLang="en-US" sz="950" dirty="0">
                <a:solidFill>
                  <a:srgbClr val="98A0BA"/>
                </a:solidFill>
                <a:latin typeface="맑은 고딕" pitchFamily="34" charset="0"/>
                <a:ea typeface="맑은 고딕" pitchFamily="34" charset="-122"/>
                <a:cs typeface="맑은 고딕" pitchFamily="34" charset="-120"/>
              </a:rPr>
              <a:t>년 </a:t>
            </a:r>
            <a:r>
              <a:rPr lang="en-US" altLang="ko-KR" sz="950" dirty="0">
                <a:solidFill>
                  <a:srgbClr val="98A0BA"/>
                </a:solidFill>
                <a:latin typeface="맑은 고딕" pitchFamily="34" charset="0"/>
                <a:ea typeface="맑은 고딕" pitchFamily="34" charset="-122"/>
                <a:cs typeface="맑은 고딕" pitchFamily="34" charset="-120"/>
              </a:rPr>
              <a:t>6</a:t>
            </a:r>
            <a:r>
              <a:rPr lang="ko-KR" altLang="en-US" sz="950" dirty="0">
                <a:solidFill>
                  <a:srgbClr val="98A0BA"/>
                </a:solidFill>
                <a:latin typeface="맑은 고딕" pitchFamily="34" charset="0"/>
                <a:ea typeface="맑은 고딕" pitchFamily="34" charset="-122"/>
                <a:cs typeface="맑은 고딕" pitchFamily="34" charset="-120"/>
              </a:rPr>
              <a:t>월 인구통계</a:t>
            </a:r>
            <a:r>
              <a:rPr lang="en-US" altLang="ko-KR" sz="950" dirty="0">
                <a:solidFill>
                  <a:srgbClr val="98A0BA"/>
                </a:solidFill>
                <a:latin typeface="맑은 고딕" pitchFamily="34" charset="0"/>
                <a:ea typeface="맑은 고딕" pitchFamily="34" charset="-122"/>
                <a:cs typeface="맑은 고딕" pitchFamily="34" charset="-120"/>
              </a:rPr>
              <a:t>(</a:t>
            </a:r>
            <a:r>
              <a:rPr lang="ko-KR" altLang="en-US" sz="950" dirty="0">
                <a:solidFill>
                  <a:srgbClr val="98A0BA"/>
                </a:solidFill>
                <a:latin typeface="맑은 고딕" pitchFamily="34" charset="0"/>
                <a:ea typeface="맑은 고딕" pitchFamily="34" charset="-122"/>
                <a:cs typeface="맑은 고딕" pitchFamily="34" charset="-120"/>
              </a:rPr>
              <a:t>연령별</a:t>
            </a:r>
            <a:r>
              <a:rPr lang="en-US" altLang="ko-KR" sz="950" dirty="0">
                <a:solidFill>
                  <a:srgbClr val="98A0BA"/>
                </a:solidFill>
                <a:latin typeface="맑은 고딕" pitchFamily="34" charset="0"/>
                <a:ea typeface="맑은 고딕" pitchFamily="34" charset="-122"/>
                <a:cs typeface="맑은 고딕" pitchFamily="34" charset="-120"/>
              </a:rPr>
              <a:t>)</a:t>
            </a:r>
            <a:r>
              <a:rPr lang="en-US" sz="950" dirty="0">
                <a:solidFill>
                  <a:srgbClr val="98A0BA"/>
                </a:solidFill>
                <a:latin typeface="맑은 고딕" pitchFamily="34" charset="0"/>
                <a:ea typeface="맑은 고딕" pitchFamily="34" charset="-122"/>
                <a:cs typeface="맑은 고딕" pitchFamily="34" charset="-120"/>
              </a:rPr>
              <a:t>, </a:t>
            </a:r>
            <a:r>
              <a:rPr lang="ko-KR" altLang="en-US" sz="950" dirty="0">
                <a:solidFill>
                  <a:srgbClr val="98A0BA"/>
                </a:solidFill>
                <a:latin typeface="맑은 고딕" pitchFamily="34" charset="0"/>
                <a:ea typeface="맑은 고딕" pitchFamily="34" charset="-122"/>
                <a:cs typeface="맑은 고딕" pitchFamily="34" charset="-120"/>
              </a:rPr>
              <a:t>강원일보 </a:t>
            </a:r>
            <a:r>
              <a:rPr lang="en-US" altLang="ko-KR" sz="950" dirty="0">
                <a:solidFill>
                  <a:srgbClr val="98A0BA"/>
                </a:solidFill>
                <a:latin typeface="맑은 고딕" pitchFamily="34" charset="0"/>
                <a:ea typeface="맑은 고딕" pitchFamily="34" charset="-122"/>
                <a:cs typeface="맑은 고딕" pitchFamily="34" charset="-120"/>
              </a:rPr>
              <a:t>2025-02-25 </a:t>
            </a:r>
            <a:r>
              <a:rPr lang="ko-KR" altLang="en-US" sz="950" dirty="0">
                <a:solidFill>
                  <a:srgbClr val="98A0BA"/>
                </a:solidFill>
                <a:latin typeface="맑은 고딕" pitchFamily="34" charset="0"/>
                <a:ea typeface="맑은 고딕" pitchFamily="34" charset="-122"/>
                <a:cs typeface="맑은 고딕" pitchFamily="34" charset="-120"/>
              </a:rPr>
              <a:t>「초고령사회 진입한 춘천시 </a:t>
            </a:r>
            <a:r>
              <a:rPr lang="en-US" altLang="ko-KR" sz="950" dirty="0">
                <a:solidFill>
                  <a:srgbClr val="98A0BA"/>
                </a:solidFill>
                <a:latin typeface="맑은 고딕" pitchFamily="34" charset="0"/>
                <a:ea typeface="맑은 고딕" pitchFamily="34" charset="-122"/>
                <a:cs typeface="맑은 고딕" pitchFamily="34" charset="-120"/>
              </a:rPr>
              <a:t>2,545</a:t>
            </a:r>
            <a:r>
              <a:rPr lang="ko-KR" altLang="en-US" sz="950" dirty="0">
                <a:solidFill>
                  <a:srgbClr val="98A0BA"/>
                </a:solidFill>
                <a:latin typeface="맑은 고딕" pitchFamily="34" charset="0"/>
                <a:ea typeface="맑은 고딕" pitchFamily="34" charset="-122"/>
                <a:cs typeface="맑은 고딕" pitchFamily="34" charset="-120"/>
              </a:rPr>
              <a:t>억원 투입 노인복지정책 편다」</a:t>
            </a:r>
            <a:r>
              <a:rPr lang="en-US" altLang="ko-KR" sz="950" dirty="0">
                <a:solidFill>
                  <a:srgbClr val="98A0BA"/>
                </a:solidFill>
                <a:latin typeface="맑은 고딕" pitchFamily="34" charset="0"/>
                <a:ea typeface="맑은 고딕" pitchFamily="34" charset="-122"/>
                <a:cs typeface="맑은 고딕" pitchFamily="34" charset="-120"/>
              </a:rPr>
              <a:t>, </a:t>
            </a:r>
            <a:r>
              <a:rPr lang="ko-KR" altLang="en-US" sz="950" dirty="0">
                <a:solidFill>
                  <a:srgbClr val="98A0BA"/>
                </a:solidFill>
                <a:latin typeface="맑은 고딕" pitchFamily="34" charset="0"/>
                <a:ea typeface="맑은 고딕" pitchFamily="34" charset="-122"/>
                <a:cs typeface="맑은 고딕" pitchFamily="34" charset="-120"/>
              </a:rPr>
              <a:t>춘천시 온열질환자 발생 통계</a:t>
            </a:r>
            <a:r>
              <a:rPr lang="en-US" altLang="ko-KR" sz="950" dirty="0">
                <a:solidFill>
                  <a:srgbClr val="98A0BA"/>
                </a:solidFill>
                <a:latin typeface="맑은 고딕" pitchFamily="34" charset="0"/>
                <a:ea typeface="맑은 고딕" pitchFamily="34" charset="-122"/>
                <a:cs typeface="맑은 고딕" pitchFamily="34" charset="-120"/>
              </a:rPr>
              <a:t> </a:t>
            </a:r>
            <a:endParaRPr lang="en-US" sz="950" dirty="0"/>
          </a:p>
        </p:txBody>
      </p:sp>
      <p:sp>
        <p:nvSpPr>
          <p:cNvPr id="22" name="Text 19"/>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23" name="Text 20"/>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3</a:t>
            </a:r>
            <a:endParaRPr lang="en-US" sz="900" dirty="0"/>
          </a:p>
        </p:txBody>
      </p:sp>
      <p:sp>
        <p:nvSpPr>
          <p:cNvPr id="26" name="Text 12">
            <a:extLst>
              <a:ext uri="{FF2B5EF4-FFF2-40B4-BE49-F238E27FC236}">
                <a16:creationId xmlns:a16="http://schemas.microsoft.com/office/drawing/2014/main" id="{B9E646E7-171D-6400-0C71-21FC6889D4C2}"/>
              </a:ext>
            </a:extLst>
          </p:cNvPr>
          <p:cNvSpPr/>
          <p:nvPr/>
        </p:nvSpPr>
        <p:spPr>
          <a:xfrm>
            <a:off x="8247888" y="1993392"/>
            <a:ext cx="2926080" cy="713232"/>
          </a:xfrm>
          <a:prstGeom prst="rect">
            <a:avLst/>
          </a:prstGeom>
          <a:noFill/>
          <a:ln/>
        </p:spPr>
        <p:txBody>
          <a:bodyPr wrap="square" lIns="0" tIns="0" rIns="0" bIns="0" rtlCol="0" anchor="ctr"/>
          <a:lstStyle/>
          <a:p>
            <a:pPr marL="0" indent="0">
              <a:buNone/>
            </a:pPr>
            <a:endParaRPr lang="en-US" sz="4400" dirty="0"/>
          </a:p>
        </p:txBody>
      </p:sp>
      <p:sp>
        <p:nvSpPr>
          <p:cNvPr id="28" name="Text 12">
            <a:extLst>
              <a:ext uri="{FF2B5EF4-FFF2-40B4-BE49-F238E27FC236}">
                <a16:creationId xmlns:a16="http://schemas.microsoft.com/office/drawing/2014/main" id="{B3D85475-BD7F-CDB6-7FAE-3F9FF5795A62}"/>
              </a:ext>
            </a:extLst>
          </p:cNvPr>
          <p:cNvSpPr/>
          <p:nvPr/>
        </p:nvSpPr>
        <p:spPr>
          <a:xfrm>
            <a:off x="8225028" y="1993392"/>
            <a:ext cx="2926080" cy="713232"/>
          </a:xfrm>
          <a:prstGeom prst="rect">
            <a:avLst/>
          </a:prstGeom>
          <a:noFill/>
          <a:ln/>
        </p:spPr>
        <p:txBody>
          <a:bodyPr wrap="square" lIns="0" tIns="0" rIns="0" bIns="0" rtlCol="0" anchor="ctr"/>
          <a:lstStyle/>
          <a:p>
            <a:pPr marL="0" indent="0">
              <a:buNone/>
            </a:pPr>
            <a:r>
              <a:rPr lang="ko-KR" altLang="en-US" sz="4400" b="1" dirty="0">
                <a:solidFill>
                  <a:srgbClr val="E8751A"/>
                </a:solidFill>
                <a:latin typeface="맑은 고딕" pitchFamily="34" charset="0"/>
                <a:ea typeface="맑은 고딕" pitchFamily="34" charset="-122"/>
              </a:rPr>
              <a:t>근 </a:t>
            </a:r>
            <a:r>
              <a:rPr lang="en-US" altLang="ko-KR" sz="4400" b="1" dirty="0">
                <a:solidFill>
                  <a:srgbClr val="E8751A"/>
                </a:solidFill>
                <a:latin typeface="맑은 고딕" pitchFamily="34" charset="0"/>
                <a:ea typeface="맑은 고딕" pitchFamily="34" charset="-122"/>
              </a:rPr>
              <a:t>3</a:t>
            </a:r>
            <a:r>
              <a:rPr lang="ko-KR" altLang="en-US" sz="4400" b="1" dirty="0">
                <a:solidFill>
                  <a:srgbClr val="E8751A"/>
                </a:solidFill>
                <a:latin typeface="맑은 고딕" pitchFamily="34" charset="0"/>
                <a:ea typeface="맑은 고딕" pitchFamily="34" charset="-122"/>
              </a:rPr>
              <a:t>년간↑</a:t>
            </a:r>
            <a:endParaRPr lang="en-US" sz="4400" dirty="0"/>
          </a:p>
        </p:txBody>
      </p:sp>
      <p:sp>
        <p:nvSpPr>
          <p:cNvPr id="30" name="Text 13">
            <a:extLst>
              <a:ext uri="{FF2B5EF4-FFF2-40B4-BE49-F238E27FC236}">
                <a16:creationId xmlns:a16="http://schemas.microsoft.com/office/drawing/2014/main" id="{A45D8D32-1125-0AE3-7626-27396122761A}"/>
              </a:ext>
            </a:extLst>
          </p:cNvPr>
          <p:cNvSpPr/>
          <p:nvPr/>
        </p:nvSpPr>
        <p:spPr>
          <a:xfrm>
            <a:off x="8247888" y="2724912"/>
            <a:ext cx="2926080" cy="329184"/>
          </a:xfrm>
          <a:prstGeom prst="rect">
            <a:avLst/>
          </a:prstGeom>
          <a:noFill/>
          <a:ln/>
        </p:spPr>
        <p:txBody>
          <a:bodyPr wrap="square" lIns="0" tIns="0" rIns="0" bIns="0" rtlCol="0" anchor="ctr"/>
          <a:lstStyle/>
          <a:p>
            <a:pPr marL="0" indent="0">
              <a:buNone/>
            </a:pPr>
            <a:r>
              <a:rPr lang="ko-KR" altLang="en-US" sz="1400" b="1" dirty="0">
                <a:solidFill>
                  <a:srgbClr val="15202B"/>
                </a:solidFill>
                <a:latin typeface="맑은 고딕" pitchFamily="34" charset="0"/>
                <a:ea typeface="맑은 고딕" pitchFamily="34" charset="-122"/>
                <a:cs typeface="맑은 고딕" pitchFamily="34" charset="-120"/>
              </a:rPr>
              <a:t>춘천시 온열질환자 매년 증가 추세</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01 </a:t>
            </a:r>
            <a:r>
              <a:rPr lang="ko-KR" altLang="en-US" sz="1200" b="1" kern="0" spc="140" dirty="0">
                <a:solidFill>
                  <a:srgbClr val="001871"/>
                </a:solidFill>
                <a:latin typeface="맑은 고딕" pitchFamily="34" charset="0"/>
                <a:ea typeface="맑은 고딕" pitchFamily="34" charset="-122"/>
                <a:cs typeface="맑은 고딕" pitchFamily="34" charset="-120"/>
              </a:rPr>
              <a:t>문제 정의 및 해결방안 제시</a:t>
            </a:r>
            <a:r>
              <a:rPr lang="en-US" altLang="ko-KR" sz="1200" b="1" kern="0" spc="140" dirty="0">
                <a:solidFill>
                  <a:srgbClr val="001871"/>
                </a:solidFill>
                <a:latin typeface="맑은 고딕" pitchFamily="34" charset="0"/>
                <a:ea typeface="맑은 고딕" pitchFamily="34" charset="-122"/>
                <a:cs typeface="맑은 고딕" pitchFamily="34" charset="-120"/>
              </a:rPr>
              <a:t> </a:t>
            </a:r>
            <a:endParaRPr lang="en-US" altLang="ko-KR" sz="1200" dirty="0"/>
          </a:p>
        </p:txBody>
      </p:sp>
      <p:sp>
        <p:nvSpPr>
          <p:cNvPr id="3" name="Text 1"/>
          <p:cNvSpPr/>
          <p:nvPr/>
        </p:nvSpPr>
        <p:spPr>
          <a:xfrm>
            <a:off x="566928" y="77724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그런데 춘천 정류장 10곳 중 6곳은 지붕조차 없습니다</a:t>
            </a:r>
            <a:endParaRPr lang="en-US" sz="3000" dirty="0"/>
          </a:p>
        </p:txBody>
      </p:sp>
      <p:graphicFrame>
        <p:nvGraphicFramePr>
          <p:cNvPr id="4" name="Chart 0"/>
          <p:cNvGraphicFramePr/>
          <p:nvPr/>
        </p:nvGraphicFramePr>
        <p:xfrm>
          <a:off x="274320" y="1572768"/>
          <a:ext cx="448056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1572768" y="2788920"/>
            <a:ext cx="1920240" cy="914400"/>
          </a:xfrm>
          <a:prstGeom prst="rect">
            <a:avLst/>
          </a:prstGeom>
          <a:noFill/>
          <a:ln/>
        </p:spPr>
        <p:txBody>
          <a:bodyPr wrap="square" lIns="0" tIns="0" rIns="0" bIns="0" rtlCol="0" anchor="ctr"/>
          <a:lstStyle/>
          <a:p>
            <a:pPr marL="0" indent="0" algn="ctr">
              <a:lnSpc>
                <a:spcPts val="2200"/>
              </a:lnSpc>
              <a:buNone/>
            </a:pPr>
            <a:r>
              <a:rPr lang="en-US" sz="3400" b="1" dirty="0">
                <a:solidFill>
                  <a:srgbClr val="E8751A"/>
                </a:solidFill>
                <a:latin typeface="맑은 고딕" pitchFamily="34" charset="0"/>
                <a:ea typeface="맑은 고딕" pitchFamily="34" charset="-122"/>
                <a:cs typeface="맑은 고딕" pitchFamily="34" charset="-120"/>
              </a:rPr>
              <a:t>63.5%</a:t>
            </a:r>
            <a:endParaRPr lang="en-US" sz="3400" dirty="0"/>
          </a:p>
          <a:p>
            <a:pPr marL="0" indent="0" algn="ctr">
              <a:lnSpc>
                <a:spcPts val="2200"/>
              </a:lnSpc>
              <a:buNone/>
            </a:pPr>
            <a:r>
              <a:rPr lang="en-US" sz="1100" dirty="0">
                <a:solidFill>
                  <a:srgbClr val="6E7796"/>
                </a:solidFill>
                <a:latin typeface="맑은 고딕" pitchFamily="34" charset="0"/>
                <a:ea typeface="맑은 고딕" pitchFamily="34" charset="-122"/>
                <a:cs typeface="맑은 고딕" pitchFamily="34" charset="-120"/>
              </a:rPr>
              <a:t>1,200곳 / 1,890곳</a:t>
            </a:r>
            <a:endParaRPr lang="en-US" sz="3400" dirty="0"/>
          </a:p>
        </p:txBody>
      </p:sp>
      <p:sp>
        <p:nvSpPr>
          <p:cNvPr id="6" name="Shape 3"/>
          <p:cNvSpPr/>
          <p:nvPr/>
        </p:nvSpPr>
        <p:spPr>
          <a:xfrm>
            <a:off x="5029200" y="1700784"/>
            <a:ext cx="6601968" cy="1042416"/>
          </a:xfrm>
          <a:prstGeom prst="roundRect">
            <a:avLst>
              <a:gd name="adj" fmla="val 5263"/>
            </a:avLst>
          </a:prstGeom>
          <a:solidFill>
            <a:srgbClr val="FFFFFF"/>
          </a:solidFill>
          <a:ln w="12700">
            <a:solidFill>
              <a:srgbClr val="D4DAEE"/>
            </a:solidFill>
            <a:prstDash val="solid"/>
          </a:ln>
        </p:spPr>
        <p:txBody>
          <a:bodyPr/>
          <a:lstStyle/>
          <a:p>
            <a:endParaRPr lang="ko-KR" altLang="en-US"/>
          </a:p>
        </p:txBody>
      </p:sp>
      <p:sp>
        <p:nvSpPr>
          <p:cNvPr id="7" name="Shape 4"/>
          <p:cNvSpPr/>
          <p:nvPr/>
        </p:nvSpPr>
        <p:spPr>
          <a:xfrm>
            <a:off x="5029200" y="1700784"/>
            <a:ext cx="82296" cy="1042416"/>
          </a:xfrm>
          <a:prstGeom prst="roundRect">
            <a:avLst>
              <a:gd name="adj" fmla="val 555556"/>
            </a:avLst>
          </a:prstGeom>
          <a:solidFill>
            <a:srgbClr val="E8751A"/>
          </a:solidFill>
          <a:ln w="12700">
            <a:solidFill>
              <a:srgbClr val="E8751A"/>
            </a:solidFill>
            <a:prstDash val="solid"/>
          </a:ln>
        </p:spPr>
        <p:txBody>
          <a:bodyPr/>
          <a:lstStyle/>
          <a:p>
            <a:endParaRPr lang="ko-KR" altLang="en-US"/>
          </a:p>
        </p:txBody>
      </p:sp>
      <p:sp>
        <p:nvSpPr>
          <p:cNvPr id="8" name="Text 5"/>
          <p:cNvSpPr/>
          <p:nvPr/>
        </p:nvSpPr>
        <p:spPr>
          <a:xfrm>
            <a:off x="5285232" y="1837944"/>
            <a:ext cx="6217920" cy="310896"/>
          </a:xfrm>
          <a:prstGeom prst="rect">
            <a:avLst/>
          </a:prstGeom>
          <a:noFill/>
          <a:ln/>
        </p:spPr>
        <p:txBody>
          <a:bodyPr wrap="square" lIns="0" tIns="0" rIns="0" bIns="0" rtlCol="0" anchor="ctr"/>
          <a:lstStyle/>
          <a:p>
            <a:pPr marL="0" indent="0">
              <a:buNone/>
            </a:pPr>
            <a:r>
              <a:rPr lang="en-US" sz="1500" b="1" dirty="0">
                <a:solidFill>
                  <a:srgbClr val="141B33"/>
                </a:solidFill>
                <a:latin typeface="맑은 고딕" pitchFamily="34" charset="0"/>
                <a:ea typeface="맑은 고딕" pitchFamily="34" charset="-122"/>
                <a:cs typeface="맑은 고딕" pitchFamily="34" charset="-120"/>
              </a:rPr>
              <a:t>표지판형 1,200곳</a:t>
            </a:r>
            <a:endParaRPr lang="en-US" sz="1500" dirty="0"/>
          </a:p>
        </p:txBody>
      </p:sp>
      <p:sp>
        <p:nvSpPr>
          <p:cNvPr id="9" name="Text 6"/>
          <p:cNvSpPr/>
          <p:nvPr/>
        </p:nvSpPr>
        <p:spPr>
          <a:xfrm>
            <a:off x="5285232" y="2157984"/>
            <a:ext cx="6217920" cy="475488"/>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기둥에 노선표만 붙어 있는 정류장. 그늘도, </a:t>
            </a:r>
            <a:r>
              <a:rPr lang="en-US" sz="1150" dirty="0" err="1">
                <a:solidFill>
                  <a:srgbClr val="39415E"/>
                </a:solidFill>
                <a:latin typeface="맑은 고딕" pitchFamily="34" charset="0"/>
                <a:ea typeface="맑은 고딕" pitchFamily="34" charset="-122"/>
                <a:cs typeface="맑은 고딕" pitchFamily="34" charset="-120"/>
              </a:rPr>
              <a:t>의자도</a:t>
            </a:r>
            <a:r>
              <a:rPr lang="en-US" sz="1150" dirty="0">
                <a:solidFill>
                  <a:srgbClr val="39415E"/>
                </a:solidFill>
                <a:latin typeface="맑은 고딕" pitchFamily="34" charset="0"/>
                <a:ea typeface="맑은 고딕" pitchFamily="34" charset="-122"/>
                <a:cs typeface="맑은 고딕" pitchFamily="34" charset="-120"/>
              </a:rPr>
              <a:t> </a:t>
            </a:r>
            <a:r>
              <a:rPr lang="en-US" sz="1150" dirty="0" err="1">
                <a:solidFill>
                  <a:srgbClr val="39415E"/>
                </a:solidFill>
                <a:latin typeface="맑은 고딕" pitchFamily="34" charset="0"/>
                <a:ea typeface="맑은 고딕" pitchFamily="34" charset="-122"/>
                <a:cs typeface="맑은 고딕" pitchFamily="34" charset="-120"/>
              </a:rPr>
              <a:t>없습니다</a:t>
            </a:r>
            <a:r>
              <a:rPr lang="en-US" sz="1150" dirty="0">
                <a:solidFill>
                  <a:srgbClr val="39415E"/>
                </a:solidFill>
                <a:latin typeface="맑은 고딕" pitchFamily="34" charset="0"/>
                <a:ea typeface="맑은 고딕" pitchFamily="34" charset="-122"/>
                <a:cs typeface="맑은 고딕" pitchFamily="34" charset="-120"/>
              </a:rPr>
              <a:t>.</a:t>
            </a:r>
            <a:endParaRPr lang="en-US" sz="1150" dirty="0"/>
          </a:p>
        </p:txBody>
      </p:sp>
      <p:sp>
        <p:nvSpPr>
          <p:cNvPr id="10" name="Shape 7"/>
          <p:cNvSpPr/>
          <p:nvPr/>
        </p:nvSpPr>
        <p:spPr>
          <a:xfrm>
            <a:off x="5029200" y="2898648"/>
            <a:ext cx="6601968" cy="1042416"/>
          </a:xfrm>
          <a:prstGeom prst="roundRect">
            <a:avLst>
              <a:gd name="adj" fmla="val 5263"/>
            </a:avLst>
          </a:prstGeom>
          <a:solidFill>
            <a:srgbClr val="FFFFFF"/>
          </a:solidFill>
          <a:ln w="12700">
            <a:solidFill>
              <a:srgbClr val="D4DAEE"/>
            </a:solidFill>
            <a:prstDash val="solid"/>
          </a:ln>
        </p:spPr>
        <p:txBody>
          <a:bodyPr/>
          <a:lstStyle/>
          <a:p>
            <a:endParaRPr lang="ko-KR" altLang="en-US"/>
          </a:p>
        </p:txBody>
      </p:sp>
      <p:sp>
        <p:nvSpPr>
          <p:cNvPr id="11" name="Shape 8"/>
          <p:cNvSpPr/>
          <p:nvPr/>
        </p:nvSpPr>
        <p:spPr>
          <a:xfrm>
            <a:off x="5029200" y="2898648"/>
            <a:ext cx="82296" cy="1042416"/>
          </a:xfrm>
          <a:prstGeom prst="roundRect">
            <a:avLst>
              <a:gd name="adj" fmla="val 555556"/>
            </a:avLst>
          </a:prstGeom>
          <a:solidFill>
            <a:srgbClr val="001871"/>
          </a:solidFill>
          <a:ln w="12700">
            <a:solidFill>
              <a:srgbClr val="001871"/>
            </a:solidFill>
            <a:prstDash val="solid"/>
          </a:ln>
        </p:spPr>
        <p:txBody>
          <a:bodyPr/>
          <a:lstStyle/>
          <a:p>
            <a:endParaRPr lang="ko-KR" altLang="en-US"/>
          </a:p>
        </p:txBody>
      </p:sp>
      <p:sp>
        <p:nvSpPr>
          <p:cNvPr id="12" name="Text 9"/>
          <p:cNvSpPr/>
          <p:nvPr/>
        </p:nvSpPr>
        <p:spPr>
          <a:xfrm>
            <a:off x="5285232" y="3035808"/>
            <a:ext cx="6217920" cy="310896"/>
          </a:xfrm>
          <a:prstGeom prst="rect">
            <a:avLst/>
          </a:prstGeom>
          <a:noFill/>
          <a:ln/>
        </p:spPr>
        <p:txBody>
          <a:bodyPr wrap="square" lIns="0" tIns="0" rIns="0" bIns="0" rtlCol="0" anchor="ctr"/>
          <a:lstStyle/>
          <a:p>
            <a:pPr marL="0" indent="0">
              <a:buNone/>
            </a:pPr>
            <a:r>
              <a:rPr lang="en-US" sz="1500" b="1" dirty="0">
                <a:solidFill>
                  <a:srgbClr val="141B33"/>
                </a:solidFill>
                <a:latin typeface="맑은 고딕" pitchFamily="34" charset="0"/>
                <a:ea typeface="맑은 고딕" pitchFamily="34" charset="-122"/>
                <a:cs typeface="맑은 고딕" pitchFamily="34" charset="-120"/>
              </a:rPr>
              <a:t>스마트 정류장 16곳 · 1곳당 약 1억 원</a:t>
            </a:r>
            <a:endParaRPr lang="en-US" sz="1500" dirty="0"/>
          </a:p>
        </p:txBody>
      </p:sp>
      <p:sp>
        <p:nvSpPr>
          <p:cNvPr id="13" name="Text 10"/>
          <p:cNvSpPr/>
          <p:nvPr/>
        </p:nvSpPr>
        <p:spPr>
          <a:xfrm>
            <a:off x="5285232" y="3355848"/>
            <a:ext cx="6217920" cy="475488"/>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냉난방 쉘터를 1,200곳에 세우는 것은 예산상 불가능합니다. </a:t>
            </a:r>
            <a:endParaRPr lang="en-US" sz="1150" dirty="0"/>
          </a:p>
        </p:txBody>
      </p:sp>
      <p:sp>
        <p:nvSpPr>
          <p:cNvPr id="14" name="Shape 11"/>
          <p:cNvSpPr/>
          <p:nvPr/>
        </p:nvSpPr>
        <p:spPr>
          <a:xfrm>
            <a:off x="5029200" y="4096512"/>
            <a:ext cx="6601968" cy="1042416"/>
          </a:xfrm>
          <a:prstGeom prst="roundRect">
            <a:avLst>
              <a:gd name="adj" fmla="val 5263"/>
            </a:avLst>
          </a:prstGeom>
          <a:solidFill>
            <a:srgbClr val="FFFFFF"/>
          </a:solidFill>
          <a:ln w="12700">
            <a:solidFill>
              <a:srgbClr val="D4DAEE"/>
            </a:solidFill>
            <a:prstDash val="solid"/>
          </a:ln>
        </p:spPr>
        <p:txBody>
          <a:bodyPr/>
          <a:lstStyle/>
          <a:p>
            <a:endParaRPr lang="ko-KR" altLang="en-US"/>
          </a:p>
        </p:txBody>
      </p:sp>
      <p:sp>
        <p:nvSpPr>
          <p:cNvPr id="15" name="Shape 12"/>
          <p:cNvSpPr/>
          <p:nvPr/>
        </p:nvSpPr>
        <p:spPr>
          <a:xfrm>
            <a:off x="5029200" y="4096512"/>
            <a:ext cx="82296" cy="1042416"/>
          </a:xfrm>
          <a:prstGeom prst="roundRect">
            <a:avLst>
              <a:gd name="adj" fmla="val 555556"/>
            </a:avLst>
          </a:prstGeom>
          <a:solidFill>
            <a:srgbClr val="001871"/>
          </a:solidFill>
          <a:ln w="12700">
            <a:solidFill>
              <a:srgbClr val="001871"/>
            </a:solidFill>
            <a:prstDash val="solid"/>
          </a:ln>
        </p:spPr>
        <p:txBody>
          <a:bodyPr/>
          <a:lstStyle/>
          <a:p>
            <a:endParaRPr lang="ko-KR" altLang="en-US"/>
          </a:p>
        </p:txBody>
      </p:sp>
      <p:sp>
        <p:nvSpPr>
          <p:cNvPr id="16" name="Text 13"/>
          <p:cNvSpPr/>
          <p:nvPr/>
        </p:nvSpPr>
        <p:spPr>
          <a:xfrm>
            <a:off x="5285232" y="4233672"/>
            <a:ext cx="6217920" cy="310896"/>
          </a:xfrm>
          <a:prstGeom prst="rect">
            <a:avLst/>
          </a:prstGeom>
          <a:noFill/>
          <a:ln/>
        </p:spPr>
        <p:txBody>
          <a:bodyPr wrap="square" lIns="0" tIns="0" rIns="0" bIns="0" rtlCol="0" anchor="ctr"/>
          <a:lstStyle/>
          <a:p>
            <a:pPr marL="0" indent="0">
              <a:buNone/>
            </a:pPr>
            <a:r>
              <a:rPr lang="en-US" sz="1500" b="1" dirty="0">
                <a:solidFill>
                  <a:srgbClr val="141B33"/>
                </a:solidFill>
                <a:latin typeface="맑은 고딕" pitchFamily="34" charset="0"/>
                <a:ea typeface="맑은 고딕" pitchFamily="34" charset="-122"/>
                <a:cs typeface="맑은 고딕" pitchFamily="34" charset="-120"/>
              </a:rPr>
              <a:t>그 사이에도 어르신은 매일 버스를 탑니다</a:t>
            </a:r>
            <a:endParaRPr lang="en-US" sz="1500" dirty="0"/>
          </a:p>
        </p:txBody>
      </p:sp>
      <p:sp>
        <p:nvSpPr>
          <p:cNvPr id="17" name="Text 14"/>
          <p:cNvSpPr/>
          <p:nvPr/>
        </p:nvSpPr>
        <p:spPr>
          <a:xfrm>
            <a:off x="5285232" y="4553712"/>
            <a:ext cx="6217920" cy="475488"/>
          </a:xfrm>
          <a:prstGeom prst="rect">
            <a:avLst/>
          </a:prstGeom>
          <a:noFill/>
          <a:ln/>
        </p:spPr>
        <p:txBody>
          <a:bodyPr wrap="square" lIns="0" tIns="0" rIns="0" bIns="0" rtlCol="0" anchor="t"/>
          <a:lstStyle/>
          <a:p>
            <a:pPr marL="0" indent="0">
              <a:lnSpc>
                <a:spcPts val="1700"/>
              </a:lnSpc>
              <a:buNone/>
            </a:pPr>
            <a:r>
              <a:rPr lang="en-US" sz="1150" dirty="0" err="1">
                <a:solidFill>
                  <a:srgbClr val="39415E"/>
                </a:solidFill>
                <a:latin typeface="맑은 고딕" pitchFamily="34" charset="0"/>
                <a:ea typeface="맑은 고딕" pitchFamily="34" charset="-122"/>
                <a:cs typeface="맑은 고딕" pitchFamily="34" charset="-120"/>
              </a:rPr>
              <a:t>지금</a:t>
            </a:r>
            <a:r>
              <a:rPr lang="en-US" sz="1150" dirty="0">
                <a:solidFill>
                  <a:srgbClr val="39415E"/>
                </a:solidFill>
                <a:latin typeface="맑은 고딕" pitchFamily="34" charset="0"/>
                <a:ea typeface="맑은 고딕" pitchFamily="34" charset="-122"/>
                <a:cs typeface="맑은 고딕" pitchFamily="34" charset="-120"/>
              </a:rPr>
              <a:t> </a:t>
            </a:r>
            <a:r>
              <a:rPr lang="en-US" sz="1150" dirty="0" err="1">
                <a:solidFill>
                  <a:srgbClr val="39415E"/>
                </a:solidFill>
                <a:latin typeface="맑은 고딕" pitchFamily="34" charset="0"/>
                <a:ea typeface="맑은 고딕" pitchFamily="34" charset="-122"/>
                <a:cs typeface="맑은 고딕" pitchFamily="34" charset="-120"/>
              </a:rPr>
              <a:t>있는</a:t>
            </a:r>
            <a:r>
              <a:rPr lang="en-US" sz="1150" dirty="0">
                <a:solidFill>
                  <a:srgbClr val="39415E"/>
                </a:solidFill>
                <a:latin typeface="맑은 고딕" pitchFamily="34" charset="0"/>
                <a:ea typeface="맑은 고딕" pitchFamily="34" charset="-122"/>
                <a:cs typeface="맑은 고딕" pitchFamily="34" charset="-120"/>
              </a:rPr>
              <a:t> </a:t>
            </a:r>
            <a:r>
              <a:rPr lang="en-US" sz="1150" dirty="0" err="1">
                <a:solidFill>
                  <a:srgbClr val="39415E"/>
                </a:solidFill>
                <a:latin typeface="맑은 고딕" pitchFamily="34" charset="0"/>
                <a:ea typeface="맑은 고딕" pitchFamily="34" charset="-122"/>
                <a:cs typeface="맑은 고딕" pitchFamily="34" charset="-120"/>
              </a:rPr>
              <a:t>자원으로</a:t>
            </a:r>
            <a:r>
              <a:rPr lang="en-US" sz="1150" dirty="0">
                <a:solidFill>
                  <a:srgbClr val="39415E"/>
                </a:solidFill>
                <a:latin typeface="맑은 고딕" pitchFamily="34" charset="0"/>
                <a:ea typeface="맑은 고딕" pitchFamily="34" charset="-122"/>
                <a:cs typeface="맑은 고딕" pitchFamily="34" charset="-120"/>
              </a:rPr>
              <a:t> 도울 방법이 필요합니다.</a:t>
            </a:r>
            <a:endParaRPr lang="en-US" sz="1150" dirty="0"/>
          </a:p>
        </p:txBody>
      </p:sp>
      <p:sp>
        <p:nvSpPr>
          <p:cNvPr id="26" name="Text 23"/>
          <p:cNvSpPr/>
          <p:nvPr/>
        </p:nvSpPr>
        <p:spPr>
          <a:xfrm>
            <a:off x="384048" y="5989320"/>
            <a:ext cx="11430000" cy="274320"/>
          </a:xfrm>
          <a:prstGeom prst="rect">
            <a:avLst/>
          </a:prstGeom>
          <a:noFill/>
          <a:ln/>
        </p:spPr>
        <p:txBody>
          <a:bodyPr wrap="square" lIns="0" tIns="0" rIns="0" bIns="0" rtlCol="0" anchor="ctr"/>
          <a:lstStyle/>
          <a:p>
            <a:pPr marL="0" indent="0">
              <a:buNone/>
            </a:pPr>
            <a:r>
              <a:rPr lang="en-US" sz="950" dirty="0">
                <a:solidFill>
                  <a:srgbClr val="98A0BA"/>
                </a:solidFill>
                <a:latin typeface="맑은 고딕" pitchFamily="34" charset="0"/>
                <a:ea typeface="맑은 고딕" pitchFamily="34" charset="-122"/>
                <a:cs typeface="맑은 고딕" pitchFamily="34" charset="-120"/>
              </a:rPr>
              <a:t>출처 : 강원일보 2026-02-05 「도내 버스정류장 표지판이 '대부분'…편의시설 확충 </a:t>
            </a:r>
            <a:r>
              <a:rPr lang="en-US" sz="950" dirty="0" err="1">
                <a:solidFill>
                  <a:srgbClr val="98A0BA"/>
                </a:solidFill>
                <a:latin typeface="맑은 고딕" pitchFamily="34" charset="0"/>
                <a:ea typeface="맑은 고딕" pitchFamily="34" charset="-122"/>
                <a:cs typeface="맑은 고딕" pitchFamily="34" charset="-120"/>
              </a:rPr>
              <a:t>과제</a:t>
            </a:r>
            <a:r>
              <a:rPr lang="en-US" sz="950" dirty="0">
                <a:solidFill>
                  <a:srgbClr val="98A0BA"/>
                </a:solidFill>
                <a:latin typeface="맑은 고딕" pitchFamily="34" charset="0"/>
                <a:ea typeface="맑은 고딕" pitchFamily="34" charset="-122"/>
                <a:cs typeface="맑은 고딕" pitchFamily="34" charset="-120"/>
              </a:rPr>
              <a:t>」, 춘천시 </a:t>
            </a:r>
            <a:r>
              <a:rPr lang="en-US" sz="950" dirty="0" err="1">
                <a:solidFill>
                  <a:srgbClr val="98A0BA"/>
                </a:solidFill>
                <a:latin typeface="맑은 고딕" pitchFamily="34" charset="0"/>
                <a:ea typeface="맑은 고딕" pitchFamily="34" charset="-122"/>
                <a:cs typeface="맑은 고딕" pitchFamily="34" charset="-120"/>
              </a:rPr>
              <a:t>버스정류장</a:t>
            </a:r>
            <a:r>
              <a:rPr lang="en-US" sz="950" dirty="0">
                <a:solidFill>
                  <a:srgbClr val="98A0BA"/>
                </a:solidFill>
                <a:latin typeface="맑은 고딕" pitchFamily="34" charset="0"/>
                <a:ea typeface="맑은 고딕" pitchFamily="34" charset="-122"/>
                <a:cs typeface="맑은 고딕" pitchFamily="34" charset="-120"/>
              </a:rPr>
              <a:t> </a:t>
            </a:r>
            <a:r>
              <a:rPr lang="en-US" sz="950" dirty="0" err="1">
                <a:solidFill>
                  <a:srgbClr val="98A0BA"/>
                </a:solidFill>
                <a:latin typeface="맑은 고딕" pitchFamily="34" charset="0"/>
                <a:ea typeface="맑은 고딕" pitchFamily="34" charset="-122"/>
                <a:cs typeface="맑은 고딕" pitchFamily="34" charset="-120"/>
              </a:rPr>
              <a:t>위치정보</a:t>
            </a:r>
            <a:endParaRPr lang="en-US" sz="950" dirty="0"/>
          </a:p>
        </p:txBody>
      </p:sp>
      <p:sp>
        <p:nvSpPr>
          <p:cNvPr id="28" name="Text 24"/>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29" name="Text 25"/>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01 </a:t>
            </a:r>
            <a:r>
              <a:rPr lang="ko-KR" altLang="en-US" sz="1200" b="1" kern="0" spc="140" dirty="0">
                <a:solidFill>
                  <a:srgbClr val="001871"/>
                </a:solidFill>
                <a:latin typeface="맑은 고딕" pitchFamily="34" charset="0"/>
                <a:ea typeface="맑은 고딕" pitchFamily="34" charset="-122"/>
                <a:cs typeface="맑은 고딕" pitchFamily="34" charset="-120"/>
              </a:rPr>
              <a:t>문제 정의 및 해결방안 제시</a:t>
            </a:r>
            <a:r>
              <a:rPr lang="en-US" altLang="ko-KR" sz="1200" b="1" kern="0" spc="140" dirty="0">
                <a:solidFill>
                  <a:srgbClr val="001871"/>
                </a:solidFill>
                <a:latin typeface="맑은 고딕" pitchFamily="34" charset="0"/>
                <a:ea typeface="맑은 고딕" pitchFamily="34" charset="-122"/>
                <a:cs typeface="맑은 고딕" pitchFamily="34" charset="-120"/>
              </a:rPr>
              <a:t> </a:t>
            </a:r>
            <a:endParaRPr lang="en-US" altLang="ko-KR" sz="1200" dirty="0"/>
          </a:p>
        </p:txBody>
      </p:sp>
      <p:sp>
        <p:nvSpPr>
          <p:cNvPr id="3" name="Text 1"/>
          <p:cNvSpPr/>
          <p:nvPr/>
        </p:nvSpPr>
        <p:spPr>
          <a:xfrm>
            <a:off x="566928" y="82296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해법 : 정류장에 서면, 가장 가까운 그늘을 알려드립니다</a:t>
            </a:r>
            <a:endParaRPr lang="en-US" sz="3000" dirty="0"/>
          </a:p>
        </p:txBody>
      </p:sp>
      <p:sp>
        <p:nvSpPr>
          <p:cNvPr id="5" name="Shape 3"/>
          <p:cNvSpPr/>
          <p:nvPr/>
        </p:nvSpPr>
        <p:spPr>
          <a:xfrm>
            <a:off x="566928" y="1792224"/>
            <a:ext cx="3474720" cy="2139696"/>
          </a:xfrm>
          <a:prstGeom prst="roundRect">
            <a:avLst>
              <a:gd name="adj" fmla="val 2564"/>
            </a:avLst>
          </a:prstGeom>
          <a:solidFill>
            <a:srgbClr val="F4F6FC"/>
          </a:solidFill>
          <a:ln w="12700">
            <a:solidFill>
              <a:srgbClr val="D4DAEE"/>
            </a:solidFill>
            <a:prstDash val="solid"/>
          </a:ln>
        </p:spPr>
        <p:txBody>
          <a:bodyPr/>
          <a:lstStyle/>
          <a:p>
            <a:endParaRPr lang="ko-KR" altLang="en-US"/>
          </a:p>
        </p:txBody>
      </p:sp>
      <p:sp>
        <p:nvSpPr>
          <p:cNvPr id="6" name="Shape 4"/>
          <p:cNvSpPr/>
          <p:nvPr/>
        </p:nvSpPr>
        <p:spPr>
          <a:xfrm>
            <a:off x="822960" y="1993392"/>
            <a:ext cx="402336" cy="402336"/>
          </a:xfrm>
          <a:prstGeom prst="ellipse">
            <a:avLst/>
          </a:prstGeom>
          <a:solidFill>
            <a:srgbClr val="001871"/>
          </a:solidFill>
          <a:ln/>
        </p:spPr>
        <p:txBody>
          <a:bodyPr/>
          <a:lstStyle/>
          <a:p>
            <a:endParaRPr lang="ko-KR" altLang="en-US"/>
          </a:p>
        </p:txBody>
      </p:sp>
      <p:sp>
        <p:nvSpPr>
          <p:cNvPr id="7" name="Text 5"/>
          <p:cNvSpPr/>
          <p:nvPr/>
        </p:nvSpPr>
        <p:spPr>
          <a:xfrm>
            <a:off x="822960" y="1993392"/>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1</a:t>
            </a:r>
            <a:endParaRPr lang="en-US" sz="1496" dirty="0"/>
          </a:p>
        </p:txBody>
      </p:sp>
      <p:sp>
        <p:nvSpPr>
          <p:cNvPr id="8" name="Text 6"/>
          <p:cNvSpPr/>
          <p:nvPr/>
        </p:nvSpPr>
        <p:spPr>
          <a:xfrm>
            <a:off x="822960" y="2505456"/>
            <a:ext cx="3017520" cy="329184"/>
          </a:xfrm>
          <a:prstGeom prst="rect">
            <a:avLst/>
          </a:prstGeom>
          <a:noFill/>
          <a:ln/>
        </p:spPr>
        <p:txBody>
          <a:bodyPr wrap="square" lIns="0" tIns="0" rIns="0" bIns="0" rtlCol="0" anchor="ctr"/>
          <a:lstStyle/>
          <a:p>
            <a:pPr marL="0" indent="0">
              <a:buNone/>
            </a:pPr>
            <a:r>
              <a:rPr lang="ko-KR" altLang="en-US" sz="1600" b="1" dirty="0">
                <a:solidFill>
                  <a:srgbClr val="141B33"/>
                </a:solidFill>
                <a:latin typeface="맑은 고딕" pitchFamily="34" charset="0"/>
                <a:ea typeface="맑은 고딕" pitchFamily="34" charset="-122"/>
                <a:cs typeface="맑은 고딕" pitchFamily="34" charset="-120"/>
              </a:rPr>
              <a:t>내 위치를</a:t>
            </a:r>
            <a:r>
              <a:rPr lang="en-US" sz="1600" b="1" dirty="0">
                <a:solidFill>
                  <a:srgbClr val="141B33"/>
                </a:solidFill>
                <a:latin typeface="맑은 고딕" pitchFamily="34" charset="0"/>
                <a:ea typeface="맑은 고딕" pitchFamily="34" charset="-122"/>
                <a:cs typeface="맑은 고딕" pitchFamily="34" charset="-120"/>
              </a:rPr>
              <a:t> 찾습니다</a:t>
            </a:r>
            <a:endParaRPr lang="en-US" sz="1600" dirty="0"/>
          </a:p>
        </p:txBody>
      </p:sp>
      <p:sp>
        <p:nvSpPr>
          <p:cNvPr id="9" name="Text 7"/>
          <p:cNvSpPr/>
          <p:nvPr/>
        </p:nvSpPr>
        <p:spPr>
          <a:xfrm>
            <a:off x="822960" y="2871216"/>
            <a:ext cx="3035808" cy="640080"/>
          </a:xfrm>
          <a:prstGeom prst="rect">
            <a:avLst/>
          </a:prstGeom>
          <a:noFill/>
          <a:ln/>
        </p:spPr>
        <p:txBody>
          <a:bodyPr wrap="square" lIns="0" tIns="0" rIns="0" bIns="0" rtlCol="0" anchor="t"/>
          <a:lstStyle/>
          <a:p>
            <a:pPr marL="0" indent="0">
              <a:lnSpc>
                <a:spcPts val="1700"/>
              </a:lnSpc>
              <a:buNone/>
            </a:pPr>
            <a:r>
              <a:rPr lang="en-US" sz="1150" dirty="0" err="1">
                <a:solidFill>
                  <a:srgbClr val="39415E"/>
                </a:solidFill>
                <a:latin typeface="맑은 고딕" pitchFamily="34" charset="0"/>
                <a:ea typeface="맑은 고딕" pitchFamily="34" charset="-122"/>
                <a:cs typeface="맑은 고딕" pitchFamily="34" charset="-120"/>
              </a:rPr>
              <a:t>말로</a:t>
            </a:r>
            <a:r>
              <a:rPr lang="en-US" sz="1150" dirty="0">
                <a:solidFill>
                  <a:srgbClr val="39415E"/>
                </a:solidFill>
                <a:latin typeface="맑은 고딕" pitchFamily="34" charset="0"/>
                <a:ea typeface="맑은 고딕" pitchFamily="34" charset="-122"/>
                <a:cs typeface="맑은 고딕" pitchFamily="34" charset="-120"/>
              </a:rPr>
              <a:t> </a:t>
            </a:r>
            <a:r>
              <a:rPr lang="ko-KR" altLang="en-US" sz="1150" dirty="0">
                <a:solidFill>
                  <a:srgbClr val="39415E"/>
                </a:solidFill>
                <a:latin typeface="맑은 고딕" pitchFamily="34" charset="0"/>
                <a:ea typeface="맑은 고딕" pitchFamily="34" charset="-122"/>
                <a:cs typeface="맑은 고딕" pitchFamily="34" charset="-120"/>
              </a:rPr>
              <a:t>주소를</a:t>
            </a:r>
            <a:r>
              <a:rPr lang="en-US" sz="1150" dirty="0">
                <a:solidFill>
                  <a:srgbClr val="39415E"/>
                </a:solidFill>
                <a:latin typeface="맑은 고딕" pitchFamily="34" charset="0"/>
                <a:ea typeface="맑은 고딕" pitchFamily="34" charset="-122"/>
                <a:cs typeface="맑은 고딕" pitchFamily="34" charset="-120"/>
              </a:rPr>
              <a:t> 말하거나</a:t>
            </a:r>
            <a:endParaRPr lang="en-US" sz="1150" dirty="0"/>
          </a:p>
          <a:p>
            <a:pPr marL="0" indent="0">
              <a:lnSpc>
                <a:spcPts val="1700"/>
              </a:lnSpc>
              <a:buNone/>
            </a:pPr>
            <a:r>
              <a:rPr lang="ko-KR" altLang="en-US" sz="1150" dirty="0">
                <a:solidFill>
                  <a:srgbClr val="39415E"/>
                </a:solidFill>
                <a:latin typeface="맑은 고딕" pitchFamily="34" charset="0"/>
                <a:ea typeface="맑은 고딕" pitchFamily="34" charset="-122"/>
                <a:cs typeface="맑은 고딕" pitchFamily="34" charset="-120"/>
              </a:rPr>
              <a:t>자판으로 주소를</a:t>
            </a:r>
            <a:r>
              <a:rPr lang="en-US" sz="1150" dirty="0">
                <a:solidFill>
                  <a:srgbClr val="39415E"/>
                </a:solidFill>
                <a:latin typeface="맑은 고딕" pitchFamily="34" charset="0"/>
                <a:ea typeface="맑은 고딕" pitchFamily="34" charset="-122"/>
                <a:cs typeface="맑은 고딕" pitchFamily="34" charset="-120"/>
              </a:rPr>
              <a:t> </a:t>
            </a:r>
            <a:r>
              <a:rPr lang="ko-KR" altLang="en-US" sz="1150" dirty="0">
                <a:solidFill>
                  <a:srgbClr val="39415E"/>
                </a:solidFill>
                <a:latin typeface="맑은 고딕" pitchFamily="34" charset="0"/>
                <a:ea typeface="맑은 고딕" pitchFamily="34" charset="-122"/>
                <a:cs typeface="맑은 고딕" pitchFamily="34" charset="-120"/>
              </a:rPr>
              <a:t>입력하</a:t>
            </a:r>
            <a:r>
              <a:rPr lang="en-US" sz="1150" dirty="0">
                <a:solidFill>
                  <a:srgbClr val="39415E"/>
                </a:solidFill>
                <a:latin typeface="맑은 고딕" pitchFamily="34" charset="0"/>
                <a:ea typeface="맑은 고딕" pitchFamily="34" charset="-122"/>
                <a:cs typeface="맑은 고딕" pitchFamily="34" charset="-120"/>
              </a:rPr>
              <a:t>면 됩니다</a:t>
            </a:r>
            <a:endParaRPr lang="en-US" sz="1150" dirty="0"/>
          </a:p>
        </p:txBody>
      </p:sp>
      <p:sp>
        <p:nvSpPr>
          <p:cNvPr id="10" name="Shape 8"/>
          <p:cNvSpPr/>
          <p:nvPr/>
        </p:nvSpPr>
        <p:spPr>
          <a:xfrm>
            <a:off x="822960" y="3529584"/>
            <a:ext cx="1046798"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11" name="Text 9"/>
          <p:cNvSpPr/>
          <p:nvPr/>
        </p:nvSpPr>
        <p:spPr>
          <a:xfrm>
            <a:off x="822960" y="3529584"/>
            <a:ext cx="1046798"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음성으로 찾기</a:t>
            </a:r>
            <a:endParaRPr lang="en-US" sz="1050" dirty="0"/>
          </a:p>
        </p:txBody>
      </p:sp>
      <p:sp>
        <p:nvSpPr>
          <p:cNvPr id="12" name="Text 10"/>
          <p:cNvSpPr/>
          <p:nvPr/>
        </p:nvSpPr>
        <p:spPr>
          <a:xfrm>
            <a:off x="4041648" y="1792224"/>
            <a:ext cx="292608" cy="2139696"/>
          </a:xfrm>
          <a:prstGeom prst="rect">
            <a:avLst/>
          </a:prstGeom>
          <a:noFill/>
          <a:ln/>
        </p:spPr>
        <p:txBody>
          <a:bodyPr wrap="square" lIns="0" tIns="0" rIns="0" bIns="0" rtlCol="0" anchor="ctr"/>
          <a:lstStyle/>
          <a:p>
            <a:pPr marL="0" indent="0" algn="ctr">
              <a:buNone/>
            </a:pPr>
            <a:r>
              <a:rPr lang="en-US" sz="1300" dirty="0">
                <a:solidFill>
                  <a:srgbClr val="98A0BA"/>
                </a:solidFill>
                <a:latin typeface="맑은 고딕" pitchFamily="34" charset="0"/>
                <a:ea typeface="맑은 고딕" pitchFamily="34" charset="-122"/>
                <a:cs typeface="맑은 고딕" pitchFamily="34" charset="-120"/>
              </a:rPr>
              <a:t>▶</a:t>
            </a:r>
            <a:endParaRPr lang="en-US" sz="1300" dirty="0"/>
          </a:p>
        </p:txBody>
      </p:sp>
      <p:sp>
        <p:nvSpPr>
          <p:cNvPr id="13" name="Shape 11"/>
          <p:cNvSpPr/>
          <p:nvPr/>
        </p:nvSpPr>
        <p:spPr>
          <a:xfrm>
            <a:off x="4334256" y="1792224"/>
            <a:ext cx="3474720" cy="2139696"/>
          </a:xfrm>
          <a:prstGeom prst="roundRect">
            <a:avLst>
              <a:gd name="adj" fmla="val 2564"/>
            </a:avLst>
          </a:prstGeom>
          <a:solidFill>
            <a:srgbClr val="F4F6FC"/>
          </a:solidFill>
          <a:ln w="12700">
            <a:solidFill>
              <a:srgbClr val="D4DAEE"/>
            </a:solidFill>
            <a:prstDash val="solid"/>
          </a:ln>
        </p:spPr>
        <p:txBody>
          <a:bodyPr/>
          <a:lstStyle/>
          <a:p>
            <a:endParaRPr lang="ko-KR" altLang="en-US"/>
          </a:p>
        </p:txBody>
      </p:sp>
      <p:sp>
        <p:nvSpPr>
          <p:cNvPr id="14" name="Shape 12"/>
          <p:cNvSpPr/>
          <p:nvPr/>
        </p:nvSpPr>
        <p:spPr>
          <a:xfrm>
            <a:off x="4590288" y="1993392"/>
            <a:ext cx="402336" cy="402336"/>
          </a:xfrm>
          <a:prstGeom prst="ellipse">
            <a:avLst/>
          </a:prstGeom>
          <a:solidFill>
            <a:srgbClr val="001871"/>
          </a:solidFill>
          <a:ln/>
        </p:spPr>
        <p:txBody>
          <a:bodyPr/>
          <a:lstStyle/>
          <a:p>
            <a:endParaRPr lang="ko-KR" altLang="en-US"/>
          </a:p>
        </p:txBody>
      </p:sp>
      <p:sp>
        <p:nvSpPr>
          <p:cNvPr id="15" name="Text 13"/>
          <p:cNvSpPr/>
          <p:nvPr/>
        </p:nvSpPr>
        <p:spPr>
          <a:xfrm>
            <a:off x="4590288" y="1993392"/>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2</a:t>
            </a:r>
            <a:endParaRPr lang="en-US" sz="1496" dirty="0"/>
          </a:p>
        </p:txBody>
      </p:sp>
      <p:sp>
        <p:nvSpPr>
          <p:cNvPr id="16" name="Text 14"/>
          <p:cNvSpPr/>
          <p:nvPr/>
        </p:nvSpPr>
        <p:spPr>
          <a:xfrm>
            <a:off x="4590288" y="2505456"/>
            <a:ext cx="3017520" cy="329184"/>
          </a:xfrm>
          <a:prstGeom prst="rect">
            <a:avLst/>
          </a:prstGeom>
          <a:noFill/>
          <a:ln/>
        </p:spPr>
        <p:txBody>
          <a:bodyPr wrap="square" lIns="0" tIns="0" rIns="0" bIns="0" rtlCol="0" anchor="ctr"/>
          <a:lstStyle/>
          <a:p>
            <a:pPr marL="0" indent="0">
              <a:buNone/>
            </a:pPr>
            <a:r>
              <a:rPr lang="ko-KR" altLang="en-US" sz="1600" b="1" dirty="0">
                <a:solidFill>
                  <a:srgbClr val="141B33"/>
                </a:solidFill>
                <a:latin typeface="맑은 고딕" pitchFamily="34" charset="0"/>
                <a:ea typeface="맑은 고딕" pitchFamily="34" charset="-122"/>
                <a:cs typeface="맑은 고딕" pitchFamily="34" charset="-120"/>
              </a:rPr>
              <a:t>편하게 기다릴 수 있</a:t>
            </a:r>
            <a:r>
              <a:rPr lang="en-US" sz="1600" b="1" dirty="0" err="1">
                <a:solidFill>
                  <a:srgbClr val="141B33"/>
                </a:solidFill>
                <a:latin typeface="맑은 고딕" pitchFamily="34" charset="0"/>
                <a:ea typeface="맑은 고딕" pitchFamily="34" charset="-122"/>
                <a:cs typeface="맑은 고딕" pitchFamily="34" charset="-120"/>
              </a:rPr>
              <a:t>는지</a:t>
            </a:r>
            <a:endParaRPr lang="en-US" sz="1600" dirty="0"/>
          </a:p>
        </p:txBody>
      </p:sp>
      <p:sp>
        <p:nvSpPr>
          <p:cNvPr id="17" name="Text 15"/>
          <p:cNvSpPr/>
          <p:nvPr/>
        </p:nvSpPr>
        <p:spPr>
          <a:xfrm>
            <a:off x="4590288" y="2871216"/>
            <a:ext cx="3035808" cy="640080"/>
          </a:xfrm>
          <a:prstGeom prst="rect">
            <a:avLst/>
          </a:prstGeom>
          <a:noFill/>
          <a:ln/>
        </p:spPr>
        <p:txBody>
          <a:bodyPr wrap="square" lIns="0" tIns="0" rIns="0" bIns="0" rtlCol="0" anchor="t"/>
          <a:lstStyle/>
          <a:p>
            <a:pPr marL="0" indent="0">
              <a:lnSpc>
                <a:spcPts val="1700"/>
              </a:lnSpc>
              <a:buNone/>
            </a:pPr>
            <a:r>
              <a:rPr lang="ko-KR" altLang="en-US" sz="1150" dirty="0">
                <a:solidFill>
                  <a:srgbClr val="39415E"/>
                </a:solidFill>
                <a:latin typeface="맑은 고딕" pitchFamily="34" charset="0"/>
                <a:ea typeface="맑은 고딕" pitchFamily="34" charset="-122"/>
                <a:cs typeface="맑은 고딕" pitchFamily="34" charset="-120"/>
              </a:rPr>
              <a:t>지붕</a:t>
            </a:r>
            <a:r>
              <a:rPr lang="en-US" sz="1150" dirty="0">
                <a:solidFill>
                  <a:srgbClr val="39415E"/>
                </a:solidFill>
                <a:latin typeface="맑은 고딕" pitchFamily="34" charset="0"/>
                <a:ea typeface="맑은 고딕" pitchFamily="34" charset="-122"/>
                <a:cs typeface="맑은 고딕" pitchFamily="34" charset="-120"/>
              </a:rPr>
              <a:t>·의자·쉘터가 있는지를</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단어로 바로 보여줍니다</a:t>
            </a:r>
            <a:endParaRPr lang="en-US" sz="1150" dirty="0"/>
          </a:p>
        </p:txBody>
      </p:sp>
      <p:sp>
        <p:nvSpPr>
          <p:cNvPr id="18" name="Shape 16"/>
          <p:cNvSpPr/>
          <p:nvPr/>
        </p:nvSpPr>
        <p:spPr>
          <a:xfrm>
            <a:off x="4590288" y="3529584"/>
            <a:ext cx="1726882"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19" name="Text 17"/>
          <p:cNvSpPr/>
          <p:nvPr/>
        </p:nvSpPr>
        <p:spPr>
          <a:xfrm>
            <a:off x="4590288" y="3529584"/>
            <a:ext cx="1726882" cy="273368"/>
          </a:xfrm>
          <a:prstGeom prst="rect">
            <a:avLst/>
          </a:prstGeom>
          <a:noFill/>
          <a:ln/>
        </p:spPr>
        <p:txBody>
          <a:bodyPr wrap="square" lIns="0" tIns="0" rIns="0" bIns="0" rtlCol="0" anchor="ctr"/>
          <a:lstStyle/>
          <a:p>
            <a:pPr marL="0" indent="0" algn="ctr">
              <a:buNone/>
            </a:pPr>
            <a:r>
              <a:rPr lang="ko-KR" altLang="en-US" sz="1050" dirty="0">
                <a:solidFill>
                  <a:srgbClr val="001871"/>
                </a:solidFill>
                <a:latin typeface="맑은 고딕" pitchFamily="34" charset="0"/>
                <a:ea typeface="맑은 고딕" pitchFamily="34" charset="-122"/>
                <a:cs typeface="맑은 고딕" pitchFamily="34" charset="-120"/>
              </a:rPr>
              <a:t>지붕</a:t>
            </a:r>
            <a:r>
              <a:rPr lang="en-US" sz="1050" dirty="0">
                <a:solidFill>
                  <a:srgbClr val="001871"/>
                </a:solidFill>
                <a:latin typeface="맑은 고딕" pitchFamily="34" charset="0"/>
                <a:ea typeface="맑은 고딕" pitchFamily="34" charset="-122"/>
                <a:cs typeface="맑은 고딕" pitchFamily="34" charset="-120"/>
              </a:rPr>
              <a:t> 있음 / 없음 / 몰라요</a:t>
            </a:r>
            <a:endParaRPr lang="en-US" sz="1050" dirty="0"/>
          </a:p>
        </p:txBody>
      </p:sp>
      <p:sp>
        <p:nvSpPr>
          <p:cNvPr id="20" name="Text 18"/>
          <p:cNvSpPr/>
          <p:nvPr/>
        </p:nvSpPr>
        <p:spPr>
          <a:xfrm>
            <a:off x="7808976" y="1792224"/>
            <a:ext cx="292608" cy="2139696"/>
          </a:xfrm>
          <a:prstGeom prst="rect">
            <a:avLst/>
          </a:prstGeom>
          <a:noFill/>
          <a:ln/>
        </p:spPr>
        <p:txBody>
          <a:bodyPr wrap="square" lIns="0" tIns="0" rIns="0" bIns="0" rtlCol="0" anchor="ctr"/>
          <a:lstStyle/>
          <a:p>
            <a:pPr marL="0" indent="0" algn="ctr">
              <a:buNone/>
            </a:pPr>
            <a:r>
              <a:rPr lang="en-US" sz="1300" dirty="0">
                <a:solidFill>
                  <a:srgbClr val="98A0BA"/>
                </a:solidFill>
                <a:latin typeface="맑은 고딕" pitchFamily="34" charset="0"/>
                <a:ea typeface="맑은 고딕" pitchFamily="34" charset="-122"/>
                <a:cs typeface="맑은 고딕" pitchFamily="34" charset="-120"/>
              </a:rPr>
              <a:t>▶</a:t>
            </a:r>
            <a:endParaRPr lang="en-US" sz="1300" dirty="0"/>
          </a:p>
        </p:txBody>
      </p:sp>
      <p:sp>
        <p:nvSpPr>
          <p:cNvPr id="21" name="Shape 19"/>
          <p:cNvSpPr/>
          <p:nvPr/>
        </p:nvSpPr>
        <p:spPr>
          <a:xfrm>
            <a:off x="8101584" y="1792224"/>
            <a:ext cx="3474720" cy="2139696"/>
          </a:xfrm>
          <a:prstGeom prst="roundRect">
            <a:avLst>
              <a:gd name="adj" fmla="val 2564"/>
            </a:avLst>
          </a:prstGeom>
          <a:solidFill>
            <a:srgbClr val="FCEEE0"/>
          </a:solidFill>
          <a:ln w="12700">
            <a:solidFill>
              <a:srgbClr val="F2C99E"/>
            </a:solidFill>
            <a:prstDash val="solid"/>
          </a:ln>
        </p:spPr>
        <p:txBody>
          <a:bodyPr/>
          <a:lstStyle/>
          <a:p>
            <a:endParaRPr lang="ko-KR" altLang="en-US"/>
          </a:p>
        </p:txBody>
      </p:sp>
      <p:sp>
        <p:nvSpPr>
          <p:cNvPr id="22" name="Shape 20"/>
          <p:cNvSpPr/>
          <p:nvPr/>
        </p:nvSpPr>
        <p:spPr>
          <a:xfrm>
            <a:off x="8357616" y="1993392"/>
            <a:ext cx="402336" cy="402336"/>
          </a:xfrm>
          <a:prstGeom prst="ellipse">
            <a:avLst/>
          </a:prstGeom>
          <a:solidFill>
            <a:srgbClr val="E8751A"/>
          </a:solidFill>
          <a:ln/>
        </p:spPr>
        <p:txBody>
          <a:bodyPr/>
          <a:lstStyle/>
          <a:p>
            <a:endParaRPr lang="ko-KR" altLang="en-US"/>
          </a:p>
        </p:txBody>
      </p:sp>
      <p:sp>
        <p:nvSpPr>
          <p:cNvPr id="23" name="Text 21"/>
          <p:cNvSpPr/>
          <p:nvPr/>
        </p:nvSpPr>
        <p:spPr>
          <a:xfrm>
            <a:off x="8357616" y="1993392"/>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3</a:t>
            </a:r>
            <a:endParaRPr lang="en-US" sz="1496" dirty="0"/>
          </a:p>
        </p:txBody>
      </p:sp>
      <p:sp>
        <p:nvSpPr>
          <p:cNvPr id="24" name="Text 22"/>
          <p:cNvSpPr/>
          <p:nvPr/>
        </p:nvSpPr>
        <p:spPr>
          <a:xfrm>
            <a:off x="8357616" y="2505456"/>
            <a:ext cx="3017520" cy="329184"/>
          </a:xfrm>
          <a:prstGeom prst="rect">
            <a:avLst/>
          </a:prstGeom>
          <a:noFill/>
          <a:ln/>
        </p:spPr>
        <p:txBody>
          <a:bodyPr wrap="square" lIns="0" tIns="0" rIns="0" bIns="0" rtlCol="0" anchor="ctr"/>
          <a:lstStyle/>
          <a:p>
            <a:pPr marL="0" indent="0">
              <a:buNone/>
            </a:pPr>
            <a:r>
              <a:rPr lang="en-US" sz="1600" b="1" dirty="0">
                <a:solidFill>
                  <a:srgbClr val="141B33"/>
                </a:solidFill>
                <a:latin typeface="맑은 고딕" pitchFamily="34" charset="0"/>
                <a:ea typeface="맑은 고딕" pitchFamily="34" charset="-122"/>
                <a:cs typeface="맑은 고딕" pitchFamily="34" charset="-120"/>
              </a:rPr>
              <a:t>없으면 갈 곳을 알려줍니다</a:t>
            </a:r>
            <a:endParaRPr lang="en-US" sz="1600" dirty="0"/>
          </a:p>
        </p:txBody>
      </p:sp>
      <p:sp>
        <p:nvSpPr>
          <p:cNvPr id="25" name="Text 23"/>
          <p:cNvSpPr/>
          <p:nvPr/>
        </p:nvSpPr>
        <p:spPr>
          <a:xfrm>
            <a:off x="8357616" y="2871216"/>
            <a:ext cx="3035808" cy="640080"/>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가장 가까운 무더위쉼터를</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거리와 도보 시간으로 안내</a:t>
            </a:r>
            <a:endParaRPr lang="en-US" sz="1150" dirty="0"/>
          </a:p>
        </p:txBody>
      </p:sp>
      <p:sp>
        <p:nvSpPr>
          <p:cNvPr id="26" name="Shape 24"/>
          <p:cNvSpPr/>
          <p:nvPr/>
        </p:nvSpPr>
        <p:spPr>
          <a:xfrm>
            <a:off x="8357616" y="3529584"/>
            <a:ext cx="1713548" cy="273368"/>
          </a:xfrm>
          <a:prstGeom prst="roundRect">
            <a:avLst>
              <a:gd name="adj" fmla="val 167247"/>
            </a:avLst>
          </a:prstGeom>
          <a:solidFill>
            <a:srgbClr val="E8751A"/>
          </a:solidFill>
          <a:ln w="12700">
            <a:solidFill>
              <a:srgbClr val="E8751A"/>
            </a:solidFill>
            <a:prstDash val="solid"/>
          </a:ln>
        </p:spPr>
        <p:txBody>
          <a:bodyPr/>
          <a:lstStyle/>
          <a:p>
            <a:endParaRPr lang="ko-KR" altLang="en-US"/>
          </a:p>
        </p:txBody>
      </p:sp>
      <p:sp>
        <p:nvSpPr>
          <p:cNvPr id="27" name="Text 25"/>
          <p:cNvSpPr/>
          <p:nvPr/>
        </p:nvSpPr>
        <p:spPr>
          <a:xfrm>
            <a:off x="8357616" y="3529584"/>
            <a:ext cx="1713548" cy="273368"/>
          </a:xfrm>
          <a:prstGeom prst="rect">
            <a:avLst/>
          </a:prstGeom>
          <a:noFill/>
          <a:ln/>
        </p:spPr>
        <p:txBody>
          <a:bodyPr wrap="square" lIns="0" tIns="0" rIns="0" bIns="0" rtlCol="0" anchor="ctr"/>
          <a:lstStyle/>
          <a:p>
            <a:pPr marL="0" indent="0" algn="ctr">
              <a:buNone/>
            </a:pPr>
            <a:r>
              <a:rPr lang="en-US" sz="1000" b="1" dirty="0">
                <a:solidFill>
                  <a:srgbClr val="FFFFFF"/>
                </a:solidFill>
                <a:latin typeface="맑은 고딕" pitchFamily="34" charset="0"/>
                <a:ea typeface="맑은 고딕" pitchFamily="34" charset="-122"/>
                <a:cs typeface="맑은 고딕" pitchFamily="34" charset="-120"/>
              </a:rPr>
              <a:t>○○</a:t>
            </a:r>
            <a:r>
              <a:rPr lang="en-US" sz="1000" b="1" dirty="0" err="1">
                <a:solidFill>
                  <a:srgbClr val="FFFFFF"/>
                </a:solidFill>
                <a:latin typeface="맑은 고딕" pitchFamily="34" charset="0"/>
                <a:ea typeface="맑은 고딕" pitchFamily="34" charset="-122"/>
                <a:cs typeface="맑은 고딕" pitchFamily="34" charset="-120"/>
              </a:rPr>
              <a:t>경로당</a:t>
            </a:r>
            <a:r>
              <a:rPr lang="en-US" sz="1000" b="1" dirty="0">
                <a:solidFill>
                  <a:srgbClr val="FFFFFF"/>
                </a:solidFill>
                <a:latin typeface="맑은 고딕" pitchFamily="34" charset="0"/>
                <a:ea typeface="맑은 고딕" pitchFamily="34" charset="-122"/>
                <a:cs typeface="맑은 고딕" pitchFamily="34" charset="-120"/>
              </a:rPr>
              <a:t> 50m</a:t>
            </a:r>
            <a:endParaRPr lang="en-US" sz="1000" dirty="0"/>
          </a:p>
        </p:txBody>
      </p:sp>
      <p:sp>
        <p:nvSpPr>
          <p:cNvPr id="29" name="Shape 27"/>
          <p:cNvSpPr/>
          <p:nvPr/>
        </p:nvSpPr>
        <p:spPr>
          <a:xfrm>
            <a:off x="566928" y="4480560"/>
            <a:ext cx="11064240" cy="1207008"/>
          </a:xfrm>
          <a:prstGeom prst="roundRect">
            <a:avLst>
              <a:gd name="adj" fmla="val 4545"/>
            </a:avLst>
          </a:prstGeom>
          <a:solidFill>
            <a:srgbClr val="FFFFFF"/>
          </a:solidFill>
          <a:ln w="12700">
            <a:solidFill>
              <a:srgbClr val="D4DAEE"/>
            </a:solidFill>
            <a:prstDash val="solid"/>
          </a:ln>
        </p:spPr>
        <p:txBody>
          <a:bodyPr/>
          <a:lstStyle/>
          <a:p>
            <a:endParaRPr lang="ko-KR" altLang="en-US" dirty="0"/>
          </a:p>
        </p:txBody>
      </p:sp>
      <p:sp>
        <p:nvSpPr>
          <p:cNvPr id="30" name="Text 28"/>
          <p:cNvSpPr/>
          <p:nvPr/>
        </p:nvSpPr>
        <p:spPr>
          <a:xfrm>
            <a:off x="841248" y="4636100"/>
            <a:ext cx="2377440" cy="274320"/>
          </a:xfrm>
          <a:prstGeom prst="rect">
            <a:avLst/>
          </a:prstGeom>
          <a:noFill/>
          <a:ln/>
        </p:spPr>
        <p:txBody>
          <a:bodyPr wrap="square" lIns="0" tIns="0" rIns="0" bIns="0" rtlCol="0" anchor="ctr"/>
          <a:lstStyle/>
          <a:p>
            <a:pPr marL="0" indent="0">
              <a:buNone/>
            </a:pPr>
            <a:r>
              <a:rPr lang="ko-KR" altLang="en-US" sz="1250" b="1" dirty="0">
                <a:solidFill>
                  <a:srgbClr val="001871"/>
                </a:solidFill>
                <a:latin typeface="맑은 고딕" pitchFamily="34" charset="0"/>
                <a:ea typeface="맑은 고딕" pitchFamily="34" charset="-122"/>
              </a:rPr>
              <a:t>지</a:t>
            </a:r>
            <a:endParaRPr lang="en-US" sz="1250" dirty="0"/>
          </a:p>
        </p:txBody>
      </p:sp>
      <p:sp>
        <p:nvSpPr>
          <p:cNvPr id="31" name="Text 29"/>
          <p:cNvSpPr/>
          <p:nvPr/>
        </p:nvSpPr>
        <p:spPr>
          <a:xfrm>
            <a:off x="841248" y="4901184"/>
            <a:ext cx="2450592" cy="640080"/>
          </a:xfrm>
          <a:prstGeom prst="rect">
            <a:avLst/>
          </a:prstGeom>
          <a:noFill/>
          <a:ln/>
        </p:spPr>
        <p:txBody>
          <a:bodyPr wrap="square" lIns="0" tIns="0" rIns="0" bIns="0" rtlCol="0" anchor="t"/>
          <a:lstStyle/>
          <a:p>
            <a:pPr marL="0" indent="0">
              <a:lnSpc>
                <a:spcPts val="1400"/>
              </a:lnSpc>
              <a:buNone/>
            </a:pPr>
            <a:r>
              <a:rPr lang="en-US" sz="1050" dirty="0">
                <a:solidFill>
                  <a:srgbClr val="39415E"/>
                </a:solidFill>
                <a:latin typeface="맑은 고딕" pitchFamily="34" charset="0"/>
                <a:ea typeface="맑은 고딕" pitchFamily="34" charset="-122"/>
                <a:cs typeface="맑은 고딕" pitchFamily="34" charset="-120"/>
              </a:rPr>
              <a:t>불</a:t>
            </a:r>
            <a:endParaRPr lang="en-US" sz="1050" dirty="0"/>
          </a:p>
        </p:txBody>
      </p:sp>
      <p:sp>
        <p:nvSpPr>
          <p:cNvPr id="33" name="Text 31"/>
          <p:cNvSpPr/>
          <p:nvPr/>
        </p:nvSpPr>
        <p:spPr>
          <a:xfrm>
            <a:off x="3538728" y="4626864"/>
            <a:ext cx="2377440" cy="274320"/>
          </a:xfrm>
          <a:prstGeom prst="rect">
            <a:avLst/>
          </a:prstGeom>
          <a:noFill/>
          <a:ln/>
        </p:spPr>
        <p:txBody>
          <a:bodyPr wrap="square" lIns="0" tIns="0" rIns="0" bIns="0" rtlCol="0" anchor="ctr"/>
          <a:lstStyle/>
          <a:p>
            <a:pPr marL="0" indent="0">
              <a:buNone/>
            </a:pPr>
            <a:r>
              <a:rPr lang="en-US" sz="1250" b="1" dirty="0">
                <a:solidFill>
                  <a:srgbClr val="001871"/>
                </a:solidFill>
                <a:latin typeface="맑은 고딕" pitchFamily="34" charset="0"/>
                <a:ea typeface="맑은 고딕" pitchFamily="34" charset="-122"/>
                <a:cs typeface="맑은 고딕" pitchFamily="34" charset="-120"/>
              </a:rPr>
              <a:t>A</a:t>
            </a:r>
            <a:endParaRPr lang="en-US" sz="1250" dirty="0"/>
          </a:p>
        </p:txBody>
      </p:sp>
      <p:sp>
        <p:nvSpPr>
          <p:cNvPr id="34" name="Text 32"/>
          <p:cNvSpPr/>
          <p:nvPr/>
        </p:nvSpPr>
        <p:spPr>
          <a:xfrm>
            <a:off x="3538728" y="4901184"/>
            <a:ext cx="2450592" cy="640080"/>
          </a:xfrm>
          <a:prstGeom prst="rect">
            <a:avLst/>
          </a:prstGeom>
          <a:noFill/>
          <a:ln/>
        </p:spPr>
        <p:txBody>
          <a:bodyPr wrap="square" lIns="0" tIns="0" rIns="0" bIns="0" rtlCol="0" anchor="t"/>
          <a:lstStyle/>
          <a:p>
            <a:pPr marL="0" indent="0">
              <a:lnSpc>
                <a:spcPts val="1400"/>
              </a:lnSpc>
              <a:buNone/>
            </a:pPr>
            <a:r>
              <a:rPr lang="en-US" sz="1050" dirty="0">
                <a:solidFill>
                  <a:srgbClr val="39415E"/>
                </a:solidFill>
                <a:latin typeface="맑은 고딕" pitchFamily="34" charset="0"/>
                <a:ea typeface="맑은 고딕" pitchFamily="34" charset="-122"/>
                <a:cs typeface="맑은 고딕" pitchFamily="34" charset="-120"/>
              </a:rPr>
              <a:t>그</a:t>
            </a:r>
            <a:endParaRPr lang="en-US" sz="1050" dirty="0"/>
          </a:p>
        </p:txBody>
      </p:sp>
      <p:sp>
        <p:nvSpPr>
          <p:cNvPr id="36" name="Text 34"/>
          <p:cNvSpPr/>
          <p:nvPr/>
        </p:nvSpPr>
        <p:spPr>
          <a:xfrm>
            <a:off x="6236208" y="4626864"/>
            <a:ext cx="2377440" cy="274320"/>
          </a:xfrm>
          <a:prstGeom prst="rect">
            <a:avLst/>
          </a:prstGeom>
          <a:noFill/>
          <a:ln/>
        </p:spPr>
        <p:txBody>
          <a:bodyPr wrap="square" lIns="0" tIns="0" rIns="0" bIns="0" rtlCol="0" anchor="ctr"/>
          <a:lstStyle/>
          <a:p>
            <a:pPr marL="0" indent="0">
              <a:buNone/>
            </a:pPr>
            <a:r>
              <a:rPr lang="en-US" sz="1250" b="1" dirty="0">
                <a:solidFill>
                  <a:srgbClr val="001871"/>
                </a:solidFill>
                <a:latin typeface="맑은 고딕" pitchFamily="34" charset="0"/>
                <a:ea typeface="맑은 고딕" pitchFamily="34" charset="-122"/>
                <a:cs typeface="맑은 고딕" pitchFamily="34" charset="-120"/>
              </a:rPr>
              <a:t>안</a:t>
            </a:r>
            <a:endParaRPr lang="en-US" sz="1250" dirty="0"/>
          </a:p>
        </p:txBody>
      </p:sp>
      <p:sp>
        <p:nvSpPr>
          <p:cNvPr id="37" name="Text 35"/>
          <p:cNvSpPr/>
          <p:nvPr/>
        </p:nvSpPr>
        <p:spPr>
          <a:xfrm>
            <a:off x="6236208" y="4901184"/>
            <a:ext cx="2450592" cy="640080"/>
          </a:xfrm>
          <a:prstGeom prst="rect">
            <a:avLst/>
          </a:prstGeom>
          <a:noFill/>
          <a:ln/>
        </p:spPr>
        <p:txBody>
          <a:bodyPr wrap="square" lIns="0" tIns="0" rIns="0" bIns="0" rtlCol="0" anchor="t"/>
          <a:lstStyle/>
          <a:p>
            <a:pPr marL="0" indent="0">
              <a:lnSpc>
                <a:spcPts val="1400"/>
              </a:lnSpc>
              <a:buNone/>
            </a:pPr>
            <a:r>
              <a:rPr lang="en-US" sz="1050" dirty="0">
                <a:solidFill>
                  <a:srgbClr val="39415E"/>
                </a:solidFill>
                <a:latin typeface="맑은 고딕" pitchFamily="34" charset="0"/>
                <a:ea typeface="맑은 고딕" pitchFamily="34" charset="-122"/>
                <a:cs typeface="맑은 고딕" pitchFamily="34" charset="-120"/>
              </a:rPr>
              <a:t>'몰</a:t>
            </a:r>
            <a:endParaRPr lang="en-US" sz="1050" dirty="0"/>
          </a:p>
        </p:txBody>
      </p:sp>
      <p:sp>
        <p:nvSpPr>
          <p:cNvPr id="39" name="Text 37"/>
          <p:cNvSpPr/>
          <p:nvPr/>
        </p:nvSpPr>
        <p:spPr>
          <a:xfrm>
            <a:off x="8933688" y="4626864"/>
            <a:ext cx="2377440" cy="274320"/>
          </a:xfrm>
          <a:prstGeom prst="rect">
            <a:avLst/>
          </a:prstGeom>
          <a:noFill/>
          <a:ln/>
        </p:spPr>
        <p:txBody>
          <a:bodyPr wrap="square" lIns="0" tIns="0" rIns="0" bIns="0" rtlCol="0" anchor="ctr"/>
          <a:lstStyle/>
          <a:p>
            <a:pPr marL="0" indent="0">
              <a:buNone/>
            </a:pPr>
            <a:r>
              <a:rPr lang="ko-KR" altLang="en-US" sz="1250" b="1" dirty="0">
                <a:solidFill>
                  <a:srgbClr val="001871"/>
                </a:solidFill>
                <a:latin typeface="맑은 고딕" pitchFamily="34" charset="0"/>
                <a:ea typeface="맑은 고딕" pitchFamily="34" charset="-122"/>
                <a:cs typeface="맑은 고딕" pitchFamily="34" charset="-120"/>
              </a:rPr>
              <a:t>정</a:t>
            </a:r>
            <a:endParaRPr lang="en-US" sz="1250" dirty="0"/>
          </a:p>
        </p:txBody>
      </p:sp>
      <p:sp>
        <p:nvSpPr>
          <p:cNvPr id="40" name="Text 38"/>
          <p:cNvSpPr/>
          <p:nvPr/>
        </p:nvSpPr>
        <p:spPr>
          <a:xfrm>
            <a:off x="8933688" y="4901184"/>
            <a:ext cx="2450592" cy="640080"/>
          </a:xfrm>
          <a:prstGeom prst="rect">
            <a:avLst/>
          </a:prstGeom>
          <a:noFill/>
          <a:ln/>
        </p:spPr>
        <p:txBody>
          <a:bodyPr wrap="square" lIns="0" tIns="0" rIns="0" bIns="0" rtlCol="0" anchor="t"/>
          <a:lstStyle/>
          <a:p>
            <a:pPr marL="0" indent="0">
              <a:lnSpc>
                <a:spcPts val="1400"/>
              </a:lnSpc>
              <a:buNone/>
            </a:pPr>
            <a:endParaRPr lang="en-US" sz="1050" dirty="0"/>
          </a:p>
        </p:txBody>
      </p:sp>
      <p:sp>
        <p:nvSpPr>
          <p:cNvPr id="44" name="Text 41"/>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45" name="Text 42"/>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6</a:t>
            </a:r>
            <a:endParaRPr lang="en-US" sz="900" dirty="0"/>
          </a:p>
        </p:txBody>
      </p:sp>
      <p:sp>
        <p:nvSpPr>
          <p:cNvPr id="48" name="Text 35">
            <a:extLst>
              <a:ext uri="{FF2B5EF4-FFF2-40B4-BE49-F238E27FC236}">
                <a16:creationId xmlns:a16="http://schemas.microsoft.com/office/drawing/2014/main" id="{6D57A090-370F-3C30-AF30-F5BF3B8195C1}"/>
              </a:ext>
            </a:extLst>
          </p:cNvPr>
          <p:cNvSpPr/>
          <p:nvPr/>
        </p:nvSpPr>
        <p:spPr>
          <a:xfrm>
            <a:off x="8936367" y="4896012"/>
            <a:ext cx="2450592" cy="640080"/>
          </a:xfrm>
          <a:prstGeom prst="rect">
            <a:avLst/>
          </a:prstGeom>
          <a:noFill/>
          <a:ln/>
        </p:spPr>
        <p:txBody>
          <a:bodyPr wrap="square" lIns="0" tIns="0" rIns="0" bIns="0" rtlCol="0" anchor="t"/>
          <a:lstStyle/>
          <a:p>
            <a:pPr marL="0" indent="0">
              <a:lnSpc>
                <a:spcPts val="1400"/>
              </a:lnSpc>
              <a:buNone/>
            </a:pPr>
            <a:r>
              <a:rPr lang="en-US" sz="1050" dirty="0">
                <a:solidFill>
                  <a:srgbClr val="39415E"/>
                </a:solidFill>
                <a:latin typeface="맑은 고딕" pitchFamily="34" charset="0"/>
                <a:ea typeface="맑은 고딕" pitchFamily="34" charset="-122"/>
                <a:cs typeface="맑은 고딕" pitchFamily="34" charset="-120"/>
              </a:rPr>
              <a:t>'몰</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02  </a:t>
            </a:r>
            <a:r>
              <a:rPr lang="en-US" sz="1200" b="1" kern="0" spc="140" dirty="0" err="1">
                <a:solidFill>
                  <a:srgbClr val="001871"/>
                </a:solidFill>
                <a:latin typeface="맑은 고딕" pitchFamily="34" charset="0"/>
                <a:ea typeface="맑은 고딕" pitchFamily="34" charset="-122"/>
                <a:cs typeface="맑은 고딕" pitchFamily="34" charset="-120"/>
              </a:rPr>
              <a:t>활용</a:t>
            </a:r>
            <a:r>
              <a:rPr lang="ko-KR" altLang="en-US" sz="1200" b="1" kern="0" spc="140" dirty="0">
                <a:solidFill>
                  <a:srgbClr val="001871"/>
                </a:solidFill>
                <a:latin typeface="맑은 고딕" pitchFamily="34" charset="0"/>
                <a:ea typeface="맑은 고딕" pitchFamily="34" charset="-122"/>
                <a:cs typeface="맑은 고딕" pitchFamily="34" charset="-120"/>
              </a:rPr>
              <a:t>한</a:t>
            </a:r>
            <a:r>
              <a:rPr lang="en-US" sz="1200" b="1" kern="0" spc="140" dirty="0">
                <a:solidFill>
                  <a:srgbClr val="001871"/>
                </a:solidFill>
                <a:latin typeface="맑은 고딕" pitchFamily="34" charset="0"/>
                <a:ea typeface="맑은 고딕" pitchFamily="34" charset="-122"/>
                <a:cs typeface="맑은 고딕" pitchFamily="34" charset="-120"/>
              </a:rPr>
              <a:t> </a:t>
            </a:r>
            <a:r>
              <a:rPr lang="en-US" sz="1200" b="1" kern="0" spc="140" dirty="0" err="1">
                <a:solidFill>
                  <a:srgbClr val="001871"/>
                </a:solidFill>
                <a:latin typeface="맑은 고딕" pitchFamily="34" charset="0"/>
                <a:ea typeface="맑은 고딕" pitchFamily="34" charset="-122"/>
                <a:cs typeface="맑은 고딕" pitchFamily="34" charset="-120"/>
              </a:rPr>
              <a:t>데이터와</a:t>
            </a:r>
            <a:r>
              <a:rPr lang="en-US" sz="1200" b="1" kern="0" spc="140" dirty="0">
                <a:solidFill>
                  <a:srgbClr val="001871"/>
                </a:solidFill>
                <a:latin typeface="맑은 고딕" pitchFamily="34" charset="0"/>
                <a:ea typeface="맑은 고딕" pitchFamily="34" charset="-122"/>
                <a:cs typeface="맑은 고딕" pitchFamily="34" charset="-120"/>
              </a:rPr>
              <a:t> </a:t>
            </a:r>
            <a:r>
              <a:rPr lang="ko-KR" altLang="en-US" sz="1200" b="1" kern="0" spc="140" dirty="0">
                <a:solidFill>
                  <a:srgbClr val="001871"/>
                </a:solidFill>
                <a:latin typeface="맑은 고딕" pitchFamily="34" charset="0"/>
                <a:ea typeface="맑은 고딕" pitchFamily="34" charset="-122"/>
                <a:cs typeface="맑은 고딕" pitchFamily="34" charset="-120"/>
              </a:rPr>
              <a:t>처리</a:t>
            </a:r>
            <a:r>
              <a:rPr lang="en-US" sz="1200" b="1" kern="0" spc="140" dirty="0">
                <a:solidFill>
                  <a:srgbClr val="001871"/>
                </a:solidFill>
                <a:latin typeface="맑은 고딕" pitchFamily="34" charset="0"/>
                <a:ea typeface="맑은 고딕" pitchFamily="34" charset="-122"/>
                <a:cs typeface="맑은 고딕" pitchFamily="34" charset="-120"/>
              </a:rPr>
              <a:t> 구조</a:t>
            </a:r>
            <a:endParaRPr lang="en-US" sz="1200" dirty="0"/>
          </a:p>
        </p:txBody>
      </p:sp>
      <p:sp>
        <p:nvSpPr>
          <p:cNvPr id="3" name="Text 1"/>
          <p:cNvSpPr/>
          <p:nvPr/>
        </p:nvSpPr>
        <p:spPr>
          <a:xfrm>
            <a:off x="566928" y="804672"/>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춘천 공공데이터 9종을 정류장 단위로 결합했습니다</a:t>
            </a:r>
            <a:endParaRPr lang="en-US" sz="3000" dirty="0"/>
          </a:p>
        </p:txBody>
      </p:sp>
      <p:sp>
        <p:nvSpPr>
          <p:cNvPr id="5" name="Text 3"/>
          <p:cNvSpPr/>
          <p:nvPr/>
        </p:nvSpPr>
        <p:spPr>
          <a:xfrm>
            <a:off x="566928" y="1645920"/>
            <a:ext cx="3520440" cy="292608"/>
          </a:xfrm>
          <a:prstGeom prst="rect">
            <a:avLst/>
          </a:prstGeom>
          <a:noFill/>
          <a:ln/>
        </p:spPr>
        <p:txBody>
          <a:bodyPr wrap="square" lIns="0" tIns="0" rIns="0" bIns="0" rtlCol="0" anchor="ctr"/>
          <a:lstStyle/>
          <a:p>
            <a:pPr marL="0" indent="0">
              <a:buNone/>
            </a:pPr>
            <a:r>
              <a:rPr lang="en-US" sz="1500" b="1" dirty="0">
                <a:solidFill>
                  <a:srgbClr val="001871"/>
                </a:solidFill>
                <a:latin typeface="맑은 고딕" pitchFamily="34" charset="0"/>
                <a:ea typeface="맑은 고딕" pitchFamily="34" charset="-122"/>
                <a:cs typeface="맑은 고딕" pitchFamily="34" charset="-120"/>
              </a:rPr>
              <a:t>춘천시·국토부 공공데이터</a:t>
            </a:r>
            <a:endParaRPr lang="en-US" sz="1500" dirty="0"/>
          </a:p>
        </p:txBody>
      </p:sp>
      <p:sp>
        <p:nvSpPr>
          <p:cNvPr id="6" name="Shape 4"/>
          <p:cNvSpPr/>
          <p:nvPr/>
        </p:nvSpPr>
        <p:spPr>
          <a:xfrm>
            <a:off x="566928" y="2011680"/>
            <a:ext cx="3520440" cy="402336"/>
          </a:xfrm>
          <a:prstGeom prst="roundRect">
            <a:avLst>
              <a:gd name="adj" fmla="val 9091"/>
            </a:avLst>
          </a:prstGeom>
          <a:solidFill>
            <a:srgbClr val="FCEEE0"/>
          </a:solidFill>
          <a:ln w="12700">
            <a:solidFill>
              <a:srgbClr val="F2C99E"/>
            </a:solidFill>
            <a:prstDash val="solid"/>
          </a:ln>
        </p:spPr>
        <p:txBody>
          <a:bodyPr/>
          <a:lstStyle/>
          <a:p>
            <a:endParaRPr lang="ko-KR" altLang="en-US"/>
          </a:p>
        </p:txBody>
      </p:sp>
      <p:sp>
        <p:nvSpPr>
          <p:cNvPr id="7" name="Text 5"/>
          <p:cNvSpPr/>
          <p:nvPr/>
        </p:nvSpPr>
        <p:spPr>
          <a:xfrm>
            <a:off x="713232" y="2029968"/>
            <a:ext cx="3282696" cy="192024"/>
          </a:xfrm>
          <a:prstGeom prst="rect">
            <a:avLst/>
          </a:prstGeom>
          <a:noFill/>
          <a:ln/>
        </p:spPr>
        <p:txBody>
          <a:bodyPr wrap="square" lIns="0" tIns="0" rIns="0" bIns="0" rtlCol="0" anchor="ctr"/>
          <a:lstStyle/>
          <a:p>
            <a:pPr marL="0" indent="0">
              <a:buNone/>
            </a:pPr>
            <a:r>
              <a:rPr lang="en-US" sz="1050" b="1" dirty="0">
                <a:solidFill>
                  <a:srgbClr val="E8751A"/>
                </a:solidFill>
                <a:latin typeface="맑은 고딕" pitchFamily="34" charset="0"/>
                <a:ea typeface="맑은 고딕" pitchFamily="34" charset="-122"/>
                <a:cs typeface="맑은 고딕" pitchFamily="34" charset="-120"/>
              </a:rPr>
              <a:t>무더위쉼터 ★</a:t>
            </a:r>
            <a:endParaRPr lang="en-US" sz="1050" dirty="0"/>
          </a:p>
        </p:txBody>
      </p:sp>
      <p:sp>
        <p:nvSpPr>
          <p:cNvPr id="8" name="Text 6"/>
          <p:cNvSpPr/>
          <p:nvPr/>
        </p:nvSpPr>
        <p:spPr>
          <a:xfrm>
            <a:off x="713232" y="2203704"/>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230개소 · 좌표 100% — 안내의 핵심</a:t>
            </a:r>
            <a:endParaRPr lang="en-US" sz="900" dirty="0"/>
          </a:p>
        </p:txBody>
      </p:sp>
      <p:sp>
        <p:nvSpPr>
          <p:cNvPr id="9" name="Shape 7"/>
          <p:cNvSpPr/>
          <p:nvPr/>
        </p:nvSpPr>
        <p:spPr>
          <a:xfrm>
            <a:off x="566928" y="2450592"/>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10" name="Text 8"/>
          <p:cNvSpPr/>
          <p:nvPr/>
        </p:nvSpPr>
        <p:spPr>
          <a:xfrm>
            <a:off x="713232" y="2468880"/>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폭염대비 접이식그늘막</a:t>
            </a:r>
            <a:endParaRPr lang="en-US" sz="1050" dirty="0"/>
          </a:p>
        </p:txBody>
      </p:sp>
      <p:sp>
        <p:nvSpPr>
          <p:cNvPr id="11" name="Text 9"/>
          <p:cNvSpPr/>
          <p:nvPr/>
        </p:nvSpPr>
        <p:spPr>
          <a:xfrm>
            <a:off x="713232" y="2642616"/>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306개소 · 그늘 정보 보정</a:t>
            </a:r>
            <a:endParaRPr lang="en-US" sz="900" dirty="0"/>
          </a:p>
        </p:txBody>
      </p:sp>
      <p:sp>
        <p:nvSpPr>
          <p:cNvPr id="12" name="Shape 10"/>
          <p:cNvSpPr/>
          <p:nvPr/>
        </p:nvSpPr>
        <p:spPr>
          <a:xfrm>
            <a:off x="566928" y="2889504"/>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13" name="Text 11"/>
          <p:cNvSpPr/>
          <p:nvPr/>
        </p:nvSpPr>
        <p:spPr>
          <a:xfrm>
            <a:off x="713232" y="2907792"/>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버스정류장 위치정보</a:t>
            </a:r>
            <a:endParaRPr lang="en-US" sz="1050" dirty="0"/>
          </a:p>
        </p:txBody>
      </p:sp>
      <p:sp>
        <p:nvSpPr>
          <p:cNvPr id="14" name="Text 12"/>
          <p:cNvSpPr/>
          <p:nvPr/>
        </p:nvSpPr>
        <p:spPr>
          <a:xfrm>
            <a:off x="713232" y="3081528"/>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1,890개 · 좌표/번호/관리번호</a:t>
            </a:r>
            <a:endParaRPr lang="en-US" sz="900" dirty="0"/>
          </a:p>
        </p:txBody>
      </p:sp>
      <p:sp>
        <p:nvSpPr>
          <p:cNvPr id="15" name="Shape 13"/>
          <p:cNvSpPr/>
          <p:nvPr/>
        </p:nvSpPr>
        <p:spPr>
          <a:xfrm>
            <a:off x="566928" y="3328416"/>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16" name="Text 14"/>
          <p:cNvSpPr/>
          <p:nvPr/>
        </p:nvSpPr>
        <p:spPr>
          <a:xfrm>
            <a:off x="713232" y="3346704"/>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버스정류장 노선정보</a:t>
            </a:r>
            <a:endParaRPr lang="en-US" sz="1050" dirty="0"/>
          </a:p>
        </p:txBody>
      </p:sp>
      <p:sp>
        <p:nvSpPr>
          <p:cNvPr id="17" name="Text 15"/>
          <p:cNvSpPr/>
          <p:nvPr/>
        </p:nvSpPr>
        <p:spPr>
          <a:xfrm>
            <a:off x="713232" y="3520440"/>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16,168행 · 경유 순서</a:t>
            </a:r>
            <a:endParaRPr lang="en-US" sz="900" dirty="0"/>
          </a:p>
        </p:txBody>
      </p:sp>
      <p:sp>
        <p:nvSpPr>
          <p:cNvPr id="18" name="Shape 16"/>
          <p:cNvSpPr/>
          <p:nvPr/>
        </p:nvSpPr>
        <p:spPr>
          <a:xfrm>
            <a:off x="566928" y="3767328"/>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19" name="Text 17"/>
          <p:cNvSpPr/>
          <p:nvPr/>
        </p:nvSpPr>
        <p:spPr>
          <a:xfrm>
            <a:off x="713232" y="3785616"/>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벤치 현황</a:t>
            </a:r>
            <a:endParaRPr lang="en-US" sz="1050" dirty="0"/>
          </a:p>
        </p:txBody>
      </p:sp>
      <p:sp>
        <p:nvSpPr>
          <p:cNvPr id="20" name="Text 18"/>
          <p:cNvSpPr/>
          <p:nvPr/>
        </p:nvSpPr>
        <p:spPr>
          <a:xfrm>
            <a:off x="713232" y="3959352"/>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681건 → 의자 819개 정류장</a:t>
            </a:r>
            <a:endParaRPr lang="en-US" sz="900" dirty="0"/>
          </a:p>
        </p:txBody>
      </p:sp>
      <p:sp>
        <p:nvSpPr>
          <p:cNvPr id="21" name="Shape 19"/>
          <p:cNvSpPr/>
          <p:nvPr/>
        </p:nvSpPr>
        <p:spPr>
          <a:xfrm>
            <a:off x="566928" y="4206240"/>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22" name="Text 20"/>
          <p:cNvSpPr/>
          <p:nvPr/>
        </p:nvSpPr>
        <p:spPr>
          <a:xfrm>
            <a:off x="713232" y="4224528"/>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버스정보안내단말기(BIT)</a:t>
            </a:r>
            <a:endParaRPr lang="en-US" sz="1050" dirty="0"/>
          </a:p>
        </p:txBody>
      </p:sp>
      <p:sp>
        <p:nvSpPr>
          <p:cNvPr id="23" name="Text 21"/>
          <p:cNvSpPr/>
          <p:nvPr/>
        </p:nvSpPr>
        <p:spPr>
          <a:xfrm>
            <a:off x="713232" y="4398264"/>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345건 → 안내기 307개 정류장</a:t>
            </a:r>
            <a:endParaRPr lang="en-US" sz="900" dirty="0"/>
          </a:p>
        </p:txBody>
      </p:sp>
      <p:sp>
        <p:nvSpPr>
          <p:cNvPr id="24" name="Shape 22"/>
          <p:cNvSpPr/>
          <p:nvPr/>
        </p:nvSpPr>
        <p:spPr>
          <a:xfrm>
            <a:off x="566928" y="4645152"/>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25" name="Text 23"/>
          <p:cNvSpPr/>
          <p:nvPr/>
        </p:nvSpPr>
        <p:spPr>
          <a:xfrm>
            <a:off x="713232" y="4663440"/>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가로등 정보</a:t>
            </a:r>
            <a:endParaRPr lang="en-US" sz="1050" dirty="0"/>
          </a:p>
        </p:txBody>
      </p:sp>
      <p:sp>
        <p:nvSpPr>
          <p:cNvPr id="26" name="Text 24"/>
          <p:cNvSpPr/>
          <p:nvPr/>
        </p:nvSpPr>
        <p:spPr>
          <a:xfrm>
            <a:off x="713232" y="4837176"/>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13,713건 → 반경 내 조명 추정</a:t>
            </a:r>
            <a:endParaRPr lang="en-US" sz="900" dirty="0"/>
          </a:p>
        </p:txBody>
      </p:sp>
      <p:sp>
        <p:nvSpPr>
          <p:cNvPr id="27" name="Shape 25"/>
          <p:cNvSpPr/>
          <p:nvPr/>
        </p:nvSpPr>
        <p:spPr>
          <a:xfrm>
            <a:off x="566928" y="5084064"/>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28" name="Text 26"/>
          <p:cNvSpPr/>
          <p:nvPr/>
        </p:nvSpPr>
        <p:spPr>
          <a:xfrm>
            <a:off x="713232" y="5102352"/>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시간대별 승하차 인원</a:t>
            </a:r>
            <a:endParaRPr lang="en-US" sz="1050" dirty="0"/>
          </a:p>
        </p:txBody>
      </p:sp>
      <p:sp>
        <p:nvSpPr>
          <p:cNvPr id="29" name="Text 27"/>
          <p:cNvSpPr/>
          <p:nvPr/>
        </p:nvSpPr>
        <p:spPr>
          <a:xfrm>
            <a:off x="713232" y="5276088"/>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정류장별 24시간 이용량</a:t>
            </a:r>
            <a:endParaRPr lang="en-US" sz="900" dirty="0"/>
          </a:p>
        </p:txBody>
      </p:sp>
      <p:sp>
        <p:nvSpPr>
          <p:cNvPr id="30" name="Shape 28"/>
          <p:cNvSpPr/>
          <p:nvPr/>
        </p:nvSpPr>
        <p:spPr>
          <a:xfrm>
            <a:off x="566928" y="5522976"/>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31" name="Text 29"/>
          <p:cNvSpPr/>
          <p:nvPr/>
        </p:nvSpPr>
        <p:spPr>
          <a:xfrm>
            <a:off x="713232" y="5541264"/>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국토교통부 정류장 현황</a:t>
            </a:r>
            <a:endParaRPr lang="en-US" sz="1050" dirty="0"/>
          </a:p>
        </p:txBody>
      </p:sp>
      <p:sp>
        <p:nvSpPr>
          <p:cNvPr id="32" name="Text 30"/>
          <p:cNvSpPr/>
          <p:nvPr/>
        </p:nvSpPr>
        <p:spPr>
          <a:xfrm>
            <a:off x="713232" y="5715000"/>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승차ID ↔ 정류장번호 대응</a:t>
            </a:r>
            <a:endParaRPr lang="en-US" sz="900" dirty="0"/>
          </a:p>
        </p:txBody>
      </p:sp>
      <p:sp>
        <p:nvSpPr>
          <p:cNvPr id="33" name="Text 31"/>
          <p:cNvSpPr/>
          <p:nvPr/>
        </p:nvSpPr>
        <p:spPr>
          <a:xfrm>
            <a:off x="4590288" y="1645920"/>
            <a:ext cx="3520440" cy="292608"/>
          </a:xfrm>
          <a:prstGeom prst="rect">
            <a:avLst/>
          </a:prstGeom>
          <a:noFill/>
          <a:ln/>
        </p:spPr>
        <p:txBody>
          <a:bodyPr wrap="square" lIns="0" tIns="0" rIns="0" bIns="0" rtlCol="0" anchor="ctr"/>
          <a:lstStyle/>
          <a:p>
            <a:pPr marL="0" indent="0">
              <a:buNone/>
            </a:pPr>
            <a:r>
              <a:rPr lang="en-US" sz="1500" b="1" dirty="0">
                <a:solidFill>
                  <a:srgbClr val="2B44A8"/>
                </a:solidFill>
                <a:latin typeface="맑은 고딕" pitchFamily="34" charset="0"/>
                <a:ea typeface="맑은 고딕" pitchFamily="34" charset="-122"/>
                <a:cs typeface="맑은 고딕" pitchFamily="34" charset="-120"/>
              </a:rPr>
              <a:t>외부 API</a:t>
            </a:r>
            <a:endParaRPr lang="en-US" sz="1500" dirty="0"/>
          </a:p>
        </p:txBody>
      </p:sp>
      <p:sp>
        <p:nvSpPr>
          <p:cNvPr id="34" name="Shape 32"/>
          <p:cNvSpPr/>
          <p:nvPr/>
        </p:nvSpPr>
        <p:spPr>
          <a:xfrm>
            <a:off x="4590288" y="2011680"/>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35" name="Text 33"/>
          <p:cNvSpPr/>
          <p:nvPr/>
        </p:nvSpPr>
        <p:spPr>
          <a:xfrm>
            <a:off x="4736592" y="2029968"/>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TAGO 버스도착정보</a:t>
            </a:r>
            <a:endParaRPr lang="en-US" sz="1050" dirty="0"/>
          </a:p>
        </p:txBody>
      </p:sp>
      <p:sp>
        <p:nvSpPr>
          <p:cNvPr id="36" name="Text 34"/>
          <p:cNvSpPr/>
          <p:nvPr/>
        </p:nvSpPr>
        <p:spPr>
          <a:xfrm>
            <a:off x="4736592" y="2203704"/>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실시간 도착 예정 (서버 프록시)</a:t>
            </a:r>
            <a:endParaRPr lang="en-US" sz="900" dirty="0"/>
          </a:p>
        </p:txBody>
      </p:sp>
      <p:sp>
        <p:nvSpPr>
          <p:cNvPr id="37" name="Shape 35"/>
          <p:cNvSpPr/>
          <p:nvPr/>
        </p:nvSpPr>
        <p:spPr>
          <a:xfrm>
            <a:off x="4590288" y="2450592"/>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38" name="Text 36"/>
          <p:cNvSpPr/>
          <p:nvPr/>
        </p:nvSpPr>
        <p:spPr>
          <a:xfrm>
            <a:off x="4736592" y="2468880"/>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TAGO 버스정류소정보</a:t>
            </a:r>
            <a:endParaRPr lang="en-US" sz="1050" dirty="0"/>
          </a:p>
        </p:txBody>
      </p:sp>
      <p:sp>
        <p:nvSpPr>
          <p:cNvPr id="39" name="Text 37"/>
          <p:cNvSpPr/>
          <p:nvPr/>
        </p:nvSpPr>
        <p:spPr>
          <a:xfrm>
            <a:off x="4736592" y="2642616"/>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nodeId 대응 · 경유 노선</a:t>
            </a:r>
            <a:endParaRPr lang="en-US" sz="900" dirty="0"/>
          </a:p>
        </p:txBody>
      </p:sp>
      <p:sp>
        <p:nvSpPr>
          <p:cNvPr id="40" name="Shape 38"/>
          <p:cNvSpPr/>
          <p:nvPr/>
        </p:nvSpPr>
        <p:spPr>
          <a:xfrm>
            <a:off x="4590288" y="2889504"/>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41" name="Text 39"/>
          <p:cNvSpPr/>
          <p:nvPr/>
        </p:nvSpPr>
        <p:spPr>
          <a:xfrm>
            <a:off x="4736592" y="2907792"/>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카카오맵 JavaScript SDK</a:t>
            </a:r>
            <a:endParaRPr lang="en-US" sz="1050" dirty="0"/>
          </a:p>
        </p:txBody>
      </p:sp>
      <p:sp>
        <p:nvSpPr>
          <p:cNvPr id="42" name="Text 40"/>
          <p:cNvSpPr/>
          <p:nvPr/>
        </p:nvSpPr>
        <p:spPr>
          <a:xfrm>
            <a:off x="4736592" y="3081528"/>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정류장·쉼터 지도 표시</a:t>
            </a:r>
            <a:endParaRPr lang="en-US" sz="900" dirty="0"/>
          </a:p>
        </p:txBody>
      </p:sp>
      <p:sp>
        <p:nvSpPr>
          <p:cNvPr id="43" name="Shape 41"/>
          <p:cNvSpPr/>
          <p:nvPr/>
        </p:nvSpPr>
        <p:spPr>
          <a:xfrm>
            <a:off x="4590288" y="3328416"/>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44" name="Text 42"/>
          <p:cNvSpPr/>
          <p:nvPr/>
        </p:nvSpPr>
        <p:spPr>
          <a:xfrm>
            <a:off x="4736592" y="3346704"/>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카카오맵 로드뷰</a:t>
            </a:r>
            <a:endParaRPr lang="en-US" sz="1050" dirty="0"/>
          </a:p>
        </p:txBody>
      </p:sp>
      <p:sp>
        <p:nvSpPr>
          <p:cNvPr id="45" name="Text 43"/>
          <p:cNvSpPr/>
          <p:nvPr/>
        </p:nvSpPr>
        <p:spPr>
          <a:xfrm>
            <a:off x="4736592" y="3520440"/>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시설 육안 조사 시 참조</a:t>
            </a:r>
            <a:endParaRPr lang="en-US" sz="900" dirty="0"/>
          </a:p>
        </p:txBody>
      </p:sp>
      <p:sp>
        <p:nvSpPr>
          <p:cNvPr id="46" name="Text 44"/>
          <p:cNvSpPr/>
          <p:nvPr/>
        </p:nvSpPr>
        <p:spPr>
          <a:xfrm>
            <a:off x="8394192" y="1645920"/>
            <a:ext cx="3520440" cy="292608"/>
          </a:xfrm>
          <a:prstGeom prst="rect">
            <a:avLst/>
          </a:prstGeom>
          <a:noFill/>
          <a:ln/>
        </p:spPr>
        <p:txBody>
          <a:bodyPr wrap="square" lIns="0" tIns="0" rIns="0" bIns="0" rtlCol="0" anchor="ctr"/>
          <a:lstStyle/>
          <a:p>
            <a:pPr marL="0" indent="0">
              <a:buNone/>
            </a:pPr>
            <a:r>
              <a:rPr lang="en-US" sz="1500" b="1" dirty="0">
                <a:solidFill>
                  <a:srgbClr val="E8751A"/>
                </a:solidFill>
                <a:latin typeface="맑은 고딕" pitchFamily="34" charset="0"/>
                <a:ea typeface="맑은 고딕" pitchFamily="34" charset="-122"/>
                <a:cs typeface="맑은 고딕" pitchFamily="34" charset="-120"/>
              </a:rPr>
              <a:t>자체 구축 데이터</a:t>
            </a:r>
            <a:endParaRPr lang="en-US" sz="1500" dirty="0"/>
          </a:p>
        </p:txBody>
      </p:sp>
      <p:sp>
        <p:nvSpPr>
          <p:cNvPr id="47" name="Shape 45"/>
          <p:cNvSpPr/>
          <p:nvPr/>
        </p:nvSpPr>
        <p:spPr>
          <a:xfrm>
            <a:off x="8394192" y="2011680"/>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48" name="Text 46"/>
          <p:cNvSpPr/>
          <p:nvPr/>
        </p:nvSpPr>
        <p:spPr>
          <a:xfrm>
            <a:off x="8540496" y="2029968"/>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정류장 시설 현황 조사</a:t>
            </a:r>
            <a:endParaRPr lang="en-US" sz="1050" dirty="0"/>
          </a:p>
        </p:txBody>
      </p:sp>
      <p:sp>
        <p:nvSpPr>
          <p:cNvPr id="49" name="Text 47"/>
          <p:cNvSpPr/>
          <p:nvPr/>
        </p:nvSpPr>
        <p:spPr>
          <a:xfrm>
            <a:off x="8540496" y="2203704"/>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163개소 · 로드뷰 육안 판독</a:t>
            </a:r>
            <a:endParaRPr lang="en-US" sz="900" dirty="0"/>
          </a:p>
        </p:txBody>
      </p:sp>
      <p:sp>
        <p:nvSpPr>
          <p:cNvPr id="50" name="Shape 48"/>
          <p:cNvSpPr/>
          <p:nvPr/>
        </p:nvSpPr>
        <p:spPr>
          <a:xfrm>
            <a:off x="8394192" y="2450592"/>
            <a:ext cx="3520440" cy="402336"/>
          </a:xfrm>
          <a:prstGeom prst="roundRect">
            <a:avLst>
              <a:gd name="adj" fmla="val 9091"/>
            </a:avLst>
          </a:prstGeom>
          <a:solidFill>
            <a:srgbClr val="FFFFFF"/>
          </a:solidFill>
          <a:ln w="12700">
            <a:solidFill>
              <a:srgbClr val="D4DAEE"/>
            </a:solidFill>
            <a:prstDash val="solid"/>
          </a:ln>
        </p:spPr>
        <p:txBody>
          <a:bodyPr/>
          <a:lstStyle/>
          <a:p>
            <a:endParaRPr lang="ko-KR" altLang="en-US"/>
          </a:p>
        </p:txBody>
      </p:sp>
      <p:sp>
        <p:nvSpPr>
          <p:cNvPr id="51" name="Text 49"/>
          <p:cNvSpPr/>
          <p:nvPr/>
        </p:nvSpPr>
        <p:spPr>
          <a:xfrm>
            <a:off x="8540496" y="2468880"/>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정류장 ID 대응 테이블</a:t>
            </a:r>
            <a:endParaRPr lang="en-US" sz="1050" dirty="0"/>
          </a:p>
        </p:txBody>
      </p:sp>
      <p:sp>
        <p:nvSpPr>
          <p:cNvPr id="52" name="Text 50"/>
          <p:cNvSpPr/>
          <p:nvPr/>
        </p:nvSpPr>
        <p:spPr>
          <a:xfrm>
            <a:off x="8540496" y="2642616"/>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1,038행 · 4개 ID 체계 연결</a:t>
            </a:r>
            <a:endParaRPr lang="en-US" sz="900" dirty="0"/>
          </a:p>
        </p:txBody>
      </p:sp>
      <p:sp>
        <p:nvSpPr>
          <p:cNvPr id="53" name="Shape 51"/>
          <p:cNvSpPr/>
          <p:nvPr/>
        </p:nvSpPr>
        <p:spPr>
          <a:xfrm>
            <a:off x="8394192" y="2889504"/>
            <a:ext cx="3520440" cy="402336"/>
          </a:xfrm>
          <a:prstGeom prst="roundRect">
            <a:avLst>
              <a:gd name="adj" fmla="val 9091"/>
            </a:avLst>
          </a:prstGeom>
          <a:solidFill>
            <a:srgbClr val="F4F6FC"/>
          </a:solidFill>
          <a:ln w="12700">
            <a:solidFill>
              <a:srgbClr val="D4DAEE"/>
            </a:solidFill>
            <a:prstDash val="solid"/>
          </a:ln>
        </p:spPr>
        <p:txBody>
          <a:bodyPr/>
          <a:lstStyle/>
          <a:p>
            <a:endParaRPr lang="ko-KR" altLang="en-US"/>
          </a:p>
        </p:txBody>
      </p:sp>
      <p:sp>
        <p:nvSpPr>
          <p:cNvPr id="54" name="Text 52"/>
          <p:cNvSpPr/>
          <p:nvPr/>
        </p:nvSpPr>
        <p:spPr>
          <a:xfrm>
            <a:off x="8540496" y="2907792"/>
            <a:ext cx="3282696" cy="192024"/>
          </a:xfrm>
          <a:prstGeom prst="rect">
            <a:avLst/>
          </a:prstGeom>
          <a:noFill/>
          <a:ln/>
        </p:spPr>
        <p:txBody>
          <a:bodyPr wrap="square" lIns="0" tIns="0" rIns="0" bIns="0" rtlCol="0" anchor="ctr"/>
          <a:lstStyle/>
          <a:p>
            <a:pPr marL="0" indent="0">
              <a:buNone/>
            </a:pPr>
            <a:r>
              <a:rPr lang="en-US" sz="1050" b="1" dirty="0">
                <a:solidFill>
                  <a:srgbClr val="141B33"/>
                </a:solidFill>
                <a:latin typeface="맑은 고딕" pitchFamily="34" charset="0"/>
                <a:ea typeface="맑은 고딕" pitchFamily="34" charset="-122"/>
                <a:cs typeface="맑은 고딕" pitchFamily="34" charset="-120"/>
              </a:rPr>
              <a:t>시민 사진 제보 + AI 판독</a:t>
            </a:r>
            <a:endParaRPr lang="en-US" sz="1050" dirty="0"/>
          </a:p>
        </p:txBody>
      </p:sp>
      <p:sp>
        <p:nvSpPr>
          <p:cNvPr id="55" name="Text 53"/>
          <p:cNvSpPr/>
          <p:nvPr/>
        </p:nvSpPr>
        <p:spPr>
          <a:xfrm>
            <a:off x="8540496" y="3081528"/>
            <a:ext cx="3282696" cy="182880"/>
          </a:xfrm>
          <a:prstGeom prst="rect">
            <a:avLst/>
          </a:prstGeom>
          <a:noFill/>
          <a:ln/>
        </p:spPr>
        <p:txBody>
          <a:bodyPr wrap="square" lIns="0" tIns="0" rIns="0" bIns="0" rtlCol="0" anchor="ctr"/>
          <a:lstStyle/>
          <a:p>
            <a:pPr marL="0" indent="0">
              <a:buNone/>
            </a:pPr>
            <a:r>
              <a:rPr lang="en-US" sz="900" dirty="0">
                <a:solidFill>
                  <a:srgbClr val="6E7796"/>
                </a:solidFill>
                <a:latin typeface="맑은 고딕" pitchFamily="34" charset="0"/>
                <a:ea typeface="맑은 고딕" pitchFamily="34" charset="-122"/>
                <a:cs typeface="맑은 고딕" pitchFamily="34" charset="-120"/>
              </a:rPr>
              <a:t>런타임 생성 · 미확인 보완</a:t>
            </a:r>
            <a:endParaRPr lang="en-US" sz="900" dirty="0"/>
          </a:p>
        </p:txBody>
      </p:sp>
      <p:sp>
        <p:nvSpPr>
          <p:cNvPr id="56" name="Shape 54"/>
          <p:cNvSpPr/>
          <p:nvPr/>
        </p:nvSpPr>
        <p:spPr>
          <a:xfrm>
            <a:off x="4590288" y="3986784"/>
            <a:ext cx="7324344" cy="1975104"/>
          </a:xfrm>
          <a:prstGeom prst="roundRect">
            <a:avLst>
              <a:gd name="adj" fmla="val 2778"/>
            </a:avLst>
          </a:prstGeom>
          <a:solidFill>
            <a:srgbClr val="001871"/>
          </a:solidFill>
          <a:ln w="12700">
            <a:solidFill>
              <a:srgbClr val="001871"/>
            </a:solidFill>
            <a:prstDash val="solid"/>
          </a:ln>
        </p:spPr>
        <p:txBody>
          <a:bodyPr/>
          <a:lstStyle/>
          <a:p>
            <a:endParaRPr lang="ko-KR" altLang="en-US"/>
          </a:p>
        </p:txBody>
      </p:sp>
      <p:sp>
        <p:nvSpPr>
          <p:cNvPr id="57" name="Text 55"/>
          <p:cNvSpPr/>
          <p:nvPr/>
        </p:nvSpPr>
        <p:spPr>
          <a:xfrm>
            <a:off x="4864608" y="4243554"/>
            <a:ext cx="6766560" cy="329184"/>
          </a:xfrm>
          <a:prstGeom prst="rect">
            <a:avLst/>
          </a:prstGeom>
          <a:noFill/>
          <a:ln/>
        </p:spPr>
        <p:txBody>
          <a:bodyPr wrap="square" lIns="0" tIns="0" rIns="0" bIns="0"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안내의 정확도를 좌우하는 두 축</a:t>
            </a:r>
            <a:endParaRPr lang="en-US" sz="1700" dirty="0"/>
          </a:p>
        </p:txBody>
      </p:sp>
      <p:sp>
        <p:nvSpPr>
          <p:cNvPr id="58" name="Text 56"/>
          <p:cNvSpPr/>
          <p:nvPr/>
        </p:nvSpPr>
        <p:spPr>
          <a:xfrm>
            <a:off x="4864608" y="4719687"/>
            <a:ext cx="6812280" cy="932688"/>
          </a:xfrm>
          <a:prstGeom prst="rect">
            <a:avLst/>
          </a:prstGeom>
          <a:noFill/>
          <a:ln/>
        </p:spPr>
        <p:txBody>
          <a:bodyPr wrap="square" lIns="0" tIns="0" rIns="0" bIns="0" rtlCol="0" anchor="t"/>
          <a:lstStyle/>
          <a:p>
            <a:pPr marL="0" indent="0">
              <a:lnSpc>
                <a:spcPts val="1900"/>
              </a:lnSpc>
              <a:buNone/>
            </a:pPr>
            <a:r>
              <a:rPr lang="en-US" sz="1150" dirty="0">
                <a:solidFill>
                  <a:srgbClr val="A6B3E6"/>
                </a:solidFill>
                <a:latin typeface="맑은 고딕" pitchFamily="34" charset="0"/>
                <a:ea typeface="맑은 고딕" pitchFamily="34" charset="-122"/>
                <a:cs typeface="맑은 고딕" pitchFamily="34" charset="-120"/>
              </a:rPr>
              <a:t>① 무더위쉼터 230개소는 좌표 보유율이 100%라, 1,890개 정류장 전부에 대해 최근접 쉼터 거리를 계산할 수 </a:t>
            </a:r>
            <a:r>
              <a:rPr lang="en-US" sz="1150" dirty="0" err="1">
                <a:solidFill>
                  <a:srgbClr val="A6B3E6"/>
                </a:solidFill>
                <a:latin typeface="맑은 고딕" pitchFamily="34" charset="0"/>
                <a:ea typeface="맑은 고딕" pitchFamily="34" charset="-122"/>
                <a:cs typeface="맑은 고딕" pitchFamily="34" charset="-120"/>
              </a:rPr>
              <a:t>있었습니다</a:t>
            </a:r>
            <a:r>
              <a:rPr lang="en-US" sz="1150" dirty="0">
                <a:solidFill>
                  <a:srgbClr val="A6B3E6"/>
                </a:solidFill>
                <a:latin typeface="맑은 고딕" pitchFamily="34" charset="0"/>
                <a:ea typeface="맑은 고딕" pitchFamily="34" charset="-122"/>
                <a:cs typeface="맑은 고딕" pitchFamily="34" charset="-120"/>
              </a:rPr>
              <a:t>.</a:t>
            </a:r>
            <a:endParaRPr lang="en-US" sz="1150" dirty="0"/>
          </a:p>
          <a:p>
            <a:pPr marL="0" indent="0">
              <a:lnSpc>
                <a:spcPts val="1900"/>
              </a:lnSpc>
              <a:buNone/>
            </a:pPr>
            <a:r>
              <a:rPr lang="en-US" sz="1150" dirty="0">
                <a:solidFill>
                  <a:srgbClr val="A6B3E6"/>
                </a:solidFill>
                <a:latin typeface="맑은 고딕" pitchFamily="34" charset="0"/>
                <a:ea typeface="맑은 고딕" pitchFamily="34" charset="-122"/>
                <a:cs typeface="맑은 고딕" pitchFamily="34" charset="-120"/>
              </a:rPr>
              <a:t>② 반면 '이 정류장에 그늘이 있는가'는 어느 공공데이터에도 없습니다. 로드뷰로 163개소를 </a:t>
            </a:r>
            <a:r>
              <a:rPr lang="en-US" sz="1150" dirty="0" err="1">
                <a:solidFill>
                  <a:srgbClr val="A6B3E6"/>
                </a:solidFill>
                <a:latin typeface="맑은 고딕" pitchFamily="34" charset="0"/>
                <a:ea typeface="맑은 고딕" pitchFamily="34" charset="-122"/>
                <a:cs typeface="맑은 고딕" pitchFamily="34" charset="-120"/>
              </a:rPr>
              <a:t>직접</a:t>
            </a:r>
            <a:r>
              <a:rPr lang="en-US" sz="1150" dirty="0">
                <a:solidFill>
                  <a:srgbClr val="A6B3E6"/>
                </a:solidFill>
                <a:latin typeface="맑은 고딕" pitchFamily="34" charset="0"/>
                <a:ea typeface="맑은 고딕" pitchFamily="34" charset="-122"/>
                <a:cs typeface="맑은 고딕" pitchFamily="34" charset="-120"/>
              </a:rPr>
              <a:t> </a:t>
            </a:r>
            <a:r>
              <a:rPr lang="en-US" sz="1150" dirty="0" err="1">
                <a:solidFill>
                  <a:srgbClr val="A6B3E6"/>
                </a:solidFill>
                <a:latin typeface="맑은 고딕" pitchFamily="34" charset="0"/>
                <a:ea typeface="맑은 고딕" pitchFamily="34" charset="-122"/>
                <a:cs typeface="맑은 고딕" pitchFamily="34" charset="-120"/>
              </a:rPr>
              <a:t>판독해</a:t>
            </a:r>
            <a:r>
              <a:rPr lang="en-US" sz="1150" dirty="0">
                <a:solidFill>
                  <a:srgbClr val="A6B3E6"/>
                </a:solidFill>
                <a:latin typeface="맑은 고딕" pitchFamily="34" charset="0"/>
                <a:ea typeface="맑은 고딕" pitchFamily="34" charset="-122"/>
                <a:cs typeface="맑은 고딕" pitchFamily="34" charset="-120"/>
              </a:rPr>
              <a:t> </a:t>
            </a:r>
            <a:r>
              <a:rPr lang="ko-KR" altLang="en-US" sz="1150" dirty="0">
                <a:solidFill>
                  <a:srgbClr val="A6B3E6"/>
                </a:solidFill>
                <a:latin typeface="맑은 고딕" pitchFamily="34" charset="0"/>
                <a:ea typeface="맑은 고딕" pitchFamily="34" charset="-122"/>
                <a:cs typeface="맑은 고딕" pitchFamily="34" charset="-120"/>
              </a:rPr>
              <a:t>데이터를 수집했습니다</a:t>
            </a:r>
            <a:r>
              <a:rPr lang="en-US" altLang="ko-KR" sz="1150" dirty="0">
                <a:solidFill>
                  <a:srgbClr val="A6B3E6"/>
                </a:solidFill>
                <a:latin typeface="맑은 고딕" pitchFamily="34" charset="0"/>
                <a:ea typeface="맑은 고딕" pitchFamily="34" charset="-122"/>
                <a:cs typeface="맑은 고딕" pitchFamily="34" charset="-120"/>
              </a:rPr>
              <a:t>.</a:t>
            </a:r>
            <a:r>
              <a:rPr lang="en-US" sz="1150" dirty="0">
                <a:solidFill>
                  <a:srgbClr val="A6B3E6"/>
                </a:solidFill>
                <a:latin typeface="맑은 고딕" pitchFamily="34" charset="0"/>
                <a:ea typeface="맑은 고딕" pitchFamily="34" charset="-122"/>
                <a:cs typeface="맑은 고딕" pitchFamily="34" charset="-120"/>
              </a:rPr>
              <a:t> </a:t>
            </a:r>
          </a:p>
        </p:txBody>
      </p:sp>
      <p:sp>
        <p:nvSpPr>
          <p:cNvPr id="59" name="Shape 57"/>
          <p:cNvSpPr/>
          <p:nvPr/>
        </p:nvSpPr>
        <p:spPr>
          <a:xfrm>
            <a:off x="4864608" y="6253941"/>
            <a:ext cx="1177671" cy="286385"/>
          </a:xfrm>
          <a:prstGeom prst="roundRect">
            <a:avLst>
              <a:gd name="adj" fmla="val 159645"/>
            </a:avLst>
          </a:prstGeom>
          <a:solidFill>
            <a:srgbClr val="12309B"/>
          </a:solidFill>
          <a:ln w="12700">
            <a:solidFill>
              <a:srgbClr val="2C4CC0"/>
            </a:solidFill>
            <a:prstDash val="solid"/>
          </a:ln>
        </p:spPr>
        <p:txBody>
          <a:bodyPr/>
          <a:lstStyle/>
          <a:p>
            <a:endParaRPr lang="ko-KR" altLang="en-US"/>
          </a:p>
        </p:txBody>
      </p:sp>
      <p:sp>
        <p:nvSpPr>
          <p:cNvPr id="60" name="Text 58"/>
          <p:cNvSpPr/>
          <p:nvPr/>
        </p:nvSpPr>
        <p:spPr>
          <a:xfrm>
            <a:off x="4864608" y="6253941"/>
            <a:ext cx="1177671" cy="286385"/>
          </a:xfrm>
          <a:prstGeom prst="rect">
            <a:avLst/>
          </a:prstGeom>
          <a:noFill/>
          <a:ln/>
        </p:spPr>
        <p:txBody>
          <a:bodyPr wrap="square" lIns="0" tIns="0" rIns="0" bIns="0" rtlCol="0" anchor="ctr"/>
          <a:lstStyle/>
          <a:p>
            <a:pPr marL="0" indent="0" algn="ctr">
              <a:buNone/>
            </a:pPr>
            <a:r>
              <a:rPr lang="en-US" sz="1100" dirty="0">
                <a:solidFill>
                  <a:srgbClr val="B9C4EE"/>
                </a:solidFill>
                <a:latin typeface="맑은 고딕" pitchFamily="34" charset="0"/>
                <a:ea typeface="맑은 고딕" pitchFamily="34" charset="-122"/>
                <a:cs typeface="맑은 고딕" pitchFamily="34" charset="-120"/>
              </a:rPr>
              <a:t>공공데이터 9종</a:t>
            </a:r>
            <a:endParaRPr lang="en-US" sz="1100" dirty="0"/>
          </a:p>
        </p:txBody>
      </p:sp>
      <p:sp>
        <p:nvSpPr>
          <p:cNvPr id="61" name="Shape 59"/>
          <p:cNvSpPr/>
          <p:nvPr/>
        </p:nvSpPr>
        <p:spPr>
          <a:xfrm>
            <a:off x="6152007" y="6253941"/>
            <a:ext cx="1050544" cy="286385"/>
          </a:xfrm>
          <a:prstGeom prst="roundRect">
            <a:avLst>
              <a:gd name="adj" fmla="val 159645"/>
            </a:avLst>
          </a:prstGeom>
          <a:solidFill>
            <a:srgbClr val="12309B"/>
          </a:solidFill>
          <a:ln w="12700">
            <a:solidFill>
              <a:srgbClr val="2C4CC0"/>
            </a:solidFill>
            <a:prstDash val="solid"/>
          </a:ln>
        </p:spPr>
        <p:txBody>
          <a:bodyPr/>
          <a:lstStyle/>
          <a:p>
            <a:endParaRPr lang="ko-KR" altLang="en-US"/>
          </a:p>
        </p:txBody>
      </p:sp>
      <p:sp>
        <p:nvSpPr>
          <p:cNvPr id="62" name="Text 60"/>
          <p:cNvSpPr/>
          <p:nvPr/>
        </p:nvSpPr>
        <p:spPr>
          <a:xfrm>
            <a:off x="6152007" y="6253941"/>
            <a:ext cx="1050544" cy="286385"/>
          </a:xfrm>
          <a:prstGeom prst="rect">
            <a:avLst/>
          </a:prstGeom>
          <a:noFill/>
          <a:ln/>
        </p:spPr>
        <p:txBody>
          <a:bodyPr wrap="square" lIns="0" tIns="0" rIns="0" bIns="0" rtlCol="0" anchor="ctr"/>
          <a:lstStyle/>
          <a:p>
            <a:pPr marL="0" indent="0" algn="ctr">
              <a:buNone/>
            </a:pPr>
            <a:r>
              <a:rPr lang="en-US" sz="1100" dirty="0">
                <a:solidFill>
                  <a:srgbClr val="B9C4EE"/>
                </a:solidFill>
                <a:latin typeface="맑은 고딕" pitchFamily="34" charset="0"/>
                <a:ea typeface="맑은 고딕" pitchFamily="34" charset="-122"/>
                <a:cs typeface="맑은 고딕" pitchFamily="34" charset="-120"/>
              </a:rPr>
              <a:t>외부 API 4종</a:t>
            </a:r>
            <a:endParaRPr lang="en-US" sz="1100" dirty="0"/>
          </a:p>
        </p:txBody>
      </p:sp>
      <p:sp>
        <p:nvSpPr>
          <p:cNvPr id="63" name="Shape 61"/>
          <p:cNvSpPr/>
          <p:nvPr/>
        </p:nvSpPr>
        <p:spPr>
          <a:xfrm>
            <a:off x="7312279" y="6253941"/>
            <a:ext cx="1086866" cy="286385"/>
          </a:xfrm>
          <a:prstGeom prst="roundRect">
            <a:avLst>
              <a:gd name="adj" fmla="val 159645"/>
            </a:avLst>
          </a:prstGeom>
          <a:solidFill>
            <a:srgbClr val="12309B"/>
          </a:solidFill>
          <a:ln w="12700">
            <a:solidFill>
              <a:srgbClr val="2C4CC0"/>
            </a:solidFill>
            <a:prstDash val="solid"/>
          </a:ln>
        </p:spPr>
        <p:txBody>
          <a:bodyPr/>
          <a:lstStyle/>
          <a:p>
            <a:endParaRPr lang="ko-KR" altLang="en-US"/>
          </a:p>
        </p:txBody>
      </p:sp>
      <p:sp>
        <p:nvSpPr>
          <p:cNvPr id="64" name="Text 62"/>
          <p:cNvSpPr/>
          <p:nvPr/>
        </p:nvSpPr>
        <p:spPr>
          <a:xfrm>
            <a:off x="7312279" y="6253941"/>
            <a:ext cx="1086866" cy="286385"/>
          </a:xfrm>
          <a:prstGeom prst="rect">
            <a:avLst/>
          </a:prstGeom>
          <a:noFill/>
          <a:ln/>
        </p:spPr>
        <p:txBody>
          <a:bodyPr wrap="square" lIns="0" tIns="0" rIns="0" bIns="0" rtlCol="0" anchor="ctr"/>
          <a:lstStyle/>
          <a:p>
            <a:pPr marL="0" indent="0" algn="ctr">
              <a:buNone/>
            </a:pPr>
            <a:r>
              <a:rPr lang="en-US" sz="1100" dirty="0">
                <a:solidFill>
                  <a:srgbClr val="B9C4EE"/>
                </a:solidFill>
                <a:latin typeface="맑은 고딕" pitchFamily="34" charset="0"/>
                <a:ea typeface="맑은 고딕" pitchFamily="34" charset="-122"/>
                <a:cs typeface="맑은 고딕" pitchFamily="34" charset="-120"/>
              </a:rPr>
              <a:t>자체 구축 3종</a:t>
            </a:r>
            <a:endParaRPr lang="en-US" sz="1100" dirty="0"/>
          </a:p>
        </p:txBody>
      </p:sp>
      <p:sp>
        <p:nvSpPr>
          <p:cNvPr id="65" name="Shape 63"/>
          <p:cNvSpPr/>
          <p:nvPr/>
        </p:nvSpPr>
        <p:spPr>
          <a:xfrm>
            <a:off x="8508873" y="6253941"/>
            <a:ext cx="1846834" cy="286385"/>
          </a:xfrm>
          <a:prstGeom prst="roundRect">
            <a:avLst>
              <a:gd name="adj" fmla="val 159645"/>
            </a:avLst>
          </a:prstGeom>
          <a:solidFill>
            <a:srgbClr val="FFFFFF"/>
          </a:solidFill>
          <a:ln w="12700">
            <a:solidFill>
              <a:srgbClr val="FFFFFF"/>
            </a:solidFill>
            <a:prstDash val="solid"/>
          </a:ln>
        </p:spPr>
        <p:txBody>
          <a:bodyPr/>
          <a:lstStyle/>
          <a:p>
            <a:endParaRPr lang="ko-KR" altLang="en-US"/>
          </a:p>
        </p:txBody>
      </p:sp>
      <p:sp>
        <p:nvSpPr>
          <p:cNvPr id="66" name="Text 64"/>
          <p:cNvSpPr/>
          <p:nvPr/>
        </p:nvSpPr>
        <p:spPr>
          <a:xfrm>
            <a:off x="8508873" y="6253941"/>
            <a:ext cx="1846834" cy="286385"/>
          </a:xfrm>
          <a:prstGeom prst="rect">
            <a:avLst/>
          </a:prstGeom>
          <a:noFill/>
          <a:ln/>
        </p:spPr>
        <p:txBody>
          <a:bodyPr wrap="square" lIns="0" tIns="0" rIns="0" bIns="0" rtlCol="0" anchor="ctr"/>
          <a:lstStyle/>
          <a:p>
            <a:pPr marL="0" indent="0" algn="ctr">
              <a:buNone/>
            </a:pPr>
            <a:r>
              <a:rPr lang="en-US" sz="1100" b="1" dirty="0">
                <a:solidFill>
                  <a:srgbClr val="001871"/>
                </a:solidFill>
                <a:latin typeface="맑은 고딕" pitchFamily="34" charset="0"/>
                <a:ea typeface="맑은 고딕" pitchFamily="34" charset="-122"/>
                <a:cs typeface="맑은 고딕" pitchFamily="34" charset="-120"/>
              </a:rPr>
              <a:t>정류장 1,890개 위에 결합</a:t>
            </a:r>
            <a:endParaRPr lang="en-US" sz="1100" dirty="0"/>
          </a:p>
        </p:txBody>
      </p:sp>
      <p:sp>
        <p:nvSpPr>
          <p:cNvPr id="67" name="Text 65"/>
          <p:cNvSpPr/>
          <p:nvPr/>
        </p:nvSpPr>
        <p:spPr>
          <a:xfrm>
            <a:off x="566928" y="6144768"/>
            <a:ext cx="11064240" cy="274320"/>
          </a:xfrm>
          <a:prstGeom prst="rect">
            <a:avLst/>
          </a:prstGeom>
          <a:noFill/>
          <a:ln/>
        </p:spPr>
        <p:txBody>
          <a:bodyPr wrap="square" lIns="0" tIns="0" rIns="0" bIns="0" rtlCol="0" anchor="ctr"/>
          <a:lstStyle/>
          <a:p>
            <a:pPr marL="0" indent="0">
              <a:buNone/>
            </a:pPr>
            <a:r>
              <a:rPr lang="en-US" sz="950" dirty="0">
                <a:solidFill>
                  <a:srgbClr val="98A0BA"/>
                </a:solidFill>
                <a:latin typeface="맑은 고딕" pitchFamily="34" charset="0"/>
                <a:ea typeface="맑은 고딕" pitchFamily="34" charset="-122"/>
                <a:cs typeface="맑은 고딕" pitchFamily="34" charset="-120"/>
              </a:rPr>
              <a:t>※ 전체 데이터 출처·기준시점은 발표자료 마지막 3개 장(별첨)에 명시</a:t>
            </a:r>
            <a:endParaRPr lang="en-US" sz="950" dirty="0"/>
          </a:p>
        </p:txBody>
      </p:sp>
      <p:sp>
        <p:nvSpPr>
          <p:cNvPr id="69" name="Text 66"/>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70" name="Text 67"/>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02  </a:t>
            </a:r>
            <a:r>
              <a:rPr lang="en-US" altLang="ko-KR" sz="1200" b="1" kern="0" spc="140" dirty="0" err="1">
                <a:solidFill>
                  <a:srgbClr val="001871"/>
                </a:solidFill>
                <a:latin typeface="맑은 고딕" pitchFamily="34" charset="0"/>
                <a:ea typeface="맑은 고딕" pitchFamily="34" charset="-122"/>
                <a:cs typeface="맑은 고딕" pitchFamily="34" charset="-120"/>
              </a:rPr>
              <a:t>활용</a:t>
            </a:r>
            <a:r>
              <a:rPr lang="ko-KR" altLang="en-US" sz="1200" b="1" kern="0" spc="140" dirty="0">
                <a:solidFill>
                  <a:srgbClr val="001871"/>
                </a:solidFill>
                <a:latin typeface="맑은 고딕" pitchFamily="34" charset="0"/>
                <a:ea typeface="맑은 고딕" pitchFamily="34" charset="-122"/>
                <a:cs typeface="맑은 고딕" pitchFamily="34" charset="-120"/>
              </a:rPr>
              <a:t>한</a:t>
            </a:r>
            <a:r>
              <a:rPr lang="en-US" altLang="ko-KR" sz="1200" b="1" kern="0" spc="140" dirty="0">
                <a:solidFill>
                  <a:srgbClr val="001871"/>
                </a:solidFill>
                <a:latin typeface="맑은 고딕" pitchFamily="34" charset="0"/>
                <a:ea typeface="맑은 고딕" pitchFamily="34" charset="-122"/>
                <a:cs typeface="맑은 고딕" pitchFamily="34" charset="-120"/>
              </a:rPr>
              <a:t> </a:t>
            </a:r>
            <a:r>
              <a:rPr lang="en-US" altLang="ko-KR" sz="1200" b="1" kern="0" spc="140" dirty="0" err="1">
                <a:solidFill>
                  <a:srgbClr val="001871"/>
                </a:solidFill>
                <a:latin typeface="맑은 고딕" pitchFamily="34" charset="0"/>
                <a:ea typeface="맑은 고딕" pitchFamily="34" charset="-122"/>
                <a:cs typeface="맑은 고딕" pitchFamily="34" charset="-120"/>
              </a:rPr>
              <a:t>데이터와</a:t>
            </a:r>
            <a:r>
              <a:rPr lang="en-US" altLang="ko-KR" sz="1200" b="1" kern="0" spc="140" dirty="0">
                <a:solidFill>
                  <a:srgbClr val="001871"/>
                </a:solidFill>
                <a:latin typeface="맑은 고딕" pitchFamily="34" charset="0"/>
                <a:ea typeface="맑은 고딕" pitchFamily="34" charset="-122"/>
                <a:cs typeface="맑은 고딕" pitchFamily="34" charset="-120"/>
              </a:rPr>
              <a:t> </a:t>
            </a:r>
            <a:r>
              <a:rPr lang="ko-KR" altLang="en-US" sz="1200" b="1" kern="0" spc="140" dirty="0">
                <a:solidFill>
                  <a:srgbClr val="001871"/>
                </a:solidFill>
                <a:latin typeface="맑은 고딕" pitchFamily="34" charset="0"/>
                <a:ea typeface="맑은 고딕" pitchFamily="34" charset="-122"/>
                <a:cs typeface="맑은 고딕" pitchFamily="34" charset="-120"/>
              </a:rPr>
              <a:t>처리</a:t>
            </a:r>
            <a:r>
              <a:rPr lang="en-US" altLang="ko-KR" sz="1200" b="1" kern="0" spc="140" dirty="0">
                <a:solidFill>
                  <a:srgbClr val="001871"/>
                </a:solidFill>
                <a:latin typeface="맑은 고딕" pitchFamily="34" charset="0"/>
                <a:ea typeface="맑은 고딕" pitchFamily="34" charset="-122"/>
                <a:cs typeface="맑은 고딕" pitchFamily="34" charset="-120"/>
              </a:rPr>
              <a:t> </a:t>
            </a:r>
            <a:r>
              <a:rPr lang="en-US" altLang="ko-KR" sz="1200" b="1" kern="0" spc="140" dirty="0" err="1">
                <a:solidFill>
                  <a:srgbClr val="001871"/>
                </a:solidFill>
                <a:latin typeface="맑은 고딕" pitchFamily="34" charset="0"/>
                <a:ea typeface="맑은 고딕" pitchFamily="34" charset="-122"/>
                <a:cs typeface="맑은 고딕" pitchFamily="34" charset="-120"/>
              </a:rPr>
              <a:t>구조</a:t>
            </a:r>
            <a:endParaRPr lang="en-US" altLang="ko-KR" sz="1200" dirty="0"/>
          </a:p>
        </p:txBody>
      </p:sp>
      <p:sp>
        <p:nvSpPr>
          <p:cNvPr id="3" name="Text 1"/>
          <p:cNvSpPr/>
          <p:nvPr/>
        </p:nvSpPr>
        <p:spPr>
          <a:xfrm>
            <a:off x="566928" y="832104"/>
            <a:ext cx="11064240" cy="566928"/>
          </a:xfrm>
          <a:prstGeom prst="rect">
            <a:avLst/>
          </a:prstGeom>
          <a:noFill/>
          <a:ln/>
        </p:spPr>
        <p:txBody>
          <a:bodyPr wrap="square" lIns="0" tIns="0" rIns="0" bIns="0" rtlCol="0" anchor="ctr"/>
          <a:lstStyle/>
          <a:p>
            <a:pPr marL="0" indent="0">
              <a:buNone/>
            </a:pPr>
            <a:r>
              <a:rPr lang="en-US" sz="3000" b="1" dirty="0" err="1">
                <a:solidFill>
                  <a:srgbClr val="141B33"/>
                </a:solidFill>
                <a:latin typeface="맑은 고딕" pitchFamily="34" charset="0"/>
                <a:ea typeface="맑은 고딕" pitchFamily="34" charset="-122"/>
                <a:cs typeface="맑은 고딕" pitchFamily="34" charset="-120"/>
              </a:rPr>
              <a:t>흩어진</a:t>
            </a:r>
            <a:r>
              <a:rPr lang="en-US" sz="3000" b="1" dirty="0">
                <a:solidFill>
                  <a:srgbClr val="141B33"/>
                </a:solidFill>
                <a:latin typeface="맑은 고딕" pitchFamily="34" charset="0"/>
                <a:ea typeface="맑은 고딕" pitchFamily="34" charset="-122"/>
                <a:cs typeface="맑은 고딕" pitchFamily="34" charset="-120"/>
              </a:rPr>
              <a:t> </a:t>
            </a:r>
            <a:r>
              <a:rPr lang="ko-KR" altLang="en-US" sz="3000" b="1" dirty="0">
                <a:solidFill>
                  <a:srgbClr val="141B33"/>
                </a:solidFill>
                <a:latin typeface="맑은 고딕" pitchFamily="34" charset="0"/>
                <a:ea typeface="맑은 고딕" pitchFamily="34" charset="-122"/>
                <a:cs typeface="맑은 고딕" pitchFamily="34" charset="-120"/>
              </a:rPr>
              <a:t>데이터를</a:t>
            </a:r>
            <a:r>
              <a:rPr lang="en-US" sz="3000" b="1" dirty="0">
                <a:solidFill>
                  <a:srgbClr val="141B33"/>
                </a:solidFill>
                <a:latin typeface="맑은 고딕" pitchFamily="34" charset="0"/>
                <a:ea typeface="맑은 고딕" pitchFamily="34" charset="-122"/>
                <a:cs typeface="맑은 고딕" pitchFamily="34" charset="-120"/>
              </a:rPr>
              <a:t> '정류장 단위'로 붙였습니다</a:t>
            </a:r>
            <a:endParaRPr lang="en-US" sz="3000" dirty="0"/>
          </a:p>
        </p:txBody>
      </p:sp>
      <p:sp>
        <p:nvSpPr>
          <p:cNvPr id="5" name="Text 3"/>
          <p:cNvSpPr/>
          <p:nvPr/>
        </p:nvSpPr>
        <p:spPr>
          <a:xfrm>
            <a:off x="566928" y="1700784"/>
            <a:ext cx="2743200" cy="274320"/>
          </a:xfrm>
          <a:prstGeom prst="rect">
            <a:avLst/>
          </a:prstGeom>
          <a:noFill/>
          <a:ln/>
        </p:spPr>
        <p:txBody>
          <a:bodyPr wrap="square" lIns="0" tIns="0" rIns="0" bIns="0" rtlCol="0" anchor="ctr"/>
          <a:lstStyle/>
          <a:p>
            <a:pPr marL="0" indent="0">
              <a:buNone/>
            </a:pPr>
            <a:r>
              <a:rPr lang="en-US" sz="1200" b="1" dirty="0" err="1">
                <a:solidFill>
                  <a:srgbClr val="6E7796"/>
                </a:solidFill>
                <a:latin typeface="맑은 고딕" pitchFamily="34" charset="0"/>
                <a:ea typeface="맑은 고딕" pitchFamily="34" charset="-122"/>
                <a:cs typeface="맑은 고딕" pitchFamily="34" charset="-120"/>
              </a:rPr>
              <a:t>분산</a:t>
            </a:r>
            <a:r>
              <a:rPr lang="en-US" sz="1200" b="1" dirty="0">
                <a:solidFill>
                  <a:srgbClr val="6E7796"/>
                </a:solidFill>
                <a:latin typeface="맑은 고딕" pitchFamily="34" charset="0"/>
                <a:ea typeface="맑은 고딕" pitchFamily="34" charset="-122"/>
                <a:cs typeface="맑은 고딕" pitchFamily="34" charset="-120"/>
              </a:rPr>
              <a:t> 데이터</a:t>
            </a:r>
            <a:endParaRPr lang="en-US" sz="1200" dirty="0"/>
          </a:p>
        </p:txBody>
      </p:sp>
      <p:sp>
        <p:nvSpPr>
          <p:cNvPr id="6" name="Shape 4"/>
          <p:cNvSpPr/>
          <p:nvPr/>
        </p:nvSpPr>
        <p:spPr>
          <a:xfrm>
            <a:off x="566928" y="2048256"/>
            <a:ext cx="2743200" cy="457200"/>
          </a:xfrm>
          <a:prstGeom prst="roundRect">
            <a:avLst>
              <a:gd name="adj" fmla="val 8000"/>
            </a:avLst>
          </a:prstGeom>
          <a:solidFill>
            <a:srgbClr val="FCEEE0"/>
          </a:solidFill>
          <a:ln w="12700">
            <a:solidFill>
              <a:srgbClr val="F2C99E"/>
            </a:solidFill>
            <a:prstDash val="solid"/>
          </a:ln>
        </p:spPr>
        <p:txBody>
          <a:bodyPr/>
          <a:lstStyle/>
          <a:p>
            <a:endParaRPr lang="ko-KR" altLang="en-US"/>
          </a:p>
        </p:txBody>
      </p:sp>
      <p:sp>
        <p:nvSpPr>
          <p:cNvPr id="7" name="Text 5"/>
          <p:cNvSpPr/>
          <p:nvPr/>
        </p:nvSpPr>
        <p:spPr>
          <a:xfrm>
            <a:off x="713232" y="2048256"/>
            <a:ext cx="1737360" cy="457200"/>
          </a:xfrm>
          <a:prstGeom prst="rect">
            <a:avLst/>
          </a:prstGeom>
          <a:noFill/>
          <a:ln/>
        </p:spPr>
        <p:txBody>
          <a:bodyPr wrap="square" lIns="0" tIns="0" rIns="0" bIns="0" rtlCol="0" anchor="ctr"/>
          <a:lstStyle/>
          <a:p>
            <a:pPr marL="0" indent="0">
              <a:buNone/>
            </a:pPr>
            <a:r>
              <a:rPr lang="en-US" sz="1150" dirty="0">
                <a:solidFill>
                  <a:srgbClr val="141B33"/>
                </a:solidFill>
                <a:latin typeface="맑은 고딕" pitchFamily="34" charset="0"/>
                <a:ea typeface="맑은 고딕" pitchFamily="34" charset="-122"/>
                <a:cs typeface="맑은 고딕" pitchFamily="34" charset="-120"/>
              </a:rPr>
              <a:t>무더위쉼터</a:t>
            </a:r>
            <a:endParaRPr lang="en-US" sz="1150" dirty="0"/>
          </a:p>
        </p:txBody>
      </p:sp>
      <p:sp>
        <p:nvSpPr>
          <p:cNvPr id="8" name="Text 6"/>
          <p:cNvSpPr/>
          <p:nvPr/>
        </p:nvSpPr>
        <p:spPr>
          <a:xfrm>
            <a:off x="2304288" y="2048256"/>
            <a:ext cx="868680" cy="457200"/>
          </a:xfrm>
          <a:prstGeom prst="rect">
            <a:avLst/>
          </a:prstGeom>
          <a:noFill/>
          <a:ln/>
        </p:spPr>
        <p:txBody>
          <a:bodyPr wrap="square" lIns="0" tIns="0" rIns="0" bIns="0" rtlCol="0" anchor="ctr"/>
          <a:lstStyle/>
          <a:p>
            <a:pPr marL="0" indent="0" algn="r">
              <a:buNone/>
            </a:pPr>
            <a:r>
              <a:rPr lang="en-US" sz="1000" b="1" dirty="0">
                <a:solidFill>
                  <a:srgbClr val="E8751A"/>
                </a:solidFill>
                <a:latin typeface="맑은 고딕" pitchFamily="34" charset="0"/>
                <a:ea typeface="맑은 고딕" pitchFamily="34" charset="-122"/>
                <a:cs typeface="맑은 고딕" pitchFamily="34" charset="-120"/>
              </a:rPr>
              <a:t>230개소</a:t>
            </a:r>
            <a:endParaRPr lang="en-US" sz="1000" dirty="0"/>
          </a:p>
        </p:txBody>
      </p:sp>
      <p:sp>
        <p:nvSpPr>
          <p:cNvPr id="9" name="Shape 7"/>
          <p:cNvSpPr/>
          <p:nvPr/>
        </p:nvSpPr>
        <p:spPr>
          <a:xfrm>
            <a:off x="3401568" y="2194560"/>
            <a:ext cx="365760" cy="164592"/>
          </a:xfrm>
          <a:prstGeom prst="rightArrow">
            <a:avLst/>
          </a:prstGeom>
          <a:solidFill>
            <a:srgbClr val="D4DAEE"/>
          </a:solidFill>
          <a:ln w="12700">
            <a:solidFill>
              <a:srgbClr val="D4DAEE"/>
            </a:solidFill>
            <a:prstDash val="solid"/>
          </a:ln>
        </p:spPr>
        <p:txBody>
          <a:bodyPr/>
          <a:lstStyle/>
          <a:p>
            <a:endParaRPr lang="ko-KR" altLang="en-US"/>
          </a:p>
        </p:txBody>
      </p:sp>
      <p:sp>
        <p:nvSpPr>
          <p:cNvPr id="10" name="Shape 8"/>
          <p:cNvSpPr/>
          <p:nvPr/>
        </p:nvSpPr>
        <p:spPr>
          <a:xfrm>
            <a:off x="566928" y="2615184"/>
            <a:ext cx="2743200" cy="457200"/>
          </a:xfrm>
          <a:prstGeom prst="roundRect">
            <a:avLst>
              <a:gd name="adj" fmla="val 8000"/>
            </a:avLst>
          </a:prstGeom>
          <a:solidFill>
            <a:srgbClr val="FFFFFF"/>
          </a:solidFill>
          <a:ln w="12700">
            <a:solidFill>
              <a:srgbClr val="D4DAEE"/>
            </a:solidFill>
            <a:prstDash val="solid"/>
          </a:ln>
        </p:spPr>
        <p:txBody>
          <a:bodyPr/>
          <a:lstStyle/>
          <a:p>
            <a:endParaRPr lang="ko-KR" altLang="en-US"/>
          </a:p>
        </p:txBody>
      </p:sp>
      <p:sp>
        <p:nvSpPr>
          <p:cNvPr id="11" name="Text 9"/>
          <p:cNvSpPr/>
          <p:nvPr/>
        </p:nvSpPr>
        <p:spPr>
          <a:xfrm>
            <a:off x="713232" y="2615184"/>
            <a:ext cx="1737360" cy="457200"/>
          </a:xfrm>
          <a:prstGeom prst="rect">
            <a:avLst/>
          </a:prstGeom>
          <a:noFill/>
          <a:ln/>
        </p:spPr>
        <p:txBody>
          <a:bodyPr wrap="square" lIns="0" tIns="0" rIns="0" bIns="0" rtlCol="0" anchor="ctr"/>
          <a:lstStyle/>
          <a:p>
            <a:pPr marL="0" indent="0">
              <a:buNone/>
            </a:pPr>
            <a:r>
              <a:rPr lang="en-US" sz="1150" dirty="0">
                <a:solidFill>
                  <a:srgbClr val="141B33"/>
                </a:solidFill>
                <a:latin typeface="맑은 고딕" pitchFamily="34" charset="0"/>
                <a:ea typeface="맑은 고딕" pitchFamily="34" charset="-122"/>
                <a:cs typeface="맑은 고딕" pitchFamily="34" charset="-120"/>
              </a:rPr>
              <a:t>접이식그늘막</a:t>
            </a:r>
            <a:endParaRPr lang="en-US" sz="1150" dirty="0"/>
          </a:p>
        </p:txBody>
      </p:sp>
      <p:sp>
        <p:nvSpPr>
          <p:cNvPr id="12" name="Text 10"/>
          <p:cNvSpPr/>
          <p:nvPr/>
        </p:nvSpPr>
        <p:spPr>
          <a:xfrm>
            <a:off x="2304288" y="2615184"/>
            <a:ext cx="868680" cy="457200"/>
          </a:xfrm>
          <a:prstGeom prst="rect">
            <a:avLst/>
          </a:prstGeom>
          <a:noFill/>
          <a:ln/>
        </p:spPr>
        <p:txBody>
          <a:bodyPr wrap="square" lIns="0" tIns="0" rIns="0" bIns="0" rtlCol="0" anchor="ctr"/>
          <a:lstStyle/>
          <a:p>
            <a:pPr marL="0" indent="0" algn="r">
              <a:buNone/>
            </a:pPr>
            <a:r>
              <a:rPr lang="en-US" sz="1000" b="1" dirty="0">
                <a:solidFill>
                  <a:srgbClr val="001871"/>
                </a:solidFill>
                <a:latin typeface="맑은 고딕" pitchFamily="34" charset="0"/>
                <a:ea typeface="맑은 고딕" pitchFamily="34" charset="-122"/>
                <a:cs typeface="맑은 고딕" pitchFamily="34" charset="-120"/>
              </a:rPr>
              <a:t>306개소</a:t>
            </a:r>
            <a:endParaRPr lang="en-US" sz="1000" dirty="0"/>
          </a:p>
        </p:txBody>
      </p:sp>
      <p:sp>
        <p:nvSpPr>
          <p:cNvPr id="13" name="Shape 11"/>
          <p:cNvSpPr/>
          <p:nvPr/>
        </p:nvSpPr>
        <p:spPr>
          <a:xfrm>
            <a:off x="3401568" y="2761488"/>
            <a:ext cx="365760" cy="164592"/>
          </a:xfrm>
          <a:prstGeom prst="rightArrow">
            <a:avLst/>
          </a:prstGeom>
          <a:solidFill>
            <a:srgbClr val="D4DAEE"/>
          </a:solidFill>
          <a:ln w="12700">
            <a:solidFill>
              <a:srgbClr val="D4DAEE"/>
            </a:solidFill>
            <a:prstDash val="solid"/>
          </a:ln>
        </p:spPr>
        <p:txBody>
          <a:bodyPr/>
          <a:lstStyle/>
          <a:p>
            <a:endParaRPr lang="ko-KR" altLang="en-US"/>
          </a:p>
        </p:txBody>
      </p:sp>
      <p:sp>
        <p:nvSpPr>
          <p:cNvPr id="14" name="Shape 12"/>
          <p:cNvSpPr/>
          <p:nvPr/>
        </p:nvSpPr>
        <p:spPr>
          <a:xfrm>
            <a:off x="566928" y="3182112"/>
            <a:ext cx="2743200" cy="457200"/>
          </a:xfrm>
          <a:prstGeom prst="roundRect">
            <a:avLst>
              <a:gd name="adj" fmla="val 8000"/>
            </a:avLst>
          </a:prstGeom>
          <a:solidFill>
            <a:srgbClr val="FFFFFF"/>
          </a:solidFill>
          <a:ln w="12700">
            <a:solidFill>
              <a:srgbClr val="D4DAEE"/>
            </a:solidFill>
            <a:prstDash val="solid"/>
          </a:ln>
        </p:spPr>
        <p:txBody>
          <a:bodyPr/>
          <a:lstStyle/>
          <a:p>
            <a:endParaRPr lang="ko-KR" altLang="en-US"/>
          </a:p>
        </p:txBody>
      </p:sp>
      <p:sp>
        <p:nvSpPr>
          <p:cNvPr id="15" name="Text 13"/>
          <p:cNvSpPr/>
          <p:nvPr/>
        </p:nvSpPr>
        <p:spPr>
          <a:xfrm>
            <a:off x="713232" y="3182112"/>
            <a:ext cx="1737360" cy="457200"/>
          </a:xfrm>
          <a:prstGeom prst="rect">
            <a:avLst/>
          </a:prstGeom>
          <a:noFill/>
          <a:ln/>
        </p:spPr>
        <p:txBody>
          <a:bodyPr wrap="square" lIns="0" tIns="0" rIns="0" bIns="0" rtlCol="0" anchor="ctr"/>
          <a:lstStyle/>
          <a:p>
            <a:pPr marL="0" indent="0">
              <a:buNone/>
            </a:pPr>
            <a:r>
              <a:rPr lang="en-US" sz="1150" dirty="0">
                <a:solidFill>
                  <a:srgbClr val="141B33"/>
                </a:solidFill>
                <a:latin typeface="맑은 고딕" pitchFamily="34" charset="0"/>
                <a:ea typeface="맑은 고딕" pitchFamily="34" charset="-122"/>
                <a:cs typeface="맑은 고딕" pitchFamily="34" charset="-120"/>
              </a:rPr>
              <a:t>벤치 현황</a:t>
            </a:r>
            <a:endParaRPr lang="en-US" sz="1150" dirty="0"/>
          </a:p>
        </p:txBody>
      </p:sp>
      <p:sp>
        <p:nvSpPr>
          <p:cNvPr id="16" name="Text 14"/>
          <p:cNvSpPr/>
          <p:nvPr/>
        </p:nvSpPr>
        <p:spPr>
          <a:xfrm>
            <a:off x="2304288" y="3182112"/>
            <a:ext cx="868680" cy="457200"/>
          </a:xfrm>
          <a:prstGeom prst="rect">
            <a:avLst/>
          </a:prstGeom>
          <a:noFill/>
          <a:ln/>
        </p:spPr>
        <p:txBody>
          <a:bodyPr wrap="square" lIns="0" tIns="0" rIns="0" bIns="0" rtlCol="0" anchor="ctr"/>
          <a:lstStyle/>
          <a:p>
            <a:pPr marL="0" indent="0" algn="r">
              <a:buNone/>
            </a:pPr>
            <a:r>
              <a:rPr lang="en-US" sz="1000" b="1" dirty="0">
                <a:solidFill>
                  <a:srgbClr val="001871"/>
                </a:solidFill>
                <a:latin typeface="맑은 고딕" pitchFamily="34" charset="0"/>
                <a:ea typeface="맑은 고딕" pitchFamily="34" charset="-122"/>
                <a:cs typeface="맑은 고딕" pitchFamily="34" charset="-120"/>
              </a:rPr>
              <a:t>681건</a:t>
            </a:r>
            <a:endParaRPr lang="en-US" sz="1000" dirty="0"/>
          </a:p>
        </p:txBody>
      </p:sp>
      <p:sp>
        <p:nvSpPr>
          <p:cNvPr id="17" name="Shape 15"/>
          <p:cNvSpPr/>
          <p:nvPr/>
        </p:nvSpPr>
        <p:spPr>
          <a:xfrm>
            <a:off x="3401568" y="3328416"/>
            <a:ext cx="365760" cy="164592"/>
          </a:xfrm>
          <a:prstGeom prst="rightArrow">
            <a:avLst/>
          </a:prstGeom>
          <a:solidFill>
            <a:srgbClr val="D4DAEE"/>
          </a:solidFill>
          <a:ln w="12700">
            <a:solidFill>
              <a:srgbClr val="D4DAEE"/>
            </a:solidFill>
            <a:prstDash val="solid"/>
          </a:ln>
        </p:spPr>
        <p:txBody>
          <a:bodyPr/>
          <a:lstStyle/>
          <a:p>
            <a:endParaRPr lang="ko-KR" altLang="en-US"/>
          </a:p>
        </p:txBody>
      </p:sp>
      <p:sp>
        <p:nvSpPr>
          <p:cNvPr id="18" name="Shape 16"/>
          <p:cNvSpPr/>
          <p:nvPr/>
        </p:nvSpPr>
        <p:spPr>
          <a:xfrm>
            <a:off x="566928" y="3749040"/>
            <a:ext cx="2743200" cy="457200"/>
          </a:xfrm>
          <a:prstGeom prst="roundRect">
            <a:avLst>
              <a:gd name="adj" fmla="val 8000"/>
            </a:avLst>
          </a:prstGeom>
          <a:solidFill>
            <a:srgbClr val="FFFFFF"/>
          </a:solidFill>
          <a:ln w="12700">
            <a:solidFill>
              <a:srgbClr val="D4DAEE"/>
            </a:solidFill>
            <a:prstDash val="solid"/>
          </a:ln>
        </p:spPr>
        <p:txBody>
          <a:bodyPr/>
          <a:lstStyle/>
          <a:p>
            <a:endParaRPr lang="ko-KR" altLang="en-US"/>
          </a:p>
        </p:txBody>
      </p:sp>
      <p:sp>
        <p:nvSpPr>
          <p:cNvPr id="19" name="Text 17"/>
          <p:cNvSpPr/>
          <p:nvPr/>
        </p:nvSpPr>
        <p:spPr>
          <a:xfrm>
            <a:off x="713232" y="3749040"/>
            <a:ext cx="1737360" cy="457200"/>
          </a:xfrm>
          <a:prstGeom prst="rect">
            <a:avLst/>
          </a:prstGeom>
          <a:noFill/>
          <a:ln/>
        </p:spPr>
        <p:txBody>
          <a:bodyPr wrap="square" lIns="0" tIns="0" rIns="0" bIns="0" rtlCol="0" anchor="ctr"/>
          <a:lstStyle/>
          <a:p>
            <a:pPr marL="0" indent="0">
              <a:buNone/>
            </a:pPr>
            <a:r>
              <a:rPr lang="en-US" sz="1150" dirty="0">
                <a:solidFill>
                  <a:srgbClr val="141B33"/>
                </a:solidFill>
                <a:latin typeface="맑은 고딕" pitchFamily="34" charset="0"/>
                <a:ea typeface="맑은 고딕" pitchFamily="34" charset="-122"/>
                <a:cs typeface="맑은 고딕" pitchFamily="34" charset="-120"/>
              </a:rPr>
              <a:t>BIT 현황</a:t>
            </a:r>
            <a:endParaRPr lang="en-US" sz="1150" dirty="0"/>
          </a:p>
        </p:txBody>
      </p:sp>
      <p:sp>
        <p:nvSpPr>
          <p:cNvPr id="20" name="Text 18"/>
          <p:cNvSpPr/>
          <p:nvPr/>
        </p:nvSpPr>
        <p:spPr>
          <a:xfrm>
            <a:off x="2304288" y="3749040"/>
            <a:ext cx="868680" cy="457200"/>
          </a:xfrm>
          <a:prstGeom prst="rect">
            <a:avLst/>
          </a:prstGeom>
          <a:noFill/>
          <a:ln/>
        </p:spPr>
        <p:txBody>
          <a:bodyPr wrap="square" lIns="0" tIns="0" rIns="0" bIns="0" rtlCol="0" anchor="ctr"/>
          <a:lstStyle/>
          <a:p>
            <a:pPr marL="0" indent="0" algn="r">
              <a:buNone/>
            </a:pPr>
            <a:r>
              <a:rPr lang="en-US" sz="1000" b="1" dirty="0">
                <a:solidFill>
                  <a:srgbClr val="001871"/>
                </a:solidFill>
                <a:latin typeface="맑은 고딕" pitchFamily="34" charset="0"/>
                <a:ea typeface="맑은 고딕" pitchFamily="34" charset="-122"/>
                <a:cs typeface="맑은 고딕" pitchFamily="34" charset="-120"/>
              </a:rPr>
              <a:t>345건</a:t>
            </a:r>
            <a:endParaRPr lang="en-US" sz="1000" dirty="0"/>
          </a:p>
        </p:txBody>
      </p:sp>
      <p:sp>
        <p:nvSpPr>
          <p:cNvPr id="21" name="Shape 19"/>
          <p:cNvSpPr/>
          <p:nvPr/>
        </p:nvSpPr>
        <p:spPr>
          <a:xfrm>
            <a:off x="3401568" y="3895344"/>
            <a:ext cx="365760" cy="164592"/>
          </a:xfrm>
          <a:prstGeom prst="rightArrow">
            <a:avLst/>
          </a:prstGeom>
          <a:solidFill>
            <a:srgbClr val="D4DAEE"/>
          </a:solidFill>
          <a:ln w="12700">
            <a:solidFill>
              <a:srgbClr val="D4DAEE"/>
            </a:solidFill>
            <a:prstDash val="solid"/>
          </a:ln>
        </p:spPr>
        <p:txBody>
          <a:bodyPr/>
          <a:lstStyle/>
          <a:p>
            <a:endParaRPr lang="ko-KR" altLang="en-US"/>
          </a:p>
        </p:txBody>
      </p:sp>
      <p:sp>
        <p:nvSpPr>
          <p:cNvPr id="22" name="Shape 20"/>
          <p:cNvSpPr/>
          <p:nvPr/>
        </p:nvSpPr>
        <p:spPr>
          <a:xfrm>
            <a:off x="566928" y="4315968"/>
            <a:ext cx="2743200" cy="457200"/>
          </a:xfrm>
          <a:prstGeom prst="roundRect">
            <a:avLst>
              <a:gd name="adj" fmla="val 8000"/>
            </a:avLst>
          </a:prstGeom>
          <a:solidFill>
            <a:srgbClr val="FFFFFF"/>
          </a:solidFill>
          <a:ln w="12700">
            <a:solidFill>
              <a:srgbClr val="D4DAEE"/>
            </a:solidFill>
            <a:prstDash val="solid"/>
          </a:ln>
        </p:spPr>
        <p:txBody>
          <a:bodyPr/>
          <a:lstStyle/>
          <a:p>
            <a:endParaRPr lang="ko-KR" altLang="en-US"/>
          </a:p>
        </p:txBody>
      </p:sp>
      <p:sp>
        <p:nvSpPr>
          <p:cNvPr id="23" name="Text 21"/>
          <p:cNvSpPr/>
          <p:nvPr/>
        </p:nvSpPr>
        <p:spPr>
          <a:xfrm>
            <a:off x="713232" y="4315968"/>
            <a:ext cx="1737360" cy="457200"/>
          </a:xfrm>
          <a:prstGeom prst="rect">
            <a:avLst/>
          </a:prstGeom>
          <a:noFill/>
          <a:ln/>
        </p:spPr>
        <p:txBody>
          <a:bodyPr wrap="square" lIns="0" tIns="0" rIns="0" bIns="0" rtlCol="0" anchor="ctr"/>
          <a:lstStyle/>
          <a:p>
            <a:pPr marL="0" indent="0">
              <a:buNone/>
            </a:pPr>
            <a:r>
              <a:rPr lang="en-US" sz="1150" dirty="0">
                <a:solidFill>
                  <a:srgbClr val="141B33"/>
                </a:solidFill>
                <a:latin typeface="맑은 고딕" pitchFamily="34" charset="0"/>
                <a:ea typeface="맑은 고딕" pitchFamily="34" charset="-122"/>
                <a:cs typeface="맑은 고딕" pitchFamily="34" charset="-120"/>
              </a:rPr>
              <a:t>가로등 정보</a:t>
            </a:r>
            <a:endParaRPr lang="en-US" sz="1150" dirty="0"/>
          </a:p>
        </p:txBody>
      </p:sp>
      <p:sp>
        <p:nvSpPr>
          <p:cNvPr id="24" name="Text 22"/>
          <p:cNvSpPr/>
          <p:nvPr/>
        </p:nvSpPr>
        <p:spPr>
          <a:xfrm>
            <a:off x="2304288" y="4315968"/>
            <a:ext cx="868680" cy="457200"/>
          </a:xfrm>
          <a:prstGeom prst="rect">
            <a:avLst/>
          </a:prstGeom>
          <a:noFill/>
          <a:ln/>
        </p:spPr>
        <p:txBody>
          <a:bodyPr wrap="square" lIns="0" tIns="0" rIns="0" bIns="0" rtlCol="0" anchor="ctr"/>
          <a:lstStyle/>
          <a:p>
            <a:pPr marL="0" indent="0" algn="r">
              <a:buNone/>
            </a:pPr>
            <a:r>
              <a:rPr lang="en-US" sz="1000" b="1" dirty="0">
                <a:solidFill>
                  <a:srgbClr val="001871"/>
                </a:solidFill>
                <a:latin typeface="맑은 고딕" pitchFamily="34" charset="0"/>
                <a:ea typeface="맑은 고딕" pitchFamily="34" charset="-122"/>
                <a:cs typeface="맑은 고딕" pitchFamily="34" charset="-120"/>
              </a:rPr>
              <a:t>13,713건</a:t>
            </a:r>
            <a:endParaRPr lang="en-US" sz="1000" dirty="0"/>
          </a:p>
        </p:txBody>
      </p:sp>
      <p:sp>
        <p:nvSpPr>
          <p:cNvPr id="25" name="Shape 23"/>
          <p:cNvSpPr/>
          <p:nvPr/>
        </p:nvSpPr>
        <p:spPr>
          <a:xfrm>
            <a:off x="3401568" y="4462272"/>
            <a:ext cx="365760" cy="164592"/>
          </a:xfrm>
          <a:prstGeom prst="rightArrow">
            <a:avLst/>
          </a:prstGeom>
          <a:solidFill>
            <a:srgbClr val="D4DAEE"/>
          </a:solidFill>
          <a:ln w="12700">
            <a:solidFill>
              <a:srgbClr val="D4DAEE"/>
            </a:solidFill>
            <a:prstDash val="solid"/>
          </a:ln>
        </p:spPr>
        <p:txBody>
          <a:bodyPr/>
          <a:lstStyle/>
          <a:p>
            <a:endParaRPr lang="ko-KR" altLang="en-US"/>
          </a:p>
        </p:txBody>
      </p:sp>
      <p:sp>
        <p:nvSpPr>
          <p:cNvPr id="26" name="Shape 24"/>
          <p:cNvSpPr/>
          <p:nvPr/>
        </p:nvSpPr>
        <p:spPr>
          <a:xfrm>
            <a:off x="566928" y="4882896"/>
            <a:ext cx="2743200" cy="457200"/>
          </a:xfrm>
          <a:prstGeom prst="roundRect">
            <a:avLst>
              <a:gd name="adj" fmla="val 8000"/>
            </a:avLst>
          </a:prstGeom>
          <a:solidFill>
            <a:srgbClr val="FFFFFF"/>
          </a:solidFill>
          <a:ln w="12700">
            <a:solidFill>
              <a:srgbClr val="D4DAEE"/>
            </a:solidFill>
            <a:prstDash val="solid"/>
          </a:ln>
        </p:spPr>
        <p:txBody>
          <a:bodyPr/>
          <a:lstStyle/>
          <a:p>
            <a:endParaRPr lang="ko-KR" altLang="en-US"/>
          </a:p>
        </p:txBody>
      </p:sp>
      <p:sp>
        <p:nvSpPr>
          <p:cNvPr id="27" name="Text 25"/>
          <p:cNvSpPr/>
          <p:nvPr/>
        </p:nvSpPr>
        <p:spPr>
          <a:xfrm>
            <a:off x="713232" y="4882896"/>
            <a:ext cx="1737360" cy="457200"/>
          </a:xfrm>
          <a:prstGeom prst="rect">
            <a:avLst/>
          </a:prstGeom>
          <a:noFill/>
          <a:ln/>
        </p:spPr>
        <p:txBody>
          <a:bodyPr wrap="square" lIns="0" tIns="0" rIns="0" bIns="0" rtlCol="0" anchor="ctr"/>
          <a:lstStyle/>
          <a:p>
            <a:pPr marL="0" indent="0">
              <a:buNone/>
            </a:pPr>
            <a:r>
              <a:rPr lang="ko-KR" altLang="en-US" sz="1150" dirty="0">
                <a:solidFill>
                  <a:srgbClr val="141B33"/>
                </a:solidFill>
                <a:latin typeface="맑은 고딕" pitchFamily="34" charset="0"/>
                <a:ea typeface="맑은 고딕" pitchFamily="34" charset="-122"/>
                <a:cs typeface="맑은 고딕" pitchFamily="34" charset="-120"/>
              </a:rPr>
              <a:t>노선 정보</a:t>
            </a:r>
            <a:endParaRPr lang="en-US" sz="1150" dirty="0"/>
          </a:p>
        </p:txBody>
      </p:sp>
      <p:sp>
        <p:nvSpPr>
          <p:cNvPr id="28" name="Text 26"/>
          <p:cNvSpPr/>
          <p:nvPr/>
        </p:nvSpPr>
        <p:spPr>
          <a:xfrm>
            <a:off x="2304288" y="4882896"/>
            <a:ext cx="868680" cy="457200"/>
          </a:xfrm>
          <a:prstGeom prst="rect">
            <a:avLst/>
          </a:prstGeom>
          <a:noFill/>
          <a:ln/>
        </p:spPr>
        <p:txBody>
          <a:bodyPr wrap="square" lIns="0" tIns="0" rIns="0" bIns="0" rtlCol="0" anchor="ctr"/>
          <a:lstStyle/>
          <a:p>
            <a:pPr marL="0" indent="0" algn="r">
              <a:buNone/>
            </a:pPr>
            <a:r>
              <a:rPr lang="en-US" sz="1000" b="1" dirty="0">
                <a:solidFill>
                  <a:srgbClr val="001871"/>
                </a:solidFill>
                <a:latin typeface="맑은 고딕" pitchFamily="34" charset="0"/>
                <a:ea typeface="맑은 고딕" pitchFamily="34" charset="-122"/>
                <a:cs typeface="맑은 고딕" pitchFamily="34" charset="-120"/>
              </a:rPr>
              <a:t>1890</a:t>
            </a:r>
            <a:r>
              <a:rPr lang="ko-KR" altLang="en-US" sz="1000" b="1" dirty="0">
                <a:solidFill>
                  <a:srgbClr val="001871"/>
                </a:solidFill>
                <a:latin typeface="맑은 고딕" pitchFamily="34" charset="0"/>
                <a:ea typeface="맑은 고딕" pitchFamily="34" charset="-122"/>
                <a:cs typeface="맑은 고딕" pitchFamily="34" charset="-120"/>
              </a:rPr>
              <a:t>개</a:t>
            </a:r>
            <a:endParaRPr lang="en-US" sz="1000" dirty="0"/>
          </a:p>
        </p:txBody>
      </p:sp>
      <p:sp>
        <p:nvSpPr>
          <p:cNvPr id="29" name="Shape 27"/>
          <p:cNvSpPr/>
          <p:nvPr/>
        </p:nvSpPr>
        <p:spPr>
          <a:xfrm>
            <a:off x="3401568" y="5029200"/>
            <a:ext cx="365760" cy="164592"/>
          </a:xfrm>
          <a:prstGeom prst="rightArrow">
            <a:avLst/>
          </a:prstGeom>
          <a:solidFill>
            <a:srgbClr val="D4DAEE"/>
          </a:solidFill>
          <a:ln w="12700">
            <a:solidFill>
              <a:srgbClr val="D4DAEE"/>
            </a:solidFill>
            <a:prstDash val="solid"/>
          </a:ln>
        </p:spPr>
        <p:txBody>
          <a:bodyPr/>
          <a:lstStyle/>
          <a:p>
            <a:endParaRPr lang="ko-KR" altLang="en-US"/>
          </a:p>
        </p:txBody>
      </p:sp>
      <p:sp>
        <p:nvSpPr>
          <p:cNvPr id="30" name="Shape 28"/>
          <p:cNvSpPr/>
          <p:nvPr/>
        </p:nvSpPr>
        <p:spPr>
          <a:xfrm>
            <a:off x="3950208" y="2048256"/>
            <a:ext cx="3950208" cy="3401568"/>
          </a:xfrm>
          <a:prstGeom prst="roundRect">
            <a:avLst>
              <a:gd name="adj" fmla="val 1613"/>
            </a:avLst>
          </a:prstGeom>
          <a:solidFill>
            <a:srgbClr val="001871"/>
          </a:solidFill>
          <a:ln w="12700">
            <a:solidFill>
              <a:srgbClr val="001871"/>
            </a:solidFill>
            <a:prstDash val="solid"/>
          </a:ln>
        </p:spPr>
        <p:txBody>
          <a:bodyPr/>
          <a:lstStyle/>
          <a:p>
            <a:endParaRPr lang="ko-KR" altLang="en-US"/>
          </a:p>
        </p:txBody>
      </p:sp>
      <p:sp>
        <p:nvSpPr>
          <p:cNvPr id="31" name="Text 29"/>
          <p:cNvSpPr/>
          <p:nvPr/>
        </p:nvSpPr>
        <p:spPr>
          <a:xfrm>
            <a:off x="4169664" y="2212848"/>
            <a:ext cx="3511296" cy="274320"/>
          </a:xfrm>
          <a:prstGeom prst="rect">
            <a:avLst/>
          </a:prstGeom>
          <a:noFill/>
          <a:ln/>
        </p:spPr>
        <p:txBody>
          <a:bodyPr wrap="square" lIns="0" tIns="0" rIns="0" bIns="0" rtlCol="0" anchor="ctr"/>
          <a:lstStyle/>
          <a:p>
            <a:pPr marL="0" indent="0">
              <a:buNone/>
            </a:pPr>
            <a:r>
              <a:rPr lang="en-US" sz="1200" b="1" dirty="0">
                <a:solidFill>
                  <a:srgbClr val="8FA2E4"/>
                </a:solidFill>
                <a:latin typeface="맑은 고딕" pitchFamily="34" charset="0"/>
                <a:ea typeface="맑은 고딕" pitchFamily="34" charset="-122"/>
                <a:cs typeface="맑은 고딕" pitchFamily="34" charset="-120"/>
              </a:rPr>
              <a:t>정류장 마스터</a:t>
            </a:r>
            <a:endParaRPr lang="en-US" sz="1200" dirty="0"/>
          </a:p>
        </p:txBody>
      </p:sp>
      <p:sp>
        <p:nvSpPr>
          <p:cNvPr id="32" name="Text 30"/>
          <p:cNvSpPr/>
          <p:nvPr/>
        </p:nvSpPr>
        <p:spPr>
          <a:xfrm>
            <a:off x="4160428" y="2625436"/>
            <a:ext cx="3511296" cy="365760"/>
          </a:xfrm>
          <a:prstGeom prst="rect">
            <a:avLst/>
          </a:prstGeom>
          <a:noFill/>
          <a:ln/>
        </p:spPr>
        <p:txBody>
          <a:bodyPr wrap="square" lIns="0" tIns="0" rIns="0" bIns="0" rtlCol="0" anchor="ctr"/>
          <a:lstStyle/>
          <a:p>
            <a:pPr marL="0" indent="0">
              <a:buNone/>
            </a:pPr>
            <a:r>
              <a:rPr lang="ko-KR" altLang="en-US" sz="1900" b="1" dirty="0">
                <a:solidFill>
                  <a:srgbClr val="FFFFFF"/>
                </a:solidFill>
                <a:latin typeface="맑은 고딕" pitchFamily="34" charset="0"/>
                <a:ea typeface="맑은 고딕" pitchFamily="34" charset="-122"/>
              </a:rPr>
              <a:t>데이터를 하나로 모아서</a:t>
            </a:r>
            <a:endParaRPr lang="en-US" altLang="ko-KR" sz="1900" b="1" dirty="0">
              <a:solidFill>
                <a:srgbClr val="FFFFFF"/>
              </a:solidFill>
              <a:latin typeface="맑은 고딕" pitchFamily="34" charset="0"/>
              <a:ea typeface="맑은 고딕" pitchFamily="34" charset="-122"/>
            </a:endParaRPr>
          </a:p>
          <a:p>
            <a:pPr marL="0" indent="0">
              <a:buNone/>
            </a:pPr>
            <a:r>
              <a:rPr lang="ko-KR" altLang="en-US" sz="1900" b="1" dirty="0">
                <a:solidFill>
                  <a:srgbClr val="FFFFFF"/>
                </a:solidFill>
                <a:latin typeface="맑은 고딕" pitchFamily="34" charset="0"/>
                <a:ea typeface="맑은 고딕" pitchFamily="34" charset="-122"/>
              </a:rPr>
              <a:t>새로운 데이터로</a:t>
            </a:r>
            <a:endParaRPr lang="en-US" altLang="ko-KR" sz="1900" b="1" dirty="0">
              <a:solidFill>
                <a:srgbClr val="FFFFFF"/>
              </a:solidFill>
              <a:latin typeface="맑은 고딕" pitchFamily="34" charset="0"/>
              <a:ea typeface="맑은 고딕" pitchFamily="34" charset="-122"/>
            </a:endParaRPr>
          </a:p>
        </p:txBody>
      </p:sp>
      <p:sp>
        <p:nvSpPr>
          <p:cNvPr id="34" name="Shape 32"/>
          <p:cNvSpPr/>
          <p:nvPr/>
        </p:nvSpPr>
        <p:spPr>
          <a:xfrm>
            <a:off x="4169664" y="3218688"/>
            <a:ext cx="3511296" cy="329184"/>
          </a:xfrm>
          <a:prstGeom prst="roundRect">
            <a:avLst>
              <a:gd name="adj" fmla="val 13889"/>
            </a:avLst>
          </a:prstGeom>
          <a:solidFill>
            <a:srgbClr val="0A2589"/>
          </a:solidFill>
          <a:ln w="9525">
            <a:solidFill>
              <a:srgbClr val="2544B5"/>
            </a:solidFill>
            <a:prstDash val="solid"/>
          </a:ln>
        </p:spPr>
        <p:txBody>
          <a:bodyPr/>
          <a:lstStyle/>
          <a:p>
            <a:endParaRPr lang="ko-KR" altLang="en-US"/>
          </a:p>
        </p:txBody>
      </p:sp>
      <p:sp>
        <p:nvSpPr>
          <p:cNvPr id="35" name="Text 33"/>
          <p:cNvSpPr/>
          <p:nvPr/>
        </p:nvSpPr>
        <p:spPr>
          <a:xfrm>
            <a:off x="4297680" y="3218688"/>
            <a:ext cx="3291840" cy="329184"/>
          </a:xfrm>
          <a:prstGeom prst="rect">
            <a:avLst/>
          </a:prstGeom>
          <a:noFill/>
          <a:ln/>
        </p:spPr>
        <p:txBody>
          <a:bodyPr wrap="square" lIns="0" tIns="0" rIns="0" bIns="0" rtlCol="0" anchor="ctr"/>
          <a:lstStyle/>
          <a:p>
            <a:pPr marL="0" indent="0">
              <a:buNone/>
            </a:pPr>
            <a:r>
              <a:rPr lang="en-US" sz="1050" dirty="0">
                <a:solidFill>
                  <a:srgbClr val="D3DAF6"/>
                </a:solidFill>
                <a:latin typeface="맑은 고딕" pitchFamily="34" charset="0"/>
                <a:ea typeface="맑은 고딕" pitchFamily="34" charset="-122"/>
                <a:cs typeface="맑은 고딕" pitchFamily="34" charset="-120"/>
              </a:rPr>
              <a:t>① 정류장번호 직접 매칭</a:t>
            </a:r>
            <a:endParaRPr lang="en-US" sz="1050" dirty="0"/>
          </a:p>
        </p:txBody>
      </p:sp>
      <p:sp>
        <p:nvSpPr>
          <p:cNvPr id="36" name="Shape 34"/>
          <p:cNvSpPr/>
          <p:nvPr/>
        </p:nvSpPr>
        <p:spPr>
          <a:xfrm>
            <a:off x="4169664" y="3621024"/>
            <a:ext cx="3511296" cy="329184"/>
          </a:xfrm>
          <a:prstGeom prst="roundRect">
            <a:avLst>
              <a:gd name="adj" fmla="val 13889"/>
            </a:avLst>
          </a:prstGeom>
          <a:solidFill>
            <a:srgbClr val="0A2589"/>
          </a:solidFill>
          <a:ln w="9525">
            <a:solidFill>
              <a:srgbClr val="2544B5"/>
            </a:solidFill>
            <a:prstDash val="solid"/>
          </a:ln>
        </p:spPr>
        <p:txBody>
          <a:bodyPr/>
          <a:lstStyle/>
          <a:p>
            <a:endParaRPr lang="ko-KR" altLang="en-US"/>
          </a:p>
        </p:txBody>
      </p:sp>
      <p:sp>
        <p:nvSpPr>
          <p:cNvPr id="37" name="Text 35"/>
          <p:cNvSpPr/>
          <p:nvPr/>
        </p:nvSpPr>
        <p:spPr>
          <a:xfrm>
            <a:off x="4297680" y="3621024"/>
            <a:ext cx="3291840" cy="329184"/>
          </a:xfrm>
          <a:prstGeom prst="rect">
            <a:avLst/>
          </a:prstGeom>
          <a:noFill/>
          <a:ln/>
        </p:spPr>
        <p:txBody>
          <a:bodyPr wrap="square" lIns="0" tIns="0" rIns="0" bIns="0" rtlCol="0" anchor="ctr"/>
          <a:lstStyle/>
          <a:p>
            <a:pPr marL="0" indent="0">
              <a:buNone/>
            </a:pPr>
            <a:r>
              <a:rPr lang="en-US" sz="1050" dirty="0">
                <a:solidFill>
                  <a:srgbClr val="D3DAF6"/>
                </a:solidFill>
                <a:latin typeface="맑은 고딕" pitchFamily="34" charset="0"/>
                <a:ea typeface="맑은 고딕" pitchFamily="34" charset="-122"/>
                <a:cs typeface="맑은 고딕" pitchFamily="34" charset="-120"/>
              </a:rPr>
              <a:t>② 관리번호 매칭</a:t>
            </a:r>
            <a:endParaRPr lang="en-US" sz="1050" dirty="0"/>
          </a:p>
        </p:txBody>
      </p:sp>
      <p:sp>
        <p:nvSpPr>
          <p:cNvPr id="38" name="Shape 36"/>
          <p:cNvSpPr/>
          <p:nvPr/>
        </p:nvSpPr>
        <p:spPr>
          <a:xfrm>
            <a:off x="4169664" y="4023360"/>
            <a:ext cx="3511296" cy="329184"/>
          </a:xfrm>
          <a:prstGeom prst="roundRect">
            <a:avLst>
              <a:gd name="adj" fmla="val 13889"/>
            </a:avLst>
          </a:prstGeom>
          <a:solidFill>
            <a:srgbClr val="0A2589"/>
          </a:solidFill>
          <a:ln w="9525">
            <a:solidFill>
              <a:srgbClr val="2544B5"/>
            </a:solidFill>
            <a:prstDash val="solid"/>
          </a:ln>
        </p:spPr>
        <p:txBody>
          <a:bodyPr/>
          <a:lstStyle/>
          <a:p>
            <a:endParaRPr lang="ko-KR" altLang="en-US"/>
          </a:p>
        </p:txBody>
      </p:sp>
      <p:sp>
        <p:nvSpPr>
          <p:cNvPr id="39" name="Text 37"/>
          <p:cNvSpPr/>
          <p:nvPr/>
        </p:nvSpPr>
        <p:spPr>
          <a:xfrm>
            <a:off x="4297680" y="4023360"/>
            <a:ext cx="3291840" cy="329184"/>
          </a:xfrm>
          <a:prstGeom prst="rect">
            <a:avLst/>
          </a:prstGeom>
          <a:noFill/>
          <a:ln/>
        </p:spPr>
        <p:txBody>
          <a:bodyPr wrap="square" lIns="0" tIns="0" rIns="0" bIns="0" rtlCol="0" anchor="ctr"/>
          <a:lstStyle/>
          <a:p>
            <a:pPr marL="0" indent="0">
              <a:buNone/>
            </a:pPr>
            <a:r>
              <a:rPr lang="en-US" sz="1050" dirty="0">
                <a:solidFill>
                  <a:srgbClr val="D3DAF6"/>
                </a:solidFill>
                <a:latin typeface="맑은 고딕" pitchFamily="34" charset="0"/>
                <a:ea typeface="맑은 고딕" pitchFamily="34" charset="-122"/>
                <a:cs typeface="맑은 고딕" pitchFamily="34" charset="-120"/>
              </a:rPr>
              <a:t>③ 좌표 반경·거리 매칭 (쉼터·가로등)</a:t>
            </a:r>
            <a:endParaRPr lang="en-US" sz="1050" dirty="0"/>
          </a:p>
        </p:txBody>
      </p:sp>
      <p:sp>
        <p:nvSpPr>
          <p:cNvPr id="40" name="Shape 38"/>
          <p:cNvSpPr/>
          <p:nvPr/>
        </p:nvSpPr>
        <p:spPr>
          <a:xfrm>
            <a:off x="4169664" y="4425696"/>
            <a:ext cx="3511296" cy="329184"/>
          </a:xfrm>
          <a:prstGeom prst="roundRect">
            <a:avLst>
              <a:gd name="adj" fmla="val 13889"/>
            </a:avLst>
          </a:prstGeom>
          <a:solidFill>
            <a:srgbClr val="0A2589"/>
          </a:solidFill>
          <a:ln w="9525">
            <a:solidFill>
              <a:srgbClr val="2544B5"/>
            </a:solidFill>
            <a:prstDash val="solid"/>
          </a:ln>
        </p:spPr>
        <p:txBody>
          <a:bodyPr/>
          <a:lstStyle/>
          <a:p>
            <a:endParaRPr lang="ko-KR" altLang="en-US"/>
          </a:p>
        </p:txBody>
      </p:sp>
      <p:sp>
        <p:nvSpPr>
          <p:cNvPr id="41" name="Text 39"/>
          <p:cNvSpPr/>
          <p:nvPr/>
        </p:nvSpPr>
        <p:spPr>
          <a:xfrm>
            <a:off x="4297680" y="4425696"/>
            <a:ext cx="3291840" cy="329184"/>
          </a:xfrm>
          <a:prstGeom prst="rect">
            <a:avLst/>
          </a:prstGeom>
          <a:noFill/>
          <a:ln/>
        </p:spPr>
        <p:txBody>
          <a:bodyPr wrap="square" lIns="0" tIns="0" rIns="0" bIns="0" rtlCol="0" anchor="ctr"/>
          <a:lstStyle/>
          <a:p>
            <a:pPr marL="0" indent="0">
              <a:buNone/>
            </a:pPr>
            <a:r>
              <a:rPr lang="en-US" sz="1050" dirty="0">
                <a:solidFill>
                  <a:srgbClr val="D3DAF6"/>
                </a:solidFill>
                <a:latin typeface="맑은 고딕" pitchFamily="34" charset="0"/>
                <a:ea typeface="맑은 고딕" pitchFamily="34" charset="-122"/>
                <a:cs typeface="맑은 고딕" pitchFamily="34" charset="-120"/>
              </a:rPr>
              <a:t>④ 정류장명 + 법정동 매칭</a:t>
            </a:r>
            <a:endParaRPr lang="en-US" sz="1050" dirty="0"/>
          </a:p>
        </p:txBody>
      </p:sp>
      <p:sp>
        <p:nvSpPr>
          <p:cNvPr id="42" name="Text 40"/>
          <p:cNvSpPr/>
          <p:nvPr/>
        </p:nvSpPr>
        <p:spPr>
          <a:xfrm>
            <a:off x="4169664" y="4919472"/>
            <a:ext cx="3511296" cy="457200"/>
          </a:xfrm>
          <a:prstGeom prst="rect">
            <a:avLst/>
          </a:prstGeom>
          <a:noFill/>
          <a:ln/>
        </p:spPr>
        <p:txBody>
          <a:bodyPr wrap="square" lIns="0" tIns="0" rIns="0" bIns="0" rtlCol="0" anchor="ctr"/>
          <a:lstStyle/>
          <a:p>
            <a:pPr marL="0" indent="0">
              <a:lnSpc>
                <a:spcPts val="1400"/>
              </a:lnSpc>
              <a:buNone/>
            </a:pPr>
            <a:r>
              <a:rPr lang="en-US" sz="1000" b="1" dirty="0">
                <a:solidFill>
                  <a:srgbClr val="E8751A"/>
                </a:solidFill>
                <a:latin typeface="맑은 고딕" pitchFamily="34" charset="0"/>
                <a:ea typeface="맑은 고딕" pitchFamily="34" charset="-122"/>
                <a:cs typeface="맑은 고딕" pitchFamily="34" charset="-120"/>
              </a:rPr>
              <a:t>→ ID 대응 테이블 1,038행 구축 (승차ID ↔ 정류장번호 ↔ 관리번호 ↔ TAGO nodeId)</a:t>
            </a:r>
            <a:endParaRPr lang="en-US" sz="1000" dirty="0"/>
          </a:p>
        </p:txBody>
      </p:sp>
      <p:sp>
        <p:nvSpPr>
          <p:cNvPr id="43" name="Text 41"/>
          <p:cNvSpPr/>
          <p:nvPr/>
        </p:nvSpPr>
        <p:spPr>
          <a:xfrm>
            <a:off x="8284464" y="1700784"/>
            <a:ext cx="3291840" cy="274320"/>
          </a:xfrm>
          <a:prstGeom prst="rect">
            <a:avLst/>
          </a:prstGeom>
          <a:noFill/>
          <a:ln/>
        </p:spPr>
        <p:txBody>
          <a:bodyPr wrap="square" lIns="0" tIns="0" rIns="0" bIns="0" rtlCol="0" anchor="ctr"/>
          <a:lstStyle/>
          <a:p>
            <a:pPr marL="0" indent="0">
              <a:buNone/>
            </a:pPr>
            <a:r>
              <a:rPr lang="en-US" sz="1200" b="1" dirty="0">
                <a:solidFill>
                  <a:srgbClr val="6E7796"/>
                </a:solidFill>
                <a:latin typeface="맑은 고딕" pitchFamily="34" charset="0"/>
                <a:ea typeface="맑은 고딕" pitchFamily="34" charset="-122"/>
                <a:cs typeface="맑은 고딕" pitchFamily="34" charset="-120"/>
              </a:rPr>
              <a:t>정류장 단위 산출물</a:t>
            </a:r>
            <a:endParaRPr lang="en-US" sz="1200" dirty="0"/>
          </a:p>
        </p:txBody>
      </p:sp>
      <p:sp>
        <p:nvSpPr>
          <p:cNvPr id="44" name="Shape 42"/>
          <p:cNvSpPr/>
          <p:nvPr/>
        </p:nvSpPr>
        <p:spPr>
          <a:xfrm>
            <a:off x="7973568" y="2286000"/>
            <a:ext cx="256032" cy="164592"/>
          </a:xfrm>
          <a:prstGeom prst="rightArrow">
            <a:avLst/>
          </a:prstGeom>
          <a:solidFill>
            <a:srgbClr val="D4DAEE"/>
          </a:solidFill>
          <a:ln w="12700">
            <a:solidFill>
              <a:srgbClr val="D4DAEE"/>
            </a:solidFill>
            <a:prstDash val="solid"/>
          </a:ln>
        </p:spPr>
        <p:txBody>
          <a:bodyPr/>
          <a:lstStyle/>
          <a:p>
            <a:endParaRPr lang="ko-KR" altLang="en-US"/>
          </a:p>
        </p:txBody>
      </p:sp>
      <p:sp>
        <p:nvSpPr>
          <p:cNvPr id="45" name="Shape 43"/>
          <p:cNvSpPr/>
          <p:nvPr/>
        </p:nvSpPr>
        <p:spPr>
          <a:xfrm>
            <a:off x="8284464" y="2048256"/>
            <a:ext cx="3346704" cy="621792"/>
          </a:xfrm>
          <a:prstGeom prst="roundRect">
            <a:avLst>
              <a:gd name="adj" fmla="val 5882"/>
            </a:avLst>
          </a:prstGeom>
          <a:solidFill>
            <a:srgbClr val="FCEEE0"/>
          </a:solidFill>
          <a:ln w="12700">
            <a:solidFill>
              <a:srgbClr val="F2C99E"/>
            </a:solidFill>
            <a:prstDash val="solid"/>
          </a:ln>
        </p:spPr>
        <p:txBody>
          <a:bodyPr/>
          <a:lstStyle/>
          <a:p>
            <a:endParaRPr lang="ko-KR" altLang="en-US"/>
          </a:p>
        </p:txBody>
      </p:sp>
      <p:sp>
        <p:nvSpPr>
          <p:cNvPr id="46" name="Text 44"/>
          <p:cNvSpPr/>
          <p:nvPr/>
        </p:nvSpPr>
        <p:spPr>
          <a:xfrm>
            <a:off x="8449056" y="2075688"/>
            <a:ext cx="3017520" cy="219456"/>
          </a:xfrm>
          <a:prstGeom prst="rect">
            <a:avLst/>
          </a:prstGeom>
          <a:noFill/>
          <a:ln/>
        </p:spPr>
        <p:txBody>
          <a:bodyPr wrap="square" lIns="0" tIns="0" rIns="0" bIns="0" rtlCol="0" anchor="ctr"/>
          <a:lstStyle/>
          <a:p>
            <a:pPr marL="0" indent="0">
              <a:buNone/>
            </a:pPr>
            <a:r>
              <a:rPr lang="en-US" sz="1150" b="1" dirty="0">
                <a:solidFill>
                  <a:srgbClr val="E8751A"/>
                </a:solidFill>
                <a:latin typeface="맑은 고딕" pitchFamily="34" charset="0"/>
                <a:ea typeface="맑은 고딕" pitchFamily="34" charset="-122"/>
                <a:cs typeface="맑은 고딕" pitchFamily="34" charset="-120"/>
              </a:rPr>
              <a:t>근처 무더위쉼터 ★</a:t>
            </a:r>
            <a:endParaRPr lang="en-US" sz="1150" dirty="0"/>
          </a:p>
        </p:txBody>
      </p:sp>
      <p:sp>
        <p:nvSpPr>
          <p:cNvPr id="47" name="Text 45"/>
          <p:cNvSpPr/>
          <p:nvPr/>
        </p:nvSpPr>
        <p:spPr>
          <a:xfrm>
            <a:off x="8449056" y="2286000"/>
            <a:ext cx="3072384" cy="365760"/>
          </a:xfrm>
          <a:prstGeom prst="rect">
            <a:avLst/>
          </a:prstGeom>
          <a:noFill/>
          <a:ln/>
        </p:spPr>
        <p:txBody>
          <a:bodyPr wrap="square" lIns="0" tIns="0" rIns="0" bIns="0" rtlCol="0" anchor="t"/>
          <a:lstStyle/>
          <a:p>
            <a:pPr marL="0" indent="0">
              <a:lnSpc>
                <a:spcPts val="1200"/>
              </a:lnSpc>
              <a:buNone/>
            </a:pPr>
            <a:r>
              <a:rPr lang="en-US" sz="950" dirty="0">
                <a:solidFill>
                  <a:srgbClr val="39415E"/>
                </a:solidFill>
                <a:latin typeface="맑은 고딕" pitchFamily="34" charset="0"/>
                <a:ea typeface="맑은 고딕" pitchFamily="34" charset="-122"/>
                <a:cs typeface="맑은 고딕" pitchFamily="34" charset="-120"/>
              </a:rPr>
              <a:t>최근접 쉼터 거리 · 도보 시간</a:t>
            </a:r>
            <a:endParaRPr lang="en-US" sz="950" dirty="0"/>
          </a:p>
        </p:txBody>
      </p:sp>
      <p:sp>
        <p:nvSpPr>
          <p:cNvPr id="48" name="Shape 46"/>
          <p:cNvSpPr/>
          <p:nvPr/>
        </p:nvSpPr>
        <p:spPr>
          <a:xfrm>
            <a:off x="7973568" y="2980944"/>
            <a:ext cx="256032" cy="164592"/>
          </a:xfrm>
          <a:prstGeom prst="rightArrow">
            <a:avLst/>
          </a:prstGeom>
          <a:solidFill>
            <a:srgbClr val="D4DAEE"/>
          </a:solidFill>
          <a:ln w="12700">
            <a:solidFill>
              <a:srgbClr val="D4DAEE"/>
            </a:solidFill>
            <a:prstDash val="solid"/>
          </a:ln>
        </p:spPr>
        <p:txBody>
          <a:bodyPr/>
          <a:lstStyle/>
          <a:p>
            <a:endParaRPr lang="ko-KR" altLang="en-US"/>
          </a:p>
        </p:txBody>
      </p:sp>
      <p:sp>
        <p:nvSpPr>
          <p:cNvPr id="49" name="Shape 47"/>
          <p:cNvSpPr/>
          <p:nvPr/>
        </p:nvSpPr>
        <p:spPr>
          <a:xfrm>
            <a:off x="8284464" y="2743200"/>
            <a:ext cx="3346704" cy="621792"/>
          </a:xfrm>
          <a:prstGeom prst="roundRect">
            <a:avLst>
              <a:gd name="adj" fmla="val 5882"/>
            </a:avLst>
          </a:prstGeom>
          <a:solidFill>
            <a:srgbClr val="E7EBF8"/>
          </a:solidFill>
          <a:ln w="12700">
            <a:solidFill>
              <a:srgbClr val="E7EBF8"/>
            </a:solidFill>
            <a:prstDash val="solid"/>
          </a:ln>
        </p:spPr>
        <p:txBody>
          <a:bodyPr/>
          <a:lstStyle/>
          <a:p>
            <a:endParaRPr lang="ko-KR" altLang="en-US"/>
          </a:p>
        </p:txBody>
      </p:sp>
      <p:sp>
        <p:nvSpPr>
          <p:cNvPr id="50" name="Text 48"/>
          <p:cNvSpPr/>
          <p:nvPr/>
        </p:nvSpPr>
        <p:spPr>
          <a:xfrm>
            <a:off x="8449056" y="2770632"/>
            <a:ext cx="3017520" cy="219456"/>
          </a:xfrm>
          <a:prstGeom prst="rect">
            <a:avLst/>
          </a:prstGeom>
          <a:noFill/>
          <a:ln/>
        </p:spPr>
        <p:txBody>
          <a:bodyPr wrap="square" lIns="0" tIns="0" rIns="0" bIns="0" rtlCol="0" anchor="ctr"/>
          <a:lstStyle/>
          <a:p>
            <a:pPr marL="0" indent="0">
              <a:buNone/>
            </a:pPr>
            <a:r>
              <a:rPr lang="en-US" sz="1150" b="1" dirty="0">
                <a:solidFill>
                  <a:srgbClr val="001871"/>
                </a:solidFill>
                <a:latin typeface="맑은 고딕" pitchFamily="34" charset="0"/>
                <a:ea typeface="맑은 고딕" pitchFamily="34" charset="-122"/>
                <a:cs typeface="맑은 고딕" pitchFamily="34" charset="-120"/>
              </a:rPr>
              <a:t>폭염 취약 판정</a:t>
            </a:r>
            <a:endParaRPr lang="en-US" sz="1150" dirty="0"/>
          </a:p>
        </p:txBody>
      </p:sp>
      <p:sp>
        <p:nvSpPr>
          <p:cNvPr id="51" name="Text 49"/>
          <p:cNvSpPr/>
          <p:nvPr/>
        </p:nvSpPr>
        <p:spPr>
          <a:xfrm>
            <a:off x="8449056" y="2980944"/>
            <a:ext cx="3072384" cy="365760"/>
          </a:xfrm>
          <a:prstGeom prst="rect">
            <a:avLst/>
          </a:prstGeom>
          <a:noFill/>
          <a:ln/>
        </p:spPr>
        <p:txBody>
          <a:bodyPr wrap="square" lIns="0" tIns="0" rIns="0" bIns="0" rtlCol="0" anchor="t"/>
          <a:lstStyle/>
          <a:p>
            <a:pPr marL="0" indent="0">
              <a:lnSpc>
                <a:spcPts val="1200"/>
              </a:lnSpc>
              <a:buNone/>
            </a:pPr>
            <a:r>
              <a:rPr lang="en-US" sz="950" dirty="0">
                <a:solidFill>
                  <a:srgbClr val="39415E"/>
                </a:solidFill>
                <a:latin typeface="맑은 고딕" pitchFamily="34" charset="0"/>
                <a:ea typeface="맑은 고딕" pitchFamily="34" charset="-122"/>
                <a:cs typeface="맑은 고딕" pitchFamily="34" charset="-120"/>
              </a:rPr>
              <a:t>그늘 없음·미확인 AND</a:t>
            </a:r>
            <a:endParaRPr lang="en-US" sz="950" dirty="0"/>
          </a:p>
          <a:p>
            <a:pPr marL="0" indent="0">
              <a:lnSpc>
                <a:spcPts val="1200"/>
              </a:lnSpc>
              <a:buNone/>
            </a:pPr>
            <a:r>
              <a:rPr lang="en-US" sz="950" dirty="0">
                <a:solidFill>
                  <a:srgbClr val="39415E"/>
                </a:solidFill>
                <a:latin typeface="맑은 고딕" pitchFamily="34" charset="0"/>
                <a:ea typeface="맑은 고딕" pitchFamily="34" charset="-122"/>
                <a:cs typeface="맑은 고딕" pitchFamily="34" charset="-120"/>
              </a:rPr>
              <a:t>최근접 쉼터 300m 밖</a:t>
            </a:r>
            <a:endParaRPr lang="en-US" sz="950" dirty="0"/>
          </a:p>
        </p:txBody>
      </p:sp>
      <p:sp>
        <p:nvSpPr>
          <p:cNvPr id="52" name="Shape 50"/>
          <p:cNvSpPr/>
          <p:nvPr/>
        </p:nvSpPr>
        <p:spPr>
          <a:xfrm>
            <a:off x="7973568" y="3675888"/>
            <a:ext cx="256032" cy="164592"/>
          </a:xfrm>
          <a:prstGeom prst="rightArrow">
            <a:avLst/>
          </a:prstGeom>
          <a:solidFill>
            <a:srgbClr val="D4DAEE"/>
          </a:solidFill>
          <a:ln w="12700">
            <a:solidFill>
              <a:srgbClr val="D4DAEE"/>
            </a:solidFill>
            <a:prstDash val="solid"/>
          </a:ln>
        </p:spPr>
        <p:txBody>
          <a:bodyPr/>
          <a:lstStyle/>
          <a:p>
            <a:endParaRPr lang="ko-KR" altLang="en-US"/>
          </a:p>
        </p:txBody>
      </p:sp>
      <p:sp>
        <p:nvSpPr>
          <p:cNvPr id="53" name="Shape 51"/>
          <p:cNvSpPr/>
          <p:nvPr/>
        </p:nvSpPr>
        <p:spPr>
          <a:xfrm>
            <a:off x="8284464" y="3438144"/>
            <a:ext cx="3346704" cy="621792"/>
          </a:xfrm>
          <a:prstGeom prst="roundRect">
            <a:avLst>
              <a:gd name="adj" fmla="val 5882"/>
            </a:avLst>
          </a:prstGeom>
          <a:solidFill>
            <a:srgbClr val="E7EBF8"/>
          </a:solidFill>
          <a:ln w="12700">
            <a:solidFill>
              <a:srgbClr val="E7EBF8"/>
            </a:solidFill>
            <a:prstDash val="solid"/>
          </a:ln>
        </p:spPr>
        <p:txBody>
          <a:bodyPr/>
          <a:lstStyle/>
          <a:p>
            <a:endParaRPr lang="ko-KR" altLang="en-US"/>
          </a:p>
        </p:txBody>
      </p:sp>
      <p:sp>
        <p:nvSpPr>
          <p:cNvPr id="54" name="Text 52"/>
          <p:cNvSpPr/>
          <p:nvPr/>
        </p:nvSpPr>
        <p:spPr>
          <a:xfrm>
            <a:off x="8449056" y="3465576"/>
            <a:ext cx="3017520" cy="219456"/>
          </a:xfrm>
          <a:prstGeom prst="rect">
            <a:avLst/>
          </a:prstGeom>
          <a:noFill/>
          <a:ln/>
        </p:spPr>
        <p:txBody>
          <a:bodyPr wrap="square" lIns="0" tIns="0" rIns="0" bIns="0" rtlCol="0" anchor="ctr"/>
          <a:lstStyle/>
          <a:p>
            <a:pPr marL="0" indent="0">
              <a:buNone/>
            </a:pPr>
            <a:r>
              <a:rPr lang="en-US" sz="1150" b="1" dirty="0">
                <a:solidFill>
                  <a:srgbClr val="001871"/>
                </a:solidFill>
                <a:latin typeface="맑은 고딕" pitchFamily="34" charset="0"/>
                <a:ea typeface="맑은 고딕" pitchFamily="34" charset="-122"/>
                <a:cs typeface="맑은 고딕" pitchFamily="34" charset="-120"/>
              </a:rPr>
              <a:t>시설 실태 5종</a:t>
            </a:r>
            <a:endParaRPr lang="en-US" sz="1150" dirty="0"/>
          </a:p>
        </p:txBody>
      </p:sp>
      <p:sp>
        <p:nvSpPr>
          <p:cNvPr id="55" name="Text 53"/>
          <p:cNvSpPr/>
          <p:nvPr/>
        </p:nvSpPr>
        <p:spPr>
          <a:xfrm>
            <a:off x="8449056" y="3675888"/>
            <a:ext cx="3072384" cy="365760"/>
          </a:xfrm>
          <a:prstGeom prst="rect">
            <a:avLst/>
          </a:prstGeom>
          <a:noFill/>
          <a:ln/>
        </p:spPr>
        <p:txBody>
          <a:bodyPr wrap="square" lIns="0" tIns="0" rIns="0" bIns="0" rtlCol="0" anchor="t"/>
          <a:lstStyle/>
          <a:p>
            <a:pPr marL="0" indent="0">
              <a:lnSpc>
                <a:spcPts val="1200"/>
              </a:lnSpc>
              <a:buNone/>
            </a:pPr>
            <a:r>
              <a:rPr lang="en-US" sz="950" dirty="0">
                <a:solidFill>
                  <a:srgbClr val="39415E"/>
                </a:solidFill>
                <a:latin typeface="맑은 고딕" pitchFamily="34" charset="0"/>
                <a:ea typeface="맑은 고딕" pitchFamily="34" charset="-122"/>
                <a:cs typeface="맑은 고딕" pitchFamily="34" charset="-120"/>
              </a:rPr>
              <a:t>그늘·의자·쉘터·안내기·조명</a:t>
            </a:r>
            <a:endParaRPr lang="en-US" sz="950" dirty="0"/>
          </a:p>
        </p:txBody>
      </p:sp>
      <p:sp>
        <p:nvSpPr>
          <p:cNvPr id="56" name="Shape 54"/>
          <p:cNvSpPr/>
          <p:nvPr/>
        </p:nvSpPr>
        <p:spPr>
          <a:xfrm>
            <a:off x="7973568" y="4370832"/>
            <a:ext cx="256032" cy="164592"/>
          </a:xfrm>
          <a:prstGeom prst="rightArrow">
            <a:avLst/>
          </a:prstGeom>
          <a:solidFill>
            <a:srgbClr val="D4DAEE"/>
          </a:solidFill>
          <a:ln w="12700">
            <a:solidFill>
              <a:srgbClr val="D4DAEE"/>
            </a:solidFill>
            <a:prstDash val="solid"/>
          </a:ln>
        </p:spPr>
        <p:txBody>
          <a:bodyPr/>
          <a:lstStyle/>
          <a:p>
            <a:endParaRPr lang="ko-KR" altLang="en-US"/>
          </a:p>
        </p:txBody>
      </p:sp>
      <p:sp>
        <p:nvSpPr>
          <p:cNvPr id="57" name="Shape 55"/>
          <p:cNvSpPr/>
          <p:nvPr/>
        </p:nvSpPr>
        <p:spPr>
          <a:xfrm>
            <a:off x="8284464" y="4133088"/>
            <a:ext cx="3346704" cy="621792"/>
          </a:xfrm>
          <a:prstGeom prst="roundRect">
            <a:avLst>
              <a:gd name="adj" fmla="val 5882"/>
            </a:avLst>
          </a:prstGeom>
          <a:solidFill>
            <a:srgbClr val="E7EBF8"/>
          </a:solidFill>
          <a:ln w="12700">
            <a:solidFill>
              <a:srgbClr val="E7EBF8"/>
            </a:solidFill>
            <a:prstDash val="solid"/>
          </a:ln>
        </p:spPr>
        <p:txBody>
          <a:bodyPr/>
          <a:lstStyle/>
          <a:p>
            <a:endParaRPr lang="ko-KR" altLang="en-US"/>
          </a:p>
        </p:txBody>
      </p:sp>
      <p:sp>
        <p:nvSpPr>
          <p:cNvPr id="58" name="Text 56"/>
          <p:cNvSpPr/>
          <p:nvPr/>
        </p:nvSpPr>
        <p:spPr>
          <a:xfrm>
            <a:off x="8449056" y="4160520"/>
            <a:ext cx="3017520" cy="219456"/>
          </a:xfrm>
          <a:prstGeom prst="rect">
            <a:avLst/>
          </a:prstGeom>
          <a:noFill/>
          <a:ln/>
        </p:spPr>
        <p:txBody>
          <a:bodyPr wrap="square" lIns="0" tIns="0" rIns="0" bIns="0" rtlCol="0" anchor="ctr"/>
          <a:lstStyle/>
          <a:p>
            <a:pPr marL="0" indent="0">
              <a:buNone/>
            </a:pPr>
            <a:r>
              <a:rPr lang="en-US" sz="1150" b="1" dirty="0">
                <a:solidFill>
                  <a:srgbClr val="001871"/>
                </a:solidFill>
                <a:latin typeface="맑은 고딕" pitchFamily="34" charset="0"/>
                <a:ea typeface="맑은 고딕" pitchFamily="34" charset="-122"/>
                <a:cs typeface="맑은 고딕" pitchFamily="34" charset="-120"/>
              </a:rPr>
              <a:t>이용량 축</a:t>
            </a:r>
            <a:endParaRPr lang="en-US" sz="1150" dirty="0"/>
          </a:p>
        </p:txBody>
      </p:sp>
      <p:sp>
        <p:nvSpPr>
          <p:cNvPr id="59" name="Text 57"/>
          <p:cNvSpPr/>
          <p:nvPr/>
        </p:nvSpPr>
        <p:spPr>
          <a:xfrm>
            <a:off x="8449056" y="4370832"/>
            <a:ext cx="3072384" cy="365760"/>
          </a:xfrm>
          <a:prstGeom prst="rect">
            <a:avLst/>
          </a:prstGeom>
          <a:noFill/>
          <a:ln/>
        </p:spPr>
        <p:txBody>
          <a:bodyPr wrap="square" lIns="0" tIns="0" rIns="0" bIns="0" rtlCol="0" anchor="t"/>
          <a:lstStyle/>
          <a:p>
            <a:pPr marL="0" indent="0">
              <a:lnSpc>
                <a:spcPts val="1200"/>
              </a:lnSpc>
              <a:buNone/>
            </a:pPr>
            <a:r>
              <a:rPr lang="en-US" sz="950" dirty="0">
                <a:solidFill>
                  <a:srgbClr val="39415E"/>
                </a:solidFill>
                <a:latin typeface="맑은 고딕" pitchFamily="34" charset="0"/>
                <a:ea typeface="맑은 고딕" pitchFamily="34" charset="-122"/>
                <a:cs typeface="맑은 고딕" pitchFamily="34" charset="-120"/>
              </a:rPr>
              <a:t>정류장별 24시간 이용량</a:t>
            </a:r>
            <a:endParaRPr lang="en-US" sz="950" dirty="0"/>
          </a:p>
        </p:txBody>
      </p:sp>
      <p:sp>
        <p:nvSpPr>
          <p:cNvPr id="60" name="Shape 58"/>
          <p:cNvSpPr/>
          <p:nvPr/>
        </p:nvSpPr>
        <p:spPr>
          <a:xfrm>
            <a:off x="7973568" y="5065776"/>
            <a:ext cx="256032" cy="164592"/>
          </a:xfrm>
          <a:prstGeom prst="rightArrow">
            <a:avLst/>
          </a:prstGeom>
          <a:solidFill>
            <a:srgbClr val="D4DAEE"/>
          </a:solidFill>
          <a:ln w="12700">
            <a:solidFill>
              <a:srgbClr val="D4DAEE"/>
            </a:solidFill>
            <a:prstDash val="solid"/>
          </a:ln>
        </p:spPr>
        <p:txBody>
          <a:bodyPr/>
          <a:lstStyle/>
          <a:p>
            <a:endParaRPr lang="ko-KR" altLang="en-US"/>
          </a:p>
        </p:txBody>
      </p:sp>
      <p:sp>
        <p:nvSpPr>
          <p:cNvPr id="61" name="Shape 59"/>
          <p:cNvSpPr/>
          <p:nvPr/>
        </p:nvSpPr>
        <p:spPr>
          <a:xfrm>
            <a:off x="8284464" y="4828032"/>
            <a:ext cx="3346704" cy="621792"/>
          </a:xfrm>
          <a:prstGeom prst="roundRect">
            <a:avLst>
              <a:gd name="adj" fmla="val 5882"/>
            </a:avLst>
          </a:prstGeom>
          <a:solidFill>
            <a:srgbClr val="E7EBF8"/>
          </a:solidFill>
          <a:ln w="12700">
            <a:solidFill>
              <a:srgbClr val="E7EBF8"/>
            </a:solidFill>
            <a:prstDash val="solid"/>
          </a:ln>
        </p:spPr>
        <p:txBody>
          <a:bodyPr/>
          <a:lstStyle/>
          <a:p>
            <a:endParaRPr lang="ko-KR" altLang="en-US"/>
          </a:p>
        </p:txBody>
      </p:sp>
      <p:sp>
        <p:nvSpPr>
          <p:cNvPr id="62" name="Text 60"/>
          <p:cNvSpPr/>
          <p:nvPr/>
        </p:nvSpPr>
        <p:spPr>
          <a:xfrm>
            <a:off x="8449056" y="4855464"/>
            <a:ext cx="3017520" cy="219456"/>
          </a:xfrm>
          <a:prstGeom prst="rect">
            <a:avLst/>
          </a:prstGeom>
          <a:noFill/>
          <a:ln/>
        </p:spPr>
        <p:txBody>
          <a:bodyPr wrap="square" lIns="0" tIns="0" rIns="0" bIns="0" rtlCol="0" anchor="ctr"/>
          <a:lstStyle/>
          <a:p>
            <a:pPr marL="0" indent="0">
              <a:buNone/>
            </a:pPr>
            <a:r>
              <a:rPr lang="en-US" sz="1150" b="1" dirty="0">
                <a:solidFill>
                  <a:srgbClr val="001871"/>
                </a:solidFill>
                <a:latin typeface="맑은 고딕" pitchFamily="34" charset="0"/>
                <a:ea typeface="맑은 고딕" pitchFamily="34" charset="-122"/>
                <a:cs typeface="맑은 고딕" pitchFamily="34" charset="-120"/>
              </a:rPr>
              <a:t>실시간 도착</a:t>
            </a:r>
            <a:endParaRPr lang="en-US" sz="1150" dirty="0"/>
          </a:p>
        </p:txBody>
      </p:sp>
      <p:sp>
        <p:nvSpPr>
          <p:cNvPr id="63" name="Text 61"/>
          <p:cNvSpPr/>
          <p:nvPr/>
        </p:nvSpPr>
        <p:spPr>
          <a:xfrm>
            <a:off x="8449056" y="5065776"/>
            <a:ext cx="3072384" cy="365760"/>
          </a:xfrm>
          <a:prstGeom prst="rect">
            <a:avLst/>
          </a:prstGeom>
          <a:noFill/>
          <a:ln/>
        </p:spPr>
        <p:txBody>
          <a:bodyPr wrap="square" lIns="0" tIns="0" rIns="0" bIns="0" rtlCol="0" anchor="t"/>
          <a:lstStyle/>
          <a:p>
            <a:pPr marL="0" indent="0">
              <a:lnSpc>
                <a:spcPts val="1200"/>
              </a:lnSpc>
              <a:buNone/>
            </a:pPr>
            <a:r>
              <a:rPr lang="en-US" sz="950" dirty="0">
                <a:solidFill>
                  <a:srgbClr val="39415E"/>
                </a:solidFill>
                <a:latin typeface="맑은 고딕" pitchFamily="34" charset="0"/>
                <a:ea typeface="맑은 고딕" pitchFamily="34" charset="-122"/>
                <a:cs typeface="맑은 고딕" pitchFamily="34" charset="-120"/>
              </a:rPr>
              <a:t>TAGO nodeId 연결</a:t>
            </a:r>
            <a:endParaRPr lang="en-US" sz="950" dirty="0"/>
          </a:p>
        </p:txBody>
      </p:sp>
      <p:sp>
        <p:nvSpPr>
          <p:cNvPr id="66" name="Text 63"/>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67" name="Text 64"/>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02  </a:t>
            </a:r>
            <a:r>
              <a:rPr lang="en-US" altLang="ko-KR" sz="1200" b="1" kern="0" spc="140" dirty="0" err="1">
                <a:solidFill>
                  <a:srgbClr val="001871"/>
                </a:solidFill>
                <a:latin typeface="맑은 고딕" pitchFamily="34" charset="0"/>
                <a:ea typeface="맑은 고딕" pitchFamily="34" charset="-122"/>
                <a:cs typeface="맑은 고딕" pitchFamily="34" charset="-120"/>
              </a:rPr>
              <a:t>활용</a:t>
            </a:r>
            <a:r>
              <a:rPr lang="ko-KR" altLang="en-US" sz="1200" b="1" kern="0" spc="140" dirty="0">
                <a:solidFill>
                  <a:srgbClr val="001871"/>
                </a:solidFill>
                <a:latin typeface="맑은 고딕" pitchFamily="34" charset="0"/>
                <a:ea typeface="맑은 고딕" pitchFamily="34" charset="-122"/>
                <a:cs typeface="맑은 고딕" pitchFamily="34" charset="-120"/>
              </a:rPr>
              <a:t>한</a:t>
            </a:r>
            <a:r>
              <a:rPr lang="en-US" altLang="ko-KR" sz="1200" b="1" kern="0" spc="140" dirty="0">
                <a:solidFill>
                  <a:srgbClr val="001871"/>
                </a:solidFill>
                <a:latin typeface="맑은 고딕" pitchFamily="34" charset="0"/>
                <a:ea typeface="맑은 고딕" pitchFamily="34" charset="-122"/>
                <a:cs typeface="맑은 고딕" pitchFamily="34" charset="-120"/>
              </a:rPr>
              <a:t> </a:t>
            </a:r>
            <a:r>
              <a:rPr lang="en-US" altLang="ko-KR" sz="1200" b="1" kern="0" spc="140" dirty="0" err="1">
                <a:solidFill>
                  <a:srgbClr val="001871"/>
                </a:solidFill>
                <a:latin typeface="맑은 고딕" pitchFamily="34" charset="0"/>
                <a:ea typeface="맑은 고딕" pitchFamily="34" charset="-122"/>
                <a:cs typeface="맑은 고딕" pitchFamily="34" charset="-120"/>
              </a:rPr>
              <a:t>데이터와</a:t>
            </a:r>
            <a:r>
              <a:rPr lang="en-US" altLang="ko-KR" sz="1200" b="1" kern="0" spc="140" dirty="0">
                <a:solidFill>
                  <a:srgbClr val="001871"/>
                </a:solidFill>
                <a:latin typeface="맑은 고딕" pitchFamily="34" charset="0"/>
                <a:ea typeface="맑은 고딕" pitchFamily="34" charset="-122"/>
                <a:cs typeface="맑은 고딕" pitchFamily="34" charset="-120"/>
              </a:rPr>
              <a:t> </a:t>
            </a:r>
            <a:r>
              <a:rPr lang="ko-KR" altLang="en-US" sz="1200" b="1" kern="0" spc="140" dirty="0">
                <a:solidFill>
                  <a:srgbClr val="001871"/>
                </a:solidFill>
                <a:latin typeface="맑은 고딕" pitchFamily="34" charset="0"/>
                <a:ea typeface="맑은 고딕" pitchFamily="34" charset="-122"/>
                <a:cs typeface="맑은 고딕" pitchFamily="34" charset="-120"/>
              </a:rPr>
              <a:t>처리</a:t>
            </a:r>
            <a:r>
              <a:rPr lang="en-US" altLang="ko-KR" sz="1200" b="1" kern="0" spc="140" dirty="0">
                <a:solidFill>
                  <a:srgbClr val="001871"/>
                </a:solidFill>
                <a:latin typeface="맑은 고딕" pitchFamily="34" charset="0"/>
                <a:ea typeface="맑은 고딕" pitchFamily="34" charset="-122"/>
                <a:cs typeface="맑은 고딕" pitchFamily="34" charset="-120"/>
              </a:rPr>
              <a:t> </a:t>
            </a:r>
            <a:r>
              <a:rPr lang="en-US" altLang="ko-KR" sz="1200" b="1" kern="0" spc="140" dirty="0" err="1">
                <a:solidFill>
                  <a:srgbClr val="001871"/>
                </a:solidFill>
                <a:latin typeface="맑은 고딕" pitchFamily="34" charset="0"/>
                <a:ea typeface="맑은 고딕" pitchFamily="34" charset="-122"/>
                <a:cs typeface="맑은 고딕" pitchFamily="34" charset="-120"/>
              </a:rPr>
              <a:t>구조</a:t>
            </a:r>
            <a:endParaRPr lang="en-US" altLang="ko-KR" sz="1200" dirty="0"/>
          </a:p>
        </p:txBody>
      </p:sp>
      <p:sp>
        <p:nvSpPr>
          <p:cNvPr id="3" name="Text 1"/>
          <p:cNvSpPr/>
          <p:nvPr/>
        </p:nvSpPr>
        <p:spPr>
          <a:xfrm>
            <a:off x="566928" y="843274"/>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데이터 처리 구조</a:t>
            </a:r>
            <a:endParaRPr lang="en-US" sz="3000" dirty="0"/>
          </a:p>
        </p:txBody>
      </p:sp>
      <p:sp>
        <p:nvSpPr>
          <p:cNvPr id="5" name="Shape 3"/>
          <p:cNvSpPr/>
          <p:nvPr/>
        </p:nvSpPr>
        <p:spPr>
          <a:xfrm>
            <a:off x="566928" y="1737360"/>
            <a:ext cx="3200400" cy="1828800"/>
          </a:xfrm>
          <a:prstGeom prst="roundRect">
            <a:avLst>
              <a:gd name="adj" fmla="val 3000"/>
            </a:avLst>
          </a:prstGeom>
          <a:solidFill>
            <a:srgbClr val="F4F6FC"/>
          </a:solidFill>
          <a:ln w="12700">
            <a:solidFill>
              <a:srgbClr val="D4DAEE"/>
            </a:solidFill>
            <a:prstDash val="solid"/>
          </a:ln>
        </p:spPr>
        <p:txBody>
          <a:bodyPr/>
          <a:lstStyle/>
          <a:p>
            <a:endParaRPr lang="ko-KR" altLang="en-US"/>
          </a:p>
        </p:txBody>
      </p:sp>
      <p:sp>
        <p:nvSpPr>
          <p:cNvPr id="6" name="Text 4"/>
          <p:cNvSpPr/>
          <p:nvPr/>
        </p:nvSpPr>
        <p:spPr>
          <a:xfrm>
            <a:off x="804672" y="1883664"/>
            <a:ext cx="2743200"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빌드 타임</a:t>
            </a:r>
            <a:endParaRPr lang="en-US" sz="1300" dirty="0"/>
          </a:p>
        </p:txBody>
      </p:sp>
      <p:sp>
        <p:nvSpPr>
          <p:cNvPr id="7" name="Text 5"/>
          <p:cNvSpPr/>
          <p:nvPr/>
        </p:nvSpPr>
        <p:spPr>
          <a:xfrm>
            <a:off x="804672" y="2212848"/>
            <a:ext cx="283464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무더위쉼터 230개소 좌표</a:t>
            </a:r>
            <a:endParaRPr lang="en-US" sz="1100" dirty="0"/>
          </a:p>
        </p:txBody>
      </p:sp>
      <p:sp>
        <p:nvSpPr>
          <p:cNvPr id="8" name="Text 6"/>
          <p:cNvSpPr/>
          <p:nvPr/>
        </p:nvSpPr>
        <p:spPr>
          <a:xfrm>
            <a:off x="804672" y="2523744"/>
            <a:ext cx="283464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정류장 마스터 1,890개</a:t>
            </a:r>
            <a:endParaRPr lang="en-US" sz="1100" dirty="0"/>
          </a:p>
        </p:txBody>
      </p:sp>
      <p:sp>
        <p:nvSpPr>
          <p:cNvPr id="9" name="Text 7"/>
          <p:cNvSpPr/>
          <p:nvPr/>
        </p:nvSpPr>
        <p:spPr>
          <a:xfrm>
            <a:off x="804672" y="2834640"/>
            <a:ext cx="283464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시설 조사 163개소 라벨</a:t>
            </a:r>
            <a:endParaRPr lang="en-US" sz="1100" dirty="0"/>
          </a:p>
        </p:txBody>
      </p:sp>
      <p:sp>
        <p:nvSpPr>
          <p:cNvPr id="10" name="Text 8"/>
          <p:cNvSpPr/>
          <p:nvPr/>
        </p:nvSpPr>
        <p:spPr>
          <a:xfrm>
            <a:off x="804672" y="3145536"/>
            <a:ext cx="283464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조명 시딩 (가로등 반경)</a:t>
            </a:r>
            <a:endParaRPr lang="en-US" sz="1100" dirty="0"/>
          </a:p>
        </p:txBody>
      </p:sp>
      <p:sp>
        <p:nvSpPr>
          <p:cNvPr id="11" name="Shape 9"/>
          <p:cNvSpPr/>
          <p:nvPr/>
        </p:nvSpPr>
        <p:spPr>
          <a:xfrm>
            <a:off x="3858768" y="2560320"/>
            <a:ext cx="365760" cy="164592"/>
          </a:xfrm>
          <a:prstGeom prst="rightArrow">
            <a:avLst/>
          </a:prstGeom>
          <a:solidFill>
            <a:srgbClr val="001871"/>
          </a:solidFill>
          <a:ln w="12700">
            <a:solidFill>
              <a:srgbClr val="001871"/>
            </a:solidFill>
            <a:prstDash val="solid"/>
          </a:ln>
        </p:spPr>
        <p:txBody>
          <a:bodyPr/>
          <a:lstStyle/>
          <a:p>
            <a:endParaRPr lang="ko-KR" altLang="en-US"/>
          </a:p>
        </p:txBody>
      </p:sp>
      <p:sp>
        <p:nvSpPr>
          <p:cNvPr id="12" name="Shape 10"/>
          <p:cNvSpPr/>
          <p:nvPr/>
        </p:nvSpPr>
        <p:spPr>
          <a:xfrm>
            <a:off x="4315968" y="1737360"/>
            <a:ext cx="3291840" cy="1828800"/>
          </a:xfrm>
          <a:prstGeom prst="roundRect">
            <a:avLst>
              <a:gd name="adj" fmla="val 3000"/>
            </a:avLst>
          </a:prstGeom>
          <a:solidFill>
            <a:srgbClr val="001871"/>
          </a:solidFill>
          <a:ln w="12700">
            <a:solidFill>
              <a:srgbClr val="001871"/>
            </a:solidFill>
            <a:prstDash val="solid"/>
          </a:ln>
        </p:spPr>
        <p:txBody>
          <a:bodyPr/>
          <a:lstStyle/>
          <a:p>
            <a:endParaRPr lang="ko-KR" altLang="en-US"/>
          </a:p>
        </p:txBody>
      </p:sp>
      <p:sp>
        <p:nvSpPr>
          <p:cNvPr id="13" name="Text 11"/>
          <p:cNvSpPr/>
          <p:nvPr/>
        </p:nvSpPr>
        <p:spPr>
          <a:xfrm>
            <a:off x="4535424" y="1883664"/>
            <a:ext cx="2834640" cy="274320"/>
          </a:xfrm>
          <a:prstGeom prst="rect">
            <a:avLst/>
          </a:prstGeom>
          <a:noFill/>
          <a:ln/>
        </p:spPr>
        <p:txBody>
          <a:bodyPr wrap="square" lIns="0" tIns="0" rIns="0" bIns="0" rtlCol="0" anchor="ctr"/>
          <a:lstStyle/>
          <a:p>
            <a:pPr marL="0" indent="0">
              <a:buNone/>
            </a:pPr>
            <a:r>
              <a:rPr lang="en-US" sz="1300" b="1" dirty="0">
                <a:solidFill>
                  <a:srgbClr val="8FA2E4"/>
                </a:solidFill>
                <a:latin typeface="맑은 고딕" pitchFamily="34" charset="0"/>
                <a:ea typeface="맑은 고딕" pitchFamily="34" charset="-122"/>
                <a:cs typeface="맑은 고딕" pitchFamily="34" charset="-120"/>
              </a:rPr>
              <a:t>시민 화면 (PWA)</a:t>
            </a:r>
            <a:endParaRPr lang="en-US" sz="1300" dirty="0"/>
          </a:p>
        </p:txBody>
      </p:sp>
      <p:sp>
        <p:nvSpPr>
          <p:cNvPr id="14" name="Text 12"/>
          <p:cNvSpPr/>
          <p:nvPr/>
        </p:nvSpPr>
        <p:spPr>
          <a:xfrm>
            <a:off x="4535424" y="2194560"/>
            <a:ext cx="2926080" cy="274320"/>
          </a:xfrm>
          <a:prstGeom prst="rect">
            <a:avLst/>
          </a:prstGeom>
          <a:noFill/>
          <a:ln/>
        </p:spPr>
        <p:txBody>
          <a:bodyPr wrap="square" lIns="0" tIns="0" rIns="0" bIns="0" rtlCol="0" anchor="ctr"/>
          <a:lstStyle/>
          <a:p>
            <a:pPr marL="0" indent="0">
              <a:buNone/>
            </a:pPr>
            <a:r>
              <a:rPr lang="en-US" sz="1100" dirty="0">
                <a:solidFill>
                  <a:srgbClr val="D3DAF6"/>
                </a:solidFill>
                <a:latin typeface="맑은 고딕" pitchFamily="34" charset="0"/>
                <a:ea typeface="맑은 고딕" pitchFamily="34" charset="-122"/>
                <a:cs typeface="맑은 고딕" pitchFamily="34" charset="-120"/>
              </a:rPr>
              <a:t>· 검색 · 음성 검색</a:t>
            </a:r>
            <a:endParaRPr lang="en-US" sz="1100" dirty="0"/>
          </a:p>
        </p:txBody>
      </p:sp>
      <p:sp>
        <p:nvSpPr>
          <p:cNvPr id="15" name="Text 13"/>
          <p:cNvSpPr/>
          <p:nvPr/>
        </p:nvSpPr>
        <p:spPr>
          <a:xfrm>
            <a:off x="4535424" y="2505456"/>
            <a:ext cx="2926080" cy="274320"/>
          </a:xfrm>
          <a:prstGeom prst="rect">
            <a:avLst/>
          </a:prstGeom>
          <a:noFill/>
          <a:ln/>
        </p:spPr>
        <p:txBody>
          <a:bodyPr wrap="square" lIns="0" tIns="0" rIns="0" bIns="0" rtlCol="0" anchor="ctr"/>
          <a:lstStyle/>
          <a:p>
            <a:pPr marL="0" indent="0">
              <a:buNone/>
            </a:pPr>
            <a:r>
              <a:rPr lang="en-US" sz="1100" dirty="0">
                <a:solidFill>
                  <a:srgbClr val="D3DAF6"/>
                </a:solidFill>
                <a:latin typeface="맑은 고딕" pitchFamily="34" charset="0"/>
                <a:ea typeface="맑은 고딕" pitchFamily="34" charset="-122"/>
                <a:cs typeface="맑은 고딕" pitchFamily="34" charset="-120"/>
              </a:rPr>
              <a:t>· 정류장 상세 · 시설 칩</a:t>
            </a:r>
            <a:endParaRPr lang="en-US" sz="1100" dirty="0"/>
          </a:p>
        </p:txBody>
      </p:sp>
      <p:sp>
        <p:nvSpPr>
          <p:cNvPr id="16" name="Text 14"/>
          <p:cNvSpPr/>
          <p:nvPr/>
        </p:nvSpPr>
        <p:spPr>
          <a:xfrm>
            <a:off x="4535424" y="2816352"/>
            <a:ext cx="2926080" cy="274320"/>
          </a:xfrm>
          <a:prstGeom prst="rect">
            <a:avLst/>
          </a:prstGeom>
          <a:noFill/>
          <a:ln/>
        </p:spPr>
        <p:txBody>
          <a:bodyPr wrap="square" lIns="0" tIns="0" rIns="0" bIns="0" rtlCol="0" anchor="ctr"/>
          <a:lstStyle/>
          <a:p>
            <a:pPr marL="0" indent="0">
              <a:buNone/>
            </a:pPr>
            <a:r>
              <a:rPr lang="en-US" sz="1100" dirty="0">
                <a:solidFill>
                  <a:srgbClr val="D3DAF6"/>
                </a:solidFill>
                <a:latin typeface="맑은 고딕" pitchFamily="34" charset="0"/>
                <a:ea typeface="맑은 고딕" pitchFamily="34" charset="-122"/>
                <a:cs typeface="맑은 고딕" pitchFamily="34" charset="-120"/>
              </a:rPr>
              <a:t>· 근처 무더위쉼터 안내</a:t>
            </a:r>
            <a:endParaRPr lang="en-US" sz="1100" dirty="0"/>
          </a:p>
        </p:txBody>
      </p:sp>
      <p:sp>
        <p:nvSpPr>
          <p:cNvPr id="17" name="Text 15"/>
          <p:cNvSpPr/>
          <p:nvPr/>
        </p:nvSpPr>
        <p:spPr>
          <a:xfrm>
            <a:off x="4535424" y="3127248"/>
            <a:ext cx="2926080" cy="274320"/>
          </a:xfrm>
          <a:prstGeom prst="rect">
            <a:avLst/>
          </a:prstGeom>
          <a:noFill/>
          <a:ln/>
        </p:spPr>
        <p:txBody>
          <a:bodyPr wrap="square" lIns="0" tIns="0" rIns="0" bIns="0" rtlCol="0" anchor="ctr"/>
          <a:lstStyle/>
          <a:p>
            <a:pPr marL="0" indent="0">
              <a:buNone/>
            </a:pPr>
            <a:r>
              <a:rPr lang="en-US" sz="1100" dirty="0">
                <a:solidFill>
                  <a:srgbClr val="D3DAF6"/>
                </a:solidFill>
                <a:latin typeface="맑은 고딕" pitchFamily="34" charset="0"/>
                <a:ea typeface="맑은 고딕" pitchFamily="34" charset="-122"/>
                <a:cs typeface="맑은 고딕" pitchFamily="34" charset="-120"/>
              </a:rPr>
              <a:t>· 지도 · 방면 찾기 · 저장</a:t>
            </a:r>
            <a:endParaRPr lang="en-US" sz="1100" dirty="0"/>
          </a:p>
        </p:txBody>
      </p:sp>
      <p:sp>
        <p:nvSpPr>
          <p:cNvPr id="18" name="Shape 16"/>
          <p:cNvSpPr/>
          <p:nvPr/>
        </p:nvSpPr>
        <p:spPr>
          <a:xfrm>
            <a:off x="7717536" y="2560320"/>
            <a:ext cx="365760" cy="164592"/>
          </a:xfrm>
          <a:prstGeom prst="rightArrow">
            <a:avLst/>
          </a:prstGeom>
          <a:solidFill>
            <a:srgbClr val="001871"/>
          </a:solidFill>
          <a:ln w="12700">
            <a:solidFill>
              <a:srgbClr val="001871"/>
            </a:solidFill>
            <a:prstDash val="solid"/>
          </a:ln>
        </p:spPr>
        <p:txBody>
          <a:bodyPr/>
          <a:lstStyle/>
          <a:p>
            <a:endParaRPr lang="ko-KR" altLang="en-US"/>
          </a:p>
        </p:txBody>
      </p:sp>
      <p:sp>
        <p:nvSpPr>
          <p:cNvPr id="19" name="Shape 17"/>
          <p:cNvSpPr/>
          <p:nvPr/>
        </p:nvSpPr>
        <p:spPr>
          <a:xfrm>
            <a:off x="8174736" y="1737360"/>
            <a:ext cx="3456432" cy="1828800"/>
          </a:xfrm>
          <a:prstGeom prst="roundRect">
            <a:avLst>
              <a:gd name="adj" fmla="val 3000"/>
            </a:avLst>
          </a:prstGeom>
          <a:solidFill>
            <a:srgbClr val="F4F6FC"/>
          </a:solidFill>
          <a:ln w="12700">
            <a:solidFill>
              <a:srgbClr val="D4DAEE"/>
            </a:solidFill>
            <a:prstDash val="solid"/>
          </a:ln>
        </p:spPr>
        <p:txBody>
          <a:bodyPr/>
          <a:lstStyle/>
          <a:p>
            <a:endParaRPr lang="ko-KR" altLang="en-US"/>
          </a:p>
        </p:txBody>
      </p:sp>
      <p:sp>
        <p:nvSpPr>
          <p:cNvPr id="20" name="Text 18"/>
          <p:cNvSpPr/>
          <p:nvPr/>
        </p:nvSpPr>
        <p:spPr>
          <a:xfrm>
            <a:off x="8412480" y="1883664"/>
            <a:ext cx="3017520"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/api/arrivals  (프록시)</a:t>
            </a:r>
            <a:endParaRPr lang="en-US" sz="1300" dirty="0"/>
          </a:p>
        </p:txBody>
      </p:sp>
      <p:sp>
        <p:nvSpPr>
          <p:cNvPr id="21" name="Text 19"/>
          <p:cNvSpPr/>
          <p:nvPr/>
        </p:nvSpPr>
        <p:spPr>
          <a:xfrm>
            <a:off x="8412480" y="2249424"/>
            <a:ext cx="310896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국토부 TAGO 실시간 도착정보</a:t>
            </a:r>
            <a:endParaRPr lang="en-US" sz="1100" dirty="0"/>
          </a:p>
        </p:txBody>
      </p:sp>
      <p:sp>
        <p:nvSpPr>
          <p:cNvPr id="22" name="Text 20"/>
          <p:cNvSpPr/>
          <p:nvPr/>
        </p:nvSpPr>
        <p:spPr>
          <a:xfrm>
            <a:off x="8412480" y="2578608"/>
            <a:ext cx="310896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캐시 10초 · 키는 서버에만 보관</a:t>
            </a:r>
            <a:endParaRPr lang="en-US" sz="1100" dirty="0"/>
          </a:p>
        </p:txBody>
      </p:sp>
      <p:sp>
        <p:nvSpPr>
          <p:cNvPr id="23" name="Text 21"/>
          <p:cNvSpPr/>
          <p:nvPr/>
        </p:nvSpPr>
        <p:spPr>
          <a:xfrm>
            <a:off x="8412480" y="2907792"/>
            <a:ext cx="3108960" cy="274320"/>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 장애 시 502 → 정직한 안내 문구</a:t>
            </a:r>
            <a:endParaRPr lang="en-US" sz="1100" dirty="0"/>
          </a:p>
        </p:txBody>
      </p:sp>
      <p:sp>
        <p:nvSpPr>
          <p:cNvPr id="24" name="Shape 22"/>
          <p:cNvSpPr/>
          <p:nvPr/>
        </p:nvSpPr>
        <p:spPr>
          <a:xfrm>
            <a:off x="566928" y="4017264"/>
            <a:ext cx="11064240" cy="1517904"/>
          </a:xfrm>
          <a:prstGeom prst="roundRect">
            <a:avLst>
              <a:gd name="adj" fmla="val 3614"/>
            </a:avLst>
          </a:prstGeom>
          <a:solidFill>
            <a:srgbClr val="FCEEE0"/>
          </a:solidFill>
          <a:ln w="12700">
            <a:solidFill>
              <a:srgbClr val="F2C99E"/>
            </a:solidFill>
            <a:prstDash val="solid"/>
          </a:ln>
        </p:spPr>
        <p:txBody>
          <a:bodyPr/>
          <a:lstStyle/>
          <a:p>
            <a:endParaRPr lang="ko-KR" altLang="en-US"/>
          </a:p>
        </p:txBody>
      </p:sp>
      <p:sp>
        <p:nvSpPr>
          <p:cNvPr id="25" name="Text 23"/>
          <p:cNvSpPr/>
          <p:nvPr/>
        </p:nvSpPr>
        <p:spPr>
          <a:xfrm>
            <a:off x="841248" y="4145280"/>
            <a:ext cx="4572000" cy="274320"/>
          </a:xfrm>
          <a:prstGeom prst="rect">
            <a:avLst/>
          </a:prstGeom>
          <a:noFill/>
          <a:ln/>
        </p:spPr>
        <p:txBody>
          <a:bodyPr wrap="square" lIns="0" tIns="0" rIns="0" bIns="0" rtlCol="0" anchor="ctr"/>
          <a:lstStyle/>
          <a:p>
            <a:pPr marL="0" indent="0">
              <a:buNone/>
            </a:pPr>
            <a:r>
              <a:rPr lang="en-US" sz="1300" b="1" dirty="0">
                <a:solidFill>
                  <a:srgbClr val="E8751A"/>
                </a:solidFill>
                <a:latin typeface="맑은 고딕" pitchFamily="34" charset="0"/>
                <a:ea typeface="맑은 고딕" pitchFamily="34" charset="-122"/>
                <a:cs typeface="맑은 고딕" pitchFamily="34" charset="-120"/>
              </a:rPr>
              <a:t>데이터 갱신 파이프라인 (사진 제보)</a:t>
            </a:r>
            <a:endParaRPr lang="en-US" sz="1300" dirty="0"/>
          </a:p>
        </p:txBody>
      </p:sp>
      <p:sp>
        <p:nvSpPr>
          <p:cNvPr id="26" name="Shape 24"/>
          <p:cNvSpPr/>
          <p:nvPr/>
        </p:nvSpPr>
        <p:spPr>
          <a:xfrm>
            <a:off x="841248" y="4492752"/>
            <a:ext cx="1920240" cy="859536"/>
          </a:xfrm>
          <a:prstGeom prst="roundRect">
            <a:avLst>
              <a:gd name="adj" fmla="val 6383"/>
            </a:avLst>
          </a:prstGeom>
          <a:solidFill>
            <a:srgbClr val="FFFFFF"/>
          </a:solidFill>
          <a:ln w="12700">
            <a:solidFill>
              <a:srgbClr val="EFC49A"/>
            </a:solidFill>
            <a:prstDash val="solid"/>
          </a:ln>
        </p:spPr>
        <p:txBody>
          <a:bodyPr/>
          <a:lstStyle/>
          <a:p>
            <a:endParaRPr lang="ko-KR" altLang="en-US"/>
          </a:p>
        </p:txBody>
      </p:sp>
      <p:sp>
        <p:nvSpPr>
          <p:cNvPr id="27" name="Text 25"/>
          <p:cNvSpPr/>
          <p:nvPr/>
        </p:nvSpPr>
        <p:spPr>
          <a:xfrm>
            <a:off x="950976" y="4565904"/>
            <a:ext cx="1700784" cy="365760"/>
          </a:xfrm>
          <a:prstGeom prst="rect">
            <a:avLst/>
          </a:prstGeom>
          <a:noFill/>
          <a:ln/>
        </p:spPr>
        <p:txBody>
          <a:bodyPr wrap="square" lIns="0" tIns="0" rIns="0" bIns="0" rtlCol="0" anchor="ctr"/>
          <a:lstStyle/>
          <a:p>
            <a:pPr marL="0" indent="0">
              <a:lnSpc>
                <a:spcPts val="1300"/>
              </a:lnSpc>
              <a:buNone/>
            </a:pPr>
            <a:r>
              <a:rPr lang="en-US" sz="1050" b="1" dirty="0">
                <a:solidFill>
                  <a:srgbClr val="141B33"/>
                </a:solidFill>
                <a:latin typeface="맑은 고딕" pitchFamily="34" charset="0"/>
                <a:ea typeface="맑은 고딕" pitchFamily="34" charset="-122"/>
                <a:cs typeface="맑은 고딕" pitchFamily="34" charset="-120"/>
              </a:rPr>
              <a:t>POST /api/reports</a:t>
            </a:r>
            <a:endParaRPr lang="en-US" sz="1050" dirty="0"/>
          </a:p>
        </p:txBody>
      </p:sp>
      <p:sp>
        <p:nvSpPr>
          <p:cNvPr id="28" name="Text 26"/>
          <p:cNvSpPr/>
          <p:nvPr/>
        </p:nvSpPr>
        <p:spPr>
          <a:xfrm>
            <a:off x="950976" y="4931664"/>
            <a:ext cx="1700784" cy="347472"/>
          </a:xfrm>
          <a:prstGeom prst="rect">
            <a:avLst/>
          </a:prstGeom>
          <a:noFill/>
          <a:ln/>
        </p:spPr>
        <p:txBody>
          <a:bodyPr wrap="square" lIns="0" tIns="0" rIns="0" bIns="0" rtlCol="0" anchor="ctr"/>
          <a:lstStyle/>
          <a:p>
            <a:pPr marL="0" indent="0">
              <a:lnSpc>
                <a:spcPts val="1200"/>
              </a:lnSpc>
              <a:buNone/>
            </a:pPr>
            <a:r>
              <a:rPr lang="en-US" sz="950" dirty="0">
                <a:solidFill>
                  <a:srgbClr val="6E7796"/>
                </a:solidFill>
                <a:latin typeface="맑은 고딕" pitchFamily="34" charset="0"/>
                <a:ea typeface="맑은 고딕" pitchFamily="34" charset="-122"/>
                <a:cs typeface="맑은 고딕" pitchFamily="34" charset="-120"/>
              </a:rPr>
              <a:t>사진 + 정류장 ID</a:t>
            </a:r>
            <a:endParaRPr lang="en-US" sz="950" dirty="0"/>
          </a:p>
        </p:txBody>
      </p:sp>
      <p:sp>
        <p:nvSpPr>
          <p:cNvPr id="29" name="Text 27"/>
          <p:cNvSpPr/>
          <p:nvPr/>
        </p:nvSpPr>
        <p:spPr>
          <a:xfrm>
            <a:off x="2761488" y="4492752"/>
            <a:ext cx="219456" cy="859536"/>
          </a:xfrm>
          <a:prstGeom prst="rect">
            <a:avLst/>
          </a:prstGeom>
          <a:noFill/>
          <a:ln/>
        </p:spPr>
        <p:txBody>
          <a:bodyPr wrap="square" lIns="0" tIns="0" rIns="0" bIns="0" rtlCol="0" anchor="ctr"/>
          <a:lstStyle/>
          <a:p>
            <a:pPr marL="0" indent="0" algn="ctr">
              <a:buNone/>
            </a:pPr>
            <a:r>
              <a:rPr lang="en-US" sz="900" dirty="0">
                <a:solidFill>
                  <a:srgbClr val="E8751A"/>
                </a:solidFill>
                <a:latin typeface="맑은 고딕" pitchFamily="34" charset="0"/>
                <a:ea typeface="맑은 고딕" pitchFamily="34" charset="-122"/>
                <a:cs typeface="맑은 고딕" pitchFamily="34" charset="-120"/>
              </a:rPr>
              <a:t>▶</a:t>
            </a:r>
            <a:endParaRPr lang="en-US" sz="900" dirty="0"/>
          </a:p>
        </p:txBody>
      </p:sp>
      <p:sp>
        <p:nvSpPr>
          <p:cNvPr id="30" name="Shape 28"/>
          <p:cNvSpPr/>
          <p:nvPr/>
        </p:nvSpPr>
        <p:spPr>
          <a:xfrm>
            <a:off x="2980944" y="4492752"/>
            <a:ext cx="1920240" cy="859536"/>
          </a:xfrm>
          <a:prstGeom prst="roundRect">
            <a:avLst>
              <a:gd name="adj" fmla="val 6383"/>
            </a:avLst>
          </a:prstGeom>
          <a:solidFill>
            <a:srgbClr val="FFFFFF"/>
          </a:solidFill>
          <a:ln w="12700">
            <a:solidFill>
              <a:srgbClr val="EFC49A"/>
            </a:solidFill>
            <a:prstDash val="solid"/>
          </a:ln>
        </p:spPr>
        <p:txBody>
          <a:bodyPr/>
          <a:lstStyle/>
          <a:p>
            <a:endParaRPr lang="ko-KR" altLang="en-US"/>
          </a:p>
        </p:txBody>
      </p:sp>
      <p:sp>
        <p:nvSpPr>
          <p:cNvPr id="31" name="Text 29"/>
          <p:cNvSpPr/>
          <p:nvPr/>
        </p:nvSpPr>
        <p:spPr>
          <a:xfrm>
            <a:off x="3090672" y="4565904"/>
            <a:ext cx="1700784" cy="365760"/>
          </a:xfrm>
          <a:prstGeom prst="rect">
            <a:avLst/>
          </a:prstGeom>
          <a:noFill/>
          <a:ln/>
        </p:spPr>
        <p:txBody>
          <a:bodyPr wrap="square" lIns="0" tIns="0" rIns="0" bIns="0" rtlCol="0" anchor="ctr"/>
          <a:lstStyle/>
          <a:p>
            <a:pPr marL="0" indent="0">
              <a:lnSpc>
                <a:spcPts val="1300"/>
              </a:lnSpc>
              <a:buNone/>
            </a:pPr>
            <a:r>
              <a:rPr lang="en-US" sz="1050" b="1" dirty="0">
                <a:solidFill>
                  <a:srgbClr val="141B33"/>
                </a:solidFill>
                <a:latin typeface="맑은 고딕" pitchFamily="34" charset="0"/>
                <a:ea typeface="맑은 고딕" pitchFamily="34" charset="-122"/>
                <a:cs typeface="맑은 고딕" pitchFamily="34" charset="-120"/>
              </a:rPr>
              <a:t>Supabase Storage</a:t>
            </a:r>
            <a:endParaRPr lang="en-US" sz="1050" dirty="0"/>
          </a:p>
        </p:txBody>
      </p:sp>
      <p:sp>
        <p:nvSpPr>
          <p:cNvPr id="32" name="Text 30"/>
          <p:cNvSpPr/>
          <p:nvPr/>
        </p:nvSpPr>
        <p:spPr>
          <a:xfrm>
            <a:off x="3090672" y="4931664"/>
            <a:ext cx="1700784" cy="347472"/>
          </a:xfrm>
          <a:prstGeom prst="rect">
            <a:avLst/>
          </a:prstGeom>
          <a:noFill/>
          <a:ln/>
        </p:spPr>
        <p:txBody>
          <a:bodyPr wrap="square" lIns="0" tIns="0" rIns="0" bIns="0" rtlCol="0" anchor="ctr"/>
          <a:lstStyle/>
          <a:p>
            <a:pPr marL="0" indent="0">
              <a:lnSpc>
                <a:spcPts val="1200"/>
              </a:lnSpc>
              <a:buNone/>
            </a:pPr>
            <a:r>
              <a:rPr lang="en-US" sz="950" dirty="0">
                <a:solidFill>
                  <a:srgbClr val="6E7796"/>
                </a:solidFill>
                <a:latin typeface="맑은 고딕" pitchFamily="34" charset="0"/>
                <a:ea typeface="맑은 고딕" pitchFamily="34" charset="-122"/>
                <a:cs typeface="맑은 고딕" pitchFamily="34" charset="-120"/>
              </a:rPr>
              <a:t>업로드 · 행 생성(pending)</a:t>
            </a:r>
            <a:endParaRPr lang="en-US" sz="950" dirty="0"/>
          </a:p>
        </p:txBody>
      </p:sp>
      <p:sp>
        <p:nvSpPr>
          <p:cNvPr id="33" name="Text 31"/>
          <p:cNvSpPr/>
          <p:nvPr/>
        </p:nvSpPr>
        <p:spPr>
          <a:xfrm>
            <a:off x="4901184" y="4492752"/>
            <a:ext cx="219456" cy="859536"/>
          </a:xfrm>
          <a:prstGeom prst="rect">
            <a:avLst/>
          </a:prstGeom>
          <a:noFill/>
          <a:ln/>
        </p:spPr>
        <p:txBody>
          <a:bodyPr wrap="square" lIns="0" tIns="0" rIns="0" bIns="0" rtlCol="0" anchor="ctr"/>
          <a:lstStyle/>
          <a:p>
            <a:pPr marL="0" indent="0" algn="ctr">
              <a:buNone/>
            </a:pPr>
            <a:r>
              <a:rPr lang="en-US" sz="900" dirty="0">
                <a:solidFill>
                  <a:srgbClr val="E8751A"/>
                </a:solidFill>
                <a:latin typeface="맑은 고딕" pitchFamily="34" charset="0"/>
                <a:ea typeface="맑은 고딕" pitchFamily="34" charset="-122"/>
                <a:cs typeface="맑은 고딕" pitchFamily="34" charset="-120"/>
              </a:rPr>
              <a:t>▶</a:t>
            </a:r>
            <a:endParaRPr lang="en-US" sz="900" dirty="0"/>
          </a:p>
        </p:txBody>
      </p:sp>
      <p:sp>
        <p:nvSpPr>
          <p:cNvPr id="34" name="Shape 32"/>
          <p:cNvSpPr/>
          <p:nvPr/>
        </p:nvSpPr>
        <p:spPr>
          <a:xfrm>
            <a:off x="5120640" y="4492752"/>
            <a:ext cx="1920240" cy="859536"/>
          </a:xfrm>
          <a:prstGeom prst="roundRect">
            <a:avLst>
              <a:gd name="adj" fmla="val 6383"/>
            </a:avLst>
          </a:prstGeom>
          <a:solidFill>
            <a:srgbClr val="FFFFFF"/>
          </a:solidFill>
          <a:ln w="12700">
            <a:solidFill>
              <a:srgbClr val="EFC49A"/>
            </a:solidFill>
            <a:prstDash val="solid"/>
          </a:ln>
        </p:spPr>
        <p:txBody>
          <a:bodyPr/>
          <a:lstStyle/>
          <a:p>
            <a:endParaRPr lang="ko-KR" altLang="en-US"/>
          </a:p>
        </p:txBody>
      </p:sp>
      <p:sp>
        <p:nvSpPr>
          <p:cNvPr id="35" name="Text 33"/>
          <p:cNvSpPr/>
          <p:nvPr/>
        </p:nvSpPr>
        <p:spPr>
          <a:xfrm>
            <a:off x="5230368" y="4565904"/>
            <a:ext cx="1700784" cy="365760"/>
          </a:xfrm>
          <a:prstGeom prst="rect">
            <a:avLst/>
          </a:prstGeom>
          <a:noFill/>
          <a:ln/>
        </p:spPr>
        <p:txBody>
          <a:bodyPr wrap="square" lIns="0" tIns="0" rIns="0" bIns="0" rtlCol="0" anchor="ctr"/>
          <a:lstStyle/>
          <a:p>
            <a:pPr marL="0" indent="0">
              <a:lnSpc>
                <a:spcPts val="1300"/>
              </a:lnSpc>
              <a:buNone/>
            </a:pPr>
            <a:r>
              <a:rPr lang="en-US" sz="1050" b="1" dirty="0">
                <a:solidFill>
                  <a:srgbClr val="141B33"/>
                </a:solidFill>
                <a:latin typeface="맑은 고딕" pitchFamily="34" charset="0"/>
                <a:ea typeface="맑은 고딕" pitchFamily="34" charset="-122"/>
                <a:cs typeface="맑은 고딕" pitchFamily="34" charset="-120"/>
              </a:rPr>
              <a:t>VLM 호출 (서버)</a:t>
            </a:r>
            <a:endParaRPr lang="en-US" sz="1050" dirty="0"/>
          </a:p>
        </p:txBody>
      </p:sp>
      <p:sp>
        <p:nvSpPr>
          <p:cNvPr id="36" name="Text 34"/>
          <p:cNvSpPr/>
          <p:nvPr/>
        </p:nvSpPr>
        <p:spPr>
          <a:xfrm>
            <a:off x="5230368" y="4931664"/>
            <a:ext cx="1700784" cy="347472"/>
          </a:xfrm>
          <a:prstGeom prst="rect">
            <a:avLst/>
          </a:prstGeom>
          <a:noFill/>
          <a:ln/>
        </p:spPr>
        <p:txBody>
          <a:bodyPr wrap="square" lIns="0" tIns="0" rIns="0" bIns="0" rtlCol="0" anchor="ctr"/>
          <a:lstStyle/>
          <a:p>
            <a:pPr marL="0" indent="0">
              <a:lnSpc>
                <a:spcPts val="1200"/>
              </a:lnSpc>
              <a:buNone/>
            </a:pPr>
            <a:r>
              <a:rPr lang="en-US" sz="950" dirty="0">
                <a:solidFill>
                  <a:srgbClr val="6E7796"/>
                </a:solidFill>
                <a:latin typeface="맑은 고딕" pitchFamily="34" charset="0"/>
                <a:ea typeface="맑은 고딕" pitchFamily="34" charset="-122"/>
                <a:cs typeface="맑은 고딕" pitchFamily="34" charset="-120"/>
              </a:rPr>
              <a:t>OpenRouter 경유</a:t>
            </a:r>
            <a:endParaRPr lang="en-US" sz="950" dirty="0"/>
          </a:p>
        </p:txBody>
      </p:sp>
      <p:sp>
        <p:nvSpPr>
          <p:cNvPr id="37" name="Text 35"/>
          <p:cNvSpPr/>
          <p:nvPr/>
        </p:nvSpPr>
        <p:spPr>
          <a:xfrm>
            <a:off x="7040880" y="4492752"/>
            <a:ext cx="219456" cy="859536"/>
          </a:xfrm>
          <a:prstGeom prst="rect">
            <a:avLst/>
          </a:prstGeom>
          <a:noFill/>
          <a:ln/>
        </p:spPr>
        <p:txBody>
          <a:bodyPr wrap="square" lIns="0" tIns="0" rIns="0" bIns="0" rtlCol="0" anchor="ctr"/>
          <a:lstStyle/>
          <a:p>
            <a:pPr marL="0" indent="0" algn="ctr">
              <a:buNone/>
            </a:pPr>
            <a:r>
              <a:rPr lang="en-US" sz="900" dirty="0">
                <a:solidFill>
                  <a:srgbClr val="E8751A"/>
                </a:solidFill>
                <a:latin typeface="맑은 고딕" pitchFamily="34" charset="0"/>
                <a:ea typeface="맑은 고딕" pitchFamily="34" charset="-122"/>
                <a:cs typeface="맑은 고딕" pitchFamily="34" charset="-120"/>
              </a:rPr>
              <a:t>▶</a:t>
            </a:r>
            <a:endParaRPr lang="en-US" sz="900" dirty="0"/>
          </a:p>
        </p:txBody>
      </p:sp>
      <p:sp>
        <p:nvSpPr>
          <p:cNvPr id="38" name="Shape 36"/>
          <p:cNvSpPr/>
          <p:nvPr/>
        </p:nvSpPr>
        <p:spPr>
          <a:xfrm>
            <a:off x="7260336" y="4492752"/>
            <a:ext cx="1920240" cy="859536"/>
          </a:xfrm>
          <a:prstGeom prst="roundRect">
            <a:avLst>
              <a:gd name="adj" fmla="val 6383"/>
            </a:avLst>
          </a:prstGeom>
          <a:solidFill>
            <a:srgbClr val="FFFFFF"/>
          </a:solidFill>
          <a:ln w="12700">
            <a:solidFill>
              <a:srgbClr val="EFC49A"/>
            </a:solidFill>
            <a:prstDash val="solid"/>
          </a:ln>
        </p:spPr>
        <p:txBody>
          <a:bodyPr/>
          <a:lstStyle/>
          <a:p>
            <a:endParaRPr lang="ko-KR" altLang="en-US"/>
          </a:p>
        </p:txBody>
      </p:sp>
      <p:sp>
        <p:nvSpPr>
          <p:cNvPr id="39" name="Text 37"/>
          <p:cNvSpPr/>
          <p:nvPr/>
        </p:nvSpPr>
        <p:spPr>
          <a:xfrm>
            <a:off x="7370064" y="4565904"/>
            <a:ext cx="1700784" cy="365760"/>
          </a:xfrm>
          <a:prstGeom prst="rect">
            <a:avLst/>
          </a:prstGeom>
          <a:noFill/>
          <a:ln/>
        </p:spPr>
        <p:txBody>
          <a:bodyPr wrap="square" lIns="0" tIns="0" rIns="0" bIns="0" rtlCol="0" anchor="ctr"/>
          <a:lstStyle/>
          <a:p>
            <a:pPr marL="0" indent="0">
              <a:lnSpc>
                <a:spcPts val="1300"/>
              </a:lnSpc>
              <a:buNone/>
            </a:pPr>
            <a:r>
              <a:rPr lang="en-US" sz="1050" b="1" dirty="0">
                <a:solidFill>
                  <a:srgbClr val="141B33"/>
                </a:solidFill>
                <a:latin typeface="맑은 고딕" pitchFamily="34" charset="0"/>
                <a:ea typeface="맑은 고딕" pitchFamily="34" charset="-122"/>
                <a:cs typeface="맑은 고딕" pitchFamily="34" charset="-120"/>
              </a:rPr>
              <a:t>결과 저장</a:t>
            </a:r>
            <a:endParaRPr lang="en-US" sz="1050" dirty="0"/>
          </a:p>
        </p:txBody>
      </p:sp>
      <p:sp>
        <p:nvSpPr>
          <p:cNvPr id="40" name="Text 38"/>
          <p:cNvSpPr/>
          <p:nvPr/>
        </p:nvSpPr>
        <p:spPr>
          <a:xfrm>
            <a:off x="7370064" y="4931664"/>
            <a:ext cx="1700784" cy="347472"/>
          </a:xfrm>
          <a:prstGeom prst="rect">
            <a:avLst/>
          </a:prstGeom>
          <a:noFill/>
          <a:ln/>
        </p:spPr>
        <p:txBody>
          <a:bodyPr wrap="square" lIns="0" tIns="0" rIns="0" bIns="0" rtlCol="0" anchor="ctr"/>
          <a:lstStyle/>
          <a:p>
            <a:pPr marL="0" indent="0">
              <a:lnSpc>
                <a:spcPts val="1200"/>
              </a:lnSpc>
              <a:buNone/>
            </a:pPr>
            <a:r>
              <a:rPr lang="en-US" sz="950" dirty="0">
                <a:solidFill>
                  <a:srgbClr val="6E7796"/>
                </a:solidFill>
                <a:latin typeface="맑은 고딕" pitchFamily="34" charset="0"/>
                <a:ea typeface="맑은 고딕" pitchFamily="34" charset="-122"/>
                <a:cs typeface="맑은 고딕" pitchFamily="34" charset="-120"/>
              </a:rPr>
              <a:t>시설 판독 + 민원 분류</a:t>
            </a:r>
            <a:endParaRPr lang="en-US" sz="950" dirty="0"/>
          </a:p>
        </p:txBody>
      </p:sp>
      <p:sp>
        <p:nvSpPr>
          <p:cNvPr id="41" name="Text 39"/>
          <p:cNvSpPr/>
          <p:nvPr/>
        </p:nvSpPr>
        <p:spPr>
          <a:xfrm>
            <a:off x="9180576" y="4492752"/>
            <a:ext cx="219456" cy="859536"/>
          </a:xfrm>
          <a:prstGeom prst="rect">
            <a:avLst/>
          </a:prstGeom>
          <a:noFill/>
          <a:ln/>
        </p:spPr>
        <p:txBody>
          <a:bodyPr wrap="square" lIns="0" tIns="0" rIns="0" bIns="0" rtlCol="0" anchor="ctr"/>
          <a:lstStyle/>
          <a:p>
            <a:pPr marL="0" indent="0" algn="ctr">
              <a:buNone/>
            </a:pPr>
            <a:r>
              <a:rPr lang="en-US" sz="900" dirty="0">
                <a:solidFill>
                  <a:srgbClr val="E8751A"/>
                </a:solidFill>
                <a:latin typeface="맑은 고딕" pitchFamily="34" charset="0"/>
                <a:ea typeface="맑은 고딕" pitchFamily="34" charset="-122"/>
                <a:cs typeface="맑은 고딕" pitchFamily="34" charset="-120"/>
              </a:rPr>
              <a:t>▶</a:t>
            </a:r>
            <a:endParaRPr lang="en-US" sz="900" dirty="0"/>
          </a:p>
        </p:txBody>
      </p:sp>
      <p:sp>
        <p:nvSpPr>
          <p:cNvPr id="42" name="Shape 40"/>
          <p:cNvSpPr/>
          <p:nvPr/>
        </p:nvSpPr>
        <p:spPr>
          <a:xfrm>
            <a:off x="9400032" y="4492752"/>
            <a:ext cx="1920240" cy="859536"/>
          </a:xfrm>
          <a:prstGeom prst="roundRect">
            <a:avLst>
              <a:gd name="adj" fmla="val 6383"/>
            </a:avLst>
          </a:prstGeom>
          <a:solidFill>
            <a:srgbClr val="FFFFFF"/>
          </a:solidFill>
          <a:ln w="12700">
            <a:solidFill>
              <a:srgbClr val="EFC49A"/>
            </a:solidFill>
            <a:prstDash val="solid"/>
          </a:ln>
        </p:spPr>
        <p:txBody>
          <a:bodyPr/>
          <a:lstStyle/>
          <a:p>
            <a:endParaRPr lang="ko-KR" altLang="en-US"/>
          </a:p>
        </p:txBody>
      </p:sp>
      <p:sp>
        <p:nvSpPr>
          <p:cNvPr id="43" name="Text 41"/>
          <p:cNvSpPr/>
          <p:nvPr/>
        </p:nvSpPr>
        <p:spPr>
          <a:xfrm>
            <a:off x="9509760" y="4565904"/>
            <a:ext cx="1700784" cy="365760"/>
          </a:xfrm>
          <a:prstGeom prst="rect">
            <a:avLst/>
          </a:prstGeom>
          <a:noFill/>
          <a:ln/>
        </p:spPr>
        <p:txBody>
          <a:bodyPr wrap="square" lIns="0" tIns="0" rIns="0" bIns="0" rtlCol="0" anchor="ctr"/>
          <a:lstStyle/>
          <a:p>
            <a:pPr marL="0" indent="0">
              <a:lnSpc>
                <a:spcPts val="1300"/>
              </a:lnSpc>
              <a:buNone/>
            </a:pPr>
            <a:r>
              <a:rPr lang="en-US" sz="1050" b="1" dirty="0">
                <a:solidFill>
                  <a:srgbClr val="141B33"/>
                </a:solidFill>
                <a:latin typeface="맑은 고딕" pitchFamily="34" charset="0"/>
                <a:ea typeface="맑은 고딕" pitchFamily="34" charset="-122"/>
                <a:cs typeface="맑은 고딕" pitchFamily="34" charset="-120"/>
              </a:rPr>
              <a:t>안내 정보에 반영</a:t>
            </a:r>
            <a:endParaRPr lang="en-US" sz="1050" dirty="0"/>
          </a:p>
        </p:txBody>
      </p:sp>
      <p:sp>
        <p:nvSpPr>
          <p:cNvPr id="44" name="Text 42"/>
          <p:cNvSpPr/>
          <p:nvPr/>
        </p:nvSpPr>
        <p:spPr>
          <a:xfrm>
            <a:off x="9509760" y="4931664"/>
            <a:ext cx="1700784" cy="347472"/>
          </a:xfrm>
          <a:prstGeom prst="rect">
            <a:avLst/>
          </a:prstGeom>
          <a:noFill/>
          <a:ln/>
        </p:spPr>
        <p:txBody>
          <a:bodyPr wrap="square" lIns="0" tIns="0" rIns="0" bIns="0" rtlCol="0" anchor="ctr"/>
          <a:lstStyle/>
          <a:p>
            <a:pPr marL="0" indent="0">
              <a:lnSpc>
                <a:spcPts val="1200"/>
              </a:lnSpc>
              <a:buNone/>
            </a:pPr>
            <a:r>
              <a:rPr lang="en-US" sz="950" dirty="0">
                <a:solidFill>
                  <a:srgbClr val="6E7796"/>
                </a:solidFill>
                <a:latin typeface="맑은 고딕" pitchFamily="34" charset="0"/>
                <a:ea typeface="맑은 고딕" pitchFamily="34" charset="-122"/>
                <a:cs typeface="맑은 고딕" pitchFamily="34" charset="-120"/>
              </a:rPr>
              <a:t>'AI 판독' 출처로 표기</a:t>
            </a:r>
            <a:endParaRPr lang="en-US" sz="950" dirty="0"/>
          </a:p>
        </p:txBody>
      </p:sp>
      <p:sp>
        <p:nvSpPr>
          <p:cNvPr id="45" name="Text 43"/>
          <p:cNvSpPr/>
          <p:nvPr/>
        </p:nvSpPr>
        <p:spPr>
          <a:xfrm>
            <a:off x="566928" y="5930297"/>
            <a:ext cx="1280160" cy="310896"/>
          </a:xfrm>
          <a:prstGeom prst="rect">
            <a:avLst/>
          </a:prstGeom>
          <a:noFill/>
          <a:ln/>
        </p:spPr>
        <p:txBody>
          <a:bodyPr wrap="square" lIns="0" tIns="0" rIns="0" bIns="0" rtlCol="0" anchor="ctr"/>
          <a:lstStyle/>
          <a:p>
            <a:pPr marL="0" indent="0">
              <a:buNone/>
            </a:pPr>
            <a:r>
              <a:rPr lang="en-US" sz="1200" b="1" dirty="0">
                <a:solidFill>
                  <a:srgbClr val="141B33"/>
                </a:solidFill>
                <a:latin typeface="맑은 고딕" pitchFamily="34" charset="0"/>
                <a:ea typeface="맑은 고딕" pitchFamily="34" charset="-122"/>
                <a:cs typeface="맑은 고딕" pitchFamily="34" charset="-120"/>
              </a:rPr>
              <a:t>설계 원칙</a:t>
            </a:r>
            <a:endParaRPr lang="en-US" sz="1200" dirty="0"/>
          </a:p>
        </p:txBody>
      </p:sp>
      <p:sp>
        <p:nvSpPr>
          <p:cNvPr id="46" name="Shape 44"/>
          <p:cNvSpPr/>
          <p:nvPr/>
        </p:nvSpPr>
        <p:spPr>
          <a:xfrm>
            <a:off x="1618488" y="5948585"/>
            <a:ext cx="2126933"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47" name="Text 45"/>
          <p:cNvSpPr/>
          <p:nvPr/>
        </p:nvSpPr>
        <p:spPr>
          <a:xfrm>
            <a:off x="1618488" y="5948585"/>
            <a:ext cx="2126933"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목업 금지 — 장애 시 정직한 안내</a:t>
            </a:r>
            <a:endParaRPr lang="en-US" sz="1050" dirty="0"/>
          </a:p>
        </p:txBody>
      </p:sp>
      <p:sp>
        <p:nvSpPr>
          <p:cNvPr id="48" name="Shape 46"/>
          <p:cNvSpPr/>
          <p:nvPr/>
        </p:nvSpPr>
        <p:spPr>
          <a:xfrm>
            <a:off x="3855149" y="5948585"/>
            <a:ext cx="1180148"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49" name="Text 47"/>
          <p:cNvSpPr/>
          <p:nvPr/>
        </p:nvSpPr>
        <p:spPr>
          <a:xfrm>
            <a:off x="3855149" y="5948585"/>
            <a:ext cx="1180148"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개인정보 미수집</a:t>
            </a:r>
            <a:endParaRPr lang="en-US" sz="1050" dirty="0"/>
          </a:p>
        </p:txBody>
      </p:sp>
      <p:sp>
        <p:nvSpPr>
          <p:cNvPr id="50" name="Shape 48"/>
          <p:cNvSpPr/>
          <p:nvPr/>
        </p:nvSpPr>
        <p:spPr>
          <a:xfrm>
            <a:off x="5145024" y="5948585"/>
            <a:ext cx="1592199"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51" name="Text 49"/>
          <p:cNvSpPr/>
          <p:nvPr/>
        </p:nvSpPr>
        <p:spPr>
          <a:xfrm>
            <a:off x="5145024" y="5948585"/>
            <a:ext cx="1592199"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VLM은 서버에서만 호출</a:t>
            </a:r>
            <a:endParaRPr lang="en-US" sz="1050" dirty="0"/>
          </a:p>
        </p:txBody>
      </p:sp>
      <p:sp>
        <p:nvSpPr>
          <p:cNvPr id="52" name="Shape 50"/>
          <p:cNvSpPr/>
          <p:nvPr/>
        </p:nvSpPr>
        <p:spPr>
          <a:xfrm>
            <a:off x="6846951" y="5948585"/>
            <a:ext cx="1694879"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53" name="Text 51"/>
          <p:cNvSpPr/>
          <p:nvPr/>
        </p:nvSpPr>
        <p:spPr>
          <a:xfrm>
            <a:off x="6846951" y="5948585"/>
            <a:ext cx="1694879"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AI 실패해도 제보는 저장</a:t>
            </a:r>
            <a:endParaRPr lang="en-US" sz="1050" dirty="0"/>
          </a:p>
        </p:txBody>
      </p:sp>
      <p:sp>
        <p:nvSpPr>
          <p:cNvPr id="56" name="Text 53"/>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57" name="Text 54"/>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03  </a:t>
            </a:r>
            <a:r>
              <a:rPr lang="ko-KR" altLang="en-US" sz="1200" b="1" kern="0" spc="140" dirty="0">
                <a:solidFill>
                  <a:srgbClr val="001871"/>
                </a:solidFill>
                <a:latin typeface="맑은 고딕" pitchFamily="34" charset="0"/>
                <a:ea typeface="맑은 고딕" pitchFamily="34" charset="-122"/>
                <a:cs typeface="맑은 고딕" pitchFamily="34" charset="-120"/>
              </a:rPr>
              <a:t>서비스 핵심 기능 설명 및 시연</a:t>
            </a:r>
          </a:p>
        </p:txBody>
      </p:sp>
      <p:sp>
        <p:nvSpPr>
          <p:cNvPr id="3" name="Text 1"/>
          <p:cNvSpPr/>
          <p:nvPr/>
        </p:nvSpPr>
        <p:spPr>
          <a:xfrm>
            <a:off x="560527" y="850392"/>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핵심 기능</a:t>
            </a:r>
            <a:endParaRPr lang="en-US" sz="3000" dirty="0"/>
          </a:p>
        </p:txBody>
      </p:sp>
      <p:sp>
        <p:nvSpPr>
          <p:cNvPr id="5" name="Shape 3"/>
          <p:cNvSpPr/>
          <p:nvPr/>
        </p:nvSpPr>
        <p:spPr>
          <a:xfrm>
            <a:off x="566928" y="1792224"/>
            <a:ext cx="5431536" cy="1627632"/>
          </a:xfrm>
          <a:prstGeom prst="roundRect">
            <a:avLst>
              <a:gd name="adj" fmla="val 3371"/>
            </a:avLst>
          </a:prstGeom>
          <a:solidFill>
            <a:srgbClr val="FCEEE0"/>
          </a:solidFill>
          <a:ln w="12700">
            <a:solidFill>
              <a:srgbClr val="F2C99E"/>
            </a:solidFill>
            <a:prstDash val="solid"/>
          </a:ln>
        </p:spPr>
        <p:txBody>
          <a:bodyPr/>
          <a:lstStyle/>
          <a:p>
            <a:endParaRPr lang="ko-KR" altLang="en-US"/>
          </a:p>
        </p:txBody>
      </p:sp>
      <p:sp>
        <p:nvSpPr>
          <p:cNvPr id="6" name="Shape 4"/>
          <p:cNvSpPr/>
          <p:nvPr/>
        </p:nvSpPr>
        <p:spPr>
          <a:xfrm>
            <a:off x="841248" y="2048256"/>
            <a:ext cx="402336" cy="402336"/>
          </a:xfrm>
          <a:prstGeom prst="ellipse">
            <a:avLst/>
          </a:prstGeom>
          <a:solidFill>
            <a:srgbClr val="E8751A"/>
          </a:solidFill>
          <a:ln/>
        </p:spPr>
        <p:txBody>
          <a:bodyPr/>
          <a:lstStyle/>
          <a:p>
            <a:endParaRPr lang="ko-KR" altLang="en-US"/>
          </a:p>
        </p:txBody>
      </p:sp>
      <p:sp>
        <p:nvSpPr>
          <p:cNvPr id="7" name="Text 5"/>
          <p:cNvSpPr/>
          <p:nvPr/>
        </p:nvSpPr>
        <p:spPr>
          <a:xfrm>
            <a:off x="841248" y="2048256"/>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1</a:t>
            </a:r>
            <a:endParaRPr lang="en-US" sz="1496" dirty="0"/>
          </a:p>
        </p:txBody>
      </p:sp>
      <p:sp>
        <p:nvSpPr>
          <p:cNvPr id="8" name="Text 6"/>
          <p:cNvSpPr/>
          <p:nvPr/>
        </p:nvSpPr>
        <p:spPr>
          <a:xfrm>
            <a:off x="1408176" y="2011680"/>
            <a:ext cx="4389120" cy="365760"/>
          </a:xfrm>
          <a:prstGeom prst="rect">
            <a:avLst/>
          </a:prstGeom>
          <a:noFill/>
          <a:ln/>
        </p:spPr>
        <p:txBody>
          <a:bodyPr wrap="square" lIns="0" tIns="0" rIns="0" bIns="0" rtlCol="0" anchor="ctr"/>
          <a:lstStyle/>
          <a:p>
            <a:pPr marL="0" indent="0">
              <a:buNone/>
            </a:pPr>
            <a:r>
              <a:rPr lang="en-US" sz="1700" b="1" dirty="0">
                <a:solidFill>
                  <a:srgbClr val="141B33"/>
                </a:solidFill>
                <a:latin typeface="맑은 고딕" pitchFamily="34" charset="0"/>
                <a:ea typeface="맑은 고딕" pitchFamily="34" charset="-122"/>
                <a:cs typeface="맑은 고딕" pitchFamily="34" charset="-120"/>
              </a:rPr>
              <a:t>근처 무더위쉼터 안내</a:t>
            </a:r>
            <a:endParaRPr lang="en-US" sz="1700" dirty="0"/>
          </a:p>
        </p:txBody>
      </p:sp>
      <p:sp>
        <p:nvSpPr>
          <p:cNvPr id="9" name="Text 7"/>
          <p:cNvSpPr/>
          <p:nvPr/>
        </p:nvSpPr>
        <p:spPr>
          <a:xfrm>
            <a:off x="1408176" y="2414016"/>
            <a:ext cx="4434840" cy="868680"/>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가장 가까운 쉼터를 거리·도보 시간으로 안내</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무더위쉼터 230개소 좌표 활용</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지도에서 쉼터 레이어로도 확인 가능</a:t>
            </a:r>
            <a:endParaRPr lang="en-US" sz="1150" dirty="0"/>
          </a:p>
        </p:txBody>
      </p:sp>
      <p:sp>
        <p:nvSpPr>
          <p:cNvPr id="10" name="Shape 8"/>
          <p:cNvSpPr/>
          <p:nvPr/>
        </p:nvSpPr>
        <p:spPr>
          <a:xfrm>
            <a:off x="6199632" y="1792224"/>
            <a:ext cx="5431536" cy="1627632"/>
          </a:xfrm>
          <a:prstGeom prst="roundRect">
            <a:avLst>
              <a:gd name="adj" fmla="val 3371"/>
            </a:avLst>
          </a:prstGeom>
          <a:solidFill>
            <a:srgbClr val="F4F6FC"/>
          </a:solidFill>
          <a:ln w="12700">
            <a:solidFill>
              <a:srgbClr val="D4DAEE"/>
            </a:solidFill>
            <a:prstDash val="solid"/>
          </a:ln>
        </p:spPr>
        <p:txBody>
          <a:bodyPr/>
          <a:lstStyle/>
          <a:p>
            <a:endParaRPr lang="ko-KR" altLang="en-US"/>
          </a:p>
        </p:txBody>
      </p:sp>
      <p:sp>
        <p:nvSpPr>
          <p:cNvPr id="11" name="Shape 9"/>
          <p:cNvSpPr/>
          <p:nvPr/>
        </p:nvSpPr>
        <p:spPr>
          <a:xfrm>
            <a:off x="6473952" y="2048256"/>
            <a:ext cx="402336" cy="402336"/>
          </a:xfrm>
          <a:prstGeom prst="ellipse">
            <a:avLst/>
          </a:prstGeom>
          <a:solidFill>
            <a:srgbClr val="001871"/>
          </a:solidFill>
          <a:ln/>
        </p:spPr>
        <p:txBody>
          <a:bodyPr/>
          <a:lstStyle/>
          <a:p>
            <a:endParaRPr lang="ko-KR" altLang="en-US"/>
          </a:p>
        </p:txBody>
      </p:sp>
      <p:sp>
        <p:nvSpPr>
          <p:cNvPr id="12" name="Text 10"/>
          <p:cNvSpPr/>
          <p:nvPr/>
        </p:nvSpPr>
        <p:spPr>
          <a:xfrm>
            <a:off x="6473952" y="2048256"/>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2</a:t>
            </a:r>
            <a:endParaRPr lang="en-US" sz="1496" dirty="0"/>
          </a:p>
        </p:txBody>
      </p:sp>
      <p:sp>
        <p:nvSpPr>
          <p:cNvPr id="13" name="Text 11"/>
          <p:cNvSpPr/>
          <p:nvPr/>
        </p:nvSpPr>
        <p:spPr>
          <a:xfrm>
            <a:off x="7040880" y="2011680"/>
            <a:ext cx="4389120" cy="365760"/>
          </a:xfrm>
          <a:prstGeom prst="rect">
            <a:avLst/>
          </a:prstGeom>
          <a:noFill/>
          <a:ln/>
        </p:spPr>
        <p:txBody>
          <a:bodyPr wrap="square" lIns="0" tIns="0" rIns="0" bIns="0" rtlCol="0" anchor="ctr"/>
          <a:lstStyle/>
          <a:p>
            <a:pPr marL="0" indent="0">
              <a:buNone/>
            </a:pPr>
            <a:r>
              <a:rPr lang="en-US" sz="1700" b="1" dirty="0">
                <a:solidFill>
                  <a:srgbClr val="141B33"/>
                </a:solidFill>
                <a:latin typeface="맑은 고딕" pitchFamily="34" charset="0"/>
                <a:ea typeface="맑은 고딕" pitchFamily="34" charset="-122"/>
                <a:cs typeface="맑은 고딕" pitchFamily="34" charset="-120"/>
              </a:rPr>
              <a:t>기다리기 환경 안내</a:t>
            </a:r>
            <a:endParaRPr lang="en-US" sz="1700" dirty="0"/>
          </a:p>
        </p:txBody>
      </p:sp>
      <p:sp>
        <p:nvSpPr>
          <p:cNvPr id="14" name="Text 12"/>
          <p:cNvSpPr/>
          <p:nvPr/>
        </p:nvSpPr>
        <p:spPr>
          <a:xfrm>
            <a:off x="7040880" y="2414016"/>
            <a:ext cx="4434840" cy="868680"/>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그늘·의자·쉘터·안내기·조명을 단어 칩으로</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출처 라벨을 함께 표기 (모르면 '몰라요')</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실시간 도착정보(TAGO) 15초 갱신</a:t>
            </a:r>
            <a:endParaRPr lang="en-US" sz="1150" dirty="0"/>
          </a:p>
        </p:txBody>
      </p:sp>
      <p:sp>
        <p:nvSpPr>
          <p:cNvPr id="15" name="Shape 13"/>
          <p:cNvSpPr/>
          <p:nvPr/>
        </p:nvSpPr>
        <p:spPr>
          <a:xfrm>
            <a:off x="566928" y="3602736"/>
            <a:ext cx="5431536" cy="1627632"/>
          </a:xfrm>
          <a:prstGeom prst="roundRect">
            <a:avLst>
              <a:gd name="adj" fmla="val 3371"/>
            </a:avLst>
          </a:prstGeom>
          <a:solidFill>
            <a:srgbClr val="F4F6FC"/>
          </a:solidFill>
          <a:ln w="12700">
            <a:solidFill>
              <a:srgbClr val="D4DAEE"/>
            </a:solidFill>
            <a:prstDash val="solid"/>
          </a:ln>
        </p:spPr>
        <p:txBody>
          <a:bodyPr/>
          <a:lstStyle/>
          <a:p>
            <a:endParaRPr lang="ko-KR" altLang="en-US"/>
          </a:p>
        </p:txBody>
      </p:sp>
      <p:sp>
        <p:nvSpPr>
          <p:cNvPr id="16" name="Shape 14"/>
          <p:cNvSpPr/>
          <p:nvPr/>
        </p:nvSpPr>
        <p:spPr>
          <a:xfrm>
            <a:off x="841248" y="3858768"/>
            <a:ext cx="402336" cy="402336"/>
          </a:xfrm>
          <a:prstGeom prst="ellipse">
            <a:avLst/>
          </a:prstGeom>
          <a:solidFill>
            <a:srgbClr val="001871"/>
          </a:solidFill>
          <a:ln/>
        </p:spPr>
        <p:txBody>
          <a:bodyPr/>
          <a:lstStyle/>
          <a:p>
            <a:endParaRPr lang="ko-KR" altLang="en-US"/>
          </a:p>
        </p:txBody>
      </p:sp>
      <p:sp>
        <p:nvSpPr>
          <p:cNvPr id="17" name="Text 15"/>
          <p:cNvSpPr/>
          <p:nvPr/>
        </p:nvSpPr>
        <p:spPr>
          <a:xfrm>
            <a:off x="841248" y="3858768"/>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3</a:t>
            </a:r>
            <a:endParaRPr lang="en-US" sz="1496" dirty="0"/>
          </a:p>
        </p:txBody>
      </p:sp>
      <p:sp>
        <p:nvSpPr>
          <p:cNvPr id="18" name="Text 16"/>
          <p:cNvSpPr/>
          <p:nvPr/>
        </p:nvSpPr>
        <p:spPr>
          <a:xfrm>
            <a:off x="1408176" y="3822192"/>
            <a:ext cx="4389120" cy="365760"/>
          </a:xfrm>
          <a:prstGeom prst="rect">
            <a:avLst/>
          </a:prstGeom>
          <a:noFill/>
          <a:ln/>
        </p:spPr>
        <p:txBody>
          <a:bodyPr wrap="square" lIns="0" tIns="0" rIns="0" bIns="0" rtlCol="0" anchor="ctr"/>
          <a:lstStyle/>
          <a:p>
            <a:pPr marL="0" indent="0">
              <a:buNone/>
            </a:pPr>
            <a:r>
              <a:rPr lang="en-US" sz="1700" b="1" dirty="0">
                <a:solidFill>
                  <a:srgbClr val="141B33"/>
                </a:solidFill>
                <a:latin typeface="맑은 고딕" pitchFamily="34" charset="0"/>
                <a:ea typeface="맑은 고딕" pitchFamily="34" charset="-122"/>
                <a:cs typeface="맑은 고딕" pitchFamily="34" charset="-120"/>
              </a:rPr>
              <a:t>어르신을 위한 음성 검색</a:t>
            </a:r>
            <a:endParaRPr lang="en-US" sz="1700" dirty="0"/>
          </a:p>
        </p:txBody>
      </p:sp>
      <p:sp>
        <p:nvSpPr>
          <p:cNvPr id="19" name="Text 17"/>
          <p:cNvSpPr/>
          <p:nvPr/>
        </p:nvSpPr>
        <p:spPr>
          <a:xfrm>
            <a:off x="1408176" y="4224528"/>
            <a:ext cx="4434840" cy="868680"/>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[음성으로 찾기] — 말하면 바로 검색</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아이콘 배제 · 대형 단어 카드</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기본 글자 20px 이상 · 터치 영역 56px 이상</a:t>
            </a:r>
            <a:endParaRPr lang="en-US" sz="1150" dirty="0"/>
          </a:p>
        </p:txBody>
      </p:sp>
      <p:sp>
        <p:nvSpPr>
          <p:cNvPr id="20" name="Shape 18"/>
          <p:cNvSpPr/>
          <p:nvPr/>
        </p:nvSpPr>
        <p:spPr>
          <a:xfrm>
            <a:off x="6199632" y="3602736"/>
            <a:ext cx="5431536" cy="1627632"/>
          </a:xfrm>
          <a:prstGeom prst="roundRect">
            <a:avLst>
              <a:gd name="adj" fmla="val 3371"/>
            </a:avLst>
          </a:prstGeom>
          <a:solidFill>
            <a:srgbClr val="F4F6FC"/>
          </a:solidFill>
          <a:ln w="12700">
            <a:solidFill>
              <a:srgbClr val="D4DAEE"/>
            </a:solidFill>
            <a:prstDash val="solid"/>
          </a:ln>
        </p:spPr>
        <p:txBody>
          <a:bodyPr/>
          <a:lstStyle/>
          <a:p>
            <a:endParaRPr lang="ko-KR" altLang="en-US"/>
          </a:p>
        </p:txBody>
      </p:sp>
      <p:sp>
        <p:nvSpPr>
          <p:cNvPr id="21" name="Shape 19"/>
          <p:cNvSpPr/>
          <p:nvPr/>
        </p:nvSpPr>
        <p:spPr>
          <a:xfrm>
            <a:off x="6473952" y="3858768"/>
            <a:ext cx="402336" cy="402336"/>
          </a:xfrm>
          <a:prstGeom prst="ellipse">
            <a:avLst/>
          </a:prstGeom>
          <a:solidFill>
            <a:srgbClr val="001871"/>
          </a:solidFill>
          <a:ln/>
        </p:spPr>
        <p:txBody>
          <a:bodyPr/>
          <a:lstStyle/>
          <a:p>
            <a:endParaRPr lang="ko-KR" altLang="en-US"/>
          </a:p>
        </p:txBody>
      </p:sp>
      <p:sp>
        <p:nvSpPr>
          <p:cNvPr id="22" name="Text 20"/>
          <p:cNvSpPr/>
          <p:nvPr/>
        </p:nvSpPr>
        <p:spPr>
          <a:xfrm>
            <a:off x="6473952" y="3858768"/>
            <a:ext cx="402336" cy="402336"/>
          </a:xfrm>
          <a:prstGeom prst="rect">
            <a:avLst/>
          </a:prstGeom>
          <a:noFill/>
          <a:ln/>
        </p:spPr>
        <p:txBody>
          <a:bodyPr wrap="square" lIns="0" tIns="0" rIns="0" bIns="0" rtlCol="0" anchor="ctr"/>
          <a:lstStyle/>
          <a:p>
            <a:pPr marL="0" indent="0" algn="ctr">
              <a:buNone/>
            </a:pPr>
            <a:r>
              <a:rPr lang="en-US" sz="1496" b="1" dirty="0">
                <a:solidFill>
                  <a:srgbClr val="FFFFFF"/>
                </a:solidFill>
                <a:latin typeface="맑은 고딕" pitchFamily="34" charset="0"/>
                <a:ea typeface="맑은 고딕" pitchFamily="34" charset="-122"/>
                <a:cs typeface="맑은 고딕" pitchFamily="34" charset="-120"/>
              </a:rPr>
              <a:t>4</a:t>
            </a:r>
            <a:endParaRPr lang="en-US" sz="1496" dirty="0"/>
          </a:p>
        </p:txBody>
      </p:sp>
      <p:sp>
        <p:nvSpPr>
          <p:cNvPr id="23" name="Text 21"/>
          <p:cNvSpPr/>
          <p:nvPr/>
        </p:nvSpPr>
        <p:spPr>
          <a:xfrm>
            <a:off x="7040880" y="3822192"/>
            <a:ext cx="4389120" cy="365760"/>
          </a:xfrm>
          <a:prstGeom prst="rect">
            <a:avLst/>
          </a:prstGeom>
          <a:noFill/>
          <a:ln/>
        </p:spPr>
        <p:txBody>
          <a:bodyPr wrap="square" lIns="0" tIns="0" rIns="0" bIns="0" rtlCol="0" anchor="ctr"/>
          <a:lstStyle/>
          <a:p>
            <a:pPr marL="0" indent="0">
              <a:buNone/>
            </a:pPr>
            <a:r>
              <a:rPr lang="en-US" sz="1700" b="1" dirty="0">
                <a:solidFill>
                  <a:srgbClr val="141B33"/>
                </a:solidFill>
                <a:latin typeface="맑은 고딕" pitchFamily="34" charset="0"/>
                <a:ea typeface="맑은 고딕" pitchFamily="34" charset="-122"/>
                <a:cs typeface="맑은 고딕" pitchFamily="34" charset="-120"/>
              </a:rPr>
              <a:t>어느 쪽에서 타야 하나요</a:t>
            </a:r>
            <a:endParaRPr lang="en-US" sz="1700" dirty="0"/>
          </a:p>
        </p:txBody>
      </p:sp>
      <p:sp>
        <p:nvSpPr>
          <p:cNvPr id="24" name="Text 22"/>
          <p:cNvSpPr/>
          <p:nvPr/>
        </p:nvSpPr>
        <p:spPr>
          <a:xfrm>
            <a:off x="7040880" y="4224528"/>
            <a:ext cx="4434840" cy="868680"/>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출발·도착만 고르면 노선과 방면을 안내</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반대 방향이면 '길 건너에서 타세요' 경고</a:t>
            </a:r>
            <a:endParaRPr lang="en-US" sz="1150" dirty="0"/>
          </a:p>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맞은편에서 잘못 타는 문제를 직접 해결</a:t>
            </a:r>
            <a:endParaRPr lang="en-US" sz="1150" dirty="0"/>
          </a:p>
        </p:txBody>
      </p:sp>
      <p:sp>
        <p:nvSpPr>
          <p:cNvPr id="25" name="Shape 23"/>
          <p:cNvSpPr/>
          <p:nvPr/>
        </p:nvSpPr>
        <p:spPr>
          <a:xfrm>
            <a:off x="566928" y="5449824"/>
            <a:ext cx="11064240" cy="841248"/>
          </a:xfrm>
          <a:prstGeom prst="roundRect">
            <a:avLst>
              <a:gd name="adj" fmla="val 6522"/>
            </a:avLst>
          </a:prstGeom>
          <a:solidFill>
            <a:srgbClr val="001871"/>
          </a:solidFill>
          <a:ln w="12700">
            <a:solidFill>
              <a:srgbClr val="001871"/>
            </a:solidFill>
            <a:prstDash val="solid"/>
          </a:ln>
        </p:spPr>
        <p:txBody>
          <a:bodyPr/>
          <a:lstStyle/>
          <a:p>
            <a:endParaRPr lang="ko-KR" altLang="en-US"/>
          </a:p>
        </p:txBody>
      </p:sp>
      <p:sp>
        <p:nvSpPr>
          <p:cNvPr id="26" name="Text 24"/>
          <p:cNvSpPr/>
          <p:nvPr/>
        </p:nvSpPr>
        <p:spPr>
          <a:xfrm>
            <a:off x="950976" y="5541264"/>
            <a:ext cx="2926080" cy="274320"/>
          </a:xfrm>
          <a:prstGeom prst="rect">
            <a:avLst/>
          </a:prstGeom>
          <a:noFill/>
          <a:ln/>
        </p:spPr>
        <p:txBody>
          <a:bodyPr wrap="square" lIns="0" tIns="0" rIns="0" bIns="0" rtlCol="0" anchor="ctr"/>
          <a:lstStyle/>
          <a:p>
            <a:pPr marL="0" indent="0">
              <a:buNone/>
            </a:pPr>
            <a:r>
              <a:rPr lang="ko-KR" altLang="en-US" sz="1100" b="1" dirty="0">
                <a:solidFill>
                  <a:srgbClr val="8FA2E4"/>
                </a:solidFill>
                <a:latin typeface="맑은 고딕" pitchFamily="34" charset="0"/>
                <a:ea typeface="맑은 고딕" pitchFamily="34" charset="-122"/>
                <a:cs typeface="맑은 고딕" pitchFamily="34" charset="-120"/>
              </a:rPr>
              <a:t>민원을 간편하게 제보하는 </a:t>
            </a:r>
            <a:r>
              <a:rPr lang="en-US" sz="1100" b="1" dirty="0" err="1">
                <a:solidFill>
                  <a:srgbClr val="8FA2E4"/>
                </a:solidFill>
                <a:latin typeface="맑은 고딕" pitchFamily="34" charset="0"/>
                <a:ea typeface="맑은 고딕" pitchFamily="34" charset="-122"/>
                <a:cs typeface="맑은 고딕" pitchFamily="34" charset="-120"/>
              </a:rPr>
              <a:t>기능</a:t>
            </a:r>
            <a:endParaRPr lang="en-US" sz="1100" dirty="0"/>
          </a:p>
        </p:txBody>
      </p:sp>
      <p:sp>
        <p:nvSpPr>
          <p:cNvPr id="27" name="Text 25"/>
          <p:cNvSpPr/>
          <p:nvPr/>
        </p:nvSpPr>
        <p:spPr>
          <a:xfrm>
            <a:off x="950976" y="5797296"/>
            <a:ext cx="10332720" cy="420624"/>
          </a:xfrm>
          <a:prstGeom prst="rect">
            <a:avLst/>
          </a:prstGeom>
          <a:noFill/>
          <a:ln/>
        </p:spPr>
        <p:txBody>
          <a:bodyPr wrap="square" lIns="0" tIns="0" rIns="0" bIns="0" rtlCol="0" anchor="ctr"/>
          <a:lstStyle/>
          <a:p>
            <a:pPr marL="0" indent="0">
              <a:lnSpc>
                <a:spcPts val="1600"/>
              </a:lnSpc>
              <a:buNone/>
            </a:pPr>
            <a:r>
              <a:rPr lang="en-US" sz="1100" dirty="0">
                <a:solidFill>
                  <a:srgbClr val="FFFFFF"/>
                </a:solidFill>
                <a:latin typeface="맑은 고딕" pitchFamily="34" charset="0"/>
                <a:ea typeface="맑은 고딕" pitchFamily="34" charset="-122"/>
                <a:cs typeface="맑은 고딕" pitchFamily="34" charset="-120"/>
              </a:rPr>
              <a:t>사진 한 장 제보 (버튼 하나 · 입력 0타 → </a:t>
            </a:r>
            <a:r>
              <a:rPr lang="en-US" sz="1100" dirty="0" err="1">
                <a:solidFill>
                  <a:srgbClr val="FFFFFF"/>
                </a:solidFill>
                <a:latin typeface="맑은 고딕" pitchFamily="34" charset="0"/>
                <a:ea typeface="맑은 고딕" pitchFamily="34" charset="-122"/>
                <a:cs typeface="맑은 고딕" pitchFamily="34" charset="-120"/>
              </a:rPr>
              <a:t>AI가</a:t>
            </a:r>
            <a:r>
              <a:rPr lang="en-US" sz="1100" dirty="0">
                <a:solidFill>
                  <a:srgbClr val="FFFFFF"/>
                </a:solidFill>
                <a:latin typeface="맑은 고딕" pitchFamily="34" charset="0"/>
                <a:ea typeface="맑은 고딕" pitchFamily="34" charset="-122"/>
                <a:cs typeface="맑은 고딕" pitchFamily="34" charset="-120"/>
              </a:rPr>
              <a:t> </a:t>
            </a:r>
            <a:r>
              <a:rPr lang="en-US" sz="1100" dirty="0" err="1">
                <a:solidFill>
                  <a:srgbClr val="FFFFFF"/>
                </a:solidFill>
                <a:latin typeface="맑은 고딕" pitchFamily="34" charset="0"/>
                <a:ea typeface="맑은 고딕" pitchFamily="34" charset="-122"/>
                <a:cs typeface="맑은 고딕" pitchFamily="34" charset="-120"/>
              </a:rPr>
              <a:t>시설</a:t>
            </a:r>
            <a:r>
              <a:rPr lang="en-US" sz="1100" dirty="0">
                <a:solidFill>
                  <a:srgbClr val="FFFFFF"/>
                </a:solidFill>
                <a:latin typeface="맑은 고딕" pitchFamily="34" charset="0"/>
                <a:ea typeface="맑은 고딕" pitchFamily="34" charset="-122"/>
                <a:cs typeface="맑은 고딕" pitchFamily="34" charset="-120"/>
              </a:rPr>
              <a:t> </a:t>
            </a:r>
            <a:r>
              <a:rPr lang="ko-KR" altLang="en-US" sz="1100" dirty="0">
                <a:solidFill>
                  <a:srgbClr val="FFFFFF"/>
                </a:solidFill>
                <a:latin typeface="맑은 고딕" pitchFamily="34" charset="0"/>
                <a:ea typeface="맑은 고딕" pitchFamily="34" charset="-122"/>
                <a:cs typeface="맑은 고딕" pitchFamily="34" charset="-120"/>
              </a:rPr>
              <a:t>파손</a:t>
            </a:r>
            <a:r>
              <a:rPr lang="en-US" sz="1100" dirty="0">
                <a:solidFill>
                  <a:srgbClr val="FFFFFF"/>
                </a:solidFill>
                <a:latin typeface="맑은 고딕" pitchFamily="34" charset="0"/>
                <a:ea typeface="맑은 고딕" pitchFamily="34" charset="-122"/>
                <a:cs typeface="맑은 고딕" pitchFamily="34" charset="-120"/>
              </a:rPr>
              <a:t> 유무 판독해 안내 정보 갱신)   ·   춘천시 폭염 취약 정류장 대시보드 (취약 목록 · 시설 보유율 · 제보 피드)</a:t>
            </a:r>
            <a:endParaRPr lang="en-US" sz="1100" dirty="0"/>
          </a:p>
        </p:txBody>
      </p:sp>
      <p:sp>
        <p:nvSpPr>
          <p:cNvPr id="29" name="Text 26"/>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0" name="Text 27"/>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03  </a:t>
            </a:r>
            <a:r>
              <a:rPr lang="ko-KR" altLang="en-US" sz="1200" b="1" kern="0" spc="140" dirty="0">
                <a:solidFill>
                  <a:srgbClr val="001871"/>
                </a:solidFill>
                <a:latin typeface="맑은 고딕" pitchFamily="34" charset="0"/>
                <a:ea typeface="맑은 고딕" pitchFamily="34" charset="-122"/>
                <a:cs typeface="맑은 고딕" pitchFamily="34" charset="-120"/>
              </a:rPr>
              <a:t>서비스 핵심 기능 설명 및 시연</a:t>
            </a:r>
          </a:p>
        </p:txBody>
      </p:sp>
      <p:sp>
        <p:nvSpPr>
          <p:cNvPr id="3" name="Text 1"/>
          <p:cNvSpPr/>
          <p:nvPr/>
        </p:nvSpPr>
        <p:spPr>
          <a:xfrm>
            <a:off x="566928" y="841247"/>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'어느 쪽에서 타야 하나요' — 방면을 알려줍니다</a:t>
            </a:r>
            <a:endParaRPr lang="en-US" sz="3000" dirty="0"/>
          </a:p>
        </p:txBody>
      </p:sp>
      <p:sp>
        <p:nvSpPr>
          <p:cNvPr id="7" name="Text 5"/>
          <p:cNvSpPr/>
          <p:nvPr/>
        </p:nvSpPr>
        <p:spPr>
          <a:xfrm>
            <a:off x="566928" y="1755648"/>
            <a:ext cx="5120640" cy="310896"/>
          </a:xfrm>
          <a:prstGeom prst="rect">
            <a:avLst/>
          </a:prstGeom>
          <a:noFill/>
          <a:ln/>
        </p:spPr>
        <p:txBody>
          <a:bodyPr wrap="square" lIns="0" tIns="0" rIns="0" bIns="0" rtlCol="0" anchor="ctr"/>
          <a:lstStyle/>
          <a:p>
            <a:pPr marL="0" indent="0">
              <a:buNone/>
            </a:pPr>
            <a:r>
              <a:rPr lang="en-US" sz="1500" b="1" dirty="0">
                <a:solidFill>
                  <a:srgbClr val="141B33"/>
                </a:solidFill>
                <a:latin typeface="맑은 고딕" pitchFamily="34" charset="0"/>
                <a:ea typeface="맑은 고딕" pitchFamily="34" charset="-122"/>
                <a:cs typeface="맑은 고딕" pitchFamily="34" charset="-120"/>
              </a:rPr>
              <a:t>무엇을 보여드리나요</a:t>
            </a:r>
            <a:endParaRPr lang="en-US" sz="1500" dirty="0"/>
          </a:p>
        </p:txBody>
      </p:sp>
      <p:sp>
        <p:nvSpPr>
          <p:cNvPr id="8" name="Text 6"/>
          <p:cNvSpPr/>
          <p:nvPr/>
        </p:nvSpPr>
        <p:spPr>
          <a:xfrm>
            <a:off x="566928" y="215798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9" name="Text 7"/>
          <p:cNvSpPr/>
          <p:nvPr/>
        </p:nvSpPr>
        <p:spPr>
          <a:xfrm>
            <a:off x="731520" y="2752989"/>
            <a:ext cx="495604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출발·도착 정류장을 모두 지나는 노선을 교집합으로 찾습니다</a:t>
            </a:r>
            <a:endParaRPr lang="en-US" sz="1150" dirty="0"/>
          </a:p>
        </p:txBody>
      </p:sp>
      <p:sp>
        <p:nvSpPr>
          <p:cNvPr id="10" name="Text 8"/>
          <p:cNvSpPr/>
          <p:nvPr/>
        </p:nvSpPr>
        <p:spPr>
          <a:xfrm>
            <a:off x="566928" y="270662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12" name="Text 10"/>
          <p:cNvSpPr/>
          <p:nvPr/>
        </p:nvSpPr>
        <p:spPr>
          <a:xfrm>
            <a:off x="566928" y="325526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13" name="Text 11"/>
          <p:cNvSpPr/>
          <p:nvPr/>
        </p:nvSpPr>
        <p:spPr>
          <a:xfrm>
            <a:off x="731520" y="3319916"/>
            <a:ext cx="495604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길 건너 동명 정류장까지 매칭해 “길 건너에서 타셔야 합니다”를 경고</a:t>
            </a:r>
            <a:endParaRPr lang="en-US" sz="1150" dirty="0"/>
          </a:p>
        </p:txBody>
      </p:sp>
      <p:sp>
        <p:nvSpPr>
          <p:cNvPr id="14" name="Text 12"/>
          <p:cNvSpPr/>
          <p:nvPr/>
        </p:nvSpPr>
        <p:spPr>
          <a:xfrm>
            <a:off x="566928" y="380390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15" name="Text 13"/>
          <p:cNvSpPr/>
          <p:nvPr/>
        </p:nvSpPr>
        <p:spPr>
          <a:xfrm>
            <a:off x="731520" y="3859320"/>
            <a:ext cx="495604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직통 </a:t>
            </a:r>
            <a:r>
              <a:rPr lang="en-US" sz="1150" dirty="0" err="1">
                <a:solidFill>
                  <a:srgbClr val="39415E"/>
                </a:solidFill>
                <a:latin typeface="맑은 고딕" pitchFamily="34" charset="0"/>
                <a:ea typeface="맑은 고딕" pitchFamily="34" charset="-122"/>
                <a:cs typeface="맑은 고딕" pitchFamily="34" charset="-120"/>
              </a:rPr>
              <a:t>노선이</a:t>
            </a:r>
            <a:r>
              <a:rPr lang="en-US" sz="1150" dirty="0">
                <a:solidFill>
                  <a:srgbClr val="39415E"/>
                </a:solidFill>
                <a:latin typeface="맑은 고딕" pitchFamily="34" charset="0"/>
                <a:ea typeface="맑은 고딕" pitchFamily="34" charset="-122"/>
                <a:cs typeface="맑은 고딕" pitchFamily="34" charset="-120"/>
              </a:rPr>
              <a:t> </a:t>
            </a:r>
            <a:r>
              <a:rPr lang="en-US" sz="1150" dirty="0" err="1">
                <a:solidFill>
                  <a:srgbClr val="39415E"/>
                </a:solidFill>
                <a:latin typeface="맑은 고딕" pitchFamily="34" charset="0"/>
                <a:ea typeface="맑은 고딕" pitchFamily="34" charset="-122"/>
                <a:cs typeface="맑은 고딕" pitchFamily="34" charset="-120"/>
              </a:rPr>
              <a:t>없으면</a:t>
            </a:r>
            <a:r>
              <a:rPr lang="en-US" sz="1150" dirty="0">
                <a:solidFill>
                  <a:srgbClr val="39415E"/>
                </a:solidFill>
                <a:latin typeface="맑은 고딕" pitchFamily="34" charset="0"/>
                <a:ea typeface="맑은 고딕" pitchFamily="34" charset="-122"/>
                <a:cs typeface="맑은 고딕" pitchFamily="34" charset="-120"/>
              </a:rPr>
              <a:t> “한 번에 가는 버스가 없어요”로 안내</a:t>
            </a:r>
            <a:endParaRPr lang="en-US" sz="1150" dirty="0"/>
          </a:p>
        </p:txBody>
      </p:sp>
      <p:sp>
        <p:nvSpPr>
          <p:cNvPr id="16" name="Text 14"/>
          <p:cNvSpPr/>
          <p:nvPr/>
        </p:nvSpPr>
        <p:spPr>
          <a:xfrm>
            <a:off x="566928" y="4407408"/>
            <a:ext cx="5120640" cy="256032"/>
          </a:xfrm>
          <a:prstGeom prst="rect">
            <a:avLst/>
          </a:prstGeom>
          <a:noFill/>
          <a:ln/>
        </p:spPr>
        <p:txBody>
          <a:bodyPr wrap="square" lIns="0" tIns="0" rIns="0" bIns="0" rtlCol="0" anchor="ctr"/>
          <a:lstStyle/>
          <a:p>
            <a:pPr marL="0" indent="0">
              <a:buNone/>
            </a:pPr>
            <a:r>
              <a:rPr lang="en-US" sz="1000" b="1" dirty="0">
                <a:solidFill>
                  <a:srgbClr val="6E7796"/>
                </a:solidFill>
                <a:latin typeface="맑은 고딕" pitchFamily="34" charset="0"/>
                <a:ea typeface="맑은 고딕" pitchFamily="34" charset="-122"/>
                <a:cs typeface="맑은 고딕" pitchFamily="34" charset="-120"/>
              </a:rPr>
              <a:t>심사 포인트</a:t>
            </a:r>
            <a:endParaRPr lang="en-US" sz="1000" dirty="0"/>
          </a:p>
        </p:txBody>
      </p:sp>
      <p:sp>
        <p:nvSpPr>
          <p:cNvPr id="17" name="Shape 15"/>
          <p:cNvSpPr/>
          <p:nvPr/>
        </p:nvSpPr>
        <p:spPr>
          <a:xfrm>
            <a:off x="566928" y="4700016"/>
            <a:ext cx="1493520"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18" name="Text 16"/>
          <p:cNvSpPr/>
          <p:nvPr/>
        </p:nvSpPr>
        <p:spPr>
          <a:xfrm>
            <a:off x="566928" y="4700016"/>
            <a:ext cx="1493520"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공공데이터 직접 활용</a:t>
            </a:r>
            <a:endParaRPr lang="en-US" sz="1050" dirty="0"/>
          </a:p>
        </p:txBody>
      </p:sp>
      <p:sp>
        <p:nvSpPr>
          <p:cNvPr id="19" name="Shape 17"/>
          <p:cNvSpPr/>
          <p:nvPr/>
        </p:nvSpPr>
        <p:spPr>
          <a:xfrm>
            <a:off x="2151888" y="4700016"/>
            <a:ext cx="1540193"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20" name="Text 18"/>
          <p:cNvSpPr/>
          <p:nvPr/>
        </p:nvSpPr>
        <p:spPr>
          <a:xfrm>
            <a:off x="2151888" y="4700016"/>
            <a:ext cx="1540193"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어르신 실제 불편 해결</a:t>
            </a:r>
            <a:endParaRPr lang="en-US" sz="1050" dirty="0"/>
          </a:p>
        </p:txBody>
      </p:sp>
      <p:sp>
        <p:nvSpPr>
          <p:cNvPr id="21" name="Shape 19"/>
          <p:cNvSpPr/>
          <p:nvPr/>
        </p:nvSpPr>
        <p:spPr>
          <a:xfrm>
            <a:off x="3783521" y="4700016"/>
            <a:ext cx="1226820"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22" name="Text 20"/>
          <p:cNvSpPr/>
          <p:nvPr/>
        </p:nvSpPr>
        <p:spPr>
          <a:xfrm>
            <a:off x="3783521" y="4700016"/>
            <a:ext cx="1226820"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정직한 실패 처리</a:t>
            </a:r>
            <a:endParaRPr lang="en-US" sz="1050" dirty="0"/>
          </a:p>
        </p:txBody>
      </p:sp>
      <p:sp>
        <p:nvSpPr>
          <p:cNvPr id="23" name="Shape 21"/>
          <p:cNvSpPr/>
          <p:nvPr/>
        </p:nvSpPr>
        <p:spPr>
          <a:xfrm>
            <a:off x="6309360" y="1755648"/>
            <a:ext cx="2487168" cy="4224528"/>
          </a:xfrm>
          <a:prstGeom prst="roundRect">
            <a:avLst>
              <a:gd name="adj" fmla="val 3309"/>
            </a:avLst>
          </a:prstGeom>
          <a:solidFill>
            <a:srgbClr val="F4F6FC"/>
          </a:solidFill>
          <a:ln w="15875">
            <a:solidFill>
              <a:srgbClr val="001871"/>
            </a:solidFill>
            <a:prstDash val="dash"/>
          </a:ln>
        </p:spPr>
        <p:txBody>
          <a:bodyPr/>
          <a:lstStyle/>
          <a:p>
            <a:endParaRPr lang="ko-KR" altLang="en-US"/>
          </a:p>
        </p:txBody>
      </p:sp>
      <p:sp>
        <p:nvSpPr>
          <p:cNvPr id="24" name="Text 22"/>
          <p:cNvSpPr/>
          <p:nvPr/>
        </p:nvSpPr>
        <p:spPr>
          <a:xfrm>
            <a:off x="6309360" y="3410712"/>
            <a:ext cx="2487168" cy="603504"/>
          </a:xfrm>
          <a:prstGeom prst="rect">
            <a:avLst/>
          </a:prstGeom>
          <a:noFill/>
          <a:ln/>
        </p:spPr>
        <p:txBody>
          <a:bodyPr wrap="square" lIns="0" tIns="0" rIns="0" bIns="0" rtlCol="0" anchor="ctr"/>
          <a:lstStyle/>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화면 캡처</a:t>
            </a:r>
            <a:endParaRPr lang="en-US" sz="1150" dirty="0"/>
          </a:p>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삽입 영역</a:t>
            </a:r>
            <a:endParaRPr lang="en-US" sz="1150" dirty="0"/>
          </a:p>
        </p:txBody>
      </p:sp>
      <p:sp>
        <p:nvSpPr>
          <p:cNvPr id="25" name="Text 23"/>
          <p:cNvSpPr/>
          <p:nvPr/>
        </p:nvSpPr>
        <p:spPr>
          <a:xfrm>
            <a:off x="6309360" y="3995928"/>
            <a:ext cx="2487168" cy="420624"/>
          </a:xfrm>
          <a:prstGeom prst="rect">
            <a:avLst/>
          </a:prstGeom>
          <a:noFill/>
          <a:ln/>
        </p:spPr>
        <p:txBody>
          <a:bodyPr wrap="square" lIns="0" tIns="0" rIns="0" bIns="0" rtlCol="0" anchor="t"/>
          <a:lstStyle/>
          <a:p>
            <a:pPr marL="0" indent="0" algn="ctr">
              <a:lnSpc>
                <a:spcPts val="1400"/>
              </a:lnSpc>
              <a:buNone/>
            </a:pPr>
            <a:r>
              <a:rPr lang="en-US" sz="1000" dirty="0">
                <a:solidFill>
                  <a:srgbClr val="6E7796"/>
                </a:solidFill>
                <a:latin typeface="맑은 고딕" pitchFamily="34" charset="0"/>
                <a:ea typeface="맑은 고딕" pitchFamily="34" charset="-122"/>
                <a:cs typeface="맑은 고딕" pitchFamily="34" charset="-120"/>
              </a:rPr>
              <a:t>① 출발 · 도착 선택</a:t>
            </a:r>
            <a:endParaRPr lang="en-US" sz="1000" dirty="0"/>
          </a:p>
        </p:txBody>
      </p:sp>
      <p:sp>
        <p:nvSpPr>
          <p:cNvPr id="26" name="Shape 24"/>
          <p:cNvSpPr/>
          <p:nvPr/>
        </p:nvSpPr>
        <p:spPr>
          <a:xfrm>
            <a:off x="9144000" y="1755648"/>
            <a:ext cx="2487168" cy="4224528"/>
          </a:xfrm>
          <a:prstGeom prst="roundRect">
            <a:avLst>
              <a:gd name="adj" fmla="val 3309"/>
            </a:avLst>
          </a:prstGeom>
          <a:solidFill>
            <a:srgbClr val="F4F6FC"/>
          </a:solidFill>
          <a:ln w="15875">
            <a:solidFill>
              <a:srgbClr val="001871"/>
            </a:solidFill>
            <a:prstDash val="dash"/>
          </a:ln>
        </p:spPr>
        <p:txBody>
          <a:bodyPr/>
          <a:lstStyle/>
          <a:p>
            <a:endParaRPr lang="ko-KR" altLang="en-US"/>
          </a:p>
        </p:txBody>
      </p:sp>
      <p:sp>
        <p:nvSpPr>
          <p:cNvPr id="27" name="Text 25"/>
          <p:cNvSpPr/>
          <p:nvPr/>
        </p:nvSpPr>
        <p:spPr>
          <a:xfrm>
            <a:off x="9144000" y="3410712"/>
            <a:ext cx="2487168" cy="603504"/>
          </a:xfrm>
          <a:prstGeom prst="rect">
            <a:avLst/>
          </a:prstGeom>
          <a:noFill/>
          <a:ln/>
        </p:spPr>
        <p:txBody>
          <a:bodyPr wrap="square" lIns="0" tIns="0" rIns="0" bIns="0" rtlCol="0" anchor="ctr"/>
          <a:lstStyle/>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화면 캡처</a:t>
            </a:r>
            <a:endParaRPr lang="en-US" sz="1150" dirty="0"/>
          </a:p>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삽입 영역</a:t>
            </a:r>
            <a:endParaRPr lang="en-US" sz="1150" dirty="0"/>
          </a:p>
        </p:txBody>
      </p:sp>
      <p:sp>
        <p:nvSpPr>
          <p:cNvPr id="28" name="Text 26"/>
          <p:cNvSpPr/>
          <p:nvPr/>
        </p:nvSpPr>
        <p:spPr>
          <a:xfrm>
            <a:off x="9144000" y="3995928"/>
            <a:ext cx="2487168" cy="420624"/>
          </a:xfrm>
          <a:prstGeom prst="rect">
            <a:avLst/>
          </a:prstGeom>
          <a:noFill/>
          <a:ln/>
        </p:spPr>
        <p:txBody>
          <a:bodyPr wrap="square" lIns="0" tIns="0" rIns="0" bIns="0" rtlCol="0" anchor="t"/>
          <a:lstStyle/>
          <a:p>
            <a:pPr marL="0" indent="0" algn="ctr">
              <a:lnSpc>
                <a:spcPts val="1400"/>
              </a:lnSpc>
              <a:buNone/>
            </a:pPr>
            <a:r>
              <a:rPr lang="en-US" sz="1000" dirty="0">
                <a:solidFill>
                  <a:srgbClr val="6E7796"/>
                </a:solidFill>
                <a:latin typeface="맑은 고딕" pitchFamily="34" charset="0"/>
                <a:ea typeface="맑은 고딕" pitchFamily="34" charset="-122"/>
                <a:cs typeface="맑은 고딕" pitchFamily="34" charset="-120"/>
              </a:rPr>
              <a:t>② 방면 안내 결과 카드</a:t>
            </a:r>
            <a:endParaRPr lang="en-US" sz="1000" dirty="0"/>
          </a:p>
        </p:txBody>
      </p:sp>
      <p:sp>
        <p:nvSpPr>
          <p:cNvPr id="30" name="Text 27"/>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1" name="Text 28"/>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15</a:t>
            </a:r>
            <a:endParaRPr lang="en-US" sz="900" dirty="0"/>
          </a:p>
        </p:txBody>
      </p:sp>
      <p:sp>
        <p:nvSpPr>
          <p:cNvPr id="32" name="Text 7">
            <a:extLst>
              <a:ext uri="{FF2B5EF4-FFF2-40B4-BE49-F238E27FC236}">
                <a16:creationId xmlns:a16="http://schemas.microsoft.com/office/drawing/2014/main" id="{CCCD1028-3423-A67A-9A08-B31634F07B62}"/>
              </a:ext>
            </a:extLst>
          </p:cNvPr>
          <p:cNvSpPr/>
          <p:nvPr/>
        </p:nvSpPr>
        <p:spPr>
          <a:xfrm>
            <a:off x="713232" y="2213678"/>
            <a:ext cx="495604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[음성으로 찾기]에 “중앙시장”이라고 말하면 곧바로 결과 — 타이핑 없음</a:t>
            </a:r>
            <a:endParaRPr lang="en-US" sz="1150" dirty="0"/>
          </a:p>
        </p:txBody>
      </p:sp>
      <p:sp>
        <p:nvSpPr>
          <p:cNvPr id="34" name="Shape 21">
            <a:extLst>
              <a:ext uri="{FF2B5EF4-FFF2-40B4-BE49-F238E27FC236}">
                <a16:creationId xmlns:a16="http://schemas.microsoft.com/office/drawing/2014/main" id="{A77DA5BA-93ED-3F95-7F62-5835B746EAC8}"/>
              </a:ext>
            </a:extLst>
          </p:cNvPr>
          <p:cNvSpPr/>
          <p:nvPr/>
        </p:nvSpPr>
        <p:spPr>
          <a:xfrm>
            <a:off x="566928" y="5064824"/>
            <a:ext cx="1294829"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36" name="Text 22">
            <a:extLst>
              <a:ext uri="{FF2B5EF4-FFF2-40B4-BE49-F238E27FC236}">
                <a16:creationId xmlns:a16="http://schemas.microsoft.com/office/drawing/2014/main" id="{676E5B13-B400-6A2D-74B1-7073E9EC1FDB}"/>
              </a:ext>
            </a:extLst>
          </p:cNvPr>
          <p:cNvSpPr/>
          <p:nvPr/>
        </p:nvSpPr>
        <p:spPr>
          <a:xfrm>
            <a:off x="566928" y="5064824"/>
            <a:ext cx="1294829"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설치 없이 QR 진입</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03  </a:t>
            </a:r>
            <a:r>
              <a:rPr lang="ko-KR" altLang="en-US" sz="1200" b="1" kern="0" spc="140" dirty="0">
                <a:solidFill>
                  <a:srgbClr val="001871"/>
                </a:solidFill>
                <a:latin typeface="맑은 고딕" pitchFamily="34" charset="0"/>
                <a:ea typeface="맑은 고딕" pitchFamily="34" charset="-122"/>
                <a:cs typeface="맑은 고딕" pitchFamily="34" charset="-120"/>
              </a:rPr>
              <a:t>서비스 핵심 기능 설명 및 시연</a:t>
            </a:r>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지도에서 정류장과 쉼터를 함께 봅니다</a:t>
            </a:r>
            <a:endParaRPr lang="en-US" sz="3000" dirty="0"/>
          </a:p>
        </p:txBody>
      </p:sp>
      <p:sp>
        <p:nvSpPr>
          <p:cNvPr id="4" name="Text 2"/>
          <p:cNvSpPr/>
          <p:nvPr/>
        </p:nvSpPr>
        <p:spPr>
          <a:xfrm>
            <a:off x="566928" y="1225296"/>
            <a:ext cx="11064240" cy="292608"/>
          </a:xfrm>
          <a:prstGeom prst="rect">
            <a:avLst/>
          </a:prstGeom>
          <a:noFill/>
          <a:ln/>
        </p:spPr>
        <p:txBody>
          <a:bodyPr wrap="square" lIns="0" tIns="0" rIns="0" bIns="0" rtlCol="0" anchor="ctr"/>
          <a:lstStyle/>
          <a:p>
            <a:pPr marL="0" indent="0">
              <a:buNone/>
            </a:pPr>
            <a:r>
              <a:rPr lang="en-US" sz="1300" dirty="0">
                <a:solidFill>
                  <a:srgbClr val="6E7796"/>
                </a:solidFill>
                <a:latin typeface="맑은 고딕" pitchFamily="34" charset="0"/>
                <a:ea typeface="맑은 고딕" pitchFamily="34" charset="-122"/>
                <a:cs typeface="맑은 고딕" pitchFamily="34" charset="-120"/>
              </a:rPr>
              <a:t>레이어 토글 : [정류장] [무더위쉼터] — 어디에 그늘이 비어 있는지 한눈에</a:t>
            </a:r>
            <a:endParaRPr lang="en-US" sz="1300" dirty="0"/>
          </a:p>
        </p:txBody>
      </p:sp>
      <p:sp>
        <p:nvSpPr>
          <p:cNvPr id="7" name="Shape 5"/>
          <p:cNvSpPr/>
          <p:nvPr/>
        </p:nvSpPr>
        <p:spPr>
          <a:xfrm>
            <a:off x="566928" y="1755648"/>
            <a:ext cx="2487168" cy="4224528"/>
          </a:xfrm>
          <a:prstGeom prst="roundRect">
            <a:avLst>
              <a:gd name="adj" fmla="val 3309"/>
            </a:avLst>
          </a:prstGeom>
          <a:solidFill>
            <a:srgbClr val="F4F6FC"/>
          </a:solidFill>
          <a:ln w="15875">
            <a:solidFill>
              <a:srgbClr val="001871"/>
            </a:solidFill>
            <a:prstDash val="dash"/>
          </a:ln>
        </p:spPr>
        <p:txBody>
          <a:bodyPr/>
          <a:lstStyle/>
          <a:p>
            <a:endParaRPr lang="ko-KR" altLang="en-US"/>
          </a:p>
        </p:txBody>
      </p:sp>
      <p:sp>
        <p:nvSpPr>
          <p:cNvPr id="8" name="Text 6"/>
          <p:cNvSpPr/>
          <p:nvPr/>
        </p:nvSpPr>
        <p:spPr>
          <a:xfrm>
            <a:off x="566928" y="3410712"/>
            <a:ext cx="2487168" cy="603504"/>
          </a:xfrm>
          <a:prstGeom prst="rect">
            <a:avLst/>
          </a:prstGeom>
          <a:noFill/>
          <a:ln/>
        </p:spPr>
        <p:txBody>
          <a:bodyPr wrap="square" lIns="0" tIns="0" rIns="0" bIns="0" rtlCol="0" anchor="ctr"/>
          <a:lstStyle/>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화면 캡처</a:t>
            </a:r>
            <a:endParaRPr lang="en-US" sz="1150" dirty="0"/>
          </a:p>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삽입 영역</a:t>
            </a:r>
            <a:endParaRPr lang="en-US" sz="1150" dirty="0"/>
          </a:p>
        </p:txBody>
      </p:sp>
      <p:sp>
        <p:nvSpPr>
          <p:cNvPr id="9" name="Text 7"/>
          <p:cNvSpPr/>
          <p:nvPr/>
        </p:nvSpPr>
        <p:spPr>
          <a:xfrm>
            <a:off x="566928" y="3995928"/>
            <a:ext cx="2487168" cy="420624"/>
          </a:xfrm>
          <a:prstGeom prst="rect">
            <a:avLst/>
          </a:prstGeom>
          <a:noFill/>
          <a:ln/>
        </p:spPr>
        <p:txBody>
          <a:bodyPr wrap="square" lIns="0" tIns="0" rIns="0" bIns="0" rtlCol="0" anchor="t"/>
          <a:lstStyle/>
          <a:p>
            <a:pPr marL="0" indent="0" algn="ctr">
              <a:lnSpc>
                <a:spcPts val="1400"/>
              </a:lnSpc>
              <a:buNone/>
            </a:pPr>
            <a:r>
              <a:rPr lang="en-US" sz="1000" dirty="0">
                <a:solidFill>
                  <a:srgbClr val="6E7796"/>
                </a:solidFill>
                <a:latin typeface="맑은 고딕" pitchFamily="34" charset="0"/>
                <a:ea typeface="맑은 고딕" pitchFamily="34" charset="-122"/>
                <a:cs typeface="맑은 고딕" pitchFamily="34" charset="-120"/>
              </a:rPr>
              <a:t>① 지도 · 정류장 레이어</a:t>
            </a:r>
            <a:endParaRPr lang="en-US" sz="1000" dirty="0"/>
          </a:p>
        </p:txBody>
      </p:sp>
      <p:sp>
        <p:nvSpPr>
          <p:cNvPr id="10" name="Shape 8"/>
          <p:cNvSpPr/>
          <p:nvPr/>
        </p:nvSpPr>
        <p:spPr>
          <a:xfrm>
            <a:off x="3401568" y="1755648"/>
            <a:ext cx="2487168" cy="4224528"/>
          </a:xfrm>
          <a:prstGeom prst="roundRect">
            <a:avLst>
              <a:gd name="adj" fmla="val 3309"/>
            </a:avLst>
          </a:prstGeom>
          <a:solidFill>
            <a:srgbClr val="F4F6FC"/>
          </a:solidFill>
          <a:ln w="15875">
            <a:solidFill>
              <a:srgbClr val="001871"/>
            </a:solidFill>
            <a:prstDash val="dash"/>
          </a:ln>
        </p:spPr>
        <p:txBody>
          <a:bodyPr/>
          <a:lstStyle/>
          <a:p>
            <a:endParaRPr lang="ko-KR" altLang="en-US"/>
          </a:p>
        </p:txBody>
      </p:sp>
      <p:sp>
        <p:nvSpPr>
          <p:cNvPr id="11" name="Text 9"/>
          <p:cNvSpPr/>
          <p:nvPr/>
        </p:nvSpPr>
        <p:spPr>
          <a:xfrm>
            <a:off x="3401568" y="3410712"/>
            <a:ext cx="2487168" cy="603504"/>
          </a:xfrm>
          <a:prstGeom prst="rect">
            <a:avLst/>
          </a:prstGeom>
          <a:noFill/>
          <a:ln/>
        </p:spPr>
        <p:txBody>
          <a:bodyPr wrap="square" lIns="0" tIns="0" rIns="0" bIns="0" rtlCol="0" anchor="ctr"/>
          <a:lstStyle/>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화면 캡처</a:t>
            </a:r>
            <a:endParaRPr lang="en-US" sz="1150" dirty="0"/>
          </a:p>
          <a:p>
            <a:pPr marL="0" indent="0" algn="ctr">
              <a:lnSpc>
                <a:spcPts val="1700"/>
              </a:lnSpc>
              <a:buNone/>
            </a:pPr>
            <a:r>
              <a:rPr lang="en-US" sz="1150" b="1" dirty="0">
                <a:solidFill>
                  <a:srgbClr val="2B44A8"/>
                </a:solidFill>
                <a:latin typeface="맑은 고딕" pitchFamily="34" charset="0"/>
                <a:ea typeface="맑은 고딕" pitchFamily="34" charset="-122"/>
                <a:cs typeface="맑은 고딕" pitchFamily="34" charset="-120"/>
              </a:rPr>
              <a:t>삽입 영역</a:t>
            </a:r>
            <a:endParaRPr lang="en-US" sz="1150" dirty="0"/>
          </a:p>
        </p:txBody>
      </p:sp>
      <p:sp>
        <p:nvSpPr>
          <p:cNvPr id="12" name="Text 10"/>
          <p:cNvSpPr/>
          <p:nvPr/>
        </p:nvSpPr>
        <p:spPr>
          <a:xfrm>
            <a:off x="3401568" y="3995928"/>
            <a:ext cx="2487168" cy="420624"/>
          </a:xfrm>
          <a:prstGeom prst="rect">
            <a:avLst/>
          </a:prstGeom>
          <a:noFill/>
          <a:ln/>
        </p:spPr>
        <p:txBody>
          <a:bodyPr wrap="square" lIns="0" tIns="0" rIns="0" bIns="0" rtlCol="0" anchor="t"/>
          <a:lstStyle/>
          <a:p>
            <a:pPr marL="0" indent="0" algn="ctr">
              <a:lnSpc>
                <a:spcPts val="1400"/>
              </a:lnSpc>
              <a:buNone/>
            </a:pPr>
            <a:r>
              <a:rPr lang="en-US" sz="1000" dirty="0">
                <a:solidFill>
                  <a:srgbClr val="6E7796"/>
                </a:solidFill>
                <a:latin typeface="맑은 고딕" pitchFamily="34" charset="0"/>
                <a:ea typeface="맑은 고딕" pitchFamily="34" charset="-122"/>
                <a:cs typeface="맑은 고딕" pitchFamily="34" charset="-120"/>
              </a:rPr>
              <a:t>② 무더위쉼터 레이어 겹쳐 보기</a:t>
            </a:r>
            <a:endParaRPr lang="en-US" sz="1000" dirty="0"/>
          </a:p>
        </p:txBody>
      </p:sp>
      <p:sp>
        <p:nvSpPr>
          <p:cNvPr id="13" name="Text 11"/>
          <p:cNvSpPr/>
          <p:nvPr/>
        </p:nvSpPr>
        <p:spPr>
          <a:xfrm>
            <a:off x="6400800" y="1755648"/>
            <a:ext cx="5212080" cy="310896"/>
          </a:xfrm>
          <a:prstGeom prst="rect">
            <a:avLst/>
          </a:prstGeom>
          <a:noFill/>
          <a:ln/>
        </p:spPr>
        <p:txBody>
          <a:bodyPr wrap="square" lIns="0" tIns="0" rIns="0" bIns="0" rtlCol="0" anchor="ctr"/>
          <a:lstStyle/>
          <a:p>
            <a:pPr marL="0" indent="0">
              <a:buNone/>
            </a:pPr>
            <a:r>
              <a:rPr lang="en-US" sz="1500" b="1" dirty="0">
                <a:solidFill>
                  <a:srgbClr val="141B33"/>
                </a:solidFill>
                <a:latin typeface="맑은 고딕" pitchFamily="34" charset="0"/>
                <a:ea typeface="맑은 고딕" pitchFamily="34" charset="-122"/>
                <a:cs typeface="맑은 고딕" pitchFamily="34" charset="-120"/>
              </a:rPr>
              <a:t>무엇을 보여드리나요</a:t>
            </a:r>
            <a:endParaRPr lang="en-US" sz="1500" dirty="0"/>
          </a:p>
        </p:txBody>
      </p:sp>
      <p:sp>
        <p:nvSpPr>
          <p:cNvPr id="14" name="Text 12"/>
          <p:cNvSpPr/>
          <p:nvPr/>
        </p:nvSpPr>
        <p:spPr>
          <a:xfrm>
            <a:off x="6400800" y="215798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15" name="Text 13"/>
          <p:cNvSpPr/>
          <p:nvPr/>
        </p:nvSpPr>
        <p:spPr>
          <a:xfrm>
            <a:off x="6565392" y="2157984"/>
            <a:ext cx="504748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카카오맵 위에 정류장 1,890개와 무더위쉼터 230개소를 함께 표시</a:t>
            </a:r>
            <a:endParaRPr lang="en-US" sz="1150" dirty="0"/>
          </a:p>
        </p:txBody>
      </p:sp>
      <p:sp>
        <p:nvSpPr>
          <p:cNvPr id="16" name="Text 14"/>
          <p:cNvSpPr/>
          <p:nvPr/>
        </p:nvSpPr>
        <p:spPr>
          <a:xfrm>
            <a:off x="6400800" y="270662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17" name="Text 15"/>
          <p:cNvSpPr/>
          <p:nvPr/>
        </p:nvSpPr>
        <p:spPr>
          <a:xfrm>
            <a:off x="6565392" y="2706624"/>
            <a:ext cx="504748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마커 색 : 파랑=시설 양호 / 주황=결핍 / 회색=미확인</a:t>
            </a:r>
            <a:endParaRPr lang="en-US" sz="1150" dirty="0"/>
          </a:p>
        </p:txBody>
      </p:sp>
      <p:sp>
        <p:nvSpPr>
          <p:cNvPr id="18" name="Text 16"/>
          <p:cNvSpPr/>
          <p:nvPr/>
        </p:nvSpPr>
        <p:spPr>
          <a:xfrm>
            <a:off x="6400800" y="325526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19" name="Text 17"/>
          <p:cNvSpPr/>
          <p:nvPr/>
        </p:nvSpPr>
        <p:spPr>
          <a:xfrm>
            <a:off x="6565392" y="3255264"/>
            <a:ext cx="504748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레이어도 아이콘이 아닌 단어 칩으로 — [정류장] [무더위쉼터]</a:t>
            </a:r>
            <a:endParaRPr lang="en-US" sz="1150" dirty="0"/>
          </a:p>
        </p:txBody>
      </p:sp>
      <p:sp>
        <p:nvSpPr>
          <p:cNvPr id="20" name="Text 18"/>
          <p:cNvSpPr/>
          <p:nvPr/>
        </p:nvSpPr>
        <p:spPr>
          <a:xfrm>
            <a:off x="6400800" y="380390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1" name="Text 19"/>
          <p:cNvSpPr/>
          <p:nvPr/>
        </p:nvSpPr>
        <p:spPr>
          <a:xfrm>
            <a:off x="6565392" y="3803904"/>
            <a:ext cx="5047488"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마커를 누르면 하단 미니카드 → 정류장 상세로 이동</a:t>
            </a:r>
            <a:endParaRPr lang="en-US" sz="1150" dirty="0"/>
          </a:p>
        </p:txBody>
      </p:sp>
      <p:sp>
        <p:nvSpPr>
          <p:cNvPr id="22" name="Text 20"/>
          <p:cNvSpPr/>
          <p:nvPr/>
        </p:nvSpPr>
        <p:spPr>
          <a:xfrm>
            <a:off x="6400800" y="4407408"/>
            <a:ext cx="5212080" cy="256032"/>
          </a:xfrm>
          <a:prstGeom prst="rect">
            <a:avLst/>
          </a:prstGeom>
          <a:noFill/>
          <a:ln/>
        </p:spPr>
        <p:txBody>
          <a:bodyPr wrap="square" lIns="0" tIns="0" rIns="0" bIns="0" rtlCol="0" anchor="ctr"/>
          <a:lstStyle/>
          <a:p>
            <a:pPr marL="0" indent="0">
              <a:buNone/>
            </a:pPr>
            <a:r>
              <a:rPr lang="en-US" sz="1000" b="1" dirty="0">
                <a:solidFill>
                  <a:srgbClr val="6E7796"/>
                </a:solidFill>
                <a:latin typeface="맑은 고딕" pitchFamily="34" charset="0"/>
                <a:ea typeface="맑은 고딕" pitchFamily="34" charset="-122"/>
                <a:cs typeface="맑은 고딕" pitchFamily="34" charset="-120"/>
              </a:rPr>
              <a:t>심사 포인트</a:t>
            </a:r>
            <a:endParaRPr lang="en-US" sz="1000" dirty="0"/>
          </a:p>
        </p:txBody>
      </p:sp>
      <p:sp>
        <p:nvSpPr>
          <p:cNvPr id="23" name="Shape 21"/>
          <p:cNvSpPr/>
          <p:nvPr/>
        </p:nvSpPr>
        <p:spPr>
          <a:xfrm>
            <a:off x="6400800" y="4700016"/>
            <a:ext cx="913448"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24" name="Text 22"/>
          <p:cNvSpPr/>
          <p:nvPr/>
        </p:nvSpPr>
        <p:spPr>
          <a:xfrm>
            <a:off x="6400800" y="4700016"/>
            <a:ext cx="913448"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쉼터 레이어</a:t>
            </a:r>
            <a:endParaRPr lang="en-US" sz="1050" dirty="0"/>
          </a:p>
        </p:txBody>
      </p:sp>
      <p:sp>
        <p:nvSpPr>
          <p:cNvPr id="25" name="Shape 23"/>
          <p:cNvSpPr/>
          <p:nvPr/>
        </p:nvSpPr>
        <p:spPr>
          <a:xfrm>
            <a:off x="7405688" y="4700016"/>
            <a:ext cx="1313498"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26" name="Text 24"/>
          <p:cNvSpPr/>
          <p:nvPr/>
        </p:nvSpPr>
        <p:spPr>
          <a:xfrm>
            <a:off x="7405688" y="4700016"/>
            <a:ext cx="1313498"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공공데이터 시각화</a:t>
            </a:r>
            <a:endParaRPr lang="en-US" sz="1050" dirty="0"/>
          </a:p>
        </p:txBody>
      </p:sp>
      <p:sp>
        <p:nvSpPr>
          <p:cNvPr id="27" name="Shape 25"/>
          <p:cNvSpPr/>
          <p:nvPr/>
        </p:nvSpPr>
        <p:spPr>
          <a:xfrm>
            <a:off x="8810625" y="4700016"/>
            <a:ext cx="1360170" cy="273368"/>
          </a:xfrm>
          <a:prstGeom prst="roundRect">
            <a:avLst>
              <a:gd name="adj" fmla="val 167247"/>
            </a:avLst>
          </a:prstGeom>
          <a:solidFill>
            <a:srgbClr val="E7EBF8"/>
          </a:solidFill>
          <a:ln w="12700">
            <a:solidFill>
              <a:srgbClr val="E7EBF8"/>
            </a:solidFill>
            <a:prstDash val="solid"/>
          </a:ln>
        </p:spPr>
        <p:txBody>
          <a:bodyPr/>
          <a:lstStyle/>
          <a:p>
            <a:endParaRPr lang="ko-KR" altLang="en-US"/>
          </a:p>
        </p:txBody>
      </p:sp>
      <p:sp>
        <p:nvSpPr>
          <p:cNvPr id="28" name="Text 26"/>
          <p:cNvSpPr/>
          <p:nvPr/>
        </p:nvSpPr>
        <p:spPr>
          <a:xfrm>
            <a:off x="8810625" y="4700016"/>
            <a:ext cx="1360170" cy="273368"/>
          </a:xfrm>
          <a:prstGeom prst="rect">
            <a:avLst/>
          </a:prstGeom>
          <a:noFill/>
          <a:ln/>
        </p:spPr>
        <p:txBody>
          <a:bodyPr wrap="square" lIns="0" tIns="0" rIns="0" bIns="0" rtlCol="0" anchor="ctr"/>
          <a:lstStyle/>
          <a:p>
            <a:pPr marL="0" indent="0" algn="ctr">
              <a:buNone/>
            </a:pPr>
            <a:r>
              <a:rPr lang="en-US" sz="1050" dirty="0">
                <a:solidFill>
                  <a:srgbClr val="001871"/>
                </a:solidFill>
                <a:latin typeface="맑은 고딕" pitchFamily="34" charset="0"/>
                <a:ea typeface="맑은 고딕" pitchFamily="34" charset="-122"/>
                <a:cs typeface="맑은 고딕" pitchFamily="34" charset="-120"/>
              </a:rPr>
              <a:t>어르신용 단순 지도</a:t>
            </a:r>
            <a:endParaRPr lang="en-US" sz="1050" dirty="0"/>
          </a:p>
        </p:txBody>
      </p:sp>
      <p:sp>
        <p:nvSpPr>
          <p:cNvPr id="30" name="Text 27"/>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1" name="Text 28"/>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03  </a:t>
            </a:r>
            <a:r>
              <a:rPr lang="ko-KR" altLang="en-US" sz="1200" b="1" kern="0" spc="140" dirty="0">
                <a:solidFill>
                  <a:srgbClr val="001871"/>
                </a:solidFill>
                <a:latin typeface="맑은 고딕" pitchFamily="34" charset="0"/>
                <a:ea typeface="맑은 고딕" pitchFamily="34" charset="-122"/>
                <a:cs typeface="맑은 고딕" pitchFamily="34" charset="-120"/>
              </a:rPr>
              <a:t>서비스 핵심 기능 설명 및 시연</a:t>
            </a:r>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춘천시 화면 — 폭염 취약 정류장 대시보드</a:t>
            </a:r>
            <a:endParaRPr lang="en-US" sz="3000" dirty="0"/>
          </a:p>
        </p:txBody>
      </p:sp>
      <p:sp>
        <p:nvSpPr>
          <p:cNvPr id="4" name="Text 2"/>
          <p:cNvSpPr/>
          <p:nvPr/>
        </p:nvSpPr>
        <p:spPr>
          <a:xfrm>
            <a:off x="566928" y="1225296"/>
            <a:ext cx="11064240" cy="292608"/>
          </a:xfrm>
          <a:prstGeom prst="rect">
            <a:avLst/>
          </a:prstGeom>
          <a:noFill/>
          <a:ln/>
        </p:spPr>
        <p:txBody>
          <a:bodyPr wrap="square" lIns="0" tIns="0" rIns="0" bIns="0" rtlCol="0" anchor="ctr"/>
          <a:lstStyle/>
          <a:p>
            <a:pPr marL="0" indent="0">
              <a:buNone/>
            </a:pPr>
            <a:r>
              <a:rPr lang="en-US" sz="1300" dirty="0">
                <a:solidFill>
                  <a:srgbClr val="6E7796"/>
                </a:solidFill>
                <a:latin typeface="맑은 고딕" pitchFamily="34" charset="0"/>
                <a:ea typeface="맑은 고딕" pitchFamily="34" charset="-122"/>
                <a:cs typeface="맑은 고딕" pitchFamily="34" charset="-120"/>
              </a:rPr>
              <a:t>그늘도 쉼터도 없는 정류장이 어디인지, 지도와 목록으로</a:t>
            </a:r>
            <a:endParaRPr lang="en-US" sz="1300" dirty="0"/>
          </a:p>
        </p:txBody>
      </p:sp>
      <p:sp>
        <p:nvSpPr>
          <p:cNvPr id="7" name="Shape 5"/>
          <p:cNvSpPr/>
          <p:nvPr/>
        </p:nvSpPr>
        <p:spPr>
          <a:xfrm>
            <a:off x="566928" y="1737360"/>
            <a:ext cx="7635240" cy="4279392"/>
          </a:xfrm>
          <a:prstGeom prst="roundRect">
            <a:avLst>
              <a:gd name="adj" fmla="val 1709"/>
            </a:avLst>
          </a:prstGeom>
          <a:solidFill>
            <a:srgbClr val="F4F6FC"/>
          </a:solidFill>
          <a:ln w="15875">
            <a:solidFill>
              <a:srgbClr val="001871"/>
            </a:solidFill>
            <a:prstDash val="dash"/>
          </a:ln>
        </p:spPr>
        <p:txBody>
          <a:bodyPr/>
          <a:lstStyle/>
          <a:p>
            <a:endParaRPr lang="ko-KR" altLang="en-US"/>
          </a:p>
        </p:txBody>
      </p:sp>
      <p:sp>
        <p:nvSpPr>
          <p:cNvPr id="8" name="Text 6"/>
          <p:cNvSpPr/>
          <p:nvPr/>
        </p:nvSpPr>
        <p:spPr>
          <a:xfrm>
            <a:off x="566928" y="3566160"/>
            <a:ext cx="7635240" cy="365760"/>
          </a:xfrm>
          <a:prstGeom prst="rect">
            <a:avLst/>
          </a:prstGeom>
          <a:noFill/>
          <a:ln/>
        </p:spPr>
        <p:txBody>
          <a:bodyPr wrap="square" lIns="0" tIns="0" rIns="0" bIns="0" rtlCol="0" anchor="ctr"/>
          <a:lstStyle/>
          <a:p>
            <a:pPr marL="0" indent="0" algn="ctr">
              <a:buNone/>
            </a:pPr>
            <a:r>
              <a:rPr lang="en-US" sz="1400" b="1" dirty="0">
                <a:solidFill>
                  <a:srgbClr val="2B44A8"/>
                </a:solidFill>
                <a:latin typeface="맑은 고딕" pitchFamily="34" charset="0"/>
                <a:ea typeface="맑은 고딕" pitchFamily="34" charset="-122"/>
                <a:cs typeface="맑은 고딕" pitchFamily="34" charset="-120"/>
              </a:rPr>
              <a:t>대시보드 화면 캡처 삽입 영역</a:t>
            </a:r>
            <a:endParaRPr lang="en-US" sz="1400" dirty="0"/>
          </a:p>
        </p:txBody>
      </p:sp>
      <p:sp>
        <p:nvSpPr>
          <p:cNvPr id="9" name="Text 7"/>
          <p:cNvSpPr/>
          <p:nvPr/>
        </p:nvSpPr>
        <p:spPr>
          <a:xfrm>
            <a:off x="566928" y="3913632"/>
            <a:ext cx="7635240" cy="310896"/>
          </a:xfrm>
          <a:prstGeom prst="rect">
            <a:avLst/>
          </a:prstGeom>
          <a:noFill/>
          <a:ln/>
        </p:spPr>
        <p:txBody>
          <a:bodyPr wrap="square" lIns="0" tIns="0" rIns="0" bIns="0" rtlCol="0" anchor="ctr"/>
          <a:lstStyle/>
          <a:p>
            <a:pPr marL="0" indent="0" algn="ctr">
              <a:buNone/>
            </a:pPr>
            <a:r>
              <a:rPr lang="en-US" sz="1050" dirty="0">
                <a:solidFill>
                  <a:srgbClr val="6E7796"/>
                </a:solidFill>
                <a:latin typeface="맑은 고딕" pitchFamily="34" charset="0"/>
                <a:ea typeface="맑은 고딕" pitchFamily="34" charset="-122"/>
                <a:cs typeface="맑은 고딕" pitchFamily="34" charset="-120"/>
              </a:rPr>
              <a:t>/gov  ·  데스크톱 전체 화면 캡처 권장</a:t>
            </a:r>
            <a:endParaRPr lang="en-US" sz="1050" dirty="0"/>
          </a:p>
        </p:txBody>
      </p:sp>
      <p:sp>
        <p:nvSpPr>
          <p:cNvPr id="10" name="Shape 8"/>
          <p:cNvSpPr/>
          <p:nvPr/>
        </p:nvSpPr>
        <p:spPr>
          <a:xfrm>
            <a:off x="8485632" y="1737360"/>
            <a:ext cx="3145536" cy="512064"/>
          </a:xfrm>
          <a:prstGeom prst="roundRect">
            <a:avLst>
              <a:gd name="adj" fmla="val 7143"/>
            </a:avLst>
          </a:prstGeom>
          <a:solidFill>
            <a:srgbClr val="FCEEE0"/>
          </a:solidFill>
          <a:ln w="12700">
            <a:solidFill>
              <a:srgbClr val="F2C99E"/>
            </a:solidFill>
            <a:prstDash val="solid"/>
          </a:ln>
        </p:spPr>
        <p:txBody>
          <a:bodyPr/>
          <a:lstStyle/>
          <a:p>
            <a:endParaRPr lang="ko-KR" altLang="en-US" dirty="0"/>
          </a:p>
        </p:txBody>
      </p:sp>
      <p:sp>
        <p:nvSpPr>
          <p:cNvPr id="11" name="Text 9"/>
          <p:cNvSpPr/>
          <p:nvPr/>
        </p:nvSpPr>
        <p:spPr>
          <a:xfrm>
            <a:off x="8650224" y="1737360"/>
            <a:ext cx="1920240" cy="512064"/>
          </a:xfrm>
          <a:prstGeom prst="rect">
            <a:avLst/>
          </a:prstGeom>
          <a:noFill/>
          <a:ln/>
        </p:spPr>
        <p:txBody>
          <a:bodyPr wrap="square" lIns="0" tIns="0" rIns="0" bIns="0" rtlCol="0" anchor="ctr"/>
          <a:lstStyle/>
          <a:p>
            <a:pPr marL="0" indent="0">
              <a:buNone/>
            </a:pPr>
            <a:r>
              <a:rPr lang="en-US" sz="1300" b="1" dirty="0" err="1">
                <a:solidFill>
                  <a:srgbClr val="E8751A"/>
                </a:solidFill>
                <a:latin typeface="맑은 고딕" pitchFamily="34" charset="0"/>
                <a:ea typeface="맑은 고딕" pitchFamily="34" charset="-122"/>
                <a:cs typeface="맑은 고딕" pitchFamily="34" charset="-120"/>
              </a:rPr>
              <a:t>폭염</a:t>
            </a:r>
            <a:r>
              <a:rPr lang="en-US" sz="1300" b="1" dirty="0">
                <a:solidFill>
                  <a:srgbClr val="E8751A"/>
                </a:solidFill>
                <a:latin typeface="맑은 고딕" pitchFamily="34" charset="0"/>
                <a:ea typeface="맑은 고딕" pitchFamily="34" charset="-122"/>
                <a:cs typeface="맑은 고딕" pitchFamily="34" charset="-120"/>
              </a:rPr>
              <a:t> </a:t>
            </a:r>
            <a:r>
              <a:rPr lang="en-US" sz="1300" b="1" dirty="0" err="1">
                <a:solidFill>
                  <a:srgbClr val="E8751A"/>
                </a:solidFill>
                <a:latin typeface="맑은 고딕" pitchFamily="34" charset="0"/>
                <a:ea typeface="맑은 고딕" pitchFamily="34" charset="-122"/>
                <a:cs typeface="맑은 고딕" pitchFamily="34" charset="-120"/>
              </a:rPr>
              <a:t>취약</a:t>
            </a:r>
            <a:r>
              <a:rPr lang="en-US" sz="1300" b="1" dirty="0">
                <a:solidFill>
                  <a:srgbClr val="E8751A"/>
                </a:solidFill>
                <a:latin typeface="맑은 고딕" pitchFamily="34" charset="0"/>
                <a:ea typeface="맑은 고딕" pitchFamily="34" charset="-122"/>
                <a:cs typeface="맑은 고딕" pitchFamily="34" charset="-120"/>
              </a:rPr>
              <a:t> </a:t>
            </a:r>
            <a:r>
              <a:rPr lang="en-US" sz="1300" b="1" dirty="0" err="1">
                <a:solidFill>
                  <a:srgbClr val="E8751A"/>
                </a:solidFill>
                <a:latin typeface="맑은 고딕" pitchFamily="34" charset="0"/>
                <a:ea typeface="맑은 고딕" pitchFamily="34" charset="-122"/>
                <a:cs typeface="맑은 고딕" pitchFamily="34" charset="-120"/>
              </a:rPr>
              <a:t>정류장</a:t>
            </a:r>
            <a:endParaRPr lang="en-US" sz="1300" dirty="0"/>
          </a:p>
        </p:txBody>
      </p:sp>
      <p:sp>
        <p:nvSpPr>
          <p:cNvPr id="12" name="Text 10"/>
          <p:cNvSpPr/>
          <p:nvPr/>
        </p:nvSpPr>
        <p:spPr>
          <a:xfrm>
            <a:off x="10058400" y="1737360"/>
            <a:ext cx="1417320" cy="512064"/>
          </a:xfrm>
          <a:prstGeom prst="rect">
            <a:avLst/>
          </a:prstGeom>
          <a:noFill/>
          <a:ln/>
        </p:spPr>
        <p:txBody>
          <a:bodyPr wrap="square" lIns="0" tIns="0" rIns="0" bIns="0" rtlCol="0" anchor="ctr"/>
          <a:lstStyle/>
          <a:p>
            <a:pPr marL="0" indent="0" algn="r">
              <a:buNone/>
            </a:pPr>
            <a:r>
              <a:rPr lang="en-US" sz="1300" b="1" dirty="0">
                <a:solidFill>
                  <a:srgbClr val="E8751A"/>
                </a:solidFill>
                <a:latin typeface="맑은 고딕" pitchFamily="34" charset="0"/>
                <a:ea typeface="맑은 고딕" pitchFamily="34" charset="-122"/>
                <a:cs typeface="맑은 고딕" pitchFamily="34" charset="-120"/>
              </a:rPr>
              <a:t>규칙 산출</a:t>
            </a:r>
            <a:endParaRPr lang="en-US" sz="1300" dirty="0"/>
          </a:p>
        </p:txBody>
      </p:sp>
      <p:sp>
        <p:nvSpPr>
          <p:cNvPr id="13" name="Shape 11"/>
          <p:cNvSpPr/>
          <p:nvPr/>
        </p:nvSpPr>
        <p:spPr>
          <a:xfrm>
            <a:off x="8485632" y="2340864"/>
            <a:ext cx="3145536" cy="512064"/>
          </a:xfrm>
          <a:prstGeom prst="roundRect">
            <a:avLst>
              <a:gd name="adj" fmla="val 7143"/>
            </a:avLst>
          </a:prstGeom>
          <a:solidFill>
            <a:srgbClr val="F4F6FC"/>
          </a:solidFill>
          <a:ln w="12700">
            <a:solidFill>
              <a:srgbClr val="D4DAEE"/>
            </a:solidFill>
            <a:prstDash val="solid"/>
          </a:ln>
        </p:spPr>
        <p:txBody>
          <a:bodyPr/>
          <a:lstStyle/>
          <a:p>
            <a:endParaRPr lang="ko-KR" altLang="en-US"/>
          </a:p>
        </p:txBody>
      </p:sp>
      <p:sp>
        <p:nvSpPr>
          <p:cNvPr id="14" name="Text 12"/>
          <p:cNvSpPr/>
          <p:nvPr/>
        </p:nvSpPr>
        <p:spPr>
          <a:xfrm>
            <a:off x="8650224" y="2340864"/>
            <a:ext cx="1920240" cy="512064"/>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전체 정류장</a:t>
            </a:r>
            <a:endParaRPr lang="en-US" sz="1100" dirty="0"/>
          </a:p>
        </p:txBody>
      </p:sp>
      <p:sp>
        <p:nvSpPr>
          <p:cNvPr id="15" name="Text 13"/>
          <p:cNvSpPr/>
          <p:nvPr/>
        </p:nvSpPr>
        <p:spPr>
          <a:xfrm>
            <a:off x="10058400" y="2340864"/>
            <a:ext cx="1417320" cy="512064"/>
          </a:xfrm>
          <a:prstGeom prst="rect">
            <a:avLst/>
          </a:prstGeom>
          <a:noFill/>
          <a:ln/>
        </p:spPr>
        <p:txBody>
          <a:bodyPr wrap="square" lIns="0" tIns="0" rIns="0" bIns="0" rtlCol="0" anchor="ctr"/>
          <a:lstStyle/>
          <a:p>
            <a:pPr marL="0" indent="0" algn="r">
              <a:buNone/>
            </a:pPr>
            <a:r>
              <a:rPr lang="en-US" sz="1300" b="1" dirty="0">
                <a:solidFill>
                  <a:srgbClr val="001871"/>
                </a:solidFill>
                <a:latin typeface="맑은 고딕" pitchFamily="34" charset="0"/>
                <a:ea typeface="맑은 고딕" pitchFamily="34" charset="-122"/>
                <a:cs typeface="맑은 고딕" pitchFamily="34" charset="-120"/>
              </a:rPr>
              <a:t>1,890</a:t>
            </a:r>
            <a:endParaRPr lang="en-US" sz="1300" dirty="0"/>
          </a:p>
        </p:txBody>
      </p:sp>
      <p:sp>
        <p:nvSpPr>
          <p:cNvPr id="16" name="Shape 14"/>
          <p:cNvSpPr/>
          <p:nvPr/>
        </p:nvSpPr>
        <p:spPr>
          <a:xfrm>
            <a:off x="8485632" y="2944368"/>
            <a:ext cx="3145536" cy="512064"/>
          </a:xfrm>
          <a:prstGeom prst="roundRect">
            <a:avLst>
              <a:gd name="adj" fmla="val 7143"/>
            </a:avLst>
          </a:prstGeom>
          <a:solidFill>
            <a:srgbClr val="F4F6FC"/>
          </a:solidFill>
          <a:ln w="12700">
            <a:solidFill>
              <a:srgbClr val="D4DAEE"/>
            </a:solidFill>
            <a:prstDash val="solid"/>
          </a:ln>
        </p:spPr>
        <p:txBody>
          <a:bodyPr/>
          <a:lstStyle/>
          <a:p>
            <a:endParaRPr lang="ko-KR" altLang="en-US"/>
          </a:p>
        </p:txBody>
      </p:sp>
      <p:sp>
        <p:nvSpPr>
          <p:cNvPr id="17" name="Text 15"/>
          <p:cNvSpPr/>
          <p:nvPr/>
        </p:nvSpPr>
        <p:spPr>
          <a:xfrm>
            <a:off x="8650224" y="2944368"/>
            <a:ext cx="1920240" cy="512064"/>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시설 미확인</a:t>
            </a:r>
            <a:endParaRPr lang="en-US" sz="1100" dirty="0"/>
          </a:p>
        </p:txBody>
      </p:sp>
      <p:sp>
        <p:nvSpPr>
          <p:cNvPr id="18" name="Text 16"/>
          <p:cNvSpPr/>
          <p:nvPr/>
        </p:nvSpPr>
        <p:spPr>
          <a:xfrm>
            <a:off x="10058400" y="2944368"/>
            <a:ext cx="1417320" cy="512064"/>
          </a:xfrm>
          <a:prstGeom prst="rect">
            <a:avLst/>
          </a:prstGeom>
          <a:noFill/>
          <a:ln/>
        </p:spPr>
        <p:txBody>
          <a:bodyPr wrap="square" lIns="0" tIns="0" rIns="0" bIns="0" rtlCol="0" anchor="ctr"/>
          <a:lstStyle/>
          <a:p>
            <a:pPr marL="0" indent="0" algn="r">
              <a:buNone/>
            </a:pPr>
            <a:r>
              <a:rPr lang="en-US" sz="1300" b="1" dirty="0">
                <a:solidFill>
                  <a:srgbClr val="001871"/>
                </a:solidFill>
                <a:latin typeface="맑은 고딕" pitchFamily="34" charset="0"/>
                <a:ea typeface="맑은 고딕" pitchFamily="34" charset="-122"/>
                <a:cs typeface="맑은 고딕" pitchFamily="34" charset="-120"/>
              </a:rPr>
              <a:t>1,727</a:t>
            </a:r>
            <a:endParaRPr lang="en-US" sz="1300" dirty="0"/>
          </a:p>
        </p:txBody>
      </p:sp>
      <p:sp>
        <p:nvSpPr>
          <p:cNvPr id="19" name="Shape 17"/>
          <p:cNvSpPr/>
          <p:nvPr/>
        </p:nvSpPr>
        <p:spPr>
          <a:xfrm>
            <a:off x="8485632" y="3547872"/>
            <a:ext cx="3145536" cy="512064"/>
          </a:xfrm>
          <a:prstGeom prst="roundRect">
            <a:avLst>
              <a:gd name="adj" fmla="val 7143"/>
            </a:avLst>
          </a:prstGeom>
          <a:solidFill>
            <a:srgbClr val="F4F6FC"/>
          </a:solidFill>
          <a:ln w="12700">
            <a:solidFill>
              <a:srgbClr val="D4DAEE"/>
            </a:solidFill>
            <a:prstDash val="solid"/>
          </a:ln>
        </p:spPr>
        <p:txBody>
          <a:bodyPr/>
          <a:lstStyle/>
          <a:p>
            <a:endParaRPr lang="ko-KR" altLang="en-US"/>
          </a:p>
        </p:txBody>
      </p:sp>
      <p:sp>
        <p:nvSpPr>
          <p:cNvPr id="20" name="Text 18"/>
          <p:cNvSpPr/>
          <p:nvPr/>
        </p:nvSpPr>
        <p:spPr>
          <a:xfrm>
            <a:off x="8650224" y="3547872"/>
            <a:ext cx="1920240" cy="512064"/>
          </a:xfrm>
          <a:prstGeom prst="rect">
            <a:avLst/>
          </a:prstGeom>
          <a:noFill/>
          <a:ln/>
        </p:spPr>
        <p:txBody>
          <a:bodyPr wrap="square" lIns="0" tIns="0" rIns="0" bIns="0" rtlCol="0" anchor="ctr"/>
          <a:lstStyle/>
          <a:p>
            <a:pPr marL="0" indent="0">
              <a:buNone/>
            </a:pPr>
            <a:r>
              <a:rPr lang="en-US" sz="1100" dirty="0">
                <a:solidFill>
                  <a:srgbClr val="39415E"/>
                </a:solidFill>
                <a:latin typeface="맑은 고딕" pitchFamily="34" charset="0"/>
                <a:ea typeface="맑은 고딕" pitchFamily="34" charset="-122"/>
                <a:cs typeface="맑은 고딕" pitchFamily="34" charset="-120"/>
              </a:rPr>
              <a:t>시민 제보</a:t>
            </a:r>
            <a:endParaRPr lang="en-US" sz="1100" dirty="0"/>
          </a:p>
        </p:txBody>
      </p:sp>
      <p:sp>
        <p:nvSpPr>
          <p:cNvPr id="21" name="Text 19"/>
          <p:cNvSpPr/>
          <p:nvPr/>
        </p:nvSpPr>
        <p:spPr>
          <a:xfrm>
            <a:off x="10058400" y="3547872"/>
            <a:ext cx="1417320" cy="512064"/>
          </a:xfrm>
          <a:prstGeom prst="rect">
            <a:avLst/>
          </a:prstGeom>
          <a:noFill/>
          <a:ln/>
        </p:spPr>
        <p:txBody>
          <a:bodyPr wrap="square" lIns="0" tIns="0" rIns="0" bIns="0" rtlCol="0" anchor="ctr"/>
          <a:lstStyle/>
          <a:p>
            <a:pPr marL="0" indent="0" algn="r">
              <a:buNone/>
            </a:pPr>
            <a:r>
              <a:rPr lang="en-US" sz="1300" b="1" dirty="0">
                <a:solidFill>
                  <a:srgbClr val="001871"/>
                </a:solidFill>
                <a:latin typeface="맑은 고딕" pitchFamily="34" charset="0"/>
                <a:ea typeface="맑은 고딕" pitchFamily="34" charset="-122"/>
                <a:cs typeface="맑은 고딕" pitchFamily="34" charset="-120"/>
              </a:rPr>
              <a:t>실시간</a:t>
            </a:r>
            <a:endParaRPr lang="en-US" sz="1300" dirty="0"/>
          </a:p>
        </p:txBody>
      </p:sp>
      <p:sp>
        <p:nvSpPr>
          <p:cNvPr id="22" name="Text 20"/>
          <p:cNvSpPr/>
          <p:nvPr/>
        </p:nvSpPr>
        <p:spPr>
          <a:xfrm>
            <a:off x="8485632" y="4224528"/>
            <a:ext cx="3145536" cy="310896"/>
          </a:xfrm>
          <a:prstGeom prst="rect">
            <a:avLst/>
          </a:prstGeom>
          <a:noFill/>
          <a:ln/>
        </p:spPr>
        <p:txBody>
          <a:bodyPr wrap="square" lIns="0" tIns="0" rIns="0" bIns="0" rtlCol="0" anchor="ctr"/>
          <a:lstStyle/>
          <a:p>
            <a:pPr marL="0" indent="0">
              <a:buNone/>
            </a:pPr>
            <a:r>
              <a:rPr lang="en-US" sz="1500" b="1" dirty="0">
                <a:solidFill>
                  <a:srgbClr val="141B33"/>
                </a:solidFill>
                <a:latin typeface="맑은 고딕" pitchFamily="34" charset="0"/>
                <a:ea typeface="맑은 고딕" pitchFamily="34" charset="-122"/>
                <a:cs typeface="맑은 고딕" pitchFamily="34" charset="-120"/>
              </a:rPr>
              <a:t>보여드릴 것</a:t>
            </a:r>
            <a:endParaRPr lang="en-US" sz="1500" dirty="0"/>
          </a:p>
        </p:txBody>
      </p:sp>
      <p:sp>
        <p:nvSpPr>
          <p:cNvPr id="23" name="Text 21"/>
          <p:cNvSpPr/>
          <p:nvPr/>
        </p:nvSpPr>
        <p:spPr>
          <a:xfrm>
            <a:off x="8485632" y="462686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4" name="Text 22"/>
          <p:cNvSpPr/>
          <p:nvPr/>
        </p:nvSpPr>
        <p:spPr>
          <a:xfrm>
            <a:off x="8650224" y="4626864"/>
            <a:ext cx="2980944"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취약 정류장을 지도 레이어로 확인</a:t>
            </a:r>
            <a:endParaRPr lang="en-US" sz="1150" dirty="0"/>
          </a:p>
        </p:txBody>
      </p:sp>
      <p:sp>
        <p:nvSpPr>
          <p:cNvPr id="25" name="Text 23"/>
          <p:cNvSpPr/>
          <p:nvPr/>
        </p:nvSpPr>
        <p:spPr>
          <a:xfrm>
            <a:off x="8485632" y="517550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6" name="Text 24"/>
          <p:cNvSpPr/>
          <p:nvPr/>
        </p:nvSpPr>
        <p:spPr>
          <a:xfrm>
            <a:off x="8650224" y="5175504"/>
            <a:ext cx="2980944"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시민 제보가 들어오면 피드에 실시간 등장</a:t>
            </a:r>
            <a:endParaRPr lang="en-US" sz="1150" dirty="0"/>
          </a:p>
        </p:txBody>
      </p:sp>
      <p:sp>
        <p:nvSpPr>
          <p:cNvPr id="27" name="Text 25"/>
          <p:cNvSpPr/>
          <p:nvPr/>
        </p:nvSpPr>
        <p:spPr>
          <a:xfrm>
            <a:off x="8485632" y="572414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8" name="Text 26"/>
          <p:cNvSpPr/>
          <p:nvPr/>
        </p:nvSpPr>
        <p:spPr>
          <a:xfrm>
            <a:off x="8650224" y="5724144"/>
            <a:ext cx="2980944"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판독이 반영되면 취약 목록이 자동 갱신</a:t>
            </a:r>
            <a:endParaRPr lang="en-US" sz="1150" dirty="0"/>
          </a:p>
        </p:txBody>
      </p:sp>
      <p:sp>
        <p:nvSpPr>
          <p:cNvPr id="30" name="Text 27"/>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1" name="Text 28"/>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r>
              <a:rPr lang="en-US" altLang="ko-KR" sz="1200" b="1" kern="0" spc="140" dirty="0">
                <a:solidFill>
                  <a:srgbClr val="001871"/>
                </a:solidFill>
                <a:latin typeface="맑은 고딕" pitchFamily="34" charset="0"/>
                <a:ea typeface="맑은 고딕" pitchFamily="34" charset="-122"/>
                <a:cs typeface="맑은 고딕" pitchFamily="34" charset="-120"/>
              </a:rPr>
              <a:t>03  </a:t>
            </a:r>
            <a:r>
              <a:rPr lang="ko-KR" altLang="en-US" sz="1200" b="1" kern="0" spc="140" dirty="0">
                <a:solidFill>
                  <a:srgbClr val="001871"/>
                </a:solidFill>
                <a:latin typeface="맑은 고딕" pitchFamily="34" charset="0"/>
                <a:ea typeface="맑은 고딕" pitchFamily="34" charset="-122"/>
                <a:cs typeface="맑은 고딕" pitchFamily="34" charset="-120"/>
              </a:rPr>
              <a:t>서비스 핵심 기능 설명 및 시연</a:t>
            </a:r>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추가 화면 / 시연 영상 캡처</a:t>
            </a:r>
            <a:endParaRPr lang="en-US" sz="3000" dirty="0"/>
          </a:p>
        </p:txBody>
      </p:sp>
      <p:sp>
        <p:nvSpPr>
          <p:cNvPr id="4" name="Text 2"/>
          <p:cNvSpPr/>
          <p:nvPr/>
        </p:nvSpPr>
        <p:spPr>
          <a:xfrm>
            <a:off x="566928" y="1225296"/>
            <a:ext cx="11064240" cy="292608"/>
          </a:xfrm>
          <a:prstGeom prst="rect">
            <a:avLst/>
          </a:prstGeom>
          <a:noFill/>
          <a:ln/>
        </p:spPr>
        <p:txBody>
          <a:bodyPr wrap="square" lIns="0" tIns="0" rIns="0" bIns="0" rtlCol="0" anchor="ctr"/>
          <a:lstStyle/>
          <a:p>
            <a:pPr marL="0" indent="0">
              <a:buNone/>
            </a:pPr>
            <a:r>
              <a:rPr lang="en-US" sz="1300" dirty="0">
                <a:solidFill>
                  <a:srgbClr val="6E7796"/>
                </a:solidFill>
                <a:latin typeface="맑은 고딕" pitchFamily="34" charset="0"/>
                <a:ea typeface="맑은 고딕" pitchFamily="34" charset="-122"/>
                <a:cs typeface="맑은 고딕" pitchFamily="34" charset="-120"/>
              </a:rPr>
              <a:t>이 장은 시연 자료를 추가로 붙이기 위한 여유 페이지입니다 (필요 없으면 삭제)</a:t>
            </a:r>
            <a:endParaRPr lang="en-US" sz="1300" dirty="0"/>
          </a:p>
        </p:txBody>
      </p:sp>
      <p:sp>
        <p:nvSpPr>
          <p:cNvPr id="7" name="Shape 5"/>
          <p:cNvSpPr/>
          <p:nvPr/>
        </p:nvSpPr>
        <p:spPr>
          <a:xfrm>
            <a:off x="566928" y="1773936"/>
            <a:ext cx="5358384" cy="3657600"/>
          </a:xfrm>
          <a:prstGeom prst="roundRect">
            <a:avLst>
              <a:gd name="adj" fmla="val 2000"/>
            </a:avLst>
          </a:prstGeom>
          <a:solidFill>
            <a:srgbClr val="F4F6FC"/>
          </a:solidFill>
          <a:ln w="15875">
            <a:solidFill>
              <a:srgbClr val="001871"/>
            </a:solidFill>
            <a:prstDash val="dash"/>
          </a:ln>
        </p:spPr>
        <p:txBody>
          <a:bodyPr/>
          <a:lstStyle/>
          <a:p>
            <a:endParaRPr lang="ko-KR" altLang="en-US"/>
          </a:p>
        </p:txBody>
      </p:sp>
      <p:sp>
        <p:nvSpPr>
          <p:cNvPr id="8" name="Text 6"/>
          <p:cNvSpPr/>
          <p:nvPr/>
        </p:nvSpPr>
        <p:spPr>
          <a:xfrm>
            <a:off x="566928" y="3291840"/>
            <a:ext cx="5358384" cy="365760"/>
          </a:xfrm>
          <a:prstGeom prst="rect">
            <a:avLst/>
          </a:prstGeom>
          <a:noFill/>
          <a:ln/>
        </p:spPr>
        <p:txBody>
          <a:bodyPr wrap="square" lIns="0" tIns="0" rIns="0" bIns="0" rtlCol="0" anchor="ctr"/>
          <a:lstStyle/>
          <a:p>
            <a:pPr marL="0" indent="0" algn="ctr">
              <a:buNone/>
            </a:pPr>
            <a:r>
              <a:rPr lang="en-US" sz="1300" b="1" dirty="0">
                <a:solidFill>
                  <a:srgbClr val="2B44A8"/>
                </a:solidFill>
                <a:latin typeface="맑은 고딕" pitchFamily="34" charset="0"/>
                <a:ea typeface="맑은 고딕" pitchFamily="34" charset="-122"/>
                <a:cs typeface="맑은 고딕" pitchFamily="34" charset="-120"/>
              </a:rPr>
              <a:t>화면 캡처 삽입 영역</a:t>
            </a:r>
            <a:endParaRPr lang="en-US" sz="1300" dirty="0"/>
          </a:p>
        </p:txBody>
      </p:sp>
      <p:sp>
        <p:nvSpPr>
          <p:cNvPr id="9" name="Text 7"/>
          <p:cNvSpPr/>
          <p:nvPr/>
        </p:nvSpPr>
        <p:spPr>
          <a:xfrm>
            <a:off x="566928" y="3639312"/>
            <a:ext cx="5358384" cy="292608"/>
          </a:xfrm>
          <a:prstGeom prst="rect">
            <a:avLst/>
          </a:prstGeom>
          <a:noFill/>
          <a:ln/>
        </p:spPr>
        <p:txBody>
          <a:bodyPr wrap="square" lIns="0" tIns="0" rIns="0" bIns="0" rtlCol="0" anchor="ctr"/>
          <a:lstStyle/>
          <a:p>
            <a:pPr marL="0" indent="0" algn="ctr">
              <a:buNone/>
            </a:pPr>
            <a:r>
              <a:rPr lang="en-US" sz="1050" dirty="0">
                <a:solidFill>
                  <a:srgbClr val="6E7796"/>
                </a:solidFill>
                <a:latin typeface="맑은 고딕" pitchFamily="34" charset="0"/>
                <a:ea typeface="맑은 고딕" pitchFamily="34" charset="-122"/>
                <a:cs typeface="맑은 고딕" pitchFamily="34" charset="-120"/>
              </a:rPr>
              <a:t>① 추가 화면</a:t>
            </a:r>
            <a:endParaRPr lang="en-US" sz="1050" dirty="0"/>
          </a:p>
        </p:txBody>
      </p:sp>
      <p:sp>
        <p:nvSpPr>
          <p:cNvPr id="10" name="Shape 8"/>
          <p:cNvSpPr/>
          <p:nvPr/>
        </p:nvSpPr>
        <p:spPr>
          <a:xfrm>
            <a:off x="6272784" y="1773936"/>
            <a:ext cx="5358384" cy="3657600"/>
          </a:xfrm>
          <a:prstGeom prst="roundRect">
            <a:avLst>
              <a:gd name="adj" fmla="val 2000"/>
            </a:avLst>
          </a:prstGeom>
          <a:solidFill>
            <a:srgbClr val="F4F6FC"/>
          </a:solidFill>
          <a:ln w="15875">
            <a:solidFill>
              <a:srgbClr val="001871"/>
            </a:solidFill>
            <a:prstDash val="dash"/>
          </a:ln>
        </p:spPr>
        <p:txBody>
          <a:bodyPr/>
          <a:lstStyle/>
          <a:p>
            <a:endParaRPr lang="ko-KR" altLang="en-US"/>
          </a:p>
        </p:txBody>
      </p:sp>
      <p:sp>
        <p:nvSpPr>
          <p:cNvPr id="11" name="Text 9"/>
          <p:cNvSpPr/>
          <p:nvPr/>
        </p:nvSpPr>
        <p:spPr>
          <a:xfrm>
            <a:off x="6272784" y="3291840"/>
            <a:ext cx="5358384" cy="365760"/>
          </a:xfrm>
          <a:prstGeom prst="rect">
            <a:avLst/>
          </a:prstGeom>
          <a:noFill/>
          <a:ln/>
        </p:spPr>
        <p:txBody>
          <a:bodyPr wrap="square" lIns="0" tIns="0" rIns="0" bIns="0" rtlCol="0" anchor="ctr"/>
          <a:lstStyle/>
          <a:p>
            <a:pPr marL="0" indent="0" algn="ctr">
              <a:buNone/>
            </a:pPr>
            <a:r>
              <a:rPr lang="en-US" sz="1300" b="1" dirty="0">
                <a:solidFill>
                  <a:srgbClr val="2B44A8"/>
                </a:solidFill>
                <a:latin typeface="맑은 고딕" pitchFamily="34" charset="0"/>
                <a:ea typeface="맑은 고딕" pitchFamily="34" charset="-122"/>
                <a:cs typeface="맑은 고딕" pitchFamily="34" charset="-120"/>
              </a:rPr>
              <a:t>화면 캡처 삽입 영역</a:t>
            </a:r>
            <a:endParaRPr lang="en-US" sz="1300" dirty="0"/>
          </a:p>
        </p:txBody>
      </p:sp>
      <p:sp>
        <p:nvSpPr>
          <p:cNvPr id="12" name="Text 10"/>
          <p:cNvSpPr/>
          <p:nvPr/>
        </p:nvSpPr>
        <p:spPr>
          <a:xfrm>
            <a:off x="6272784" y="3639312"/>
            <a:ext cx="5358384" cy="292608"/>
          </a:xfrm>
          <a:prstGeom prst="rect">
            <a:avLst/>
          </a:prstGeom>
          <a:noFill/>
          <a:ln/>
        </p:spPr>
        <p:txBody>
          <a:bodyPr wrap="square" lIns="0" tIns="0" rIns="0" bIns="0" rtlCol="0" anchor="ctr"/>
          <a:lstStyle/>
          <a:p>
            <a:pPr marL="0" indent="0" algn="ctr">
              <a:buNone/>
            </a:pPr>
            <a:r>
              <a:rPr lang="en-US" sz="1050" dirty="0">
                <a:solidFill>
                  <a:srgbClr val="6E7796"/>
                </a:solidFill>
                <a:latin typeface="맑은 고딕" pitchFamily="34" charset="0"/>
                <a:ea typeface="맑은 고딕" pitchFamily="34" charset="-122"/>
                <a:cs typeface="맑은 고딕" pitchFamily="34" charset="-120"/>
              </a:rPr>
              <a:t>② 추가 화면</a:t>
            </a:r>
            <a:endParaRPr lang="en-US" sz="1050" dirty="0"/>
          </a:p>
        </p:txBody>
      </p:sp>
      <p:sp>
        <p:nvSpPr>
          <p:cNvPr id="13" name="Text 11"/>
          <p:cNvSpPr/>
          <p:nvPr/>
        </p:nvSpPr>
        <p:spPr>
          <a:xfrm>
            <a:off x="566928" y="5596128"/>
            <a:ext cx="11064240" cy="310896"/>
          </a:xfrm>
          <a:prstGeom prst="rect">
            <a:avLst/>
          </a:prstGeom>
          <a:noFill/>
          <a:ln/>
        </p:spPr>
        <p:txBody>
          <a:bodyPr wrap="square" lIns="0" tIns="0" rIns="0" bIns="0" rtlCol="0" anchor="ctr"/>
          <a:lstStyle/>
          <a:p>
            <a:pPr marL="0" indent="0">
              <a:buNone/>
            </a:pPr>
            <a:r>
              <a:rPr lang="en-US" sz="1100" dirty="0">
                <a:solidFill>
                  <a:srgbClr val="6E7796"/>
                </a:solidFill>
                <a:latin typeface="맑은 고딕" pitchFamily="34" charset="0"/>
                <a:ea typeface="맑은 고딕" pitchFamily="34" charset="-122"/>
                <a:cs typeface="맑은 고딕" pitchFamily="34" charset="-120"/>
              </a:rPr>
              <a:t>예) 저장한 정류장 · /gov/reports 제보 목록 · 시연 영상 스틸컷 · QR 진입 장면</a:t>
            </a:r>
            <a:endParaRPr lang="en-US" sz="1100" dirty="0"/>
          </a:p>
        </p:txBody>
      </p:sp>
      <p:sp>
        <p:nvSpPr>
          <p:cNvPr id="15" name="Text 12"/>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6" name="Text 13"/>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04  </a:t>
            </a:r>
            <a:r>
              <a:rPr lang="en-US" sz="1200" b="1" kern="0" spc="140" dirty="0" err="1">
                <a:solidFill>
                  <a:srgbClr val="001871"/>
                </a:solidFill>
                <a:latin typeface="맑은 고딕" pitchFamily="34" charset="0"/>
                <a:ea typeface="맑은 고딕" pitchFamily="34" charset="-122"/>
                <a:cs typeface="맑은 고딕" pitchFamily="34" charset="-120"/>
              </a:rPr>
              <a:t>사용자</a:t>
            </a:r>
            <a:r>
              <a:rPr lang="en-US" sz="1200" b="1" kern="0" spc="140" dirty="0">
                <a:solidFill>
                  <a:srgbClr val="001871"/>
                </a:solidFill>
                <a:latin typeface="맑은 고딕" pitchFamily="34" charset="0"/>
                <a:ea typeface="맑은 고딕" pitchFamily="34" charset="-122"/>
                <a:cs typeface="맑은 고딕" pitchFamily="34" charset="-120"/>
              </a:rPr>
              <a:t> </a:t>
            </a:r>
            <a:r>
              <a:rPr lang="ko-KR" altLang="en-US" sz="1200" b="1" kern="0" spc="140" dirty="0">
                <a:solidFill>
                  <a:srgbClr val="001871"/>
                </a:solidFill>
                <a:latin typeface="맑은 고딕" pitchFamily="34" charset="0"/>
                <a:ea typeface="맑은 고딕" pitchFamily="34" charset="-122"/>
                <a:cs typeface="맑은 고딕" pitchFamily="34" charset="-120"/>
              </a:rPr>
              <a:t>예상</a:t>
            </a:r>
            <a:r>
              <a:rPr lang="en-US" sz="1200" b="1" kern="0" spc="140" dirty="0">
                <a:solidFill>
                  <a:srgbClr val="001871"/>
                </a:solidFill>
                <a:latin typeface="맑은 고딕" pitchFamily="34" charset="0"/>
                <a:ea typeface="맑은 고딕" pitchFamily="34" charset="-122"/>
                <a:cs typeface="맑은 고딕" pitchFamily="34" charset="-120"/>
              </a:rPr>
              <a:t> 시나리오</a:t>
            </a:r>
            <a:endParaRPr lang="en-US" sz="1200" dirty="0"/>
          </a:p>
        </p:txBody>
      </p:sp>
      <p:sp>
        <p:nvSpPr>
          <p:cNvPr id="3" name="Text 1"/>
          <p:cNvSpPr/>
          <p:nvPr/>
        </p:nvSpPr>
        <p:spPr>
          <a:xfrm>
            <a:off x="566928" y="859536"/>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시나리오 ① 폭염특보가 내린 오후 2시</a:t>
            </a:r>
            <a:r>
              <a:rPr lang="ko-KR" altLang="en-US" sz="3000" b="1" dirty="0">
                <a:solidFill>
                  <a:srgbClr val="141B33"/>
                </a:solidFill>
                <a:latin typeface="맑은 고딕" pitchFamily="34" charset="0"/>
                <a:ea typeface="맑은 고딕" pitchFamily="34" charset="-122"/>
                <a:cs typeface="맑은 고딕" pitchFamily="34" charset="-120"/>
              </a:rPr>
              <a:t>에 외출한 </a:t>
            </a:r>
            <a:r>
              <a:rPr lang="en-US" sz="3000" b="1" dirty="0" err="1">
                <a:solidFill>
                  <a:srgbClr val="141B33"/>
                </a:solidFill>
                <a:latin typeface="맑은 고딕" pitchFamily="34" charset="0"/>
                <a:ea typeface="맑은 고딕" pitchFamily="34" charset="-122"/>
                <a:cs typeface="맑은 고딕" pitchFamily="34" charset="-120"/>
              </a:rPr>
              <a:t>어르신</a:t>
            </a:r>
            <a:r>
              <a:rPr lang="ko-KR" altLang="en-US" sz="3000" b="1" dirty="0">
                <a:solidFill>
                  <a:srgbClr val="141B33"/>
                </a:solidFill>
                <a:latin typeface="맑은 고딕" pitchFamily="34" charset="0"/>
                <a:ea typeface="맑은 고딕" pitchFamily="34" charset="-122"/>
                <a:cs typeface="맑은 고딕" pitchFamily="34" charset="-120"/>
              </a:rPr>
              <a:t>의 경우</a:t>
            </a:r>
            <a:endParaRPr lang="en-US" sz="3000" dirty="0"/>
          </a:p>
        </p:txBody>
      </p:sp>
      <p:sp>
        <p:nvSpPr>
          <p:cNvPr id="5" name="Shape 3"/>
          <p:cNvSpPr/>
          <p:nvPr/>
        </p:nvSpPr>
        <p:spPr>
          <a:xfrm>
            <a:off x="566928" y="1792224"/>
            <a:ext cx="2615184" cy="3017520"/>
          </a:xfrm>
          <a:prstGeom prst="roundRect">
            <a:avLst>
              <a:gd name="adj" fmla="val 2098"/>
            </a:avLst>
          </a:prstGeom>
          <a:solidFill>
            <a:srgbClr val="F4F6FC"/>
          </a:solidFill>
          <a:ln w="12700">
            <a:solidFill>
              <a:srgbClr val="D4DAEE"/>
            </a:solidFill>
            <a:prstDash val="solid"/>
          </a:ln>
        </p:spPr>
        <p:txBody>
          <a:bodyPr/>
          <a:lstStyle/>
          <a:p>
            <a:endParaRPr lang="ko-KR" altLang="en-US"/>
          </a:p>
        </p:txBody>
      </p:sp>
      <p:sp>
        <p:nvSpPr>
          <p:cNvPr id="6" name="Text 4"/>
          <p:cNvSpPr/>
          <p:nvPr/>
        </p:nvSpPr>
        <p:spPr>
          <a:xfrm>
            <a:off x="804672" y="1956816"/>
            <a:ext cx="2103120" cy="310896"/>
          </a:xfrm>
          <a:prstGeom prst="rect">
            <a:avLst/>
          </a:prstGeom>
          <a:noFill/>
          <a:ln/>
        </p:spPr>
        <p:txBody>
          <a:bodyPr wrap="square" lIns="0" tIns="0" rIns="0" bIns="0" rtlCol="0" anchor="ctr"/>
          <a:lstStyle/>
          <a:p>
            <a:pPr marL="0" indent="0">
              <a:buNone/>
            </a:pPr>
            <a:r>
              <a:rPr lang="en-US" sz="1500" b="1" dirty="0">
                <a:solidFill>
                  <a:srgbClr val="001871"/>
                </a:solidFill>
                <a:latin typeface="맑은 고딕" pitchFamily="34" charset="0"/>
                <a:ea typeface="맑은 고딕" pitchFamily="34" charset="-122"/>
                <a:cs typeface="맑은 고딕" pitchFamily="34" charset="-120"/>
              </a:rPr>
              <a:t>14:02</a:t>
            </a:r>
            <a:endParaRPr lang="en-US" sz="1500" dirty="0"/>
          </a:p>
        </p:txBody>
      </p:sp>
      <p:sp>
        <p:nvSpPr>
          <p:cNvPr id="7" name="Text 5"/>
          <p:cNvSpPr/>
          <p:nvPr/>
        </p:nvSpPr>
        <p:spPr>
          <a:xfrm>
            <a:off x="804672" y="2286000"/>
            <a:ext cx="2194560" cy="310896"/>
          </a:xfrm>
          <a:prstGeom prst="rect">
            <a:avLst/>
          </a:prstGeom>
          <a:noFill/>
          <a:ln/>
        </p:spPr>
        <p:txBody>
          <a:bodyPr wrap="square" lIns="0" tIns="0" rIns="0" bIns="0" rtlCol="0" anchor="ctr"/>
          <a:lstStyle/>
          <a:p>
            <a:pPr marL="0" indent="0">
              <a:buNone/>
            </a:pPr>
            <a:r>
              <a:rPr lang="en-US" sz="1350" b="1" dirty="0">
                <a:solidFill>
                  <a:srgbClr val="141B33"/>
                </a:solidFill>
                <a:latin typeface="맑은 고딕" pitchFamily="34" charset="0"/>
                <a:ea typeface="맑은 고딕" pitchFamily="34" charset="-122"/>
                <a:cs typeface="맑은 고딕" pitchFamily="34" charset="-120"/>
              </a:rPr>
              <a:t>정류장에 도착</a:t>
            </a:r>
            <a:endParaRPr lang="en-US" sz="1350" dirty="0"/>
          </a:p>
        </p:txBody>
      </p:sp>
      <p:sp>
        <p:nvSpPr>
          <p:cNvPr id="8" name="Text 6"/>
          <p:cNvSpPr/>
          <p:nvPr/>
        </p:nvSpPr>
        <p:spPr>
          <a:xfrm>
            <a:off x="804672" y="2651760"/>
            <a:ext cx="2231136" cy="1371600"/>
          </a:xfrm>
          <a:prstGeom prst="rect">
            <a:avLst/>
          </a:prstGeom>
          <a:noFill/>
          <a:ln/>
        </p:spPr>
        <p:txBody>
          <a:bodyPr wrap="square" lIns="0" tIns="0" rIns="0" bIns="0" rtlCol="0" anchor="t"/>
          <a:lstStyle/>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바탕화면에 저장해 둔 아이콘을 눌러</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[음성으로 찾기]에 “중앙시장”이라고</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말합니다.</a:t>
            </a:r>
            <a:endParaRPr lang="en-US" sz="1100" dirty="0"/>
          </a:p>
        </p:txBody>
      </p:sp>
      <p:sp>
        <p:nvSpPr>
          <p:cNvPr id="9" name="Shape 7"/>
          <p:cNvSpPr/>
          <p:nvPr/>
        </p:nvSpPr>
        <p:spPr>
          <a:xfrm>
            <a:off x="804672" y="4261104"/>
            <a:ext cx="705803" cy="247332"/>
          </a:xfrm>
          <a:prstGeom prst="roundRect">
            <a:avLst>
              <a:gd name="adj" fmla="val 184853"/>
            </a:avLst>
          </a:prstGeom>
          <a:solidFill>
            <a:srgbClr val="E7EBF8"/>
          </a:solidFill>
          <a:ln w="12700">
            <a:solidFill>
              <a:srgbClr val="E7EBF8"/>
            </a:solidFill>
            <a:prstDash val="solid"/>
          </a:ln>
        </p:spPr>
        <p:txBody>
          <a:bodyPr/>
          <a:lstStyle/>
          <a:p>
            <a:endParaRPr lang="ko-KR" altLang="en-US"/>
          </a:p>
        </p:txBody>
      </p:sp>
      <p:sp>
        <p:nvSpPr>
          <p:cNvPr id="10" name="Text 8"/>
          <p:cNvSpPr/>
          <p:nvPr/>
        </p:nvSpPr>
        <p:spPr>
          <a:xfrm>
            <a:off x="804672" y="4261104"/>
            <a:ext cx="705803" cy="247332"/>
          </a:xfrm>
          <a:prstGeom prst="rect">
            <a:avLst/>
          </a:prstGeom>
          <a:noFill/>
          <a:ln/>
        </p:spPr>
        <p:txBody>
          <a:bodyPr wrap="square" lIns="0" tIns="0" rIns="0" bIns="0" rtlCol="0" anchor="ctr"/>
          <a:lstStyle/>
          <a:p>
            <a:pPr marL="0" indent="0" algn="ctr">
              <a:buNone/>
            </a:pPr>
            <a:r>
              <a:rPr lang="en-US" sz="950" dirty="0">
                <a:solidFill>
                  <a:srgbClr val="001871"/>
                </a:solidFill>
                <a:latin typeface="맑은 고딕" pitchFamily="34" charset="0"/>
                <a:ea typeface="맑은 고딕" pitchFamily="34" charset="-122"/>
                <a:cs typeface="맑은 고딕" pitchFamily="34" charset="-120"/>
              </a:rPr>
              <a:t>음성 검색</a:t>
            </a:r>
            <a:endParaRPr lang="en-US" sz="950" dirty="0"/>
          </a:p>
        </p:txBody>
      </p:sp>
      <p:sp>
        <p:nvSpPr>
          <p:cNvPr id="11" name="Text 9"/>
          <p:cNvSpPr/>
          <p:nvPr/>
        </p:nvSpPr>
        <p:spPr>
          <a:xfrm>
            <a:off x="3182112" y="1792224"/>
            <a:ext cx="182880" cy="3017520"/>
          </a:xfrm>
          <a:prstGeom prst="rect">
            <a:avLst/>
          </a:prstGeom>
          <a:noFill/>
          <a:ln/>
        </p:spPr>
        <p:txBody>
          <a:bodyPr wrap="square" lIns="0" tIns="0" rIns="0" bIns="0" rtlCol="0" anchor="ctr"/>
          <a:lstStyle/>
          <a:p>
            <a:pPr marL="0" indent="0" algn="ctr">
              <a:buNone/>
            </a:pPr>
            <a:r>
              <a:rPr lang="en-US" sz="1100" dirty="0">
                <a:solidFill>
                  <a:srgbClr val="98A0BA"/>
                </a:solidFill>
                <a:latin typeface="맑은 고딕" pitchFamily="34" charset="0"/>
                <a:ea typeface="맑은 고딕" pitchFamily="34" charset="-122"/>
                <a:cs typeface="맑은 고딕" pitchFamily="34" charset="-120"/>
              </a:rPr>
              <a:t>▶</a:t>
            </a:r>
            <a:endParaRPr lang="en-US" sz="1100" dirty="0"/>
          </a:p>
        </p:txBody>
      </p:sp>
      <p:sp>
        <p:nvSpPr>
          <p:cNvPr id="12" name="Shape 10"/>
          <p:cNvSpPr/>
          <p:nvPr/>
        </p:nvSpPr>
        <p:spPr>
          <a:xfrm>
            <a:off x="3364992" y="1792224"/>
            <a:ext cx="2615184" cy="3017520"/>
          </a:xfrm>
          <a:prstGeom prst="roundRect">
            <a:avLst>
              <a:gd name="adj" fmla="val 2098"/>
            </a:avLst>
          </a:prstGeom>
          <a:solidFill>
            <a:srgbClr val="F4F6FC"/>
          </a:solidFill>
          <a:ln w="12700">
            <a:solidFill>
              <a:srgbClr val="D4DAEE"/>
            </a:solidFill>
            <a:prstDash val="solid"/>
          </a:ln>
        </p:spPr>
        <p:txBody>
          <a:bodyPr/>
          <a:lstStyle/>
          <a:p>
            <a:endParaRPr lang="ko-KR" altLang="en-US"/>
          </a:p>
        </p:txBody>
      </p:sp>
      <p:sp>
        <p:nvSpPr>
          <p:cNvPr id="13" name="Text 11"/>
          <p:cNvSpPr/>
          <p:nvPr/>
        </p:nvSpPr>
        <p:spPr>
          <a:xfrm>
            <a:off x="3602736" y="1956816"/>
            <a:ext cx="2103120" cy="310896"/>
          </a:xfrm>
          <a:prstGeom prst="rect">
            <a:avLst/>
          </a:prstGeom>
          <a:noFill/>
          <a:ln/>
        </p:spPr>
        <p:txBody>
          <a:bodyPr wrap="square" lIns="0" tIns="0" rIns="0" bIns="0" rtlCol="0" anchor="ctr"/>
          <a:lstStyle/>
          <a:p>
            <a:pPr marL="0" indent="0">
              <a:buNone/>
            </a:pPr>
            <a:r>
              <a:rPr lang="en-US" sz="1500" b="1" dirty="0">
                <a:solidFill>
                  <a:srgbClr val="001871"/>
                </a:solidFill>
                <a:latin typeface="맑은 고딕" pitchFamily="34" charset="0"/>
                <a:ea typeface="맑은 고딕" pitchFamily="34" charset="-122"/>
                <a:cs typeface="맑은 고딕" pitchFamily="34" charset="-120"/>
              </a:rPr>
              <a:t>14:03</a:t>
            </a:r>
            <a:endParaRPr lang="en-US" sz="1500" dirty="0"/>
          </a:p>
        </p:txBody>
      </p:sp>
      <p:sp>
        <p:nvSpPr>
          <p:cNvPr id="14" name="Text 12"/>
          <p:cNvSpPr/>
          <p:nvPr/>
        </p:nvSpPr>
        <p:spPr>
          <a:xfrm>
            <a:off x="3602736" y="2286000"/>
            <a:ext cx="2194560" cy="310896"/>
          </a:xfrm>
          <a:prstGeom prst="rect">
            <a:avLst/>
          </a:prstGeom>
          <a:noFill/>
          <a:ln/>
        </p:spPr>
        <p:txBody>
          <a:bodyPr wrap="square" lIns="0" tIns="0" rIns="0" bIns="0" rtlCol="0" anchor="ctr"/>
          <a:lstStyle/>
          <a:p>
            <a:pPr marL="0" indent="0">
              <a:buNone/>
            </a:pPr>
            <a:r>
              <a:rPr lang="en-US" sz="1350" b="1" dirty="0">
                <a:solidFill>
                  <a:srgbClr val="141B33"/>
                </a:solidFill>
                <a:latin typeface="맑은 고딕" pitchFamily="34" charset="0"/>
                <a:ea typeface="맑은 고딕" pitchFamily="34" charset="-122"/>
                <a:cs typeface="맑은 고딕" pitchFamily="34" charset="-120"/>
              </a:rPr>
              <a:t>여기서 기다려도 되나</a:t>
            </a:r>
            <a:endParaRPr lang="en-US" sz="1350" dirty="0"/>
          </a:p>
        </p:txBody>
      </p:sp>
      <p:sp>
        <p:nvSpPr>
          <p:cNvPr id="15" name="Text 13"/>
          <p:cNvSpPr/>
          <p:nvPr/>
        </p:nvSpPr>
        <p:spPr>
          <a:xfrm>
            <a:off x="3602736" y="2651760"/>
            <a:ext cx="2231136" cy="1371600"/>
          </a:xfrm>
          <a:prstGeom prst="rect">
            <a:avLst/>
          </a:prstGeom>
          <a:noFill/>
          <a:ln/>
        </p:spPr>
        <p:txBody>
          <a:bodyPr wrap="square" lIns="0" tIns="0" rIns="0" bIns="0" rtlCol="0" anchor="t"/>
          <a:lstStyle/>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[그늘 없음] 경고와 함께</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“버스 12분 뒤”가 보입니다.</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뙤약볕에 12분을 서야 한다는 뜻입니다.</a:t>
            </a:r>
            <a:endParaRPr lang="en-US" sz="1100" dirty="0"/>
          </a:p>
        </p:txBody>
      </p:sp>
      <p:sp>
        <p:nvSpPr>
          <p:cNvPr id="16" name="Shape 14"/>
          <p:cNvSpPr/>
          <p:nvPr/>
        </p:nvSpPr>
        <p:spPr>
          <a:xfrm>
            <a:off x="3602736" y="4261104"/>
            <a:ext cx="585153" cy="247332"/>
          </a:xfrm>
          <a:prstGeom prst="roundRect">
            <a:avLst>
              <a:gd name="adj" fmla="val 184853"/>
            </a:avLst>
          </a:prstGeom>
          <a:solidFill>
            <a:srgbClr val="E7EBF8"/>
          </a:solidFill>
          <a:ln w="12700">
            <a:solidFill>
              <a:srgbClr val="E7EBF8"/>
            </a:solidFill>
            <a:prstDash val="solid"/>
          </a:ln>
        </p:spPr>
        <p:txBody>
          <a:bodyPr/>
          <a:lstStyle/>
          <a:p>
            <a:endParaRPr lang="ko-KR" altLang="en-US"/>
          </a:p>
        </p:txBody>
      </p:sp>
      <p:sp>
        <p:nvSpPr>
          <p:cNvPr id="17" name="Text 15"/>
          <p:cNvSpPr/>
          <p:nvPr/>
        </p:nvSpPr>
        <p:spPr>
          <a:xfrm>
            <a:off x="3602736" y="4261104"/>
            <a:ext cx="585153" cy="247332"/>
          </a:xfrm>
          <a:prstGeom prst="rect">
            <a:avLst/>
          </a:prstGeom>
          <a:noFill/>
          <a:ln/>
        </p:spPr>
        <p:txBody>
          <a:bodyPr wrap="square" lIns="0" tIns="0" rIns="0" bIns="0" rtlCol="0" anchor="ctr"/>
          <a:lstStyle/>
          <a:p>
            <a:pPr marL="0" indent="0" algn="ctr">
              <a:buNone/>
            </a:pPr>
            <a:r>
              <a:rPr lang="en-US" sz="950" dirty="0">
                <a:solidFill>
                  <a:srgbClr val="001871"/>
                </a:solidFill>
                <a:latin typeface="맑은 고딕" pitchFamily="34" charset="0"/>
                <a:ea typeface="맑은 고딕" pitchFamily="34" charset="-122"/>
                <a:cs typeface="맑은 고딕" pitchFamily="34" charset="-120"/>
              </a:rPr>
              <a:t>시설 칩</a:t>
            </a:r>
            <a:endParaRPr lang="en-US" sz="950" dirty="0"/>
          </a:p>
        </p:txBody>
      </p:sp>
      <p:sp>
        <p:nvSpPr>
          <p:cNvPr id="18" name="Shape 16"/>
          <p:cNvSpPr/>
          <p:nvPr/>
        </p:nvSpPr>
        <p:spPr>
          <a:xfrm>
            <a:off x="4261041" y="4261104"/>
            <a:ext cx="826453" cy="247332"/>
          </a:xfrm>
          <a:prstGeom prst="roundRect">
            <a:avLst>
              <a:gd name="adj" fmla="val 184853"/>
            </a:avLst>
          </a:prstGeom>
          <a:solidFill>
            <a:srgbClr val="E7EBF8"/>
          </a:solidFill>
          <a:ln w="12700">
            <a:solidFill>
              <a:srgbClr val="E7EBF8"/>
            </a:solidFill>
            <a:prstDash val="solid"/>
          </a:ln>
        </p:spPr>
        <p:txBody>
          <a:bodyPr/>
          <a:lstStyle/>
          <a:p>
            <a:endParaRPr lang="ko-KR" altLang="en-US"/>
          </a:p>
        </p:txBody>
      </p:sp>
      <p:sp>
        <p:nvSpPr>
          <p:cNvPr id="19" name="Text 17"/>
          <p:cNvSpPr/>
          <p:nvPr/>
        </p:nvSpPr>
        <p:spPr>
          <a:xfrm>
            <a:off x="4261041" y="4261104"/>
            <a:ext cx="826453" cy="247332"/>
          </a:xfrm>
          <a:prstGeom prst="rect">
            <a:avLst/>
          </a:prstGeom>
          <a:noFill/>
          <a:ln/>
        </p:spPr>
        <p:txBody>
          <a:bodyPr wrap="square" lIns="0" tIns="0" rIns="0" bIns="0" rtlCol="0" anchor="ctr"/>
          <a:lstStyle/>
          <a:p>
            <a:pPr marL="0" indent="0" algn="ctr">
              <a:buNone/>
            </a:pPr>
            <a:r>
              <a:rPr lang="en-US" sz="950" dirty="0">
                <a:solidFill>
                  <a:srgbClr val="001871"/>
                </a:solidFill>
                <a:latin typeface="맑은 고딕" pitchFamily="34" charset="0"/>
                <a:ea typeface="맑은 고딕" pitchFamily="34" charset="-122"/>
                <a:cs typeface="맑은 고딕" pitchFamily="34" charset="-120"/>
              </a:rPr>
              <a:t>실시간 도착</a:t>
            </a:r>
            <a:endParaRPr lang="en-US" sz="950" dirty="0"/>
          </a:p>
        </p:txBody>
      </p:sp>
      <p:sp>
        <p:nvSpPr>
          <p:cNvPr id="20" name="Text 18"/>
          <p:cNvSpPr/>
          <p:nvPr/>
        </p:nvSpPr>
        <p:spPr>
          <a:xfrm>
            <a:off x="5980176" y="1792224"/>
            <a:ext cx="182880" cy="3017520"/>
          </a:xfrm>
          <a:prstGeom prst="rect">
            <a:avLst/>
          </a:prstGeom>
          <a:noFill/>
          <a:ln/>
        </p:spPr>
        <p:txBody>
          <a:bodyPr wrap="square" lIns="0" tIns="0" rIns="0" bIns="0" rtlCol="0" anchor="ctr"/>
          <a:lstStyle/>
          <a:p>
            <a:pPr marL="0" indent="0" algn="ctr">
              <a:buNone/>
            </a:pPr>
            <a:r>
              <a:rPr lang="en-US" sz="1100" dirty="0">
                <a:solidFill>
                  <a:srgbClr val="98A0BA"/>
                </a:solidFill>
                <a:latin typeface="맑은 고딕" pitchFamily="34" charset="0"/>
                <a:ea typeface="맑은 고딕" pitchFamily="34" charset="-122"/>
                <a:cs typeface="맑은 고딕" pitchFamily="34" charset="-120"/>
              </a:rPr>
              <a:t>▶</a:t>
            </a:r>
            <a:endParaRPr lang="en-US" sz="1100" dirty="0"/>
          </a:p>
        </p:txBody>
      </p:sp>
      <p:sp>
        <p:nvSpPr>
          <p:cNvPr id="21" name="Shape 19"/>
          <p:cNvSpPr/>
          <p:nvPr/>
        </p:nvSpPr>
        <p:spPr>
          <a:xfrm>
            <a:off x="6163056" y="1792224"/>
            <a:ext cx="2615184" cy="3017520"/>
          </a:xfrm>
          <a:prstGeom prst="roundRect">
            <a:avLst>
              <a:gd name="adj" fmla="val 2098"/>
            </a:avLst>
          </a:prstGeom>
          <a:solidFill>
            <a:srgbClr val="FCEEE0"/>
          </a:solidFill>
          <a:ln w="12700">
            <a:solidFill>
              <a:srgbClr val="F2C99E"/>
            </a:solidFill>
            <a:prstDash val="solid"/>
          </a:ln>
        </p:spPr>
        <p:txBody>
          <a:bodyPr/>
          <a:lstStyle/>
          <a:p>
            <a:endParaRPr lang="ko-KR" altLang="en-US"/>
          </a:p>
        </p:txBody>
      </p:sp>
      <p:sp>
        <p:nvSpPr>
          <p:cNvPr id="22" name="Text 20"/>
          <p:cNvSpPr/>
          <p:nvPr/>
        </p:nvSpPr>
        <p:spPr>
          <a:xfrm>
            <a:off x="6400800" y="1956816"/>
            <a:ext cx="2103120" cy="310896"/>
          </a:xfrm>
          <a:prstGeom prst="rect">
            <a:avLst/>
          </a:prstGeom>
          <a:noFill/>
          <a:ln/>
        </p:spPr>
        <p:txBody>
          <a:bodyPr wrap="square" lIns="0" tIns="0" rIns="0" bIns="0" rtlCol="0" anchor="ctr"/>
          <a:lstStyle/>
          <a:p>
            <a:pPr marL="0" indent="0">
              <a:buNone/>
            </a:pPr>
            <a:r>
              <a:rPr lang="en-US" sz="1500" b="1" dirty="0">
                <a:solidFill>
                  <a:srgbClr val="E8751A"/>
                </a:solidFill>
                <a:latin typeface="맑은 고딕" pitchFamily="34" charset="0"/>
                <a:ea typeface="맑은 고딕" pitchFamily="34" charset="-122"/>
                <a:cs typeface="맑은 고딕" pitchFamily="34" charset="-120"/>
              </a:rPr>
              <a:t>14:04</a:t>
            </a:r>
            <a:endParaRPr lang="en-US" sz="1500" dirty="0"/>
          </a:p>
        </p:txBody>
      </p:sp>
      <p:sp>
        <p:nvSpPr>
          <p:cNvPr id="23" name="Text 21"/>
          <p:cNvSpPr/>
          <p:nvPr/>
        </p:nvSpPr>
        <p:spPr>
          <a:xfrm>
            <a:off x="6400800" y="2286000"/>
            <a:ext cx="2194560" cy="310896"/>
          </a:xfrm>
          <a:prstGeom prst="rect">
            <a:avLst/>
          </a:prstGeom>
          <a:noFill/>
          <a:ln/>
        </p:spPr>
        <p:txBody>
          <a:bodyPr wrap="square" lIns="0" tIns="0" rIns="0" bIns="0" rtlCol="0" anchor="ctr"/>
          <a:lstStyle/>
          <a:p>
            <a:pPr marL="0" indent="0">
              <a:buNone/>
            </a:pPr>
            <a:r>
              <a:rPr lang="en-US" sz="1350" b="1" dirty="0">
                <a:solidFill>
                  <a:srgbClr val="141B33"/>
                </a:solidFill>
                <a:latin typeface="맑은 고딕" pitchFamily="34" charset="0"/>
                <a:ea typeface="맑은 고딕" pitchFamily="34" charset="-122"/>
                <a:cs typeface="맑은 고딕" pitchFamily="34" charset="-120"/>
              </a:rPr>
              <a:t>가까운 그늘로</a:t>
            </a:r>
            <a:endParaRPr lang="en-US" sz="1350" dirty="0"/>
          </a:p>
        </p:txBody>
      </p:sp>
      <p:sp>
        <p:nvSpPr>
          <p:cNvPr id="24" name="Text 22"/>
          <p:cNvSpPr/>
          <p:nvPr/>
        </p:nvSpPr>
        <p:spPr>
          <a:xfrm>
            <a:off x="6400800" y="2651760"/>
            <a:ext cx="2231136" cy="1371600"/>
          </a:xfrm>
          <a:prstGeom prst="rect">
            <a:avLst/>
          </a:prstGeom>
          <a:noFill/>
          <a:ln/>
        </p:spPr>
        <p:txBody>
          <a:bodyPr wrap="square" lIns="0" tIns="0" rIns="0" bIns="0" rtlCol="0" anchor="t"/>
          <a:lstStyle/>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“○○경로당 · 240m · 도보 4분”</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안내를 보고 에어컨이 있는 실내에서</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버스를 기다립니다.</a:t>
            </a:r>
            <a:endParaRPr lang="en-US" sz="1100" dirty="0"/>
          </a:p>
        </p:txBody>
      </p:sp>
      <p:sp>
        <p:nvSpPr>
          <p:cNvPr id="25" name="Shape 23"/>
          <p:cNvSpPr/>
          <p:nvPr/>
        </p:nvSpPr>
        <p:spPr>
          <a:xfrm>
            <a:off x="6400800" y="4261104"/>
            <a:ext cx="1277684" cy="247332"/>
          </a:xfrm>
          <a:prstGeom prst="roundRect">
            <a:avLst>
              <a:gd name="adj" fmla="val 184853"/>
            </a:avLst>
          </a:prstGeom>
          <a:solidFill>
            <a:srgbClr val="E8751A"/>
          </a:solidFill>
          <a:ln w="12700">
            <a:solidFill>
              <a:srgbClr val="E8751A"/>
            </a:solidFill>
            <a:prstDash val="solid"/>
          </a:ln>
        </p:spPr>
        <p:txBody>
          <a:bodyPr/>
          <a:lstStyle/>
          <a:p>
            <a:endParaRPr lang="ko-KR" altLang="en-US"/>
          </a:p>
        </p:txBody>
      </p:sp>
      <p:sp>
        <p:nvSpPr>
          <p:cNvPr id="26" name="Text 24"/>
          <p:cNvSpPr/>
          <p:nvPr/>
        </p:nvSpPr>
        <p:spPr>
          <a:xfrm>
            <a:off x="6400800" y="4261104"/>
            <a:ext cx="1277684" cy="247332"/>
          </a:xfrm>
          <a:prstGeom prst="rect">
            <a:avLst/>
          </a:prstGeom>
          <a:noFill/>
          <a:ln/>
        </p:spPr>
        <p:txBody>
          <a:bodyPr wrap="square" lIns="0" tIns="0" rIns="0" bIns="0" rtlCol="0" anchor="ctr"/>
          <a:lstStyle/>
          <a:p>
            <a:pPr marL="0" indent="0" algn="ctr">
              <a:buNone/>
            </a:pPr>
            <a:r>
              <a:rPr lang="en-US" sz="950" b="1" dirty="0">
                <a:solidFill>
                  <a:srgbClr val="FFFFFF"/>
                </a:solidFill>
                <a:latin typeface="맑은 고딕" pitchFamily="34" charset="0"/>
                <a:ea typeface="맑은 고딕" pitchFamily="34" charset="-122"/>
                <a:cs typeface="맑은 고딕" pitchFamily="34" charset="-120"/>
              </a:rPr>
              <a:t>무더위쉼터 230개소</a:t>
            </a:r>
            <a:endParaRPr lang="en-US" sz="950" dirty="0"/>
          </a:p>
        </p:txBody>
      </p:sp>
      <p:sp>
        <p:nvSpPr>
          <p:cNvPr id="27" name="Text 25"/>
          <p:cNvSpPr/>
          <p:nvPr/>
        </p:nvSpPr>
        <p:spPr>
          <a:xfrm>
            <a:off x="8778240" y="1792224"/>
            <a:ext cx="182880" cy="3017520"/>
          </a:xfrm>
          <a:prstGeom prst="rect">
            <a:avLst/>
          </a:prstGeom>
          <a:noFill/>
          <a:ln/>
        </p:spPr>
        <p:txBody>
          <a:bodyPr wrap="square" lIns="0" tIns="0" rIns="0" bIns="0" rtlCol="0" anchor="ctr"/>
          <a:lstStyle/>
          <a:p>
            <a:pPr marL="0" indent="0" algn="ctr">
              <a:buNone/>
            </a:pPr>
            <a:r>
              <a:rPr lang="en-US" sz="1100" dirty="0">
                <a:solidFill>
                  <a:srgbClr val="98A0BA"/>
                </a:solidFill>
                <a:latin typeface="맑은 고딕" pitchFamily="34" charset="0"/>
                <a:ea typeface="맑은 고딕" pitchFamily="34" charset="-122"/>
                <a:cs typeface="맑은 고딕" pitchFamily="34" charset="-120"/>
              </a:rPr>
              <a:t>▶</a:t>
            </a:r>
            <a:endParaRPr lang="en-US" sz="1100" dirty="0"/>
          </a:p>
        </p:txBody>
      </p:sp>
      <p:sp>
        <p:nvSpPr>
          <p:cNvPr id="28" name="Shape 26"/>
          <p:cNvSpPr/>
          <p:nvPr/>
        </p:nvSpPr>
        <p:spPr>
          <a:xfrm>
            <a:off x="8961120" y="1792224"/>
            <a:ext cx="2615184" cy="3017520"/>
          </a:xfrm>
          <a:prstGeom prst="roundRect">
            <a:avLst>
              <a:gd name="adj" fmla="val 2098"/>
            </a:avLst>
          </a:prstGeom>
          <a:solidFill>
            <a:srgbClr val="F4F6FC"/>
          </a:solidFill>
          <a:ln w="12700">
            <a:solidFill>
              <a:srgbClr val="D4DAEE"/>
            </a:solidFill>
            <a:prstDash val="solid"/>
          </a:ln>
        </p:spPr>
        <p:txBody>
          <a:bodyPr/>
          <a:lstStyle/>
          <a:p>
            <a:endParaRPr lang="ko-KR" altLang="en-US"/>
          </a:p>
        </p:txBody>
      </p:sp>
      <p:sp>
        <p:nvSpPr>
          <p:cNvPr id="29" name="Text 27"/>
          <p:cNvSpPr/>
          <p:nvPr/>
        </p:nvSpPr>
        <p:spPr>
          <a:xfrm>
            <a:off x="9198864" y="1956816"/>
            <a:ext cx="2103120" cy="310896"/>
          </a:xfrm>
          <a:prstGeom prst="rect">
            <a:avLst/>
          </a:prstGeom>
          <a:noFill/>
          <a:ln/>
        </p:spPr>
        <p:txBody>
          <a:bodyPr wrap="square" lIns="0" tIns="0" rIns="0" bIns="0" rtlCol="0" anchor="ctr"/>
          <a:lstStyle/>
          <a:p>
            <a:pPr marL="0" indent="0">
              <a:buNone/>
            </a:pPr>
            <a:r>
              <a:rPr lang="en-US" sz="1500" b="1" dirty="0">
                <a:solidFill>
                  <a:srgbClr val="001871"/>
                </a:solidFill>
                <a:latin typeface="맑은 고딕" pitchFamily="34" charset="0"/>
                <a:ea typeface="맑은 고딕" pitchFamily="34" charset="-122"/>
                <a:cs typeface="맑은 고딕" pitchFamily="34" charset="-120"/>
              </a:rPr>
              <a:t>14:15</a:t>
            </a:r>
            <a:endParaRPr lang="en-US" sz="1500" dirty="0"/>
          </a:p>
        </p:txBody>
      </p:sp>
      <p:sp>
        <p:nvSpPr>
          <p:cNvPr id="30" name="Text 28"/>
          <p:cNvSpPr/>
          <p:nvPr/>
        </p:nvSpPr>
        <p:spPr>
          <a:xfrm>
            <a:off x="9198864" y="2286000"/>
            <a:ext cx="2194560" cy="310896"/>
          </a:xfrm>
          <a:prstGeom prst="rect">
            <a:avLst/>
          </a:prstGeom>
          <a:noFill/>
          <a:ln/>
        </p:spPr>
        <p:txBody>
          <a:bodyPr wrap="square" lIns="0" tIns="0" rIns="0" bIns="0" rtlCol="0" anchor="ctr"/>
          <a:lstStyle/>
          <a:p>
            <a:pPr marL="0" indent="0">
              <a:buNone/>
            </a:pPr>
            <a:r>
              <a:rPr lang="en-US" sz="1350" b="1" dirty="0">
                <a:solidFill>
                  <a:srgbClr val="141B33"/>
                </a:solidFill>
                <a:latin typeface="맑은 고딕" pitchFamily="34" charset="0"/>
                <a:ea typeface="맑은 고딕" pitchFamily="34" charset="-122"/>
                <a:cs typeface="맑은 고딕" pitchFamily="34" charset="-120"/>
              </a:rPr>
              <a:t>돌아와 버스 탑승</a:t>
            </a:r>
            <a:endParaRPr lang="en-US" sz="1350" dirty="0"/>
          </a:p>
        </p:txBody>
      </p:sp>
      <p:sp>
        <p:nvSpPr>
          <p:cNvPr id="31" name="Text 29"/>
          <p:cNvSpPr/>
          <p:nvPr/>
        </p:nvSpPr>
        <p:spPr>
          <a:xfrm>
            <a:off x="9198864" y="2651760"/>
            <a:ext cx="2231136" cy="1371600"/>
          </a:xfrm>
          <a:prstGeom prst="rect">
            <a:avLst/>
          </a:prstGeom>
          <a:noFill/>
          <a:ln/>
        </p:spPr>
        <p:txBody>
          <a:bodyPr wrap="square" lIns="0" tIns="0" rIns="0" bIns="0" rtlCol="0" anchor="t"/>
          <a:lstStyle/>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쉼터에서 나와 정류장으로.</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오는 길에 깨진 쉘터를 보고</a:t>
            </a:r>
            <a:endParaRPr lang="en-US" sz="1100" dirty="0"/>
          </a:p>
          <a:p>
            <a:pPr marL="0" indent="0">
              <a:lnSpc>
                <a:spcPts val="1700"/>
              </a:lnSpc>
              <a:buNone/>
            </a:pPr>
            <a:r>
              <a:rPr lang="en-US" sz="1100" dirty="0">
                <a:solidFill>
                  <a:srgbClr val="39415E"/>
                </a:solidFill>
                <a:latin typeface="맑은 고딕" pitchFamily="34" charset="0"/>
                <a:ea typeface="맑은 고딕" pitchFamily="34" charset="-122"/>
                <a:cs typeface="맑은 고딕" pitchFamily="34" charset="-120"/>
              </a:rPr>
              <a:t>사진 한 장만 찍어 보냅니다.</a:t>
            </a:r>
            <a:endParaRPr lang="en-US" sz="1100" dirty="0"/>
          </a:p>
        </p:txBody>
      </p:sp>
      <p:sp>
        <p:nvSpPr>
          <p:cNvPr id="32" name="Shape 30"/>
          <p:cNvSpPr/>
          <p:nvPr/>
        </p:nvSpPr>
        <p:spPr>
          <a:xfrm>
            <a:off x="9198864" y="4261104"/>
            <a:ext cx="1109980" cy="247332"/>
          </a:xfrm>
          <a:prstGeom prst="roundRect">
            <a:avLst>
              <a:gd name="adj" fmla="val 184853"/>
            </a:avLst>
          </a:prstGeom>
          <a:solidFill>
            <a:srgbClr val="E7EBF8"/>
          </a:solidFill>
          <a:ln w="12700">
            <a:solidFill>
              <a:srgbClr val="E7EBF8"/>
            </a:solidFill>
            <a:prstDash val="solid"/>
          </a:ln>
        </p:spPr>
        <p:txBody>
          <a:bodyPr/>
          <a:lstStyle/>
          <a:p>
            <a:endParaRPr lang="ko-KR" altLang="en-US"/>
          </a:p>
        </p:txBody>
      </p:sp>
      <p:sp>
        <p:nvSpPr>
          <p:cNvPr id="33" name="Text 31"/>
          <p:cNvSpPr/>
          <p:nvPr/>
        </p:nvSpPr>
        <p:spPr>
          <a:xfrm>
            <a:off x="9198864" y="4261104"/>
            <a:ext cx="1109980" cy="247332"/>
          </a:xfrm>
          <a:prstGeom prst="rect">
            <a:avLst/>
          </a:prstGeom>
          <a:noFill/>
          <a:ln/>
        </p:spPr>
        <p:txBody>
          <a:bodyPr wrap="square" lIns="0" tIns="0" rIns="0" bIns="0" rtlCol="0" anchor="ctr"/>
          <a:lstStyle/>
          <a:p>
            <a:pPr marL="0" indent="0" algn="ctr">
              <a:buNone/>
            </a:pPr>
            <a:r>
              <a:rPr lang="en-US" sz="950" dirty="0">
                <a:solidFill>
                  <a:srgbClr val="001871"/>
                </a:solidFill>
                <a:latin typeface="맑은 고딕" pitchFamily="34" charset="0"/>
                <a:ea typeface="맑은 고딕" pitchFamily="34" charset="-122"/>
                <a:cs typeface="맑은 고딕" pitchFamily="34" charset="-120"/>
              </a:rPr>
              <a:t>안내 데이터 갱신</a:t>
            </a:r>
            <a:endParaRPr lang="en-US" sz="950" dirty="0"/>
          </a:p>
        </p:txBody>
      </p:sp>
      <p:sp>
        <p:nvSpPr>
          <p:cNvPr id="34" name="Shape 32"/>
          <p:cNvSpPr/>
          <p:nvPr/>
        </p:nvSpPr>
        <p:spPr>
          <a:xfrm>
            <a:off x="566928" y="5029200"/>
            <a:ext cx="11064240" cy="1042416"/>
          </a:xfrm>
          <a:prstGeom prst="roundRect">
            <a:avLst>
              <a:gd name="adj" fmla="val 5263"/>
            </a:avLst>
          </a:prstGeom>
          <a:solidFill>
            <a:srgbClr val="001871"/>
          </a:solidFill>
          <a:ln w="12700">
            <a:solidFill>
              <a:srgbClr val="001871"/>
            </a:solidFill>
            <a:prstDash val="solid"/>
          </a:ln>
        </p:spPr>
        <p:txBody>
          <a:bodyPr/>
          <a:lstStyle/>
          <a:p>
            <a:endParaRPr lang="ko-KR" altLang="en-US"/>
          </a:p>
        </p:txBody>
      </p:sp>
      <p:sp>
        <p:nvSpPr>
          <p:cNvPr id="35" name="Text 33"/>
          <p:cNvSpPr/>
          <p:nvPr/>
        </p:nvSpPr>
        <p:spPr>
          <a:xfrm>
            <a:off x="950976" y="5157216"/>
            <a:ext cx="2743200" cy="274320"/>
          </a:xfrm>
          <a:prstGeom prst="rect">
            <a:avLst/>
          </a:prstGeom>
          <a:noFill/>
          <a:ln/>
        </p:spPr>
        <p:txBody>
          <a:bodyPr wrap="square" lIns="0" tIns="0" rIns="0" bIns="0" rtlCol="0" anchor="ctr"/>
          <a:lstStyle/>
          <a:p>
            <a:pPr marL="0" indent="0">
              <a:buNone/>
            </a:pPr>
            <a:r>
              <a:rPr lang="en-US" sz="1200" b="1" dirty="0">
                <a:solidFill>
                  <a:srgbClr val="8FA2E4"/>
                </a:solidFill>
                <a:latin typeface="맑은 고딕" pitchFamily="34" charset="0"/>
                <a:ea typeface="맑은 고딕" pitchFamily="34" charset="-122"/>
                <a:cs typeface="맑은 고딕" pitchFamily="34" charset="-120"/>
              </a:rPr>
              <a:t>시민이 체감하는 것</a:t>
            </a:r>
            <a:endParaRPr lang="en-US" sz="1200" dirty="0"/>
          </a:p>
        </p:txBody>
      </p:sp>
      <p:sp>
        <p:nvSpPr>
          <p:cNvPr id="36" name="Text 34"/>
          <p:cNvSpPr/>
          <p:nvPr/>
        </p:nvSpPr>
        <p:spPr>
          <a:xfrm>
            <a:off x="950976" y="5449824"/>
            <a:ext cx="10332720" cy="457200"/>
          </a:xfrm>
          <a:prstGeom prst="rect">
            <a:avLst/>
          </a:prstGeom>
          <a:noFill/>
          <a:ln/>
        </p:spPr>
        <p:txBody>
          <a:bodyPr wrap="square" lIns="0" tIns="0" rIns="0" bIns="0" rtlCol="0" anchor="ctr"/>
          <a:lstStyle/>
          <a:p>
            <a:pPr marL="0" indent="0">
              <a:buNone/>
            </a:pPr>
            <a:r>
              <a:rPr lang="en-US" sz="1250" b="1" dirty="0">
                <a:solidFill>
                  <a:srgbClr val="FFFFFF"/>
                </a:solidFill>
                <a:latin typeface="맑은 고딕" pitchFamily="34" charset="0"/>
                <a:ea typeface="맑은 고딕" pitchFamily="34" charset="-122"/>
                <a:cs typeface="맑은 고딕" pitchFamily="34" charset="-120"/>
              </a:rPr>
              <a:t>① 뙤약볕에 서 </a:t>
            </a:r>
            <a:r>
              <a:rPr lang="en-US" sz="1250" b="1" dirty="0" err="1">
                <a:solidFill>
                  <a:srgbClr val="FFFFFF"/>
                </a:solidFill>
                <a:latin typeface="맑은 고딕" pitchFamily="34" charset="0"/>
                <a:ea typeface="맑은 고딕" pitchFamily="34" charset="-122"/>
                <a:cs typeface="맑은 고딕" pitchFamily="34" charset="-120"/>
              </a:rPr>
              <a:t>있는</a:t>
            </a:r>
            <a:r>
              <a:rPr lang="en-US" sz="1250" b="1" dirty="0">
                <a:solidFill>
                  <a:srgbClr val="FFFFFF"/>
                </a:solidFill>
                <a:latin typeface="맑은 고딕" pitchFamily="34" charset="0"/>
                <a:ea typeface="맑은 고딕" pitchFamily="34" charset="-122"/>
                <a:cs typeface="맑은 고딕" pitchFamily="34" charset="-120"/>
              </a:rPr>
              <a:t> </a:t>
            </a:r>
            <a:r>
              <a:rPr lang="ko-KR" altLang="en-US" sz="1250" b="1" dirty="0">
                <a:solidFill>
                  <a:srgbClr val="FFFFFF"/>
                </a:solidFill>
                <a:latin typeface="맑은 고딕" pitchFamily="34" charset="0"/>
                <a:ea typeface="맑은 고딕" pitchFamily="34" charset="-122"/>
                <a:cs typeface="맑은 고딕" pitchFamily="34" charset="-120"/>
              </a:rPr>
              <a:t>시간</a:t>
            </a:r>
            <a:r>
              <a:rPr lang="en-US" sz="1250" b="1" dirty="0">
                <a:solidFill>
                  <a:srgbClr val="FFFFFF"/>
                </a:solidFill>
                <a:latin typeface="맑은 고딕" pitchFamily="34" charset="0"/>
                <a:ea typeface="맑은 고딕" pitchFamily="34" charset="-122"/>
                <a:cs typeface="맑은 고딕" pitchFamily="34" charset="-120"/>
              </a:rPr>
              <a:t>이 실내 대기로 바뀝니다   ② </a:t>
            </a:r>
            <a:r>
              <a:rPr lang="en-US" sz="1250" b="1" dirty="0" err="1">
                <a:solidFill>
                  <a:srgbClr val="FFFFFF"/>
                </a:solidFill>
                <a:latin typeface="맑은 고딕" pitchFamily="34" charset="0"/>
                <a:ea typeface="맑은 고딕" pitchFamily="34" charset="-122"/>
                <a:cs typeface="맑은 고딕" pitchFamily="34" charset="-120"/>
              </a:rPr>
              <a:t>시설</a:t>
            </a:r>
            <a:r>
              <a:rPr lang="ko-KR" altLang="en-US" sz="1250" b="1" dirty="0">
                <a:solidFill>
                  <a:srgbClr val="FFFFFF"/>
                </a:solidFill>
                <a:latin typeface="맑은 고딕" pitchFamily="34" charset="0"/>
                <a:ea typeface="맑은 고딕" pitchFamily="34" charset="-122"/>
                <a:cs typeface="맑은 고딕" pitchFamily="34" charset="-120"/>
              </a:rPr>
              <a:t>의 유무를 </a:t>
            </a:r>
            <a:r>
              <a:rPr lang="en-US" sz="1250" b="1" dirty="0">
                <a:solidFill>
                  <a:srgbClr val="FFFFFF"/>
                </a:solidFill>
                <a:latin typeface="맑은 고딕" pitchFamily="34" charset="0"/>
                <a:ea typeface="맑은 고딕" pitchFamily="34" charset="-122"/>
                <a:cs typeface="맑은 고딕" pitchFamily="34" charset="-120"/>
              </a:rPr>
              <a:t>'가기 전에' 알 수 있습니다   ③ 이미 있는 쉼터를 비로소 쓰게 됩니다</a:t>
            </a:r>
            <a:endParaRPr lang="en-US" sz="1250" dirty="0"/>
          </a:p>
        </p:txBody>
      </p:sp>
      <p:sp>
        <p:nvSpPr>
          <p:cNvPr id="38" name="Text 35"/>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9" name="Text 36"/>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04  </a:t>
            </a:r>
            <a:r>
              <a:rPr lang="en-US" sz="1200" b="1" kern="0" spc="140" dirty="0" err="1">
                <a:solidFill>
                  <a:srgbClr val="001871"/>
                </a:solidFill>
                <a:latin typeface="맑은 고딕" pitchFamily="34" charset="0"/>
                <a:ea typeface="맑은 고딕" pitchFamily="34" charset="-122"/>
                <a:cs typeface="맑은 고딕" pitchFamily="34" charset="-120"/>
              </a:rPr>
              <a:t>사용자</a:t>
            </a:r>
            <a:r>
              <a:rPr lang="en-US" sz="1200" b="1" kern="0" spc="140" dirty="0">
                <a:solidFill>
                  <a:srgbClr val="001871"/>
                </a:solidFill>
                <a:latin typeface="맑은 고딕" pitchFamily="34" charset="0"/>
                <a:ea typeface="맑은 고딕" pitchFamily="34" charset="-122"/>
                <a:cs typeface="맑은 고딕" pitchFamily="34" charset="-120"/>
              </a:rPr>
              <a:t> </a:t>
            </a:r>
            <a:r>
              <a:rPr lang="ko-KR" altLang="en-US" sz="1200" b="1" kern="0" spc="140" dirty="0">
                <a:solidFill>
                  <a:srgbClr val="001871"/>
                </a:solidFill>
                <a:latin typeface="맑은 고딕" pitchFamily="34" charset="0"/>
                <a:ea typeface="맑은 고딕" pitchFamily="34" charset="-122"/>
                <a:cs typeface="맑은 고딕" pitchFamily="34" charset="-120"/>
              </a:rPr>
              <a:t>예상</a:t>
            </a:r>
            <a:r>
              <a:rPr lang="en-US" sz="1200" b="1" kern="0" spc="140" dirty="0">
                <a:solidFill>
                  <a:srgbClr val="001871"/>
                </a:solidFill>
                <a:latin typeface="맑은 고딕" pitchFamily="34" charset="0"/>
                <a:ea typeface="맑은 고딕" pitchFamily="34" charset="-122"/>
                <a:cs typeface="맑은 고딕" pitchFamily="34" charset="-120"/>
              </a:rPr>
              <a:t> 시나리오</a:t>
            </a:r>
            <a:endParaRPr lang="en-US" sz="1200" dirty="0"/>
          </a:p>
        </p:txBody>
      </p:sp>
      <p:sp>
        <p:nvSpPr>
          <p:cNvPr id="3" name="Text 1"/>
          <p:cNvSpPr/>
          <p:nvPr/>
        </p:nvSpPr>
        <p:spPr>
          <a:xfrm>
            <a:off x="566928" y="862768"/>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시나리오 ② 춘천시 </a:t>
            </a:r>
            <a:r>
              <a:rPr lang="en-US" sz="3000" b="1" dirty="0" err="1">
                <a:solidFill>
                  <a:srgbClr val="141B33"/>
                </a:solidFill>
                <a:latin typeface="맑은 고딕" pitchFamily="34" charset="0"/>
                <a:ea typeface="맑은 고딕" pitchFamily="34" charset="-122"/>
                <a:cs typeface="맑은 고딕" pitchFamily="34" charset="-120"/>
              </a:rPr>
              <a:t>담당자의</a:t>
            </a:r>
            <a:r>
              <a:rPr lang="en-US" sz="3000" b="1" dirty="0">
                <a:solidFill>
                  <a:srgbClr val="141B33"/>
                </a:solidFill>
                <a:latin typeface="맑은 고딕" pitchFamily="34" charset="0"/>
                <a:ea typeface="맑은 고딕" pitchFamily="34" charset="-122"/>
                <a:cs typeface="맑은 고딕" pitchFamily="34" charset="-120"/>
              </a:rPr>
              <a:t> </a:t>
            </a:r>
            <a:r>
              <a:rPr lang="ko-KR" altLang="en-US" sz="3000" b="1" dirty="0">
                <a:solidFill>
                  <a:srgbClr val="141B33"/>
                </a:solidFill>
                <a:latin typeface="맑은 고딕" pitchFamily="34" charset="0"/>
                <a:ea typeface="맑은 고딕" pitchFamily="34" charset="-122"/>
                <a:cs typeface="맑은 고딕" pitchFamily="34" charset="-120"/>
              </a:rPr>
              <a:t>워크플로우</a:t>
            </a:r>
            <a:endParaRPr lang="en-US" sz="3000" dirty="0"/>
          </a:p>
        </p:txBody>
      </p:sp>
      <p:sp>
        <p:nvSpPr>
          <p:cNvPr id="5" name="Shape 3"/>
          <p:cNvSpPr/>
          <p:nvPr/>
        </p:nvSpPr>
        <p:spPr>
          <a:xfrm>
            <a:off x="566928" y="1773936"/>
            <a:ext cx="7406640" cy="841248"/>
          </a:xfrm>
          <a:prstGeom prst="roundRect">
            <a:avLst>
              <a:gd name="adj" fmla="val 6522"/>
            </a:avLst>
          </a:prstGeom>
          <a:solidFill>
            <a:srgbClr val="F4F6FC"/>
          </a:solidFill>
          <a:ln w="12700">
            <a:solidFill>
              <a:srgbClr val="D4DAEE"/>
            </a:solidFill>
            <a:prstDash val="solid"/>
          </a:ln>
        </p:spPr>
        <p:txBody>
          <a:bodyPr/>
          <a:lstStyle/>
          <a:p>
            <a:endParaRPr lang="ko-KR" altLang="en-US"/>
          </a:p>
        </p:txBody>
      </p:sp>
      <p:sp>
        <p:nvSpPr>
          <p:cNvPr id="6" name="Text 4"/>
          <p:cNvSpPr/>
          <p:nvPr/>
        </p:nvSpPr>
        <p:spPr>
          <a:xfrm>
            <a:off x="786384" y="1773936"/>
            <a:ext cx="868680" cy="841248"/>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09:10</a:t>
            </a:r>
            <a:endParaRPr lang="en-US" sz="1300" dirty="0"/>
          </a:p>
        </p:txBody>
      </p:sp>
      <p:sp>
        <p:nvSpPr>
          <p:cNvPr id="7" name="Text 5"/>
          <p:cNvSpPr/>
          <p:nvPr/>
        </p:nvSpPr>
        <p:spPr>
          <a:xfrm>
            <a:off x="1700784" y="1847088"/>
            <a:ext cx="2103120" cy="310896"/>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취약 정류장 확인</a:t>
            </a:r>
            <a:endParaRPr lang="en-US" sz="1300" dirty="0"/>
          </a:p>
        </p:txBody>
      </p:sp>
      <p:sp>
        <p:nvSpPr>
          <p:cNvPr id="8" name="Text 6"/>
          <p:cNvSpPr/>
          <p:nvPr/>
        </p:nvSpPr>
        <p:spPr>
          <a:xfrm>
            <a:off x="1700784" y="2139696"/>
            <a:ext cx="6126480" cy="457200"/>
          </a:xfrm>
          <a:prstGeom prst="rect">
            <a:avLst/>
          </a:prstGeom>
          <a:noFill/>
          <a:ln/>
        </p:spPr>
        <p:txBody>
          <a:bodyPr wrap="square" lIns="0" tIns="0" rIns="0" bIns="0" rtlCol="0" anchor="t"/>
          <a:lstStyle/>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그늘도 없고 최근접 쉼터도 300m 밖인 정류장이 몇 곳인지,</a:t>
            </a:r>
            <a:endParaRPr lang="en-US" sz="1050" dirty="0"/>
          </a:p>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어느 동에 몰려 있는지를 지도에서 확인합니다.</a:t>
            </a:r>
            <a:endParaRPr lang="en-US" sz="1050" dirty="0"/>
          </a:p>
        </p:txBody>
      </p:sp>
      <p:sp>
        <p:nvSpPr>
          <p:cNvPr id="9" name="Shape 7"/>
          <p:cNvSpPr/>
          <p:nvPr/>
        </p:nvSpPr>
        <p:spPr>
          <a:xfrm>
            <a:off x="566928" y="2743200"/>
            <a:ext cx="7406640" cy="841248"/>
          </a:xfrm>
          <a:prstGeom prst="roundRect">
            <a:avLst>
              <a:gd name="adj" fmla="val 6522"/>
            </a:avLst>
          </a:prstGeom>
          <a:solidFill>
            <a:srgbClr val="FFFFFF"/>
          </a:solidFill>
          <a:ln w="12700">
            <a:solidFill>
              <a:srgbClr val="D4DAEE"/>
            </a:solidFill>
            <a:prstDash val="solid"/>
          </a:ln>
        </p:spPr>
        <p:txBody>
          <a:bodyPr/>
          <a:lstStyle/>
          <a:p>
            <a:endParaRPr lang="ko-KR" altLang="en-US"/>
          </a:p>
        </p:txBody>
      </p:sp>
      <p:sp>
        <p:nvSpPr>
          <p:cNvPr id="10" name="Text 8"/>
          <p:cNvSpPr/>
          <p:nvPr/>
        </p:nvSpPr>
        <p:spPr>
          <a:xfrm>
            <a:off x="786384" y="2743200"/>
            <a:ext cx="868680" cy="841248"/>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09:25</a:t>
            </a:r>
            <a:endParaRPr lang="en-US" sz="1300" dirty="0"/>
          </a:p>
        </p:txBody>
      </p:sp>
      <p:sp>
        <p:nvSpPr>
          <p:cNvPr id="11" name="Text 9"/>
          <p:cNvSpPr/>
          <p:nvPr/>
        </p:nvSpPr>
        <p:spPr>
          <a:xfrm>
            <a:off x="1700784" y="2816352"/>
            <a:ext cx="2103120" cy="310896"/>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쉼터 배치 재검토</a:t>
            </a:r>
            <a:endParaRPr lang="en-US" sz="1300" dirty="0"/>
          </a:p>
        </p:txBody>
      </p:sp>
      <p:sp>
        <p:nvSpPr>
          <p:cNvPr id="12" name="Text 10"/>
          <p:cNvSpPr/>
          <p:nvPr/>
        </p:nvSpPr>
        <p:spPr>
          <a:xfrm>
            <a:off x="1700784" y="3108960"/>
            <a:ext cx="6126480" cy="457200"/>
          </a:xfrm>
          <a:prstGeom prst="rect">
            <a:avLst/>
          </a:prstGeom>
          <a:noFill/>
          <a:ln/>
        </p:spPr>
        <p:txBody>
          <a:bodyPr wrap="square" lIns="0" tIns="0" rIns="0" bIns="0" rtlCol="0" anchor="t"/>
          <a:lstStyle/>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취약 정류장이 몰린 구역을 안전총괄과와 공유해</a:t>
            </a:r>
            <a:endParaRPr lang="en-US" sz="1050" dirty="0"/>
          </a:p>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무더위쉼터 추가 지정·그늘막 설치 후보로 넘깁니다.</a:t>
            </a:r>
            <a:endParaRPr lang="en-US" sz="1050" dirty="0"/>
          </a:p>
        </p:txBody>
      </p:sp>
      <p:sp>
        <p:nvSpPr>
          <p:cNvPr id="13" name="Shape 11"/>
          <p:cNvSpPr/>
          <p:nvPr/>
        </p:nvSpPr>
        <p:spPr>
          <a:xfrm>
            <a:off x="566928" y="3712464"/>
            <a:ext cx="7406640" cy="841248"/>
          </a:xfrm>
          <a:prstGeom prst="roundRect">
            <a:avLst>
              <a:gd name="adj" fmla="val 6522"/>
            </a:avLst>
          </a:prstGeom>
          <a:solidFill>
            <a:srgbClr val="F4F6FC"/>
          </a:solidFill>
          <a:ln w="12700">
            <a:solidFill>
              <a:srgbClr val="D4DAEE"/>
            </a:solidFill>
            <a:prstDash val="solid"/>
          </a:ln>
        </p:spPr>
        <p:txBody>
          <a:bodyPr/>
          <a:lstStyle/>
          <a:p>
            <a:endParaRPr lang="ko-KR" altLang="en-US"/>
          </a:p>
        </p:txBody>
      </p:sp>
      <p:sp>
        <p:nvSpPr>
          <p:cNvPr id="14" name="Text 12"/>
          <p:cNvSpPr/>
          <p:nvPr/>
        </p:nvSpPr>
        <p:spPr>
          <a:xfrm>
            <a:off x="786384" y="3712464"/>
            <a:ext cx="868680" cy="841248"/>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10:00</a:t>
            </a:r>
            <a:endParaRPr lang="en-US" sz="1300" dirty="0"/>
          </a:p>
        </p:txBody>
      </p:sp>
      <p:sp>
        <p:nvSpPr>
          <p:cNvPr id="15" name="Text 13"/>
          <p:cNvSpPr/>
          <p:nvPr/>
        </p:nvSpPr>
        <p:spPr>
          <a:xfrm>
            <a:off x="1700784" y="3785616"/>
            <a:ext cx="2103120" cy="310896"/>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승강장 설치 후보 선정</a:t>
            </a:r>
            <a:endParaRPr lang="en-US" sz="1300" dirty="0"/>
          </a:p>
        </p:txBody>
      </p:sp>
      <p:sp>
        <p:nvSpPr>
          <p:cNvPr id="16" name="Text 14"/>
          <p:cNvSpPr/>
          <p:nvPr/>
        </p:nvSpPr>
        <p:spPr>
          <a:xfrm>
            <a:off x="1700784" y="4078224"/>
            <a:ext cx="6126480" cy="457200"/>
          </a:xfrm>
          <a:prstGeom prst="rect">
            <a:avLst/>
          </a:prstGeom>
          <a:noFill/>
          <a:ln/>
        </p:spPr>
        <p:txBody>
          <a:bodyPr wrap="square" lIns="0" tIns="0" rIns="0" bIns="0" rtlCol="0" anchor="t"/>
          <a:lstStyle/>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'그늘 없음 + 쉼터 300m 밖 + 이용량 상위' 정류장을 겹쳐 보고</a:t>
            </a:r>
            <a:endParaRPr lang="en-US" sz="1050" dirty="0"/>
          </a:p>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유개식 승강장 설치 후보 목록을 뽑습니다.</a:t>
            </a:r>
            <a:endParaRPr lang="en-US" sz="1050" dirty="0"/>
          </a:p>
        </p:txBody>
      </p:sp>
      <p:sp>
        <p:nvSpPr>
          <p:cNvPr id="17" name="Shape 15"/>
          <p:cNvSpPr/>
          <p:nvPr/>
        </p:nvSpPr>
        <p:spPr>
          <a:xfrm>
            <a:off x="566928" y="4681728"/>
            <a:ext cx="7406640" cy="841248"/>
          </a:xfrm>
          <a:prstGeom prst="roundRect">
            <a:avLst>
              <a:gd name="adj" fmla="val 6522"/>
            </a:avLst>
          </a:prstGeom>
          <a:solidFill>
            <a:srgbClr val="FFFFFF"/>
          </a:solidFill>
          <a:ln w="12700">
            <a:solidFill>
              <a:srgbClr val="D4DAEE"/>
            </a:solidFill>
            <a:prstDash val="solid"/>
          </a:ln>
        </p:spPr>
        <p:txBody>
          <a:bodyPr/>
          <a:lstStyle/>
          <a:p>
            <a:endParaRPr lang="ko-KR" altLang="en-US"/>
          </a:p>
        </p:txBody>
      </p:sp>
      <p:sp>
        <p:nvSpPr>
          <p:cNvPr id="18" name="Text 16"/>
          <p:cNvSpPr/>
          <p:nvPr/>
        </p:nvSpPr>
        <p:spPr>
          <a:xfrm>
            <a:off x="786384" y="4681728"/>
            <a:ext cx="868680" cy="841248"/>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연간</a:t>
            </a:r>
            <a:endParaRPr lang="en-US" sz="1300" dirty="0"/>
          </a:p>
        </p:txBody>
      </p:sp>
      <p:sp>
        <p:nvSpPr>
          <p:cNvPr id="19" name="Text 17"/>
          <p:cNvSpPr/>
          <p:nvPr/>
        </p:nvSpPr>
        <p:spPr>
          <a:xfrm>
            <a:off x="1700784" y="4754880"/>
            <a:ext cx="2103120" cy="310896"/>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예산 근거로 축적</a:t>
            </a:r>
            <a:endParaRPr lang="en-US" sz="1300" dirty="0"/>
          </a:p>
        </p:txBody>
      </p:sp>
      <p:sp>
        <p:nvSpPr>
          <p:cNvPr id="20" name="Text 18"/>
          <p:cNvSpPr/>
          <p:nvPr/>
        </p:nvSpPr>
        <p:spPr>
          <a:xfrm>
            <a:off x="1700784" y="5047488"/>
            <a:ext cx="6126480" cy="457200"/>
          </a:xfrm>
          <a:prstGeom prst="rect">
            <a:avLst/>
          </a:prstGeom>
          <a:noFill/>
          <a:ln/>
        </p:spPr>
        <p:txBody>
          <a:bodyPr wrap="square" lIns="0" tIns="0" rIns="0" bIns="0" rtlCol="0" anchor="t"/>
          <a:lstStyle/>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제보가 쌓일수록 실태가 정확해지고,</a:t>
            </a:r>
            <a:endParaRPr lang="en-US" sz="1050" dirty="0"/>
          </a:p>
          <a:p>
            <a:pPr marL="0" indent="0">
              <a:lnSpc>
                <a:spcPts val="1500"/>
              </a:lnSpc>
              <a:buNone/>
            </a:pPr>
            <a:r>
              <a:rPr lang="en-US" sz="1050" dirty="0">
                <a:solidFill>
                  <a:srgbClr val="39415E"/>
                </a:solidFill>
                <a:latin typeface="맑은 고딕" pitchFamily="34" charset="0"/>
                <a:ea typeface="맑은 고딕" pitchFamily="34" charset="-122"/>
                <a:cs typeface="맑은 고딕" pitchFamily="34" charset="-120"/>
              </a:rPr>
              <a:t>다음 연도 예산 요구서에 '왜 이 정류장인지'를 숫자로 씁니다.</a:t>
            </a:r>
            <a:endParaRPr lang="en-US" sz="1050" dirty="0"/>
          </a:p>
        </p:txBody>
      </p:sp>
      <p:sp>
        <p:nvSpPr>
          <p:cNvPr id="21" name="Shape 19"/>
          <p:cNvSpPr/>
          <p:nvPr/>
        </p:nvSpPr>
        <p:spPr>
          <a:xfrm>
            <a:off x="8247888" y="1773936"/>
            <a:ext cx="3383280" cy="3913632"/>
          </a:xfrm>
          <a:prstGeom prst="roundRect">
            <a:avLst>
              <a:gd name="adj" fmla="val 1622"/>
            </a:avLst>
          </a:prstGeom>
          <a:solidFill>
            <a:srgbClr val="001871"/>
          </a:solidFill>
          <a:ln w="12700">
            <a:solidFill>
              <a:srgbClr val="001871"/>
            </a:solidFill>
            <a:prstDash val="solid"/>
          </a:ln>
        </p:spPr>
        <p:txBody>
          <a:bodyPr/>
          <a:lstStyle/>
          <a:p>
            <a:endParaRPr lang="ko-KR" altLang="en-US"/>
          </a:p>
        </p:txBody>
      </p:sp>
      <p:sp>
        <p:nvSpPr>
          <p:cNvPr id="22" name="Text 20"/>
          <p:cNvSpPr/>
          <p:nvPr/>
        </p:nvSpPr>
        <p:spPr>
          <a:xfrm>
            <a:off x="8485632" y="1938528"/>
            <a:ext cx="2926080" cy="310896"/>
          </a:xfrm>
          <a:prstGeom prst="rect">
            <a:avLst/>
          </a:prstGeom>
          <a:noFill/>
          <a:ln/>
        </p:spPr>
        <p:txBody>
          <a:bodyPr wrap="square" lIns="0" tIns="0" rIns="0" bIns="0"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행정 활용 관점</a:t>
            </a:r>
            <a:endParaRPr lang="en-US" sz="1500" dirty="0"/>
          </a:p>
        </p:txBody>
      </p:sp>
      <p:sp>
        <p:nvSpPr>
          <p:cNvPr id="23" name="Text 21"/>
          <p:cNvSpPr/>
          <p:nvPr/>
        </p:nvSpPr>
        <p:spPr>
          <a:xfrm>
            <a:off x="8485632" y="2359152"/>
            <a:ext cx="2926080" cy="237744"/>
          </a:xfrm>
          <a:prstGeom prst="rect">
            <a:avLst/>
          </a:prstGeom>
          <a:noFill/>
          <a:ln/>
        </p:spPr>
        <p:txBody>
          <a:bodyPr wrap="square" lIns="0" tIns="0" rIns="0" bIns="0" rtlCol="0" anchor="ctr"/>
          <a:lstStyle/>
          <a:p>
            <a:pPr marL="0" indent="0">
              <a:buNone/>
            </a:pPr>
            <a:r>
              <a:rPr lang="en-US" sz="1000" b="1" dirty="0">
                <a:solidFill>
                  <a:srgbClr val="8FA2E4"/>
                </a:solidFill>
                <a:latin typeface="맑은 고딕" pitchFamily="34" charset="0"/>
                <a:ea typeface="맑은 고딕" pitchFamily="34" charset="-122"/>
                <a:cs typeface="맑은 고딕" pitchFamily="34" charset="-120"/>
              </a:rPr>
              <a:t>담당 부서</a:t>
            </a:r>
            <a:endParaRPr lang="en-US" sz="1000" dirty="0"/>
          </a:p>
        </p:txBody>
      </p:sp>
      <p:sp>
        <p:nvSpPr>
          <p:cNvPr id="24" name="Text 22"/>
          <p:cNvSpPr/>
          <p:nvPr/>
        </p:nvSpPr>
        <p:spPr>
          <a:xfrm>
            <a:off x="8485632" y="2578608"/>
            <a:ext cx="2971800" cy="384048"/>
          </a:xfrm>
          <a:prstGeom prst="rect">
            <a:avLst/>
          </a:prstGeom>
          <a:noFill/>
          <a:ln/>
        </p:spPr>
        <p:txBody>
          <a:bodyPr wrap="square" lIns="0" tIns="0" rIns="0" bIns="0" rtlCol="0" anchor="t"/>
          <a:lstStyle/>
          <a:p>
            <a:pPr marL="0" indent="0">
              <a:lnSpc>
                <a:spcPts val="1600"/>
              </a:lnSpc>
              <a:buNone/>
            </a:pPr>
            <a:r>
              <a:rPr lang="en-US" sz="1150" dirty="0">
                <a:solidFill>
                  <a:srgbClr val="FFFFFF"/>
                </a:solidFill>
                <a:latin typeface="맑은 고딕" pitchFamily="34" charset="0"/>
                <a:ea typeface="맑은 고딕" pitchFamily="34" charset="-122"/>
                <a:cs typeface="맑은 고딕" pitchFamily="34" charset="-120"/>
              </a:rPr>
              <a:t>교통과 · 안전총괄과</a:t>
            </a:r>
            <a:endParaRPr lang="en-US" sz="1150" dirty="0"/>
          </a:p>
        </p:txBody>
      </p:sp>
      <p:sp>
        <p:nvSpPr>
          <p:cNvPr id="25" name="Text 23"/>
          <p:cNvSpPr/>
          <p:nvPr/>
        </p:nvSpPr>
        <p:spPr>
          <a:xfrm>
            <a:off x="8485632" y="3017520"/>
            <a:ext cx="2926080" cy="237744"/>
          </a:xfrm>
          <a:prstGeom prst="rect">
            <a:avLst/>
          </a:prstGeom>
          <a:noFill/>
          <a:ln/>
        </p:spPr>
        <p:txBody>
          <a:bodyPr wrap="square" lIns="0" tIns="0" rIns="0" bIns="0" rtlCol="0" anchor="ctr"/>
          <a:lstStyle/>
          <a:p>
            <a:pPr marL="0" indent="0">
              <a:buNone/>
            </a:pPr>
            <a:r>
              <a:rPr lang="en-US" sz="1000" b="1" dirty="0">
                <a:solidFill>
                  <a:srgbClr val="8FA2E4"/>
                </a:solidFill>
                <a:latin typeface="맑은 고딕" pitchFamily="34" charset="0"/>
                <a:ea typeface="맑은 고딕" pitchFamily="34" charset="-122"/>
                <a:cs typeface="맑은 고딕" pitchFamily="34" charset="-120"/>
              </a:rPr>
              <a:t>도입 비용</a:t>
            </a:r>
            <a:endParaRPr lang="en-US" sz="1000" dirty="0"/>
          </a:p>
        </p:txBody>
      </p:sp>
      <p:sp>
        <p:nvSpPr>
          <p:cNvPr id="26" name="Text 24"/>
          <p:cNvSpPr/>
          <p:nvPr/>
        </p:nvSpPr>
        <p:spPr>
          <a:xfrm>
            <a:off x="8485632" y="3236976"/>
            <a:ext cx="2971800" cy="384048"/>
          </a:xfrm>
          <a:prstGeom prst="rect">
            <a:avLst/>
          </a:prstGeom>
          <a:noFill/>
          <a:ln/>
        </p:spPr>
        <p:txBody>
          <a:bodyPr wrap="square" lIns="0" tIns="0" rIns="0" bIns="0" rtlCol="0" anchor="t"/>
          <a:lstStyle/>
          <a:p>
            <a:pPr marL="0" indent="0">
              <a:lnSpc>
                <a:spcPts val="1600"/>
              </a:lnSpc>
              <a:buNone/>
            </a:pPr>
            <a:r>
              <a:rPr lang="en-US" sz="1150" dirty="0">
                <a:solidFill>
                  <a:srgbClr val="FFFFFF"/>
                </a:solidFill>
                <a:latin typeface="맑은 고딕" pitchFamily="34" charset="0"/>
                <a:ea typeface="맑은 고딕" pitchFamily="34" charset="-122"/>
                <a:cs typeface="맑은 고딕" pitchFamily="34" charset="-120"/>
              </a:rPr>
              <a:t>웹 주소 접속만 · 별도 설치 없음</a:t>
            </a:r>
            <a:endParaRPr lang="en-US" sz="1150" dirty="0"/>
          </a:p>
        </p:txBody>
      </p:sp>
      <p:sp>
        <p:nvSpPr>
          <p:cNvPr id="27" name="Text 25"/>
          <p:cNvSpPr/>
          <p:nvPr/>
        </p:nvSpPr>
        <p:spPr>
          <a:xfrm>
            <a:off x="8485632" y="3675888"/>
            <a:ext cx="2926080" cy="237744"/>
          </a:xfrm>
          <a:prstGeom prst="rect">
            <a:avLst/>
          </a:prstGeom>
          <a:noFill/>
          <a:ln/>
        </p:spPr>
        <p:txBody>
          <a:bodyPr wrap="square" lIns="0" tIns="0" rIns="0" bIns="0" rtlCol="0" anchor="ctr"/>
          <a:lstStyle/>
          <a:p>
            <a:pPr marL="0" indent="0">
              <a:buNone/>
            </a:pPr>
            <a:r>
              <a:rPr lang="en-US" sz="1000" b="1" dirty="0">
                <a:solidFill>
                  <a:srgbClr val="8FA2E4"/>
                </a:solidFill>
                <a:latin typeface="맑은 고딕" pitchFamily="34" charset="0"/>
                <a:ea typeface="맑은 고딕" pitchFamily="34" charset="-122"/>
                <a:cs typeface="맑은 고딕" pitchFamily="34" charset="-120"/>
              </a:rPr>
              <a:t>갱신 주기</a:t>
            </a:r>
            <a:endParaRPr lang="en-US" sz="1000" dirty="0"/>
          </a:p>
        </p:txBody>
      </p:sp>
      <p:sp>
        <p:nvSpPr>
          <p:cNvPr id="28" name="Text 26"/>
          <p:cNvSpPr/>
          <p:nvPr/>
        </p:nvSpPr>
        <p:spPr>
          <a:xfrm>
            <a:off x="8485632" y="3895344"/>
            <a:ext cx="2971800" cy="384048"/>
          </a:xfrm>
          <a:prstGeom prst="rect">
            <a:avLst/>
          </a:prstGeom>
          <a:noFill/>
          <a:ln/>
        </p:spPr>
        <p:txBody>
          <a:bodyPr wrap="square" lIns="0" tIns="0" rIns="0" bIns="0" rtlCol="0" anchor="t"/>
          <a:lstStyle/>
          <a:p>
            <a:pPr marL="0" indent="0">
              <a:lnSpc>
                <a:spcPts val="1600"/>
              </a:lnSpc>
              <a:buNone/>
            </a:pPr>
            <a:r>
              <a:rPr lang="en-US" sz="1150" dirty="0">
                <a:solidFill>
                  <a:srgbClr val="FFFFFF"/>
                </a:solidFill>
                <a:latin typeface="맑은 고딕" pitchFamily="34" charset="0"/>
                <a:ea typeface="맑은 고딕" pitchFamily="34" charset="-122"/>
                <a:cs typeface="맑은 고딕" pitchFamily="34" charset="-120"/>
              </a:rPr>
              <a:t>시민 제보가 들어올 때마다 상시</a:t>
            </a:r>
            <a:endParaRPr lang="en-US" sz="1150" dirty="0"/>
          </a:p>
        </p:txBody>
      </p:sp>
      <p:sp>
        <p:nvSpPr>
          <p:cNvPr id="29" name="Text 27"/>
          <p:cNvSpPr/>
          <p:nvPr/>
        </p:nvSpPr>
        <p:spPr>
          <a:xfrm>
            <a:off x="8485632" y="4334256"/>
            <a:ext cx="2926080" cy="237744"/>
          </a:xfrm>
          <a:prstGeom prst="rect">
            <a:avLst/>
          </a:prstGeom>
          <a:noFill/>
          <a:ln/>
        </p:spPr>
        <p:txBody>
          <a:bodyPr wrap="square" lIns="0" tIns="0" rIns="0" bIns="0" rtlCol="0" anchor="ctr"/>
          <a:lstStyle/>
          <a:p>
            <a:pPr marL="0" indent="0">
              <a:buNone/>
            </a:pPr>
            <a:r>
              <a:rPr lang="en-US" sz="1000" b="1" dirty="0">
                <a:solidFill>
                  <a:srgbClr val="8FA2E4"/>
                </a:solidFill>
                <a:latin typeface="맑은 고딕" pitchFamily="34" charset="0"/>
                <a:ea typeface="맑은 고딕" pitchFamily="34" charset="-122"/>
                <a:cs typeface="맑은 고딕" pitchFamily="34" charset="-120"/>
              </a:rPr>
              <a:t>대체하는 것</a:t>
            </a:r>
            <a:endParaRPr lang="en-US" sz="1000" dirty="0"/>
          </a:p>
        </p:txBody>
      </p:sp>
      <p:sp>
        <p:nvSpPr>
          <p:cNvPr id="30" name="Text 28"/>
          <p:cNvSpPr/>
          <p:nvPr/>
        </p:nvSpPr>
        <p:spPr>
          <a:xfrm>
            <a:off x="8485632" y="4553712"/>
            <a:ext cx="2971800" cy="384048"/>
          </a:xfrm>
          <a:prstGeom prst="rect">
            <a:avLst/>
          </a:prstGeom>
          <a:noFill/>
          <a:ln/>
        </p:spPr>
        <p:txBody>
          <a:bodyPr wrap="square" lIns="0" tIns="0" rIns="0" bIns="0" rtlCol="0" anchor="t"/>
          <a:lstStyle/>
          <a:p>
            <a:pPr marL="0" indent="0">
              <a:lnSpc>
                <a:spcPts val="1600"/>
              </a:lnSpc>
              <a:buNone/>
            </a:pPr>
            <a:r>
              <a:rPr lang="en-US" sz="1150" dirty="0">
                <a:solidFill>
                  <a:srgbClr val="FFFFFF"/>
                </a:solidFill>
                <a:latin typeface="맑은 고딕" pitchFamily="34" charset="0"/>
                <a:ea typeface="맑은 고딕" pitchFamily="34" charset="-122"/>
                <a:cs typeface="맑은 고딕" pitchFamily="34" charset="-120"/>
              </a:rPr>
              <a:t>정류장 전수 현장 실태조사</a:t>
            </a:r>
            <a:endParaRPr lang="en-US" sz="1150" dirty="0"/>
          </a:p>
        </p:txBody>
      </p:sp>
      <p:sp>
        <p:nvSpPr>
          <p:cNvPr id="31" name="Text 29"/>
          <p:cNvSpPr/>
          <p:nvPr/>
        </p:nvSpPr>
        <p:spPr>
          <a:xfrm>
            <a:off x="8485632" y="4992624"/>
            <a:ext cx="2926080" cy="237744"/>
          </a:xfrm>
          <a:prstGeom prst="rect">
            <a:avLst/>
          </a:prstGeom>
          <a:noFill/>
          <a:ln/>
        </p:spPr>
        <p:txBody>
          <a:bodyPr wrap="square" lIns="0" tIns="0" rIns="0" bIns="0" rtlCol="0" anchor="ctr"/>
          <a:lstStyle/>
          <a:p>
            <a:pPr marL="0" indent="0">
              <a:buNone/>
            </a:pPr>
            <a:r>
              <a:rPr lang="en-US" sz="1000" b="1" dirty="0">
                <a:solidFill>
                  <a:srgbClr val="8FA2E4"/>
                </a:solidFill>
                <a:latin typeface="맑은 고딕" pitchFamily="34" charset="0"/>
                <a:ea typeface="맑은 고딕" pitchFamily="34" charset="-122"/>
                <a:cs typeface="맑은 고딕" pitchFamily="34" charset="-120"/>
              </a:rPr>
              <a:t>산출물</a:t>
            </a:r>
            <a:endParaRPr lang="en-US" sz="1000" dirty="0"/>
          </a:p>
        </p:txBody>
      </p:sp>
      <p:sp>
        <p:nvSpPr>
          <p:cNvPr id="32" name="Text 30"/>
          <p:cNvSpPr/>
          <p:nvPr/>
        </p:nvSpPr>
        <p:spPr>
          <a:xfrm>
            <a:off x="8485632" y="5212080"/>
            <a:ext cx="2971800" cy="384048"/>
          </a:xfrm>
          <a:prstGeom prst="rect">
            <a:avLst/>
          </a:prstGeom>
          <a:noFill/>
          <a:ln/>
        </p:spPr>
        <p:txBody>
          <a:bodyPr wrap="square" lIns="0" tIns="0" rIns="0" bIns="0" rtlCol="0" anchor="t"/>
          <a:lstStyle/>
          <a:p>
            <a:pPr marL="0" indent="0">
              <a:lnSpc>
                <a:spcPts val="1600"/>
              </a:lnSpc>
              <a:buNone/>
            </a:pPr>
            <a:r>
              <a:rPr lang="en-US" sz="1150" dirty="0">
                <a:solidFill>
                  <a:srgbClr val="FFFFFF"/>
                </a:solidFill>
                <a:latin typeface="맑은 고딕" pitchFamily="34" charset="0"/>
                <a:ea typeface="맑은 고딕" pitchFamily="34" charset="-122"/>
                <a:cs typeface="맑은 고딕" pitchFamily="34" charset="-120"/>
              </a:rPr>
              <a:t>폭염 취약 정류장 목록 · 시설 실태</a:t>
            </a:r>
            <a:endParaRPr lang="en-US" sz="1150" dirty="0"/>
          </a:p>
        </p:txBody>
      </p:sp>
      <p:sp>
        <p:nvSpPr>
          <p:cNvPr id="33" name="Text 31"/>
          <p:cNvSpPr/>
          <p:nvPr/>
        </p:nvSpPr>
        <p:spPr>
          <a:xfrm>
            <a:off x="566928" y="5870448"/>
            <a:ext cx="11064240" cy="310896"/>
          </a:xfrm>
          <a:prstGeom prst="rect">
            <a:avLst/>
          </a:prstGeom>
          <a:noFill/>
          <a:ln/>
        </p:spPr>
        <p:txBody>
          <a:bodyPr wrap="square" lIns="0" tIns="0" rIns="0" bIns="0" rtlCol="0" anchor="ctr"/>
          <a:lstStyle/>
          <a:p>
            <a:pPr marL="0" indent="0">
              <a:buNone/>
            </a:pPr>
            <a:r>
              <a:rPr lang="en-US" sz="1050" i="1" dirty="0">
                <a:solidFill>
                  <a:srgbClr val="6E7796"/>
                </a:solidFill>
                <a:latin typeface="맑은 고딕" pitchFamily="34" charset="0"/>
                <a:ea typeface="맑은 고딕" pitchFamily="34" charset="-122"/>
                <a:cs typeface="맑은 고딕" pitchFamily="34" charset="-120"/>
              </a:rPr>
              <a:t>※ 개인정보를 수집하지 않으므로(닉네임·연락처 필드 없음) 민원 접수 채널로 쓰더라도 개인정보 처리 부담이 발생하지 않습니다.</a:t>
            </a:r>
            <a:endParaRPr lang="en-US" sz="1050" dirty="0"/>
          </a:p>
        </p:txBody>
      </p:sp>
      <p:sp>
        <p:nvSpPr>
          <p:cNvPr id="35" name="Text 32"/>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6" name="Text 33"/>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05  정책 적용 및 기대 효과</a:t>
            </a:r>
            <a:endParaRPr lang="en-US" sz="1200" dirty="0"/>
          </a:p>
        </p:txBody>
      </p:sp>
      <p:sp>
        <p:nvSpPr>
          <p:cNvPr id="3" name="Text 1"/>
          <p:cNvSpPr/>
          <p:nvPr/>
        </p:nvSpPr>
        <p:spPr>
          <a:xfrm>
            <a:off x="566928" y="871359"/>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새로 짓기 전에, 이미 있는 것부터 연결합니다</a:t>
            </a:r>
            <a:endParaRPr lang="en-US" sz="3000" dirty="0"/>
          </a:p>
        </p:txBody>
      </p:sp>
      <p:sp>
        <p:nvSpPr>
          <p:cNvPr id="4" name="Shape 2"/>
          <p:cNvSpPr/>
          <p:nvPr/>
        </p:nvSpPr>
        <p:spPr>
          <a:xfrm>
            <a:off x="566928" y="1737360"/>
            <a:ext cx="3429000" cy="3035808"/>
          </a:xfrm>
          <a:prstGeom prst="roundRect">
            <a:avLst>
              <a:gd name="adj" fmla="val 1807"/>
            </a:avLst>
          </a:prstGeom>
          <a:solidFill>
            <a:srgbClr val="FCEEE0"/>
          </a:solidFill>
          <a:ln w="12700">
            <a:solidFill>
              <a:srgbClr val="F2C99E"/>
            </a:solidFill>
            <a:prstDash val="solid"/>
          </a:ln>
        </p:spPr>
        <p:txBody>
          <a:bodyPr/>
          <a:lstStyle/>
          <a:p>
            <a:endParaRPr lang="ko-KR" altLang="en-US"/>
          </a:p>
        </p:txBody>
      </p:sp>
      <p:sp>
        <p:nvSpPr>
          <p:cNvPr id="5" name="Shape 3"/>
          <p:cNvSpPr/>
          <p:nvPr/>
        </p:nvSpPr>
        <p:spPr>
          <a:xfrm>
            <a:off x="822960" y="1938528"/>
            <a:ext cx="365760" cy="365760"/>
          </a:xfrm>
          <a:prstGeom prst="ellipse">
            <a:avLst/>
          </a:prstGeom>
          <a:solidFill>
            <a:srgbClr val="E8751A"/>
          </a:solidFill>
          <a:ln/>
        </p:spPr>
        <p:txBody>
          <a:bodyPr/>
          <a:lstStyle/>
          <a:p>
            <a:endParaRPr lang="ko-KR" altLang="en-US"/>
          </a:p>
        </p:txBody>
      </p:sp>
      <p:sp>
        <p:nvSpPr>
          <p:cNvPr id="6" name="Text 4"/>
          <p:cNvSpPr/>
          <p:nvPr/>
        </p:nvSpPr>
        <p:spPr>
          <a:xfrm>
            <a:off x="822960" y="1938528"/>
            <a:ext cx="365760" cy="365760"/>
          </a:xfrm>
          <a:prstGeom prst="rect">
            <a:avLst/>
          </a:prstGeom>
          <a:noFill/>
          <a:ln/>
        </p:spPr>
        <p:txBody>
          <a:bodyPr wrap="square" lIns="0" tIns="0" rIns="0" bIns="0" rtlCol="0" anchor="ctr"/>
          <a:lstStyle/>
          <a:p>
            <a:pPr marL="0" indent="0" algn="ctr">
              <a:buNone/>
            </a:pPr>
            <a:r>
              <a:rPr lang="en-US" sz="1360" b="1" dirty="0">
                <a:solidFill>
                  <a:srgbClr val="FFFFFF"/>
                </a:solidFill>
                <a:latin typeface="맑은 고딕" pitchFamily="34" charset="0"/>
                <a:ea typeface="맑은 고딕" pitchFamily="34" charset="-122"/>
                <a:cs typeface="맑은 고딕" pitchFamily="34" charset="-120"/>
              </a:rPr>
              <a:t>1</a:t>
            </a:r>
            <a:endParaRPr lang="en-US" sz="1360" dirty="0"/>
          </a:p>
        </p:txBody>
      </p:sp>
      <p:sp>
        <p:nvSpPr>
          <p:cNvPr id="7" name="Text 5"/>
          <p:cNvSpPr/>
          <p:nvPr/>
        </p:nvSpPr>
        <p:spPr>
          <a:xfrm>
            <a:off x="822960" y="2432304"/>
            <a:ext cx="2926080" cy="548640"/>
          </a:xfrm>
          <a:prstGeom prst="rect">
            <a:avLst/>
          </a:prstGeom>
          <a:noFill/>
          <a:ln/>
        </p:spPr>
        <p:txBody>
          <a:bodyPr wrap="square" lIns="0" tIns="0" rIns="0" bIns="0" rtlCol="0" anchor="t"/>
          <a:lstStyle/>
          <a:p>
            <a:pPr marL="0" indent="0">
              <a:lnSpc>
                <a:spcPts val="2200"/>
              </a:lnSpc>
              <a:buNone/>
            </a:pPr>
            <a:r>
              <a:rPr lang="ko-KR" altLang="en-US" sz="1600" b="1" dirty="0">
                <a:solidFill>
                  <a:srgbClr val="141B33"/>
                </a:solidFill>
                <a:latin typeface="맑은 고딕" pitchFamily="34" charset="0"/>
                <a:ea typeface="맑은 고딕" pitchFamily="34" charset="-122"/>
              </a:rPr>
              <a:t>폭</a:t>
            </a:r>
            <a:endParaRPr lang="en-US" sz="1600" dirty="0"/>
          </a:p>
        </p:txBody>
      </p:sp>
      <p:sp>
        <p:nvSpPr>
          <p:cNvPr id="8" name="Text 6"/>
          <p:cNvSpPr/>
          <p:nvPr/>
        </p:nvSpPr>
        <p:spPr>
          <a:xfrm>
            <a:off x="822960" y="3035808"/>
            <a:ext cx="2971800" cy="1097280"/>
          </a:xfrm>
          <a:prstGeom prst="rect">
            <a:avLst/>
          </a:prstGeom>
          <a:noFill/>
          <a:ln/>
        </p:spPr>
        <p:txBody>
          <a:bodyPr wrap="square" lIns="0" tIns="0" rIns="0" bIns="0" rtlCol="0" anchor="t"/>
          <a:lstStyle/>
          <a:p>
            <a:pPr marL="0" indent="0">
              <a:lnSpc>
                <a:spcPts val="1800"/>
              </a:lnSpc>
              <a:buNone/>
            </a:pPr>
            <a:r>
              <a:rPr lang="en-US" sz="1150" dirty="0">
                <a:solidFill>
                  <a:srgbClr val="39415E"/>
                </a:solidFill>
                <a:latin typeface="맑은 고딕" pitchFamily="34" charset="0"/>
                <a:ea typeface="맑은 고딕" pitchFamily="34" charset="-122"/>
                <a:cs typeface="맑은 고딕" pitchFamily="34" charset="-120"/>
              </a:rPr>
              <a:t>그.</a:t>
            </a:r>
            <a:endParaRPr lang="en-US" sz="1150" dirty="0"/>
          </a:p>
        </p:txBody>
      </p:sp>
      <p:sp>
        <p:nvSpPr>
          <p:cNvPr id="9" name="Shape 7"/>
          <p:cNvSpPr/>
          <p:nvPr/>
        </p:nvSpPr>
        <p:spPr>
          <a:xfrm>
            <a:off x="822960" y="4224528"/>
            <a:ext cx="2926080" cy="384048"/>
          </a:xfrm>
          <a:prstGeom prst="roundRect">
            <a:avLst>
              <a:gd name="adj" fmla="val 119048"/>
            </a:avLst>
          </a:prstGeom>
          <a:solidFill>
            <a:srgbClr val="FFFFFF"/>
          </a:solidFill>
          <a:ln w="12700">
            <a:solidFill>
              <a:srgbClr val="E8751A"/>
            </a:solidFill>
            <a:prstDash val="solid"/>
          </a:ln>
        </p:spPr>
        <p:txBody>
          <a:bodyPr/>
          <a:lstStyle/>
          <a:p>
            <a:endParaRPr lang="ko-KR" altLang="en-US"/>
          </a:p>
        </p:txBody>
      </p:sp>
      <p:sp>
        <p:nvSpPr>
          <p:cNvPr id="10" name="Text 8"/>
          <p:cNvSpPr/>
          <p:nvPr/>
        </p:nvSpPr>
        <p:spPr>
          <a:xfrm>
            <a:off x="822960" y="4224528"/>
            <a:ext cx="2926080" cy="384048"/>
          </a:xfrm>
          <a:prstGeom prst="rect">
            <a:avLst/>
          </a:prstGeom>
          <a:noFill/>
          <a:ln/>
        </p:spPr>
        <p:txBody>
          <a:bodyPr wrap="square" lIns="0" tIns="0" rIns="0" bIns="0" rtlCol="0" anchor="ctr"/>
          <a:lstStyle/>
          <a:p>
            <a:pPr marL="0" indent="0" algn="ctr">
              <a:buNone/>
            </a:pPr>
            <a:r>
              <a:rPr lang="en-US" sz="1100" b="1" dirty="0">
                <a:solidFill>
                  <a:srgbClr val="E8751A"/>
                </a:solidFill>
                <a:latin typeface="맑은 고딕" pitchFamily="34" charset="0"/>
                <a:ea typeface="맑은 고딕" pitchFamily="34" charset="-122"/>
                <a:cs typeface="맑은 고딕" pitchFamily="34" charset="-120"/>
              </a:rPr>
              <a:t>취약 식별 → 저비용 우선</a:t>
            </a:r>
            <a:endParaRPr lang="en-US" sz="1100" dirty="0"/>
          </a:p>
        </p:txBody>
      </p:sp>
      <p:sp>
        <p:nvSpPr>
          <p:cNvPr id="11" name="Shape 9"/>
          <p:cNvSpPr/>
          <p:nvPr/>
        </p:nvSpPr>
        <p:spPr>
          <a:xfrm>
            <a:off x="4270248" y="1737360"/>
            <a:ext cx="3429000" cy="3035808"/>
          </a:xfrm>
          <a:prstGeom prst="roundRect">
            <a:avLst>
              <a:gd name="adj" fmla="val 1807"/>
            </a:avLst>
          </a:prstGeom>
          <a:solidFill>
            <a:srgbClr val="F4F6FC"/>
          </a:solidFill>
          <a:ln w="12700">
            <a:solidFill>
              <a:srgbClr val="D4DAEE"/>
            </a:solidFill>
            <a:prstDash val="solid"/>
          </a:ln>
        </p:spPr>
        <p:txBody>
          <a:bodyPr/>
          <a:lstStyle/>
          <a:p>
            <a:endParaRPr lang="ko-KR" altLang="en-US"/>
          </a:p>
        </p:txBody>
      </p:sp>
      <p:sp>
        <p:nvSpPr>
          <p:cNvPr id="12" name="Shape 10"/>
          <p:cNvSpPr/>
          <p:nvPr/>
        </p:nvSpPr>
        <p:spPr>
          <a:xfrm>
            <a:off x="4526280" y="1938528"/>
            <a:ext cx="365760" cy="365760"/>
          </a:xfrm>
          <a:prstGeom prst="ellipse">
            <a:avLst/>
          </a:prstGeom>
          <a:solidFill>
            <a:srgbClr val="001871"/>
          </a:solidFill>
          <a:ln/>
        </p:spPr>
        <p:txBody>
          <a:bodyPr/>
          <a:lstStyle/>
          <a:p>
            <a:endParaRPr lang="ko-KR" altLang="en-US"/>
          </a:p>
        </p:txBody>
      </p:sp>
      <p:sp>
        <p:nvSpPr>
          <p:cNvPr id="13" name="Text 11"/>
          <p:cNvSpPr/>
          <p:nvPr/>
        </p:nvSpPr>
        <p:spPr>
          <a:xfrm>
            <a:off x="4526280" y="1938528"/>
            <a:ext cx="365760" cy="365760"/>
          </a:xfrm>
          <a:prstGeom prst="rect">
            <a:avLst/>
          </a:prstGeom>
          <a:noFill/>
          <a:ln/>
        </p:spPr>
        <p:txBody>
          <a:bodyPr wrap="square" lIns="0" tIns="0" rIns="0" bIns="0" rtlCol="0" anchor="ctr"/>
          <a:lstStyle/>
          <a:p>
            <a:pPr marL="0" indent="0" algn="ctr">
              <a:buNone/>
            </a:pPr>
            <a:r>
              <a:rPr lang="en-US" sz="1360" b="1" dirty="0">
                <a:solidFill>
                  <a:srgbClr val="FFFFFF"/>
                </a:solidFill>
                <a:latin typeface="맑은 고딕" pitchFamily="34" charset="0"/>
                <a:ea typeface="맑은 고딕" pitchFamily="34" charset="-122"/>
                <a:cs typeface="맑은 고딕" pitchFamily="34" charset="-120"/>
              </a:rPr>
              <a:t>2</a:t>
            </a:r>
            <a:endParaRPr lang="en-US" sz="1360" dirty="0"/>
          </a:p>
        </p:txBody>
      </p:sp>
      <p:sp>
        <p:nvSpPr>
          <p:cNvPr id="14" name="Text 12"/>
          <p:cNvSpPr/>
          <p:nvPr/>
        </p:nvSpPr>
        <p:spPr>
          <a:xfrm>
            <a:off x="4526280" y="2432304"/>
            <a:ext cx="2926080" cy="548640"/>
          </a:xfrm>
          <a:prstGeom prst="rect">
            <a:avLst/>
          </a:prstGeom>
          <a:noFill/>
          <a:ln/>
        </p:spPr>
        <p:txBody>
          <a:bodyPr wrap="square" lIns="0" tIns="0" rIns="0" bIns="0" rtlCol="0" anchor="t"/>
          <a:lstStyle/>
          <a:p>
            <a:pPr marL="0" indent="0">
              <a:lnSpc>
                <a:spcPts val="2200"/>
              </a:lnSpc>
              <a:buNone/>
            </a:pPr>
            <a:r>
              <a:rPr lang="en-US" sz="1600" b="1" dirty="0">
                <a:solidFill>
                  <a:srgbClr val="141B33"/>
                </a:solidFill>
                <a:latin typeface="맑은 고딕" pitchFamily="34" charset="0"/>
                <a:ea typeface="맑은 고딕" pitchFamily="34" charset="-122"/>
                <a:cs typeface="맑은 고딕" pitchFamily="34" charset="-120"/>
              </a:rPr>
              <a:t>쉼</a:t>
            </a:r>
            <a:endParaRPr lang="en-US" sz="1600" dirty="0"/>
          </a:p>
        </p:txBody>
      </p:sp>
      <p:sp>
        <p:nvSpPr>
          <p:cNvPr id="15" name="Text 13"/>
          <p:cNvSpPr/>
          <p:nvPr/>
        </p:nvSpPr>
        <p:spPr>
          <a:xfrm>
            <a:off x="4526280" y="3035808"/>
            <a:ext cx="2971800" cy="1097280"/>
          </a:xfrm>
          <a:prstGeom prst="rect">
            <a:avLst/>
          </a:prstGeom>
          <a:noFill/>
          <a:ln/>
        </p:spPr>
        <p:txBody>
          <a:bodyPr wrap="square" lIns="0" tIns="0" rIns="0" bIns="0" rtlCol="0" anchor="t"/>
          <a:lstStyle/>
          <a:p>
            <a:pPr marL="0" indent="0">
              <a:lnSpc>
                <a:spcPts val="1800"/>
              </a:lnSpc>
              <a:buNone/>
            </a:pPr>
            <a:r>
              <a:rPr lang="en-US" sz="1150" dirty="0">
                <a:solidFill>
                  <a:srgbClr val="39415E"/>
                </a:solidFill>
                <a:latin typeface="맑은 고딕" pitchFamily="34" charset="0"/>
                <a:ea typeface="맑은 고딕" pitchFamily="34" charset="-122"/>
                <a:cs typeface="맑은 고딕" pitchFamily="34" charset="-120"/>
              </a:rPr>
              <a:t>안</a:t>
            </a:r>
            <a:endParaRPr lang="en-US" sz="1150" dirty="0"/>
          </a:p>
        </p:txBody>
      </p:sp>
      <p:sp>
        <p:nvSpPr>
          <p:cNvPr id="16" name="Shape 14"/>
          <p:cNvSpPr/>
          <p:nvPr/>
        </p:nvSpPr>
        <p:spPr>
          <a:xfrm>
            <a:off x="4526280" y="4224528"/>
            <a:ext cx="2926080" cy="384048"/>
          </a:xfrm>
          <a:prstGeom prst="roundRect">
            <a:avLst>
              <a:gd name="adj" fmla="val 119048"/>
            </a:avLst>
          </a:prstGeom>
          <a:solidFill>
            <a:srgbClr val="FFFFFF"/>
          </a:solidFill>
          <a:ln w="12700">
            <a:solidFill>
              <a:srgbClr val="001871"/>
            </a:solidFill>
            <a:prstDash val="solid"/>
          </a:ln>
        </p:spPr>
        <p:txBody>
          <a:bodyPr/>
          <a:lstStyle/>
          <a:p>
            <a:endParaRPr lang="ko-KR" altLang="en-US"/>
          </a:p>
        </p:txBody>
      </p:sp>
      <p:sp>
        <p:nvSpPr>
          <p:cNvPr id="17" name="Text 15"/>
          <p:cNvSpPr/>
          <p:nvPr/>
        </p:nvSpPr>
        <p:spPr>
          <a:xfrm>
            <a:off x="4526280" y="4224528"/>
            <a:ext cx="2926080" cy="384048"/>
          </a:xfrm>
          <a:prstGeom prst="rect">
            <a:avLst/>
          </a:prstGeom>
          <a:noFill/>
          <a:ln/>
        </p:spPr>
        <p:txBody>
          <a:bodyPr wrap="square" lIns="0" tIns="0" rIns="0" bIns="0" rtlCol="0" anchor="ctr"/>
          <a:lstStyle/>
          <a:p>
            <a:pPr marL="0" indent="0" algn="ctr">
              <a:buNone/>
            </a:pPr>
            <a:r>
              <a:rPr lang="en-US" sz="1100" b="1" dirty="0">
                <a:solidFill>
                  <a:srgbClr val="001871"/>
                </a:solidFill>
                <a:latin typeface="맑은 고딕" pitchFamily="34" charset="0"/>
                <a:ea typeface="맑은 고딕" pitchFamily="34" charset="-122"/>
                <a:cs typeface="맑은 고딕" pitchFamily="34" charset="-120"/>
              </a:rPr>
              <a:t>부서 분산 → 통합 판단</a:t>
            </a:r>
            <a:endParaRPr lang="en-US" sz="1100" dirty="0"/>
          </a:p>
        </p:txBody>
      </p:sp>
      <p:sp>
        <p:nvSpPr>
          <p:cNvPr id="18" name="Shape 16"/>
          <p:cNvSpPr/>
          <p:nvPr/>
        </p:nvSpPr>
        <p:spPr>
          <a:xfrm>
            <a:off x="7973568" y="1737360"/>
            <a:ext cx="3429000" cy="3035808"/>
          </a:xfrm>
          <a:prstGeom prst="roundRect">
            <a:avLst>
              <a:gd name="adj" fmla="val 1807"/>
            </a:avLst>
          </a:prstGeom>
          <a:solidFill>
            <a:srgbClr val="F4F6FC"/>
          </a:solidFill>
          <a:ln w="12700">
            <a:solidFill>
              <a:srgbClr val="D4DAEE"/>
            </a:solidFill>
            <a:prstDash val="solid"/>
          </a:ln>
        </p:spPr>
        <p:txBody>
          <a:bodyPr/>
          <a:lstStyle/>
          <a:p>
            <a:endParaRPr lang="ko-KR" altLang="en-US"/>
          </a:p>
        </p:txBody>
      </p:sp>
      <p:sp>
        <p:nvSpPr>
          <p:cNvPr id="19" name="Shape 17"/>
          <p:cNvSpPr/>
          <p:nvPr/>
        </p:nvSpPr>
        <p:spPr>
          <a:xfrm>
            <a:off x="8229600" y="1938528"/>
            <a:ext cx="365760" cy="365760"/>
          </a:xfrm>
          <a:prstGeom prst="ellipse">
            <a:avLst/>
          </a:prstGeom>
          <a:solidFill>
            <a:srgbClr val="001871"/>
          </a:solidFill>
          <a:ln/>
        </p:spPr>
        <p:txBody>
          <a:bodyPr/>
          <a:lstStyle/>
          <a:p>
            <a:endParaRPr lang="ko-KR" altLang="en-US"/>
          </a:p>
        </p:txBody>
      </p:sp>
      <p:sp>
        <p:nvSpPr>
          <p:cNvPr id="20" name="Text 18"/>
          <p:cNvSpPr/>
          <p:nvPr/>
        </p:nvSpPr>
        <p:spPr>
          <a:xfrm>
            <a:off x="8229600" y="1938528"/>
            <a:ext cx="365760" cy="365760"/>
          </a:xfrm>
          <a:prstGeom prst="rect">
            <a:avLst/>
          </a:prstGeom>
          <a:noFill/>
          <a:ln/>
        </p:spPr>
        <p:txBody>
          <a:bodyPr wrap="square" lIns="0" tIns="0" rIns="0" bIns="0" rtlCol="0" anchor="ctr"/>
          <a:lstStyle/>
          <a:p>
            <a:pPr marL="0" indent="0" algn="ctr">
              <a:buNone/>
            </a:pPr>
            <a:r>
              <a:rPr lang="en-US" sz="1360" b="1" dirty="0">
                <a:solidFill>
                  <a:srgbClr val="FFFFFF"/>
                </a:solidFill>
                <a:latin typeface="맑은 고딕" pitchFamily="34" charset="0"/>
                <a:ea typeface="맑은 고딕" pitchFamily="34" charset="-122"/>
                <a:cs typeface="맑은 고딕" pitchFamily="34" charset="-120"/>
              </a:rPr>
              <a:t>3</a:t>
            </a:r>
            <a:endParaRPr lang="en-US" sz="1360" dirty="0"/>
          </a:p>
        </p:txBody>
      </p:sp>
      <p:sp>
        <p:nvSpPr>
          <p:cNvPr id="21" name="Text 19"/>
          <p:cNvSpPr/>
          <p:nvPr/>
        </p:nvSpPr>
        <p:spPr>
          <a:xfrm>
            <a:off x="8229600" y="2432304"/>
            <a:ext cx="2926080" cy="548640"/>
          </a:xfrm>
          <a:prstGeom prst="rect">
            <a:avLst/>
          </a:prstGeom>
          <a:noFill/>
          <a:ln/>
        </p:spPr>
        <p:txBody>
          <a:bodyPr wrap="square" lIns="0" tIns="0" rIns="0" bIns="0" rtlCol="0" anchor="t"/>
          <a:lstStyle/>
          <a:p>
            <a:pPr marL="0" indent="0">
              <a:lnSpc>
                <a:spcPts val="2200"/>
              </a:lnSpc>
              <a:buNone/>
            </a:pPr>
            <a:r>
              <a:rPr lang="en-US" sz="1600" b="1" dirty="0">
                <a:solidFill>
                  <a:srgbClr val="141B33"/>
                </a:solidFill>
                <a:latin typeface="맑은 고딕" pitchFamily="34" charset="0"/>
                <a:ea typeface="맑은 고딕" pitchFamily="34" charset="-122"/>
                <a:cs typeface="맑은 고딕" pitchFamily="34" charset="-120"/>
              </a:rPr>
              <a:t>개선 사업 우선순위 근거</a:t>
            </a:r>
            <a:endParaRPr lang="en-US" sz="1600" dirty="0"/>
          </a:p>
        </p:txBody>
      </p:sp>
      <p:sp>
        <p:nvSpPr>
          <p:cNvPr id="22" name="Text 20"/>
          <p:cNvSpPr/>
          <p:nvPr/>
        </p:nvSpPr>
        <p:spPr>
          <a:xfrm>
            <a:off x="8229600" y="3035808"/>
            <a:ext cx="2971800" cy="1097280"/>
          </a:xfrm>
          <a:prstGeom prst="rect">
            <a:avLst/>
          </a:prstGeom>
          <a:noFill/>
          <a:ln/>
        </p:spPr>
        <p:txBody>
          <a:bodyPr wrap="square" lIns="0" tIns="0" rIns="0" bIns="0" rtlCol="0" anchor="t"/>
          <a:lstStyle/>
          <a:p>
            <a:pPr marL="0" indent="0">
              <a:lnSpc>
                <a:spcPts val="1800"/>
              </a:lnSpc>
              <a:buNone/>
            </a:pPr>
            <a:r>
              <a:rPr lang="en-US" sz="1150" dirty="0">
                <a:solidFill>
                  <a:srgbClr val="39415E"/>
                </a:solidFill>
                <a:latin typeface="맑은 고딕" pitchFamily="34" charset="0"/>
                <a:ea typeface="맑은 고딕" pitchFamily="34" charset="-122"/>
                <a:cs typeface="맑은 고딕" pitchFamily="34" charset="-120"/>
              </a:rPr>
              <a:t>유개식 승강장 716곳 → 980곳 사업의</a:t>
            </a:r>
            <a:endParaRPr lang="en-US" sz="1150" dirty="0"/>
          </a:p>
          <a:p>
            <a:pPr marL="0" indent="0">
              <a:lnSpc>
                <a:spcPts val="1800"/>
              </a:lnSpc>
              <a:buNone/>
            </a:pPr>
            <a:r>
              <a:rPr lang="en-US" sz="1150" dirty="0">
                <a:solidFill>
                  <a:srgbClr val="39415E"/>
                </a:solidFill>
                <a:latin typeface="맑은 고딕" pitchFamily="34" charset="0"/>
                <a:ea typeface="맑은 고딕" pitchFamily="34" charset="-122"/>
                <a:cs typeface="맑은 고딕" pitchFamily="34" charset="-120"/>
              </a:rPr>
              <a:t>'어느 정류장부터'에 답을 줍니다.</a:t>
            </a:r>
            <a:endParaRPr lang="en-US" sz="1150" dirty="0"/>
          </a:p>
          <a:p>
            <a:pPr marL="0" indent="0">
              <a:lnSpc>
                <a:spcPts val="1800"/>
              </a:lnSpc>
              <a:buNone/>
            </a:pPr>
            <a:r>
              <a:rPr lang="en-US" sz="1150" dirty="0">
                <a:solidFill>
                  <a:srgbClr val="39415E"/>
                </a:solidFill>
                <a:latin typeface="맑은 고딕" pitchFamily="34" charset="0"/>
                <a:ea typeface="맑은 고딕" pitchFamily="34" charset="-122"/>
                <a:cs typeface="맑은 고딕" pitchFamily="34" charset="-120"/>
              </a:rPr>
              <a:t>실태 조사 용역 없이 상시 갱신됩니다.</a:t>
            </a:r>
            <a:endParaRPr lang="en-US" sz="1150" dirty="0"/>
          </a:p>
        </p:txBody>
      </p:sp>
      <p:sp>
        <p:nvSpPr>
          <p:cNvPr id="23" name="Shape 21"/>
          <p:cNvSpPr/>
          <p:nvPr/>
        </p:nvSpPr>
        <p:spPr>
          <a:xfrm>
            <a:off x="8229600" y="4224528"/>
            <a:ext cx="2926080" cy="384048"/>
          </a:xfrm>
          <a:prstGeom prst="roundRect">
            <a:avLst>
              <a:gd name="adj" fmla="val 119048"/>
            </a:avLst>
          </a:prstGeom>
          <a:solidFill>
            <a:srgbClr val="FFFFFF"/>
          </a:solidFill>
          <a:ln w="12700">
            <a:solidFill>
              <a:srgbClr val="001871"/>
            </a:solidFill>
            <a:prstDash val="solid"/>
          </a:ln>
        </p:spPr>
        <p:txBody>
          <a:bodyPr/>
          <a:lstStyle/>
          <a:p>
            <a:endParaRPr lang="ko-KR" altLang="en-US"/>
          </a:p>
        </p:txBody>
      </p:sp>
      <p:sp>
        <p:nvSpPr>
          <p:cNvPr id="24" name="Text 22"/>
          <p:cNvSpPr/>
          <p:nvPr/>
        </p:nvSpPr>
        <p:spPr>
          <a:xfrm>
            <a:off x="8229600" y="4224528"/>
            <a:ext cx="2926080" cy="384048"/>
          </a:xfrm>
          <a:prstGeom prst="rect">
            <a:avLst/>
          </a:prstGeom>
          <a:noFill/>
          <a:ln/>
        </p:spPr>
        <p:txBody>
          <a:bodyPr wrap="square" lIns="0" tIns="0" rIns="0" bIns="0" rtlCol="0" anchor="ctr"/>
          <a:lstStyle/>
          <a:p>
            <a:pPr marL="0" indent="0" algn="ctr">
              <a:buNone/>
            </a:pPr>
            <a:r>
              <a:rPr lang="en-US" sz="1100" b="1" dirty="0">
                <a:solidFill>
                  <a:srgbClr val="001871"/>
                </a:solidFill>
                <a:latin typeface="맑은 고딕" pitchFamily="34" charset="0"/>
                <a:ea typeface="맑은 고딕" pitchFamily="34" charset="-122"/>
                <a:cs typeface="맑은 고딕" pitchFamily="34" charset="-120"/>
              </a:rPr>
              <a:t>총량 계획 → 지점 선정</a:t>
            </a:r>
            <a:endParaRPr lang="en-US" sz="1100" dirty="0"/>
          </a:p>
        </p:txBody>
      </p:sp>
      <p:sp>
        <p:nvSpPr>
          <p:cNvPr id="25" name="Shape 23"/>
          <p:cNvSpPr/>
          <p:nvPr/>
        </p:nvSpPr>
        <p:spPr>
          <a:xfrm>
            <a:off x="566928" y="5029200"/>
            <a:ext cx="11064240" cy="1042416"/>
          </a:xfrm>
          <a:prstGeom prst="roundRect">
            <a:avLst>
              <a:gd name="adj" fmla="val 5263"/>
            </a:avLst>
          </a:prstGeom>
          <a:solidFill>
            <a:srgbClr val="001871"/>
          </a:solidFill>
          <a:ln w="12700">
            <a:solidFill>
              <a:srgbClr val="001871"/>
            </a:solidFill>
            <a:prstDash val="solid"/>
          </a:ln>
        </p:spPr>
        <p:txBody>
          <a:bodyPr/>
          <a:lstStyle/>
          <a:p>
            <a:endParaRPr lang="ko-KR" altLang="en-US"/>
          </a:p>
        </p:txBody>
      </p:sp>
      <p:sp>
        <p:nvSpPr>
          <p:cNvPr id="26" name="Text 24"/>
          <p:cNvSpPr/>
          <p:nvPr/>
        </p:nvSpPr>
        <p:spPr>
          <a:xfrm>
            <a:off x="950976" y="5157216"/>
            <a:ext cx="1828800" cy="274320"/>
          </a:xfrm>
          <a:prstGeom prst="rect">
            <a:avLst/>
          </a:prstGeom>
          <a:noFill/>
          <a:ln/>
        </p:spPr>
        <p:txBody>
          <a:bodyPr wrap="square" lIns="0" tIns="0" rIns="0" bIns="0" rtlCol="0" anchor="ctr"/>
          <a:lstStyle/>
          <a:p>
            <a:pPr marL="0" indent="0">
              <a:buNone/>
            </a:pPr>
            <a:r>
              <a:rPr lang="en-US" sz="1200" b="1" dirty="0">
                <a:solidFill>
                  <a:srgbClr val="8FA2E4"/>
                </a:solidFill>
                <a:latin typeface="맑은 고딕" pitchFamily="34" charset="0"/>
                <a:ea typeface="맑은 고딕" pitchFamily="34" charset="-122"/>
                <a:cs typeface="맑은 고딕" pitchFamily="34" charset="-120"/>
              </a:rPr>
              <a:t>적용 방식</a:t>
            </a:r>
            <a:endParaRPr lang="en-US" sz="1200" dirty="0"/>
          </a:p>
        </p:txBody>
      </p:sp>
      <p:sp>
        <p:nvSpPr>
          <p:cNvPr id="27" name="Text 25"/>
          <p:cNvSpPr/>
          <p:nvPr/>
        </p:nvSpPr>
        <p:spPr>
          <a:xfrm>
            <a:off x="950976" y="5449824"/>
            <a:ext cx="10332720" cy="457200"/>
          </a:xfrm>
          <a:prstGeom prst="rect">
            <a:avLst/>
          </a:prstGeom>
          <a:noFill/>
          <a:ln/>
        </p:spPr>
        <p:txBody>
          <a:bodyPr wrap="square" lIns="0" tIns="0" rIns="0" bIns="0" rtlCol="0" anchor="ctr"/>
          <a:lstStyle/>
          <a:p>
            <a:pPr marL="0" indent="0">
              <a:buNone/>
            </a:pPr>
            <a:r>
              <a:rPr lang="en-US" sz="1250" b="1" dirty="0">
                <a:solidFill>
                  <a:srgbClr val="FFFFFF"/>
                </a:solidFill>
                <a:latin typeface="맑은 고딕" pitchFamily="34" charset="0"/>
                <a:ea typeface="맑은 고딕" pitchFamily="34" charset="-122"/>
                <a:cs typeface="맑은 고딕" pitchFamily="34" charset="-120"/>
              </a:rPr>
              <a:t>① 정류장에 QR 스티커만 붙이면 어르신 진입 경로가 열립니다  ·  ② 대시보드는 웹 주소 접속만으로 즉시 사용  ·  ③ 축적된 실태 데이터는 춘천시 공공데이터로 재개방 가능</a:t>
            </a:r>
            <a:endParaRPr lang="en-US" sz="1250" dirty="0"/>
          </a:p>
        </p:txBody>
      </p:sp>
      <p:sp>
        <p:nvSpPr>
          <p:cNvPr id="29" name="Text 26"/>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0" name="Text 27"/>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05  정책 적용 및 기대 효과</a:t>
            </a:r>
            <a:endParaRPr lang="en-US" sz="1200" dirty="0"/>
          </a:p>
        </p:txBody>
      </p:sp>
      <p:sp>
        <p:nvSpPr>
          <p:cNvPr id="3" name="Text 1"/>
          <p:cNvSpPr/>
          <p:nvPr/>
        </p:nvSpPr>
        <p:spPr>
          <a:xfrm>
            <a:off x="566928" y="862307"/>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기대 효과</a:t>
            </a:r>
            <a:endParaRPr lang="en-US" sz="3000" dirty="0"/>
          </a:p>
        </p:txBody>
      </p:sp>
      <p:sp>
        <p:nvSpPr>
          <p:cNvPr id="5" name="Shape 3"/>
          <p:cNvSpPr/>
          <p:nvPr/>
        </p:nvSpPr>
        <p:spPr>
          <a:xfrm>
            <a:off x="566928" y="1792224"/>
            <a:ext cx="3429000" cy="3566160"/>
          </a:xfrm>
          <a:prstGeom prst="roundRect">
            <a:avLst>
              <a:gd name="adj" fmla="val 1600"/>
            </a:avLst>
          </a:prstGeom>
          <a:solidFill>
            <a:srgbClr val="FCEEE0"/>
          </a:solidFill>
          <a:ln w="12700">
            <a:solidFill>
              <a:srgbClr val="F2C99E"/>
            </a:solidFill>
            <a:prstDash val="solid"/>
          </a:ln>
        </p:spPr>
        <p:txBody>
          <a:bodyPr/>
          <a:lstStyle/>
          <a:p>
            <a:endParaRPr lang="ko-KR" altLang="en-US"/>
          </a:p>
        </p:txBody>
      </p:sp>
      <p:sp>
        <p:nvSpPr>
          <p:cNvPr id="6" name="Shape 4"/>
          <p:cNvSpPr/>
          <p:nvPr/>
        </p:nvSpPr>
        <p:spPr>
          <a:xfrm>
            <a:off x="822960" y="1993392"/>
            <a:ext cx="960120" cy="402336"/>
          </a:xfrm>
          <a:prstGeom prst="roundRect">
            <a:avLst>
              <a:gd name="adj" fmla="val 113636"/>
            </a:avLst>
          </a:prstGeom>
          <a:solidFill>
            <a:srgbClr val="E8751A"/>
          </a:solidFill>
          <a:ln w="12700">
            <a:solidFill>
              <a:srgbClr val="E8751A"/>
            </a:solidFill>
            <a:prstDash val="solid"/>
          </a:ln>
        </p:spPr>
        <p:txBody>
          <a:bodyPr/>
          <a:lstStyle/>
          <a:p>
            <a:endParaRPr lang="ko-KR" altLang="en-US"/>
          </a:p>
        </p:txBody>
      </p:sp>
      <p:sp>
        <p:nvSpPr>
          <p:cNvPr id="7" name="Text 5"/>
          <p:cNvSpPr/>
          <p:nvPr/>
        </p:nvSpPr>
        <p:spPr>
          <a:xfrm>
            <a:off x="822960" y="1993392"/>
            <a:ext cx="96012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시민</a:t>
            </a:r>
            <a:endParaRPr lang="en-US" sz="1300" dirty="0"/>
          </a:p>
        </p:txBody>
      </p:sp>
      <p:sp>
        <p:nvSpPr>
          <p:cNvPr id="8" name="Text 6"/>
          <p:cNvSpPr/>
          <p:nvPr/>
        </p:nvSpPr>
        <p:spPr>
          <a:xfrm>
            <a:off x="822960" y="2578608"/>
            <a:ext cx="146304" cy="274320"/>
          </a:xfrm>
          <a:prstGeom prst="rect">
            <a:avLst/>
          </a:prstGeom>
          <a:noFill/>
          <a:ln/>
        </p:spPr>
        <p:txBody>
          <a:bodyPr wrap="square" lIns="0" tIns="0" rIns="0" bIns="0" rtlCol="0" anchor="ctr"/>
          <a:lstStyle/>
          <a:p>
            <a:pPr marL="0" indent="0">
              <a:buNone/>
            </a:pPr>
            <a:r>
              <a:rPr lang="en-US" sz="1300" b="1" dirty="0">
                <a:solidFill>
                  <a:srgbClr val="E8751A"/>
                </a:solidFill>
                <a:latin typeface="맑은 고딕" pitchFamily="34" charset="0"/>
                <a:ea typeface="맑은 고딕" pitchFamily="34" charset="-122"/>
                <a:cs typeface="맑은 고딕" pitchFamily="34" charset="-120"/>
              </a:rPr>
              <a:t>·</a:t>
            </a:r>
            <a:endParaRPr lang="en-US" sz="1300" dirty="0"/>
          </a:p>
        </p:txBody>
      </p:sp>
      <p:sp>
        <p:nvSpPr>
          <p:cNvPr id="9" name="Text 7"/>
          <p:cNvSpPr/>
          <p:nvPr/>
        </p:nvSpPr>
        <p:spPr>
          <a:xfrm>
            <a:off x="987552" y="2578608"/>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폭염·한파 노출 시간 단축 (쉼터 안내)</a:t>
            </a:r>
            <a:endParaRPr lang="en-US" sz="1150" dirty="0"/>
          </a:p>
        </p:txBody>
      </p:sp>
      <p:sp>
        <p:nvSpPr>
          <p:cNvPr id="10" name="Text 8"/>
          <p:cNvSpPr/>
          <p:nvPr/>
        </p:nvSpPr>
        <p:spPr>
          <a:xfrm>
            <a:off x="822960" y="3145536"/>
            <a:ext cx="146304" cy="274320"/>
          </a:xfrm>
          <a:prstGeom prst="rect">
            <a:avLst/>
          </a:prstGeom>
          <a:noFill/>
          <a:ln/>
        </p:spPr>
        <p:txBody>
          <a:bodyPr wrap="square" lIns="0" tIns="0" rIns="0" bIns="0" rtlCol="0" anchor="ctr"/>
          <a:lstStyle/>
          <a:p>
            <a:pPr marL="0" indent="0">
              <a:buNone/>
            </a:pPr>
            <a:r>
              <a:rPr lang="en-US" sz="1300" b="1" dirty="0">
                <a:solidFill>
                  <a:srgbClr val="E8751A"/>
                </a:solidFill>
                <a:latin typeface="맑은 고딕" pitchFamily="34" charset="0"/>
                <a:ea typeface="맑은 고딕" pitchFamily="34" charset="-122"/>
                <a:cs typeface="맑은 고딕" pitchFamily="34" charset="-120"/>
              </a:rPr>
              <a:t>·</a:t>
            </a:r>
            <a:endParaRPr lang="en-US" sz="1300" dirty="0"/>
          </a:p>
        </p:txBody>
      </p:sp>
      <p:sp>
        <p:nvSpPr>
          <p:cNvPr id="11" name="Text 9"/>
          <p:cNvSpPr/>
          <p:nvPr/>
        </p:nvSpPr>
        <p:spPr>
          <a:xfrm>
            <a:off x="987552" y="3145536"/>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이미 있는 무더위쉼터를 실제로 이용</a:t>
            </a:r>
            <a:endParaRPr lang="en-US" sz="1150" dirty="0"/>
          </a:p>
        </p:txBody>
      </p:sp>
      <p:sp>
        <p:nvSpPr>
          <p:cNvPr id="12" name="Text 10"/>
          <p:cNvSpPr/>
          <p:nvPr/>
        </p:nvSpPr>
        <p:spPr>
          <a:xfrm>
            <a:off x="822960" y="3712464"/>
            <a:ext cx="146304" cy="274320"/>
          </a:xfrm>
          <a:prstGeom prst="rect">
            <a:avLst/>
          </a:prstGeom>
          <a:noFill/>
          <a:ln/>
        </p:spPr>
        <p:txBody>
          <a:bodyPr wrap="square" lIns="0" tIns="0" rIns="0" bIns="0" rtlCol="0" anchor="ctr"/>
          <a:lstStyle/>
          <a:p>
            <a:pPr marL="0" indent="0">
              <a:buNone/>
            </a:pPr>
            <a:r>
              <a:rPr lang="en-US" sz="1300" b="1" dirty="0">
                <a:solidFill>
                  <a:srgbClr val="E8751A"/>
                </a:solidFill>
                <a:latin typeface="맑은 고딕" pitchFamily="34" charset="0"/>
                <a:ea typeface="맑은 고딕" pitchFamily="34" charset="-122"/>
                <a:cs typeface="맑은 고딕" pitchFamily="34" charset="-120"/>
              </a:rPr>
              <a:t>·</a:t>
            </a:r>
            <a:endParaRPr lang="en-US" sz="1300" dirty="0"/>
          </a:p>
        </p:txBody>
      </p:sp>
      <p:sp>
        <p:nvSpPr>
          <p:cNvPr id="13" name="Text 11"/>
          <p:cNvSpPr/>
          <p:nvPr/>
        </p:nvSpPr>
        <p:spPr>
          <a:xfrm>
            <a:off x="987552" y="3712464"/>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가기 전에 시설을 알고 정류장 선택</a:t>
            </a:r>
            <a:endParaRPr lang="en-US" sz="1150" dirty="0"/>
          </a:p>
        </p:txBody>
      </p:sp>
      <p:sp>
        <p:nvSpPr>
          <p:cNvPr id="14" name="Text 12"/>
          <p:cNvSpPr/>
          <p:nvPr/>
        </p:nvSpPr>
        <p:spPr>
          <a:xfrm>
            <a:off x="822960" y="4279392"/>
            <a:ext cx="146304" cy="274320"/>
          </a:xfrm>
          <a:prstGeom prst="rect">
            <a:avLst/>
          </a:prstGeom>
          <a:noFill/>
          <a:ln/>
        </p:spPr>
        <p:txBody>
          <a:bodyPr wrap="square" lIns="0" tIns="0" rIns="0" bIns="0" rtlCol="0" anchor="ctr"/>
          <a:lstStyle/>
          <a:p>
            <a:pPr marL="0" indent="0">
              <a:buNone/>
            </a:pPr>
            <a:r>
              <a:rPr lang="en-US" sz="1300" b="1" dirty="0">
                <a:solidFill>
                  <a:srgbClr val="E8751A"/>
                </a:solidFill>
                <a:latin typeface="맑은 고딕" pitchFamily="34" charset="0"/>
                <a:ea typeface="맑은 고딕" pitchFamily="34" charset="-122"/>
                <a:cs typeface="맑은 고딕" pitchFamily="34" charset="-120"/>
              </a:rPr>
              <a:t>·</a:t>
            </a:r>
            <a:endParaRPr lang="en-US" sz="1300" dirty="0"/>
          </a:p>
        </p:txBody>
      </p:sp>
      <p:sp>
        <p:nvSpPr>
          <p:cNvPr id="15" name="Text 13"/>
          <p:cNvSpPr/>
          <p:nvPr/>
        </p:nvSpPr>
        <p:spPr>
          <a:xfrm>
            <a:off x="987552" y="4279392"/>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잘못된 방면 탑승으로 인한 왕복 감소</a:t>
            </a:r>
            <a:endParaRPr lang="en-US" sz="1150" dirty="0"/>
          </a:p>
        </p:txBody>
      </p:sp>
      <p:sp>
        <p:nvSpPr>
          <p:cNvPr id="16" name="Shape 14"/>
          <p:cNvSpPr/>
          <p:nvPr/>
        </p:nvSpPr>
        <p:spPr>
          <a:xfrm>
            <a:off x="822960" y="4846320"/>
            <a:ext cx="2926080" cy="365760"/>
          </a:xfrm>
          <a:prstGeom prst="roundRect">
            <a:avLst>
              <a:gd name="adj" fmla="val 12500"/>
            </a:avLst>
          </a:prstGeom>
          <a:solidFill>
            <a:srgbClr val="FFFFFF"/>
          </a:solidFill>
          <a:ln w="12700">
            <a:solidFill>
              <a:srgbClr val="D4DAEE"/>
            </a:solidFill>
            <a:prstDash val="solid"/>
          </a:ln>
        </p:spPr>
        <p:txBody>
          <a:bodyPr/>
          <a:lstStyle/>
          <a:p>
            <a:endParaRPr lang="ko-KR" altLang="en-US"/>
          </a:p>
        </p:txBody>
      </p:sp>
      <p:sp>
        <p:nvSpPr>
          <p:cNvPr id="17" name="Text 15"/>
          <p:cNvSpPr/>
          <p:nvPr/>
        </p:nvSpPr>
        <p:spPr>
          <a:xfrm>
            <a:off x="822960" y="4846320"/>
            <a:ext cx="2926080" cy="365760"/>
          </a:xfrm>
          <a:prstGeom prst="rect">
            <a:avLst/>
          </a:prstGeom>
          <a:noFill/>
          <a:ln/>
        </p:spPr>
        <p:txBody>
          <a:bodyPr wrap="square" lIns="0" tIns="0" rIns="0" bIns="0" rtlCol="0" anchor="ctr"/>
          <a:lstStyle/>
          <a:p>
            <a:pPr marL="0" indent="0" algn="ctr">
              <a:buNone/>
            </a:pPr>
            <a:r>
              <a:rPr lang="en-US" sz="950" b="1" dirty="0">
                <a:solidFill>
                  <a:srgbClr val="6E7796"/>
                </a:solidFill>
                <a:latin typeface="맑은 고딕" pitchFamily="34" charset="0"/>
                <a:ea typeface="맑은 고딕" pitchFamily="34" charset="-122"/>
                <a:cs typeface="맑은 고딕" pitchFamily="34" charset="-120"/>
              </a:rPr>
              <a:t>측정 : 쉼터 안내 노출 · 재방문율</a:t>
            </a:r>
            <a:endParaRPr lang="en-US" sz="950" dirty="0"/>
          </a:p>
        </p:txBody>
      </p:sp>
      <p:sp>
        <p:nvSpPr>
          <p:cNvPr id="18" name="Shape 16"/>
          <p:cNvSpPr/>
          <p:nvPr/>
        </p:nvSpPr>
        <p:spPr>
          <a:xfrm>
            <a:off x="4270248" y="1792224"/>
            <a:ext cx="3429000" cy="3566160"/>
          </a:xfrm>
          <a:prstGeom prst="roundRect">
            <a:avLst>
              <a:gd name="adj" fmla="val 1600"/>
            </a:avLst>
          </a:prstGeom>
          <a:solidFill>
            <a:srgbClr val="F4F6FC"/>
          </a:solidFill>
          <a:ln w="12700">
            <a:solidFill>
              <a:srgbClr val="D4DAEE"/>
            </a:solidFill>
            <a:prstDash val="solid"/>
          </a:ln>
        </p:spPr>
        <p:txBody>
          <a:bodyPr/>
          <a:lstStyle/>
          <a:p>
            <a:endParaRPr lang="ko-KR" altLang="en-US"/>
          </a:p>
        </p:txBody>
      </p:sp>
      <p:sp>
        <p:nvSpPr>
          <p:cNvPr id="19" name="Shape 17"/>
          <p:cNvSpPr/>
          <p:nvPr/>
        </p:nvSpPr>
        <p:spPr>
          <a:xfrm>
            <a:off x="4526280" y="1993392"/>
            <a:ext cx="960120" cy="402336"/>
          </a:xfrm>
          <a:prstGeom prst="roundRect">
            <a:avLst>
              <a:gd name="adj" fmla="val 113636"/>
            </a:avLst>
          </a:prstGeom>
          <a:solidFill>
            <a:srgbClr val="001871"/>
          </a:solidFill>
          <a:ln w="12700">
            <a:solidFill>
              <a:srgbClr val="001871"/>
            </a:solidFill>
            <a:prstDash val="solid"/>
          </a:ln>
        </p:spPr>
        <p:txBody>
          <a:bodyPr/>
          <a:lstStyle/>
          <a:p>
            <a:endParaRPr lang="ko-KR" altLang="en-US"/>
          </a:p>
        </p:txBody>
      </p:sp>
      <p:sp>
        <p:nvSpPr>
          <p:cNvPr id="20" name="Text 18"/>
          <p:cNvSpPr/>
          <p:nvPr/>
        </p:nvSpPr>
        <p:spPr>
          <a:xfrm>
            <a:off x="4526280" y="1993392"/>
            <a:ext cx="96012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행정</a:t>
            </a:r>
            <a:endParaRPr lang="en-US" sz="1300" dirty="0"/>
          </a:p>
        </p:txBody>
      </p:sp>
      <p:sp>
        <p:nvSpPr>
          <p:cNvPr id="21" name="Text 19"/>
          <p:cNvSpPr/>
          <p:nvPr/>
        </p:nvSpPr>
        <p:spPr>
          <a:xfrm>
            <a:off x="4526280" y="2578608"/>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2" name="Text 20"/>
          <p:cNvSpPr/>
          <p:nvPr/>
        </p:nvSpPr>
        <p:spPr>
          <a:xfrm>
            <a:off x="4690872" y="2578608"/>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폭염 취약 정류장 목록 최초 확보</a:t>
            </a:r>
            <a:endParaRPr lang="en-US" sz="1150" dirty="0"/>
          </a:p>
        </p:txBody>
      </p:sp>
      <p:sp>
        <p:nvSpPr>
          <p:cNvPr id="23" name="Text 21"/>
          <p:cNvSpPr/>
          <p:nvPr/>
        </p:nvSpPr>
        <p:spPr>
          <a:xfrm>
            <a:off x="4526280" y="3145536"/>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4" name="Text 22"/>
          <p:cNvSpPr/>
          <p:nvPr/>
        </p:nvSpPr>
        <p:spPr>
          <a:xfrm>
            <a:off x="4690872" y="3145536"/>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저비용 수단(그늘막·쉼터 지정) 우선 적용</a:t>
            </a:r>
            <a:endParaRPr lang="en-US" sz="1150" dirty="0"/>
          </a:p>
        </p:txBody>
      </p:sp>
      <p:sp>
        <p:nvSpPr>
          <p:cNvPr id="25" name="Text 23"/>
          <p:cNvSpPr/>
          <p:nvPr/>
        </p:nvSpPr>
        <p:spPr>
          <a:xfrm>
            <a:off x="4526280" y="371246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6" name="Text 24"/>
          <p:cNvSpPr/>
          <p:nvPr/>
        </p:nvSpPr>
        <p:spPr>
          <a:xfrm>
            <a:off x="4690872" y="3712464"/>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전수 현장조사 용역 없이 상시 갱신</a:t>
            </a:r>
            <a:endParaRPr lang="en-US" sz="1150" dirty="0"/>
          </a:p>
        </p:txBody>
      </p:sp>
      <p:sp>
        <p:nvSpPr>
          <p:cNvPr id="27" name="Text 25"/>
          <p:cNvSpPr/>
          <p:nvPr/>
        </p:nvSpPr>
        <p:spPr>
          <a:xfrm>
            <a:off x="4526280" y="4279392"/>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28" name="Text 26"/>
          <p:cNvSpPr/>
          <p:nvPr/>
        </p:nvSpPr>
        <p:spPr>
          <a:xfrm>
            <a:off x="4690872" y="4279392"/>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예산 배분에 대한 설명 가능성 확보</a:t>
            </a:r>
            <a:endParaRPr lang="en-US" sz="1150" dirty="0"/>
          </a:p>
        </p:txBody>
      </p:sp>
      <p:sp>
        <p:nvSpPr>
          <p:cNvPr id="29" name="Shape 27"/>
          <p:cNvSpPr/>
          <p:nvPr/>
        </p:nvSpPr>
        <p:spPr>
          <a:xfrm>
            <a:off x="4526280" y="4846320"/>
            <a:ext cx="2926080" cy="365760"/>
          </a:xfrm>
          <a:prstGeom prst="roundRect">
            <a:avLst>
              <a:gd name="adj" fmla="val 12500"/>
            </a:avLst>
          </a:prstGeom>
          <a:solidFill>
            <a:srgbClr val="FFFFFF"/>
          </a:solidFill>
          <a:ln w="12700">
            <a:solidFill>
              <a:srgbClr val="D4DAEE"/>
            </a:solidFill>
            <a:prstDash val="solid"/>
          </a:ln>
        </p:spPr>
        <p:txBody>
          <a:bodyPr/>
          <a:lstStyle/>
          <a:p>
            <a:endParaRPr lang="ko-KR" altLang="en-US"/>
          </a:p>
        </p:txBody>
      </p:sp>
      <p:sp>
        <p:nvSpPr>
          <p:cNvPr id="30" name="Text 28"/>
          <p:cNvSpPr/>
          <p:nvPr/>
        </p:nvSpPr>
        <p:spPr>
          <a:xfrm>
            <a:off x="4526280" y="4846320"/>
            <a:ext cx="2926080" cy="365760"/>
          </a:xfrm>
          <a:prstGeom prst="rect">
            <a:avLst/>
          </a:prstGeom>
          <a:noFill/>
          <a:ln/>
        </p:spPr>
        <p:txBody>
          <a:bodyPr wrap="square" lIns="0" tIns="0" rIns="0" bIns="0" rtlCol="0" anchor="ctr"/>
          <a:lstStyle/>
          <a:p>
            <a:pPr marL="0" indent="0" algn="ctr">
              <a:buNone/>
            </a:pPr>
            <a:r>
              <a:rPr lang="en-US" sz="950" b="1" dirty="0">
                <a:solidFill>
                  <a:srgbClr val="6E7796"/>
                </a:solidFill>
                <a:latin typeface="맑은 고딕" pitchFamily="34" charset="0"/>
                <a:ea typeface="맑은 고딕" pitchFamily="34" charset="-122"/>
                <a:cs typeface="맑은 고딕" pitchFamily="34" charset="-120"/>
              </a:rPr>
              <a:t>측정 : 취약 정류장 수 · 조사 비용</a:t>
            </a:r>
            <a:endParaRPr lang="en-US" sz="950" dirty="0"/>
          </a:p>
        </p:txBody>
      </p:sp>
      <p:sp>
        <p:nvSpPr>
          <p:cNvPr id="31" name="Shape 29"/>
          <p:cNvSpPr/>
          <p:nvPr/>
        </p:nvSpPr>
        <p:spPr>
          <a:xfrm>
            <a:off x="7973568" y="1792224"/>
            <a:ext cx="3429000" cy="3566160"/>
          </a:xfrm>
          <a:prstGeom prst="roundRect">
            <a:avLst>
              <a:gd name="adj" fmla="val 1600"/>
            </a:avLst>
          </a:prstGeom>
          <a:solidFill>
            <a:srgbClr val="F4F6FC"/>
          </a:solidFill>
          <a:ln w="12700">
            <a:solidFill>
              <a:srgbClr val="D4DAEE"/>
            </a:solidFill>
            <a:prstDash val="solid"/>
          </a:ln>
        </p:spPr>
        <p:txBody>
          <a:bodyPr/>
          <a:lstStyle/>
          <a:p>
            <a:endParaRPr lang="ko-KR" altLang="en-US"/>
          </a:p>
        </p:txBody>
      </p:sp>
      <p:sp>
        <p:nvSpPr>
          <p:cNvPr id="32" name="Shape 30"/>
          <p:cNvSpPr/>
          <p:nvPr/>
        </p:nvSpPr>
        <p:spPr>
          <a:xfrm>
            <a:off x="8229600" y="1993392"/>
            <a:ext cx="960120" cy="402336"/>
          </a:xfrm>
          <a:prstGeom prst="roundRect">
            <a:avLst>
              <a:gd name="adj" fmla="val 113636"/>
            </a:avLst>
          </a:prstGeom>
          <a:solidFill>
            <a:srgbClr val="001871"/>
          </a:solidFill>
          <a:ln w="12700">
            <a:solidFill>
              <a:srgbClr val="001871"/>
            </a:solidFill>
            <a:prstDash val="solid"/>
          </a:ln>
        </p:spPr>
        <p:txBody>
          <a:bodyPr/>
          <a:lstStyle/>
          <a:p>
            <a:endParaRPr lang="ko-KR" altLang="en-US"/>
          </a:p>
        </p:txBody>
      </p:sp>
      <p:sp>
        <p:nvSpPr>
          <p:cNvPr id="33" name="Text 31"/>
          <p:cNvSpPr/>
          <p:nvPr/>
        </p:nvSpPr>
        <p:spPr>
          <a:xfrm>
            <a:off x="8229600" y="1993392"/>
            <a:ext cx="960120"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데이터</a:t>
            </a:r>
            <a:endParaRPr lang="en-US" sz="1300" dirty="0"/>
          </a:p>
        </p:txBody>
      </p:sp>
      <p:sp>
        <p:nvSpPr>
          <p:cNvPr id="34" name="Text 32"/>
          <p:cNvSpPr/>
          <p:nvPr/>
        </p:nvSpPr>
        <p:spPr>
          <a:xfrm>
            <a:off x="8229600" y="2578608"/>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35" name="Text 33"/>
          <p:cNvSpPr/>
          <p:nvPr/>
        </p:nvSpPr>
        <p:spPr>
          <a:xfrm>
            <a:off x="8394192" y="2578608"/>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쉼터·정류장 대장을 정류장 키로 통합</a:t>
            </a:r>
            <a:endParaRPr lang="en-US" sz="1150" dirty="0"/>
          </a:p>
        </p:txBody>
      </p:sp>
      <p:sp>
        <p:nvSpPr>
          <p:cNvPr id="36" name="Text 34"/>
          <p:cNvSpPr/>
          <p:nvPr/>
        </p:nvSpPr>
        <p:spPr>
          <a:xfrm>
            <a:off x="8229600" y="3145536"/>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37" name="Text 35"/>
          <p:cNvSpPr/>
          <p:nvPr/>
        </p:nvSpPr>
        <p:spPr>
          <a:xfrm>
            <a:off x="8394192" y="3145536"/>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미확인 1,727곳이 제보에 따라 감소</a:t>
            </a:r>
            <a:endParaRPr lang="en-US" sz="1150" dirty="0"/>
          </a:p>
        </p:txBody>
      </p:sp>
      <p:sp>
        <p:nvSpPr>
          <p:cNvPr id="38" name="Text 36"/>
          <p:cNvSpPr/>
          <p:nvPr/>
        </p:nvSpPr>
        <p:spPr>
          <a:xfrm>
            <a:off x="8229600" y="3712464"/>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39" name="Text 37"/>
          <p:cNvSpPr/>
          <p:nvPr/>
        </p:nvSpPr>
        <p:spPr>
          <a:xfrm>
            <a:off x="8394192" y="3712464"/>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공개된 춘천 데이터의 재사용 가치 상승</a:t>
            </a:r>
            <a:endParaRPr lang="en-US" sz="1150" dirty="0"/>
          </a:p>
        </p:txBody>
      </p:sp>
      <p:sp>
        <p:nvSpPr>
          <p:cNvPr id="40" name="Text 38"/>
          <p:cNvSpPr/>
          <p:nvPr/>
        </p:nvSpPr>
        <p:spPr>
          <a:xfrm>
            <a:off x="8229600" y="4279392"/>
            <a:ext cx="146304" cy="274320"/>
          </a:xfrm>
          <a:prstGeom prst="rect">
            <a:avLst/>
          </a:prstGeom>
          <a:noFill/>
          <a:ln/>
        </p:spPr>
        <p:txBody>
          <a:bodyPr wrap="square" lIns="0" tIns="0" rIns="0" bIns="0" rtlCol="0" anchor="ctr"/>
          <a:lstStyle/>
          <a:p>
            <a:pPr marL="0" indent="0">
              <a:buNone/>
            </a:pPr>
            <a:r>
              <a:rPr lang="en-US" sz="1300" b="1" dirty="0">
                <a:solidFill>
                  <a:srgbClr val="001871"/>
                </a:solidFill>
                <a:latin typeface="맑은 고딕" pitchFamily="34" charset="0"/>
                <a:ea typeface="맑은 고딕" pitchFamily="34" charset="-122"/>
                <a:cs typeface="맑은 고딕" pitchFamily="34" charset="-120"/>
              </a:rPr>
              <a:t>·</a:t>
            </a:r>
            <a:endParaRPr lang="en-US" sz="1300" dirty="0"/>
          </a:p>
        </p:txBody>
      </p:sp>
      <p:sp>
        <p:nvSpPr>
          <p:cNvPr id="41" name="Text 39"/>
          <p:cNvSpPr/>
          <p:nvPr/>
        </p:nvSpPr>
        <p:spPr>
          <a:xfrm>
            <a:off x="8394192" y="4279392"/>
            <a:ext cx="2788920" cy="512064"/>
          </a:xfrm>
          <a:prstGeom prst="rect">
            <a:avLst/>
          </a:prstGeom>
          <a:noFill/>
          <a:ln/>
        </p:spPr>
        <p:txBody>
          <a:bodyPr wrap="square" lIns="0" tIns="0" rIns="0" bIns="0" rtlCol="0" anchor="t"/>
          <a:lstStyle/>
          <a:p>
            <a:pPr marL="0" indent="0">
              <a:lnSpc>
                <a:spcPts val="1700"/>
              </a:lnSpc>
              <a:buNone/>
            </a:pPr>
            <a:r>
              <a:rPr lang="en-US" sz="1150" dirty="0">
                <a:solidFill>
                  <a:srgbClr val="39415E"/>
                </a:solidFill>
                <a:latin typeface="맑은 고딕" pitchFamily="34" charset="0"/>
                <a:ea typeface="맑은 고딕" pitchFamily="34" charset="-122"/>
                <a:cs typeface="맑은 고딕" pitchFamily="34" charset="-120"/>
              </a:rPr>
              <a:t>동일 구조를 타 시·군에 그대로 이식 가능</a:t>
            </a:r>
            <a:endParaRPr lang="en-US" sz="1150" dirty="0"/>
          </a:p>
        </p:txBody>
      </p:sp>
      <p:sp>
        <p:nvSpPr>
          <p:cNvPr id="42" name="Shape 40"/>
          <p:cNvSpPr/>
          <p:nvPr/>
        </p:nvSpPr>
        <p:spPr>
          <a:xfrm>
            <a:off x="8229600" y="4846320"/>
            <a:ext cx="2926080" cy="365760"/>
          </a:xfrm>
          <a:prstGeom prst="roundRect">
            <a:avLst>
              <a:gd name="adj" fmla="val 12500"/>
            </a:avLst>
          </a:prstGeom>
          <a:solidFill>
            <a:srgbClr val="FFFFFF"/>
          </a:solidFill>
          <a:ln w="12700">
            <a:solidFill>
              <a:srgbClr val="D4DAEE"/>
            </a:solidFill>
            <a:prstDash val="solid"/>
          </a:ln>
        </p:spPr>
        <p:txBody>
          <a:bodyPr/>
          <a:lstStyle/>
          <a:p>
            <a:endParaRPr lang="ko-KR" altLang="en-US"/>
          </a:p>
        </p:txBody>
      </p:sp>
      <p:sp>
        <p:nvSpPr>
          <p:cNvPr id="43" name="Text 41"/>
          <p:cNvSpPr/>
          <p:nvPr/>
        </p:nvSpPr>
        <p:spPr>
          <a:xfrm>
            <a:off x="8229600" y="4846320"/>
            <a:ext cx="2926080" cy="365760"/>
          </a:xfrm>
          <a:prstGeom prst="rect">
            <a:avLst/>
          </a:prstGeom>
          <a:noFill/>
          <a:ln/>
        </p:spPr>
        <p:txBody>
          <a:bodyPr wrap="square" lIns="0" tIns="0" rIns="0" bIns="0" rtlCol="0" anchor="ctr"/>
          <a:lstStyle/>
          <a:p>
            <a:pPr marL="0" indent="0" algn="ctr">
              <a:buNone/>
            </a:pPr>
            <a:r>
              <a:rPr lang="en-US" sz="950" b="1" dirty="0">
                <a:solidFill>
                  <a:srgbClr val="6E7796"/>
                </a:solidFill>
                <a:latin typeface="맑은 고딕" pitchFamily="34" charset="0"/>
                <a:ea typeface="맑은 고딕" pitchFamily="34" charset="-122"/>
                <a:cs typeface="맑은 고딕" pitchFamily="34" charset="-120"/>
              </a:rPr>
              <a:t>측정 : 시설 확인율 · 결합 커버리지</a:t>
            </a:r>
            <a:endParaRPr lang="en-US" sz="950" dirty="0"/>
          </a:p>
        </p:txBody>
      </p:sp>
      <p:sp>
        <p:nvSpPr>
          <p:cNvPr id="46" name="Text 43"/>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47" name="Text 44"/>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06  확장 계획 및 마무리</a:t>
            </a:r>
            <a:endParaRPr lang="en-US" sz="12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확장 계획</a:t>
            </a:r>
            <a:endParaRPr lang="en-US" sz="3000" dirty="0"/>
          </a:p>
        </p:txBody>
      </p:sp>
      <p:sp>
        <p:nvSpPr>
          <p:cNvPr id="4" name="Text 2"/>
          <p:cNvSpPr/>
          <p:nvPr/>
        </p:nvSpPr>
        <p:spPr>
          <a:xfrm>
            <a:off x="566928" y="1225296"/>
            <a:ext cx="11064240" cy="292608"/>
          </a:xfrm>
          <a:prstGeom prst="rect">
            <a:avLst/>
          </a:prstGeom>
          <a:noFill/>
          <a:ln/>
        </p:spPr>
        <p:txBody>
          <a:bodyPr wrap="square" lIns="0" tIns="0" rIns="0" bIns="0" rtlCol="0" anchor="ctr"/>
          <a:lstStyle/>
          <a:p>
            <a:pPr marL="0" indent="0">
              <a:buNone/>
            </a:pPr>
            <a:r>
              <a:rPr lang="en-US" sz="1300" dirty="0">
                <a:solidFill>
                  <a:srgbClr val="6E7796"/>
                </a:solidFill>
                <a:latin typeface="맑은 고딕" pitchFamily="34" charset="0"/>
                <a:ea typeface="맑은 고딕" pitchFamily="34" charset="-122"/>
                <a:cs typeface="맑은 고딕" pitchFamily="34" charset="-120"/>
              </a:rPr>
              <a:t>아래 항목은 모두 현재 미구현이며, 오늘 시연은 구현된 기능만 보여드렸습니다</a:t>
            </a:r>
            <a:endParaRPr lang="en-US" sz="1300" dirty="0"/>
          </a:p>
        </p:txBody>
      </p:sp>
      <p:sp>
        <p:nvSpPr>
          <p:cNvPr id="5" name="Shape 3"/>
          <p:cNvSpPr/>
          <p:nvPr/>
        </p:nvSpPr>
        <p:spPr>
          <a:xfrm>
            <a:off x="566928" y="1773936"/>
            <a:ext cx="11064240" cy="1316736"/>
          </a:xfrm>
          <a:prstGeom prst="roundRect">
            <a:avLst>
              <a:gd name="adj" fmla="val 4167"/>
            </a:avLst>
          </a:prstGeom>
          <a:solidFill>
            <a:srgbClr val="FCEEE0"/>
          </a:solidFill>
          <a:ln w="12700">
            <a:solidFill>
              <a:srgbClr val="F2C99E"/>
            </a:solidFill>
            <a:prstDash val="solid"/>
          </a:ln>
        </p:spPr>
        <p:txBody>
          <a:bodyPr/>
          <a:lstStyle/>
          <a:p>
            <a:endParaRPr lang="ko-KR" altLang="en-US"/>
          </a:p>
        </p:txBody>
      </p:sp>
      <p:sp>
        <p:nvSpPr>
          <p:cNvPr id="6" name="Shape 4"/>
          <p:cNvSpPr/>
          <p:nvPr/>
        </p:nvSpPr>
        <p:spPr>
          <a:xfrm>
            <a:off x="804672" y="1993392"/>
            <a:ext cx="1170432" cy="420624"/>
          </a:xfrm>
          <a:prstGeom prst="roundRect">
            <a:avLst>
              <a:gd name="adj" fmla="val 108696"/>
            </a:avLst>
          </a:prstGeom>
          <a:solidFill>
            <a:srgbClr val="E8751A"/>
          </a:solidFill>
          <a:ln w="12700">
            <a:solidFill>
              <a:srgbClr val="E8751A"/>
            </a:solidFill>
            <a:prstDash val="solid"/>
          </a:ln>
        </p:spPr>
        <p:txBody>
          <a:bodyPr/>
          <a:lstStyle/>
          <a:p>
            <a:endParaRPr lang="ko-KR" altLang="en-US"/>
          </a:p>
        </p:txBody>
      </p:sp>
      <p:sp>
        <p:nvSpPr>
          <p:cNvPr id="7" name="Text 5"/>
          <p:cNvSpPr/>
          <p:nvPr/>
        </p:nvSpPr>
        <p:spPr>
          <a:xfrm>
            <a:off x="804672" y="1993392"/>
            <a:ext cx="117043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단기</a:t>
            </a:r>
            <a:endParaRPr lang="en-US" sz="1400" dirty="0"/>
          </a:p>
        </p:txBody>
      </p:sp>
      <p:sp>
        <p:nvSpPr>
          <p:cNvPr id="8" name="Text 6"/>
          <p:cNvSpPr/>
          <p:nvPr/>
        </p:nvSpPr>
        <p:spPr>
          <a:xfrm>
            <a:off x="804672" y="2468880"/>
            <a:ext cx="1170432" cy="274320"/>
          </a:xfrm>
          <a:prstGeom prst="rect">
            <a:avLst/>
          </a:prstGeom>
          <a:noFill/>
          <a:ln/>
        </p:spPr>
        <p:txBody>
          <a:bodyPr wrap="square" lIns="0" tIns="0" rIns="0" bIns="0" rtlCol="0" anchor="ctr"/>
          <a:lstStyle/>
          <a:p>
            <a:pPr marL="0" indent="0" algn="ctr">
              <a:buNone/>
            </a:pPr>
            <a:r>
              <a:rPr lang="en-US" sz="1050" dirty="0">
                <a:solidFill>
                  <a:srgbClr val="6E7796"/>
                </a:solidFill>
                <a:latin typeface="맑은 고딕" pitchFamily="34" charset="0"/>
                <a:ea typeface="맑은 고딕" pitchFamily="34" charset="-122"/>
                <a:cs typeface="맑은 고딕" pitchFamily="34" charset="-120"/>
              </a:rPr>
              <a:t>3개월</a:t>
            </a:r>
            <a:endParaRPr lang="en-US" sz="1050" dirty="0"/>
          </a:p>
        </p:txBody>
      </p:sp>
      <p:sp>
        <p:nvSpPr>
          <p:cNvPr id="9" name="Text 7"/>
          <p:cNvSpPr/>
          <p:nvPr/>
        </p:nvSpPr>
        <p:spPr>
          <a:xfrm>
            <a:off x="2139696" y="1975104"/>
            <a:ext cx="4617720" cy="402336"/>
          </a:xfrm>
          <a:prstGeom prst="rect">
            <a:avLst/>
          </a:prstGeom>
          <a:noFill/>
          <a:ln/>
        </p:spPr>
        <p:txBody>
          <a:bodyPr wrap="square" lIns="0" tIns="0" rIns="0" bIns="0" rtlCol="0" anchor="ctr"/>
          <a:lstStyle/>
          <a:p>
            <a:pPr marL="0" indent="0">
              <a:lnSpc>
                <a:spcPts val="1500"/>
              </a:lnSpc>
              <a:buNone/>
            </a:pPr>
            <a:r>
              <a:rPr lang="ko-KR" altLang="en-US" sz="1100" dirty="0"/>
              <a:t>외부 </a:t>
            </a:r>
            <a:r>
              <a:rPr lang="en-US" altLang="ko-KR" sz="1100" dirty="0"/>
              <a:t>API</a:t>
            </a:r>
            <a:r>
              <a:rPr lang="ko-KR" altLang="en-US" sz="1100" dirty="0"/>
              <a:t>를 활용한 소요시간 정보 추가</a:t>
            </a:r>
            <a:endParaRPr lang="en-US" sz="1100" dirty="0"/>
          </a:p>
        </p:txBody>
      </p:sp>
      <p:sp>
        <p:nvSpPr>
          <p:cNvPr id="10" name="Text 8"/>
          <p:cNvSpPr/>
          <p:nvPr/>
        </p:nvSpPr>
        <p:spPr>
          <a:xfrm>
            <a:off x="6940296" y="1975104"/>
            <a:ext cx="443484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제보 누적으로 그늘·쉘터 실태 전수화</a:t>
            </a:r>
            <a:endParaRPr lang="en-US" sz="1100" dirty="0"/>
          </a:p>
        </p:txBody>
      </p:sp>
      <p:sp>
        <p:nvSpPr>
          <p:cNvPr id="11" name="Text 9"/>
          <p:cNvSpPr/>
          <p:nvPr/>
        </p:nvSpPr>
        <p:spPr>
          <a:xfrm>
            <a:off x="2139696" y="2432304"/>
            <a:ext cx="461772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쉼터 개방시간·도로변 여부 필터 적용</a:t>
            </a:r>
            <a:endParaRPr lang="en-US" sz="1100" dirty="0"/>
          </a:p>
        </p:txBody>
      </p:sp>
      <p:sp>
        <p:nvSpPr>
          <p:cNvPr id="12" name="Text 10"/>
          <p:cNvSpPr/>
          <p:nvPr/>
        </p:nvSpPr>
        <p:spPr>
          <a:xfrm>
            <a:off x="6940296" y="2432304"/>
            <a:ext cx="443484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BIT 미설치 정류장 QR 도착정보 스티커</a:t>
            </a:r>
            <a:endParaRPr lang="en-US" sz="1100" dirty="0"/>
          </a:p>
        </p:txBody>
      </p:sp>
      <p:sp>
        <p:nvSpPr>
          <p:cNvPr id="13" name="Shape 11"/>
          <p:cNvSpPr/>
          <p:nvPr/>
        </p:nvSpPr>
        <p:spPr>
          <a:xfrm>
            <a:off x="566928" y="3236976"/>
            <a:ext cx="11064240" cy="1316736"/>
          </a:xfrm>
          <a:prstGeom prst="roundRect">
            <a:avLst>
              <a:gd name="adj" fmla="val 4167"/>
            </a:avLst>
          </a:prstGeom>
          <a:solidFill>
            <a:srgbClr val="F4F6FC"/>
          </a:solidFill>
          <a:ln w="12700">
            <a:solidFill>
              <a:srgbClr val="D4DAEE"/>
            </a:solidFill>
            <a:prstDash val="solid"/>
          </a:ln>
        </p:spPr>
        <p:txBody>
          <a:bodyPr/>
          <a:lstStyle/>
          <a:p>
            <a:endParaRPr lang="ko-KR" altLang="en-US"/>
          </a:p>
        </p:txBody>
      </p:sp>
      <p:sp>
        <p:nvSpPr>
          <p:cNvPr id="14" name="Shape 12"/>
          <p:cNvSpPr/>
          <p:nvPr/>
        </p:nvSpPr>
        <p:spPr>
          <a:xfrm>
            <a:off x="804672" y="3456432"/>
            <a:ext cx="1170432" cy="420624"/>
          </a:xfrm>
          <a:prstGeom prst="roundRect">
            <a:avLst>
              <a:gd name="adj" fmla="val 108696"/>
            </a:avLst>
          </a:prstGeom>
          <a:solidFill>
            <a:srgbClr val="001871"/>
          </a:solidFill>
          <a:ln w="12700">
            <a:solidFill>
              <a:srgbClr val="001871"/>
            </a:solidFill>
            <a:prstDash val="solid"/>
          </a:ln>
        </p:spPr>
        <p:txBody>
          <a:bodyPr/>
          <a:lstStyle/>
          <a:p>
            <a:endParaRPr lang="ko-KR" altLang="en-US"/>
          </a:p>
        </p:txBody>
      </p:sp>
      <p:sp>
        <p:nvSpPr>
          <p:cNvPr id="15" name="Text 13"/>
          <p:cNvSpPr/>
          <p:nvPr/>
        </p:nvSpPr>
        <p:spPr>
          <a:xfrm>
            <a:off x="804672" y="3456432"/>
            <a:ext cx="117043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중기</a:t>
            </a:r>
            <a:endParaRPr lang="en-US" sz="1400" dirty="0"/>
          </a:p>
        </p:txBody>
      </p:sp>
      <p:sp>
        <p:nvSpPr>
          <p:cNvPr id="16" name="Text 14"/>
          <p:cNvSpPr/>
          <p:nvPr/>
        </p:nvSpPr>
        <p:spPr>
          <a:xfrm>
            <a:off x="804672" y="3931920"/>
            <a:ext cx="1170432" cy="274320"/>
          </a:xfrm>
          <a:prstGeom prst="rect">
            <a:avLst/>
          </a:prstGeom>
          <a:noFill/>
          <a:ln/>
        </p:spPr>
        <p:txBody>
          <a:bodyPr wrap="square" lIns="0" tIns="0" rIns="0" bIns="0" rtlCol="0" anchor="ctr"/>
          <a:lstStyle/>
          <a:p>
            <a:pPr marL="0" indent="0" algn="ctr">
              <a:buNone/>
            </a:pPr>
            <a:r>
              <a:rPr lang="en-US" sz="1050" dirty="0">
                <a:solidFill>
                  <a:srgbClr val="6E7796"/>
                </a:solidFill>
                <a:latin typeface="맑은 고딕" pitchFamily="34" charset="0"/>
                <a:ea typeface="맑은 고딕" pitchFamily="34" charset="-122"/>
                <a:cs typeface="맑은 고딕" pitchFamily="34" charset="-120"/>
              </a:rPr>
              <a:t>6~12개월</a:t>
            </a:r>
            <a:endParaRPr lang="en-US" sz="1050" dirty="0"/>
          </a:p>
        </p:txBody>
      </p:sp>
      <p:sp>
        <p:nvSpPr>
          <p:cNvPr id="17" name="Text 15"/>
          <p:cNvSpPr/>
          <p:nvPr/>
        </p:nvSpPr>
        <p:spPr>
          <a:xfrm>
            <a:off x="2139696" y="3438144"/>
            <a:ext cx="461772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예산 우선순위 추천 모델 (MCDA 가중 합산)</a:t>
            </a:r>
            <a:endParaRPr lang="en-US" sz="1100" dirty="0"/>
          </a:p>
        </p:txBody>
      </p:sp>
      <p:sp>
        <p:nvSpPr>
          <p:cNvPr id="18" name="Text 16"/>
          <p:cNvSpPr/>
          <p:nvPr/>
        </p:nvSpPr>
        <p:spPr>
          <a:xfrm>
            <a:off x="6940296" y="3438144"/>
            <a:ext cx="4434840" cy="402336"/>
          </a:xfrm>
          <a:prstGeom prst="rect">
            <a:avLst/>
          </a:prstGeom>
          <a:noFill/>
          <a:ln/>
        </p:spPr>
        <p:txBody>
          <a:bodyPr wrap="square" lIns="0" tIns="0" rIns="0" bIns="0" rtlCol="0" anchor="ctr"/>
          <a:lstStyle/>
          <a:p>
            <a:pPr marL="0" indent="0">
              <a:lnSpc>
                <a:spcPts val="1500"/>
              </a:lnSpc>
              <a:buNone/>
            </a:pPr>
            <a:r>
              <a:rPr lang="en-US" sz="1100" i="1" dirty="0">
                <a:solidFill>
                  <a:srgbClr val="6E7796"/>
                </a:solidFill>
                <a:latin typeface="맑은 고딕" pitchFamily="34" charset="0"/>
                <a:ea typeface="맑은 고딕" pitchFamily="34" charset="-122"/>
                <a:cs typeface="맑은 고딕" pitchFamily="34" charset="-120"/>
              </a:rPr>
              <a:t>→ 가중치는 춘천시와 공동 설계</a:t>
            </a:r>
            <a:endParaRPr lang="en-US" sz="1100" dirty="0"/>
          </a:p>
        </p:txBody>
      </p:sp>
      <p:sp>
        <p:nvSpPr>
          <p:cNvPr id="19" name="Text 17"/>
          <p:cNvSpPr/>
          <p:nvPr/>
        </p:nvSpPr>
        <p:spPr>
          <a:xfrm>
            <a:off x="2139696" y="3895344"/>
            <a:ext cx="461772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쉼터 신규 지정 후보 추천 (취약 구역 기반)</a:t>
            </a:r>
            <a:endParaRPr lang="en-US" sz="1100" dirty="0"/>
          </a:p>
        </p:txBody>
      </p:sp>
      <p:sp>
        <p:nvSpPr>
          <p:cNvPr id="20" name="Text 18"/>
          <p:cNvSpPr/>
          <p:nvPr/>
        </p:nvSpPr>
        <p:spPr>
          <a:xfrm>
            <a:off x="6940296" y="3895344"/>
            <a:ext cx="443484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수리 완료 Before/After 피드백</a:t>
            </a:r>
            <a:endParaRPr lang="en-US" sz="1100" dirty="0"/>
          </a:p>
        </p:txBody>
      </p:sp>
      <p:sp>
        <p:nvSpPr>
          <p:cNvPr id="21" name="Shape 19"/>
          <p:cNvSpPr/>
          <p:nvPr/>
        </p:nvSpPr>
        <p:spPr>
          <a:xfrm>
            <a:off x="566928" y="4700016"/>
            <a:ext cx="11064240" cy="1316736"/>
          </a:xfrm>
          <a:prstGeom prst="roundRect">
            <a:avLst>
              <a:gd name="adj" fmla="val 4167"/>
            </a:avLst>
          </a:prstGeom>
          <a:solidFill>
            <a:srgbClr val="F4F6FC"/>
          </a:solidFill>
          <a:ln w="12700">
            <a:solidFill>
              <a:srgbClr val="D4DAEE"/>
            </a:solidFill>
            <a:prstDash val="solid"/>
          </a:ln>
        </p:spPr>
        <p:txBody>
          <a:bodyPr/>
          <a:lstStyle/>
          <a:p>
            <a:endParaRPr lang="ko-KR" altLang="en-US"/>
          </a:p>
        </p:txBody>
      </p:sp>
      <p:sp>
        <p:nvSpPr>
          <p:cNvPr id="22" name="Shape 20"/>
          <p:cNvSpPr/>
          <p:nvPr/>
        </p:nvSpPr>
        <p:spPr>
          <a:xfrm>
            <a:off x="804672" y="4919472"/>
            <a:ext cx="1170432" cy="420624"/>
          </a:xfrm>
          <a:prstGeom prst="roundRect">
            <a:avLst>
              <a:gd name="adj" fmla="val 108696"/>
            </a:avLst>
          </a:prstGeom>
          <a:solidFill>
            <a:srgbClr val="001871"/>
          </a:solidFill>
          <a:ln w="12700">
            <a:solidFill>
              <a:srgbClr val="001871"/>
            </a:solidFill>
            <a:prstDash val="solid"/>
          </a:ln>
        </p:spPr>
        <p:txBody>
          <a:bodyPr/>
          <a:lstStyle/>
          <a:p>
            <a:endParaRPr lang="ko-KR" altLang="en-US"/>
          </a:p>
        </p:txBody>
      </p:sp>
      <p:sp>
        <p:nvSpPr>
          <p:cNvPr id="23" name="Text 21"/>
          <p:cNvSpPr/>
          <p:nvPr/>
        </p:nvSpPr>
        <p:spPr>
          <a:xfrm>
            <a:off x="804672" y="4919472"/>
            <a:ext cx="1170432"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맑은 고딕" pitchFamily="34" charset="0"/>
                <a:ea typeface="맑은 고딕" pitchFamily="34" charset="-122"/>
                <a:cs typeface="맑은 고딕" pitchFamily="34" charset="-120"/>
              </a:rPr>
              <a:t>장기</a:t>
            </a:r>
            <a:endParaRPr lang="en-US" sz="1400" dirty="0"/>
          </a:p>
        </p:txBody>
      </p:sp>
      <p:sp>
        <p:nvSpPr>
          <p:cNvPr id="24" name="Text 22"/>
          <p:cNvSpPr/>
          <p:nvPr/>
        </p:nvSpPr>
        <p:spPr>
          <a:xfrm>
            <a:off x="804672" y="5394960"/>
            <a:ext cx="1170432" cy="274320"/>
          </a:xfrm>
          <a:prstGeom prst="rect">
            <a:avLst/>
          </a:prstGeom>
          <a:noFill/>
          <a:ln/>
        </p:spPr>
        <p:txBody>
          <a:bodyPr wrap="square" lIns="0" tIns="0" rIns="0" bIns="0" rtlCol="0" anchor="ctr"/>
          <a:lstStyle/>
          <a:p>
            <a:pPr marL="0" indent="0" algn="ctr">
              <a:buNone/>
            </a:pPr>
            <a:r>
              <a:rPr lang="en-US" sz="1050" dirty="0">
                <a:solidFill>
                  <a:srgbClr val="6E7796"/>
                </a:solidFill>
                <a:latin typeface="맑은 고딕" pitchFamily="34" charset="0"/>
                <a:ea typeface="맑은 고딕" pitchFamily="34" charset="-122"/>
                <a:cs typeface="맑은 고딕" pitchFamily="34" charset="-120"/>
              </a:rPr>
              <a:t>1년 이후</a:t>
            </a:r>
            <a:endParaRPr lang="en-US" sz="1050" dirty="0"/>
          </a:p>
        </p:txBody>
      </p:sp>
      <p:sp>
        <p:nvSpPr>
          <p:cNvPr id="25" name="Text 23"/>
          <p:cNvSpPr/>
          <p:nvPr/>
        </p:nvSpPr>
        <p:spPr>
          <a:xfrm>
            <a:off x="2139696" y="4901184"/>
            <a:ext cx="461772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고령자 대기시간 분석 (통신·교통카드 결합)</a:t>
            </a:r>
            <a:endParaRPr lang="en-US" sz="1100" dirty="0"/>
          </a:p>
        </p:txBody>
      </p:sp>
      <p:sp>
        <p:nvSpPr>
          <p:cNvPr id="26" name="Text 24"/>
          <p:cNvSpPr/>
          <p:nvPr/>
        </p:nvSpPr>
        <p:spPr>
          <a:xfrm>
            <a:off x="6940296" y="4901184"/>
            <a:ext cx="4434840" cy="402336"/>
          </a:xfrm>
          <a:prstGeom prst="rect">
            <a:avLst/>
          </a:prstGeom>
          <a:noFill/>
          <a:ln/>
        </p:spPr>
        <p:txBody>
          <a:bodyPr wrap="square" lIns="0" tIns="0" rIns="0" bIns="0" rtlCol="0" anchor="ctr"/>
          <a:lstStyle/>
          <a:p>
            <a:pPr marL="0" indent="0">
              <a:lnSpc>
                <a:spcPts val="1500"/>
              </a:lnSpc>
              <a:buNone/>
            </a:pPr>
            <a:r>
              <a:rPr lang="en-US" sz="1100" i="1" dirty="0">
                <a:solidFill>
                  <a:srgbClr val="6E7796"/>
                </a:solidFill>
                <a:latin typeface="맑은 고딕" pitchFamily="34" charset="0"/>
                <a:ea typeface="맑은 고딕" pitchFamily="34" charset="-122"/>
                <a:cs typeface="맑은 고딕" pitchFamily="34" charset="-120"/>
              </a:rPr>
              <a:t>→ 통신사·카드사·춘천시 협력이 전제</a:t>
            </a:r>
            <a:endParaRPr lang="en-US" sz="1100" dirty="0"/>
          </a:p>
        </p:txBody>
      </p:sp>
      <p:sp>
        <p:nvSpPr>
          <p:cNvPr id="27" name="Text 25"/>
          <p:cNvSpPr/>
          <p:nvPr/>
        </p:nvSpPr>
        <p:spPr>
          <a:xfrm>
            <a:off x="2139696" y="5358384"/>
            <a:ext cx="461772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강원 시·군 확산 — 데이터만 교체해 이식</a:t>
            </a:r>
            <a:endParaRPr lang="en-US" sz="1100" dirty="0"/>
          </a:p>
        </p:txBody>
      </p:sp>
      <p:sp>
        <p:nvSpPr>
          <p:cNvPr id="28" name="Text 26"/>
          <p:cNvSpPr/>
          <p:nvPr/>
        </p:nvSpPr>
        <p:spPr>
          <a:xfrm>
            <a:off x="6940296" y="5358384"/>
            <a:ext cx="4434840" cy="402336"/>
          </a:xfrm>
          <a:prstGeom prst="rect">
            <a:avLst/>
          </a:prstGeom>
          <a:noFill/>
          <a:ln/>
        </p:spPr>
        <p:txBody>
          <a:bodyPr wrap="square" lIns="0" tIns="0" rIns="0" bIns="0" rtlCol="0" anchor="ctr"/>
          <a:lstStyle/>
          <a:p>
            <a:pPr marL="0" indent="0">
              <a:lnSpc>
                <a:spcPts val="1500"/>
              </a:lnSpc>
              <a:buNone/>
            </a:pPr>
            <a:r>
              <a:rPr lang="en-US" sz="1100" dirty="0">
                <a:solidFill>
                  <a:srgbClr val="39415E"/>
                </a:solidFill>
                <a:latin typeface="맑은 고딕" pitchFamily="34" charset="0"/>
                <a:ea typeface="맑은 고딕" pitchFamily="34" charset="-122"/>
                <a:cs typeface="맑은 고딕" pitchFamily="34" charset="-120"/>
              </a:rPr>
              <a:t>· 실태 데이터를 춘천시 공공데이터로 재개방</a:t>
            </a:r>
            <a:endParaRPr lang="en-US" sz="1100" dirty="0"/>
          </a:p>
        </p:txBody>
      </p:sp>
      <p:sp>
        <p:nvSpPr>
          <p:cNvPr id="29" name="Shape 27"/>
          <p:cNvSpPr/>
          <p:nvPr/>
        </p:nvSpPr>
        <p:spPr>
          <a:xfrm>
            <a:off x="566928" y="5797296"/>
            <a:ext cx="11064240" cy="548640"/>
          </a:xfrm>
          <a:prstGeom prst="roundRect">
            <a:avLst>
              <a:gd name="adj" fmla="val 10000"/>
            </a:avLst>
          </a:prstGeom>
          <a:solidFill>
            <a:srgbClr val="001871"/>
          </a:solidFill>
          <a:ln w="12700">
            <a:solidFill>
              <a:srgbClr val="001871"/>
            </a:solidFill>
            <a:prstDash val="solid"/>
          </a:ln>
        </p:spPr>
        <p:txBody>
          <a:bodyPr/>
          <a:lstStyle/>
          <a:p>
            <a:endParaRPr lang="ko-KR" altLang="en-US"/>
          </a:p>
        </p:txBody>
      </p:sp>
      <p:sp>
        <p:nvSpPr>
          <p:cNvPr id="30" name="Text 28"/>
          <p:cNvSpPr/>
          <p:nvPr/>
        </p:nvSpPr>
        <p:spPr>
          <a:xfrm>
            <a:off x="566928" y="5797296"/>
            <a:ext cx="1106424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맑은 고딕" pitchFamily="34" charset="0"/>
                <a:ea typeface="맑은 고딕" pitchFamily="34" charset="-122"/>
                <a:cs typeface="맑은 고딕" pitchFamily="34" charset="-120"/>
              </a:rPr>
              <a:t>미구현 항목은 목업 화면으로 만들지 않았습니다. 데모에서 보여드린 것은 전부 실제로 동작하는 기능입니다.</a:t>
            </a:r>
            <a:endParaRPr lang="en-US" sz="1250" dirty="0"/>
          </a:p>
        </p:txBody>
      </p:sp>
      <p:sp>
        <p:nvSpPr>
          <p:cNvPr id="32" name="Text 29"/>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33" name="Text 30"/>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4">
    <p:bg>
      <p:bgPr>
        <a:solidFill>
          <a:srgbClr val="001871"/>
        </a:solidFill>
        <a:effectLst/>
      </p:bgPr>
    </p:bg>
    <p:spTree>
      <p:nvGrpSpPr>
        <p:cNvPr id="1" name=""/>
        <p:cNvGrpSpPr/>
        <p:nvPr/>
      </p:nvGrpSpPr>
      <p:grpSpPr>
        <a:xfrm>
          <a:off x="0" y="0"/>
          <a:ext cx="0" cy="0"/>
          <a:chOff x="0" y="0"/>
          <a:chExt cx="0" cy="0"/>
        </a:xfrm>
      </p:grpSpPr>
      <p:sp>
        <p:nvSpPr>
          <p:cNvPr id="2" name="Shape 0"/>
          <p:cNvSpPr/>
          <p:nvPr/>
        </p:nvSpPr>
        <p:spPr>
          <a:xfrm>
            <a:off x="-1463040" y="3840480"/>
            <a:ext cx="5120640" cy="5120640"/>
          </a:xfrm>
          <a:prstGeom prst="ellipse">
            <a:avLst/>
          </a:prstGeom>
          <a:solidFill>
            <a:srgbClr val="0A2384"/>
          </a:solidFill>
          <a:ln w="12700">
            <a:solidFill>
              <a:srgbClr val="0A2384"/>
            </a:solidFill>
            <a:prstDash val="solid"/>
          </a:ln>
        </p:spPr>
        <p:txBody>
          <a:bodyPr/>
          <a:lstStyle/>
          <a:p>
            <a:endParaRPr lang="ko-KR" altLang="en-US"/>
          </a:p>
        </p:txBody>
      </p:sp>
      <p:sp>
        <p:nvSpPr>
          <p:cNvPr id="3" name="Shape 1"/>
          <p:cNvSpPr/>
          <p:nvPr/>
        </p:nvSpPr>
        <p:spPr>
          <a:xfrm>
            <a:off x="9692640" y="-1280160"/>
            <a:ext cx="4206240" cy="4206240"/>
          </a:xfrm>
          <a:prstGeom prst="ellipse">
            <a:avLst/>
          </a:prstGeom>
          <a:solidFill>
            <a:srgbClr val="00104F"/>
          </a:solidFill>
          <a:ln w="12700">
            <a:solidFill>
              <a:srgbClr val="00104F"/>
            </a:solidFill>
            <a:prstDash val="solid"/>
          </a:ln>
        </p:spPr>
        <p:txBody>
          <a:bodyPr/>
          <a:lstStyle/>
          <a:p>
            <a:endParaRPr lang="ko-KR" altLang="en-US"/>
          </a:p>
        </p:txBody>
      </p:sp>
      <p:sp>
        <p:nvSpPr>
          <p:cNvPr id="4" name="Text 2"/>
          <p:cNvSpPr/>
          <p:nvPr/>
        </p:nvSpPr>
        <p:spPr>
          <a:xfrm>
            <a:off x="1097280" y="1828800"/>
            <a:ext cx="10058400" cy="859536"/>
          </a:xfrm>
          <a:prstGeom prst="rect">
            <a:avLst/>
          </a:prstGeom>
          <a:noFill/>
          <a:ln/>
        </p:spPr>
        <p:txBody>
          <a:bodyPr wrap="square" lIns="0" tIns="0" rIns="0" bIns="0" rtlCol="0" anchor="ctr"/>
          <a:lstStyle/>
          <a:p>
            <a:pPr marL="0" indent="0" algn="ctr">
              <a:buNone/>
            </a:pPr>
            <a:r>
              <a:rPr lang="en-US" sz="3600" b="1" dirty="0" err="1">
                <a:solidFill>
                  <a:srgbClr val="FFFFFF"/>
                </a:solidFill>
                <a:latin typeface="맑은 고딕" pitchFamily="34" charset="0"/>
                <a:ea typeface="맑은 고딕" pitchFamily="34" charset="-122"/>
                <a:cs typeface="맑은 고딕" pitchFamily="34" charset="-120"/>
              </a:rPr>
              <a:t>버스를</a:t>
            </a:r>
            <a:r>
              <a:rPr lang="en-US" sz="3600" b="1" dirty="0">
                <a:solidFill>
                  <a:srgbClr val="FFFFFF"/>
                </a:solidFill>
                <a:latin typeface="맑은 고딕" pitchFamily="34" charset="0"/>
                <a:ea typeface="맑은 고딕" pitchFamily="34" charset="-122"/>
                <a:cs typeface="맑은 고딕" pitchFamily="34" charset="-120"/>
              </a:rPr>
              <a:t> </a:t>
            </a:r>
            <a:r>
              <a:rPr lang="en-US" sz="3600" b="1" dirty="0" err="1">
                <a:solidFill>
                  <a:srgbClr val="FFFFFF"/>
                </a:solidFill>
                <a:latin typeface="맑은 고딕" pitchFamily="34" charset="0"/>
                <a:ea typeface="맑은 고딕" pitchFamily="34" charset="-122"/>
                <a:cs typeface="맑은 고딕" pitchFamily="34" charset="-120"/>
              </a:rPr>
              <a:t>기다리는</a:t>
            </a:r>
            <a:r>
              <a:rPr lang="en-US" sz="3600" b="1" dirty="0">
                <a:solidFill>
                  <a:srgbClr val="FFFFFF"/>
                </a:solidFill>
                <a:latin typeface="맑은 고딕" pitchFamily="34" charset="0"/>
                <a:ea typeface="맑은 고딕" pitchFamily="34" charset="-122"/>
                <a:cs typeface="맑은 고딕" pitchFamily="34" charset="-120"/>
              </a:rPr>
              <a:t> </a:t>
            </a:r>
            <a:r>
              <a:rPr lang="ko-KR" altLang="en-US" sz="3600" b="1" dirty="0">
                <a:solidFill>
                  <a:srgbClr val="FFFFFF"/>
                </a:solidFill>
                <a:latin typeface="맑은 고딕" pitchFamily="34" charset="0"/>
                <a:ea typeface="맑은 고딕" pitchFamily="34" charset="-122"/>
                <a:cs typeface="맑은 고딕" pitchFamily="34" charset="-120"/>
              </a:rPr>
              <a:t>시간</a:t>
            </a:r>
            <a:r>
              <a:rPr lang="en-US" sz="3600" b="1" dirty="0">
                <a:solidFill>
                  <a:srgbClr val="FFFFFF"/>
                </a:solidFill>
                <a:latin typeface="맑은 고딕" pitchFamily="34" charset="0"/>
                <a:ea typeface="맑은 고딕" pitchFamily="34" charset="-122"/>
                <a:cs typeface="맑은 고딕" pitchFamily="34" charset="-120"/>
              </a:rPr>
              <a:t>, 어르신을 그늘 아래로.</a:t>
            </a:r>
            <a:endParaRPr lang="en-US" sz="3600" dirty="0"/>
          </a:p>
        </p:txBody>
      </p:sp>
      <p:sp>
        <p:nvSpPr>
          <p:cNvPr id="5" name="Text 3"/>
          <p:cNvSpPr/>
          <p:nvPr/>
        </p:nvSpPr>
        <p:spPr>
          <a:xfrm>
            <a:off x="1097280" y="2834640"/>
            <a:ext cx="10058400" cy="914400"/>
          </a:xfrm>
          <a:prstGeom prst="rect">
            <a:avLst/>
          </a:prstGeom>
          <a:noFill/>
          <a:ln/>
        </p:spPr>
        <p:txBody>
          <a:bodyPr wrap="square" lIns="0" tIns="0" rIns="0" bIns="0" rtlCol="0" anchor="ctr"/>
          <a:lstStyle/>
          <a:p>
            <a:pPr marL="0" indent="0" algn="ctr">
              <a:lnSpc>
                <a:spcPts val="3000"/>
              </a:lnSpc>
              <a:buNone/>
            </a:pPr>
            <a:r>
              <a:rPr lang="en-US" sz="1800" dirty="0">
                <a:solidFill>
                  <a:srgbClr val="A6B3E6"/>
                </a:solidFill>
                <a:latin typeface="맑은 고딕" pitchFamily="34" charset="0"/>
                <a:ea typeface="맑은 고딕" pitchFamily="34" charset="-122"/>
                <a:cs typeface="맑은 고딕" pitchFamily="34" charset="-120"/>
              </a:rPr>
              <a:t>춘천에 이미 있는 무더위쉼터 230곳을,</a:t>
            </a:r>
            <a:endParaRPr lang="en-US" sz="1800" dirty="0"/>
          </a:p>
          <a:p>
            <a:pPr marL="0" indent="0" algn="ctr">
              <a:lnSpc>
                <a:spcPts val="3000"/>
              </a:lnSpc>
              <a:buNone/>
            </a:pPr>
            <a:r>
              <a:rPr lang="en-US" sz="1800" dirty="0">
                <a:solidFill>
                  <a:srgbClr val="A6B3E6"/>
                </a:solidFill>
                <a:latin typeface="맑은 고딕" pitchFamily="34" charset="0"/>
                <a:ea typeface="맑은 고딕" pitchFamily="34" charset="-122"/>
                <a:cs typeface="맑은 고딕" pitchFamily="34" charset="-120"/>
              </a:rPr>
              <a:t>정류장에 서 있는 어르신에게 연결합니다.</a:t>
            </a:r>
            <a:endParaRPr lang="en-US" sz="1800" dirty="0"/>
          </a:p>
        </p:txBody>
      </p:sp>
      <p:sp>
        <p:nvSpPr>
          <p:cNvPr id="6" name="Shape 4"/>
          <p:cNvSpPr/>
          <p:nvPr/>
        </p:nvSpPr>
        <p:spPr>
          <a:xfrm>
            <a:off x="4157955" y="4023360"/>
            <a:ext cx="965835" cy="338455"/>
          </a:xfrm>
          <a:prstGeom prst="roundRect">
            <a:avLst>
              <a:gd name="adj" fmla="val 135084"/>
            </a:avLst>
          </a:prstGeom>
          <a:solidFill>
            <a:srgbClr val="12309B"/>
          </a:solidFill>
          <a:ln w="12700">
            <a:solidFill>
              <a:srgbClr val="2C4CC0"/>
            </a:solidFill>
            <a:prstDash val="solid"/>
          </a:ln>
        </p:spPr>
        <p:txBody>
          <a:bodyPr/>
          <a:lstStyle/>
          <a:p>
            <a:endParaRPr lang="ko-KR" altLang="en-US"/>
          </a:p>
        </p:txBody>
      </p:sp>
      <p:sp>
        <p:nvSpPr>
          <p:cNvPr id="7" name="Text 5"/>
          <p:cNvSpPr/>
          <p:nvPr/>
        </p:nvSpPr>
        <p:spPr>
          <a:xfrm>
            <a:off x="4157955" y="4023360"/>
            <a:ext cx="965835" cy="338455"/>
          </a:xfrm>
          <a:prstGeom prst="rect">
            <a:avLst/>
          </a:prstGeom>
          <a:noFill/>
          <a:ln/>
        </p:spPr>
        <p:txBody>
          <a:bodyPr wrap="square" lIns="0" tIns="0" rIns="0" bIns="0" rtlCol="0" anchor="ctr"/>
          <a:lstStyle/>
          <a:p>
            <a:pPr marL="0" indent="0" algn="ctr">
              <a:buNone/>
            </a:pPr>
            <a:r>
              <a:rPr lang="ko-KR" altLang="en-US" sz="1300" dirty="0">
                <a:solidFill>
                  <a:srgbClr val="B9C4EE"/>
                </a:solidFill>
                <a:latin typeface="맑은 고딕" pitchFamily="34" charset="0"/>
                <a:ea typeface="맑은 고딕" pitchFamily="34" charset="-122"/>
                <a:cs typeface="맑은 고딕" pitchFamily="34" charset="-120"/>
              </a:rPr>
              <a:t>지붕</a:t>
            </a:r>
            <a:r>
              <a:rPr lang="en-US" sz="1300" dirty="0">
                <a:solidFill>
                  <a:srgbClr val="B9C4EE"/>
                </a:solidFill>
                <a:latin typeface="맑은 고딕" pitchFamily="34" charset="0"/>
                <a:ea typeface="맑은 고딕" pitchFamily="34" charset="-122"/>
                <a:cs typeface="맑은 고딕" pitchFamily="34" charset="-120"/>
              </a:rPr>
              <a:t> </a:t>
            </a:r>
            <a:r>
              <a:rPr lang="ko-KR" altLang="en-US" sz="1300" dirty="0">
                <a:solidFill>
                  <a:srgbClr val="B9C4EE"/>
                </a:solidFill>
                <a:latin typeface="맑은 고딕" pitchFamily="34" charset="0"/>
                <a:ea typeface="맑은 고딕" pitchFamily="34" charset="-122"/>
                <a:cs typeface="맑은 고딕" pitchFamily="34" charset="-120"/>
              </a:rPr>
              <a:t>있</a:t>
            </a:r>
            <a:r>
              <a:rPr lang="en-US" sz="1300" dirty="0">
                <a:solidFill>
                  <a:srgbClr val="B9C4EE"/>
                </a:solidFill>
                <a:latin typeface="맑은 고딕" pitchFamily="34" charset="0"/>
                <a:ea typeface="맑은 고딕" pitchFamily="34" charset="-122"/>
                <a:cs typeface="맑은 고딕" pitchFamily="34" charset="-120"/>
              </a:rPr>
              <a:t>음</a:t>
            </a:r>
            <a:endParaRPr lang="en-US" sz="1300" dirty="0"/>
          </a:p>
        </p:txBody>
      </p:sp>
      <p:sp>
        <p:nvSpPr>
          <p:cNvPr id="8" name="Shape 6"/>
          <p:cNvSpPr/>
          <p:nvPr/>
        </p:nvSpPr>
        <p:spPr>
          <a:xfrm>
            <a:off x="5251806" y="4023360"/>
            <a:ext cx="2781935" cy="338455"/>
          </a:xfrm>
          <a:prstGeom prst="roundRect">
            <a:avLst>
              <a:gd name="adj" fmla="val 135084"/>
            </a:avLst>
          </a:prstGeom>
          <a:solidFill>
            <a:srgbClr val="E8751A"/>
          </a:solidFill>
          <a:ln w="12700">
            <a:solidFill>
              <a:srgbClr val="E8751A"/>
            </a:solidFill>
            <a:prstDash val="solid"/>
          </a:ln>
        </p:spPr>
        <p:txBody>
          <a:bodyPr/>
          <a:lstStyle/>
          <a:p>
            <a:endParaRPr lang="ko-KR" altLang="en-US"/>
          </a:p>
        </p:txBody>
      </p:sp>
      <p:sp>
        <p:nvSpPr>
          <p:cNvPr id="9" name="Text 7"/>
          <p:cNvSpPr/>
          <p:nvPr/>
        </p:nvSpPr>
        <p:spPr>
          <a:xfrm>
            <a:off x="5251806" y="4023360"/>
            <a:ext cx="2781935" cy="338455"/>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가장 가까운 </a:t>
            </a:r>
            <a:r>
              <a:rPr lang="en-US" sz="1300" b="1" dirty="0" err="1">
                <a:solidFill>
                  <a:srgbClr val="FFFFFF"/>
                </a:solidFill>
                <a:latin typeface="맑은 고딕" pitchFamily="34" charset="0"/>
                <a:ea typeface="맑은 고딕" pitchFamily="34" charset="-122"/>
                <a:cs typeface="맑은 고딕" pitchFamily="34" charset="-120"/>
              </a:rPr>
              <a:t>쉼터</a:t>
            </a:r>
            <a:r>
              <a:rPr lang="en-US" sz="1300" b="1" dirty="0">
                <a:solidFill>
                  <a:srgbClr val="FFFFFF"/>
                </a:solidFill>
                <a:latin typeface="맑은 고딕" pitchFamily="34" charset="0"/>
                <a:ea typeface="맑은 고딕" pitchFamily="34" charset="-122"/>
                <a:cs typeface="맑은 고딕" pitchFamily="34" charset="-120"/>
              </a:rPr>
              <a:t> 50m</a:t>
            </a:r>
            <a:endParaRPr lang="en-US" sz="1300" dirty="0"/>
          </a:p>
        </p:txBody>
      </p:sp>
      <p:sp>
        <p:nvSpPr>
          <p:cNvPr id="11" name="Text 9"/>
          <p:cNvSpPr/>
          <p:nvPr/>
        </p:nvSpPr>
        <p:spPr>
          <a:xfrm>
            <a:off x="1097280" y="5175504"/>
            <a:ext cx="10058400" cy="822960"/>
          </a:xfrm>
          <a:prstGeom prst="rect">
            <a:avLst/>
          </a:prstGeom>
          <a:noFill/>
          <a:ln/>
        </p:spPr>
        <p:txBody>
          <a:bodyPr wrap="square" lIns="0" tIns="0" rIns="0" bIns="0" rtlCol="0" anchor="ctr"/>
          <a:lstStyle/>
          <a:p>
            <a:pPr marL="0" indent="0" algn="ctr">
              <a:lnSpc>
                <a:spcPts val="2600"/>
              </a:lnSpc>
              <a:buNone/>
            </a:pPr>
            <a:r>
              <a:rPr lang="en-US" sz="2000" b="1" dirty="0">
                <a:solidFill>
                  <a:srgbClr val="FFFFFF"/>
                </a:solidFill>
                <a:latin typeface="맑은 고딕" pitchFamily="34" charset="0"/>
                <a:ea typeface="맑은 고딕" pitchFamily="34" charset="-122"/>
                <a:cs typeface="맑은 고딕" pitchFamily="34" charset="-120"/>
              </a:rPr>
              <a:t>쉼표정류장</a:t>
            </a:r>
            <a:endParaRPr lang="en-US" sz="2000" dirty="0"/>
          </a:p>
          <a:p>
            <a:pPr marL="0" indent="0" algn="ctr">
              <a:lnSpc>
                <a:spcPts val="2600"/>
              </a:lnSpc>
              <a:buNone/>
            </a:pPr>
            <a:r>
              <a:rPr lang="en-US" sz="1300" dirty="0">
                <a:solidFill>
                  <a:srgbClr val="8B9CDD"/>
                </a:solidFill>
                <a:latin typeface="맑은 고딕" pitchFamily="34" charset="0"/>
                <a:ea typeface="맑은 고딕" pitchFamily="34" charset="-122"/>
                <a:cs typeface="맑은 고딕" pitchFamily="34" charset="-120"/>
              </a:rPr>
              <a:t>팀 오댕국 (13번 팀)  ·  감사합니다</a:t>
            </a:r>
            <a:endParaRPr lang="en-US" sz="2000" dirty="0"/>
          </a:p>
        </p:txBody>
      </p:sp>
      <p:sp>
        <p:nvSpPr>
          <p:cNvPr id="13" name="Text 10"/>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6B7CC0"/>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4" name="Text 11"/>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6B7CC0"/>
                </a:solidFill>
                <a:latin typeface="맑은 고딕" pitchFamily="34" charset="0"/>
                <a:ea typeface="맑은 고딕" pitchFamily="34" charset="-122"/>
                <a:cs typeface="맑은 고딕" pitchFamily="34" charset="-120"/>
              </a:rPr>
              <a:t>24</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별첨  활용 데이터 및 외부 자료</a:t>
            </a:r>
            <a:endParaRPr lang="en-US" sz="12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활용 데이터 출처 ① 공공데이터</a:t>
            </a:r>
            <a:endParaRPr lang="en-US" sz="3000" dirty="0"/>
          </a:p>
        </p:txBody>
      </p:sp>
      <p:sp>
        <p:nvSpPr>
          <p:cNvPr id="4" name="Text 2"/>
          <p:cNvSpPr/>
          <p:nvPr/>
        </p:nvSpPr>
        <p:spPr>
          <a:xfrm>
            <a:off x="566928" y="1225296"/>
            <a:ext cx="11064240" cy="292608"/>
          </a:xfrm>
          <a:prstGeom prst="rect">
            <a:avLst/>
          </a:prstGeom>
          <a:noFill/>
          <a:ln/>
        </p:spPr>
        <p:txBody>
          <a:bodyPr wrap="square" lIns="0" tIns="0" rIns="0" bIns="0" rtlCol="0" anchor="ctr"/>
          <a:lstStyle/>
          <a:p>
            <a:pPr marL="0" indent="0">
              <a:buNone/>
            </a:pPr>
            <a:r>
              <a:rPr lang="en-US" sz="1300" dirty="0">
                <a:solidFill>
                  <a:srgbClr val="6E7796"/>
                </a:solidFill>
                <a:latin typeface="맑은 고딕" pitchFamily="34" charset="0"/>
                <a:ea typeface="맑은 고딕" pitchFamily="34" charset="-122"/>
                <a:cs typeface="맑은 고딕" pitchFamily="34" charset="-120"/>
              </a:rPr>
              <a:t>모두 공공데이터포털(www.data.go.kr)에서 공개된 데이터입니다</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64240" cy="4206240"/>
        </p:xfrm>
        <a:graphic>
          <a:graphicData uri="http://schemas.openxmlformats.org/drawingml/2006/table">
            <a:tbl>
              <a:tblPr/>
              <a:tblGrid>
                <a:gridCol w="278892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50749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420624">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데이터명</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제공기관</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활용 내용</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기준시점</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extLst>
                  <a:ext uri="{0D108BD9-81ED-4DB2-BD59-A6C34878D82A}">
                    <a16:rowId xmlns:a16="http://schemas.microsoft.com/office/drawing/2014/main" val="10000"/>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무더위쉼터 (230개소)</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좌표 100% — 근처 쉼터 안내, 지도 레이어, 폭염 취약 판정 규칙(300m)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폭염대비 접이식그늘막</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그늘막 306개소 → 폭염 노출 축 및 그늘 정보 보정</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2026-06-10</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버스정류장 위치정보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 1,890개의 좌표·정류장번호·관리번호 — 전 서비스의 기준 마스터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2026-03-26</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버스정류장 노선정보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정류장-노선 연결 16,168행, 노선별 경유 순서 → 방면 찾기 알고리즘</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2026-03-26</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4"/>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벤치 현황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 벤치 681건 → 시설 정보(의자) 819개 정류장 시딩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2026-06-01</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버스정보안내단말기(BIT) 현황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안내단말기 345건 → 시설 정보(도착안내기) 307개 정류장 시딩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2025-11-14</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6"/>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가로등정보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가로등 13,713건 → 정류장 반경 내 존재 여부로 조명 시딩(추정값, 출처 라벨 표기)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2026-06-10</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버스노선별 시간대별 승하차 인원</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강원특별자치도 춘천시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정류장별 24시간 이용량 산출 → 우선순위 판단의 이용량 축</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2025-12-09 공개</a:t>
                      </a:r>
                      <a:endParaRPr lang="en-US" sz="950" dirty="0">
                        <a:latin typeface="맑은 고딕" charset="0"/>
                        <a:ea typeface="맑은 고딕" charset="0"/>
                        <a:cs typeface="맑은 고딕" charset="0"/>
                      </a:endParaRPr>
                    </a:p>
                    <a:p>
                      <a:pPr marL="0" indent="0">
                        <a:buNone/>
                      </a:pPr>
                      <a:r>
                        <a:rPr lang="en-US" sz="950" dirty="0">
                          <a:solidFill>
                            <a:srgbClr val="39415E"/>
                          </a:solidFill>
                          <a:latin typeface="맑은 고딕" pitchFamily="34" charset="0"/>
                          <a:ea typeface="맑은 고딕" pitchFamily="34" charset="-122"/>
                          <a:cs typeface="맑은 고딕" pitchFamily="34" charset="-120"/>
                        </a:rPr>
                        <a:t>(수집 2025-06-25~28)</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8"/>
                  </a:ext>
                </a:extLst>
              </a:tr>
              <a:tr h="42062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국토교통부 정류장 현황</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국토교통부</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승차자료 정류장ID ↔ 춘천시 정류장번호 대응(법정동 기준)</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2025-06-13</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p:nvPr/>
        </p:nvSpPr>
        <p:spPr>
          <a:xfrm>
            <a:off x="566928" y="6053328"/>
            <a:ext cx="11064240" cy="274320"/>
          </a:xfrm>
          <a:prstGeom prst="rect">
            <a:avLst/>
          </a:prstGeom>
          <a:noFill/>
          <a:ln/>
        </p:spPr>
        <p:txBody>
          <a:bodyPr wrap="square" lIns="0" tIns="0" rIns="0" bIns="0" rtlCol="0" anchor="ctr"/>
          <a:lstStyle/>
          <a:p>
            <a:pPr marL="0" indent="0">
              <a:buNone/>
            </a:pPr>
            <a:r>
              <a:rPr lang="en-US" sz="950" dirty="0">
                <a:solidFill>
                  <a:srgbClr val="98A0BA"/>
                </a:solidFill>
                <a:latin typeface="맑은 고딕" pitchFamily="34" charset="0"/>
                <a:ea typeface="맑은 고딕" pitchFamily="34" charset="-122"/>
                <a:cs typeface="맑은 고딕" pitchFamily="34" charset="-120"/>
              </a:rPr>
              <a:t>※ 각 데이터셋은 공공데이터포털에서 위 데이터명으로 검색하여 확인할 수 있습니다.</a:t>
            </a:r>
            <a:endParaRPr lang="en-US" sz="950" dirty="0"/>
          </a:p>
        </p:txBody>
      </p:sp>
      <p:sp>
        <p:nvSpPr>
          <p:cNvPr id="8" name="Text 4"/>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9" name="Text 5"/>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별첨  활용 데이터 및 외부 자료</a:t>
            </a:r>
            <a:endParaRPr lang="en-US" sz="12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활용 데이터 출처 ② 외부 API · 자체 구축 · 참고 자료</a:t>
            </a:r>
            <a:endParaRPr lang="en-US" sz="3000" dirty="0"/>
          </a:p>
        </p:txBody>
      </p:sp>
      <p:sp>
        <p:nvSpPr>
          <p:cNvPr id="4" name="Text 2"/>
          <p:cNvSpPr/>
          <p:nvPr/>
        </p:nvSpPr>
        <p:spPr>
          <a:xfrm>
            <a:off x="566928" y="1517904"/>
            <a:ext cx="5486400" cy="274320"/>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외부 API</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64240" cy="1463040"/>
        </p:xfrm>
        <a:graphic>
          <a:graphicData uri="http://schemas.openxmlformats.org/drawingml/2006/table">
            <a:tbl>
              <a:tblPr/>
              <a:tblGrid>
                <a:gridCol w="27889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886200">
                  <a:extLst>
                    <a:ext uri="{9D8B030D-6E8A-4147-A177-3AD203B41FA5}">
                      <a16:colId xmlns:a16="http://schemas.microsoft.com/office/drawing/2014/main" val="20003"/>
                    </a:ext>
                  </a:extLst>
                </a:gridCol>
              </a:tblGrid>
              <a:tr h="292608">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API명</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제공기관</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출처</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활용 내용</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TAGO 버스도착정보 조회 서비스</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국토교통부 (공공데이터포털)</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www.data.go.kr</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실시간 버스 도착 예정 정보 (서버 프록시 경유)</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TAGO 버스정류소정보 조회 서비스</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국토교통부 (공공데이터포털)</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www.data.go.kr</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 nodeId 대응 및 경유 노선 확인</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카카오맵 JavaScript SDK</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카카오</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apis.map.kakao.com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정류장·무더위쉼터 지도 표시 (B2C/B2G 공통)</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카카오맵 로드뷰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카카오</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map.kakao.com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시설 육안 조사 시 참조 (이미지 재배포 없음)</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4"/>
                  </a:ext>
                </a:extLst>
              </a:tr>
            </a:tbl>
          </a:graphicData>
        </a:graphic>
      </p:graphicFrame>
      <p:sp>
        <p:nvSpPr>
          <p:cNvPr id="6" name="Text 3"/>
          <p:cNvSpPr/>
          <p:nvPr/>
        </p:nvSpPr>
        <p:spPr>
          <a:xfrm>
            <a:off x="566928" y="3401568"/>
            <a:ext cx="5486400" cy="274320"/>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자체 구축 데이터</a:t>
            </a:r>
            <a:endParaRPr lang="en-US" sz="1300" dirty="0"/>
          </a:p>
        </p:txBody>
      </p:sp>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566928" y="3694176"/>
          <a:ext cx="11064240" cy="1316736"/>
        </p:xfrm>
        <a:graphic>
          <a:graphicData uri="http://schemas.openxmlformats.org/drawingml/2006/table">
            <a:tbl>
              <a:tblPr/>
              <a:tblGrid>
                <a:gridCol w="278892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329184">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데이터명</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구축 방법</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규모</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활용 내용</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extLst>
                  <a:ext uri="{0D108BD9-81ED-4DB2-BD59-A6C34878D82A}">
                    <a16:rowId xmlns:a16="http://schemas.microsoft.com/office/drawing/2014/main" val="10000"/>
                  </a:ext>
                </a:extLst>
              </a:tr>
              <a:tr h="32918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 시설 현황 조사</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카카오맵 로드뷰 육안 판독 + 라벨링</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163개 정류장</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그늘·의자·쉘터·안내기 있음/없음 판정</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 ID 대응 테이블</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정류장명·법정동·좌표 기반 매칭</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1,038행</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승차ID ↔ 정류장번호 ↔ 관리번호 ↔ nodeId</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329184">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시민 사진 제보 + AI 판독</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사진 1장 → VLM 민원 분류·시설 판독</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런타임 생성</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미확인 구간 보완('AI 판독' 출처), 민원 피드</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p:nvPr/>
        </p:nvSpPr>
        <p:spPr>
          <a:xfrm>
            <a:off x="566928" y="5120640"/>
            <a:ext cx="7315200" cy="274320"/>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보도자료 · 참고 자료</a:t>
            </a:r>
            <a:endParaRPr lang="en-US" sz="1300" dirty="0"/>
          </a:p>
        </p:txBody>
      </p:sp>
      <p:graphicFrame>
        <p:nvGraphicFramePr>
          <p:cNvPr id="79" name="Table 2"/>
          <p:cNvGraphicFramePr>
            <a:graphicFrameLocks noGrp="1"/>
          </p:cNvGraphicFramePr>
          <p:nvPr>
            <p:extLst>
              <p:ext uri="{D42A27DB-BD31-4B8C-83A1-F6EECF244321}">
                <p14:modId xmlns:p14="http://schemas.microsoft.com/office/powerpoint/2010/main" val="1579011935"/>
              </p:ext>
            </p:extLst>
          </p:nvPr>
        </p:nvGraphicFramePr>
        <p:xfrm>
          <a:off x="566928" y="5413248"/>
          <a:ext cx="11064240" cy="877824"/>
        </p:xfrm>
        <a:graphic>
          <a:graphicData uri="http://schemas.openxmlformats.org/drawingml/2006/table">
            <a:tbl>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292608">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자료명</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출처</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URL</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활용 내용</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도내 버스정류장 표지판이 '대부분' (2026-02-05)</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강원일보</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m.kwnews.co.kr/article/202602042093714</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표지판형 1,200곳(63.5%) 등 문제 정의 수치</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춘천시, 친환경 시내버스 전량 교체 (2024-07-03)</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전자신문</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www.etnews.com/20240703000135</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유개식 승강장 716→980곳 확대 계획</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bl>
          </a:graphicData>
        </a:graphic>
      </p:graphicFrame>
      <p:sp>
        <p:nvSpPr>
          <p:cNvPr id="11" name="Text 5"/>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2" name="Text 6"/>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65760"/>
            <a:ext cx="8229600" cy="256032"/>
          </a:xfrm>
          <a:prstGeom prst="rect">
            <a:avLst/>
          </a:prstGeom>
          <a:noFill/>
          <a:ln/>
        </p:spPr>
        <p:txBody>
          <a:bodyPr wrap="square" lIns="0" tIns="0" rIns="0" bIns="0" rtlCol="0" anchor="ctr"/>
          <a:lstStyle/>
          <a:p>
            <a:pPr marL="0" indent="0">
              <a:buNone/>
            </a:pPr>
            <a:r>
              <a:rPr lang="en-US" sz="1200" b="1" kern="0" spc="140" dirty="0">
                <a:solidFill>
                  <a:srgbClr val="001871"/>
                </a:solidFill>
                <a:latin typeface="맑은 고딕" pitchFamily="34" charset="0"/>
                <a:ea typeface="맑은 고딕" pitchFamily="34" charset="-122"/>
                <a:cs typeface="맑은 고딕" pitchFamily="34" charset="-120"/>
              </a:rPr>
              <a:t>별첨  활용 데이터 및 외부 자료</a:t>
            </a:r>
            <a:endParaRPr lang="en-US" sz="1200" dirty="0"/>
          </a:p>
        </p:txBody>
      </p:sp>
      <p:sp>
        <p:nvSpPr>
          <p:cNvPr id="3" name="Text 1"/>
          <p:cNvSpPr/>
          <p:nvPr/>
        </p:nvSpPr>
        <p:spPr>
          <a:xfrm>
            <a:off x="566928" y="640080"/>
            <a:ext cx="11064240" cy="566928"/>
          </a:xfrm>
          <a:prstGeom prst="rect">
            <a:avLst/>
          </a:prstGeom>
          <a:noFill/>
          <a:ln/>
        </p:spPr>
        <p:txBody>
          <a:bodyPr wrap="square" lIns="0" tIns="0" rIns="0" bIns="0" rtlCol="0" anchor="ctr"/>
          <a:lstStyle/>
          <a:p>
            <a:pPr marL="0" indent="0">
              <a:buNone/>
            </a:pPr>
            <a:r>
              <a:rPr lang="en-US" sz="3000" b="1" dirty="0">
                <a:solidFill>
                  <a:srgbClr val="141B33"/>
                </a:solidFill>
                <a:latin typeface="맑은 고딕" pitchFamily="34" charset="0"/>
                <a:ea typeface="맑은 고딕" pitchFamily="34" charset="-122"/>
                <a:cs typeface="맑은 고딕" pitchFamily="34" charset="-120"/>
              </a:rPr>
              <a:t>활용 데이터 출처 ③ 오픈소스 라이브러리 · 생성형 AI</a:t>
            </a:r>
            <a:endParaRPr lang="en-US" sz="3000" dirty="0"/>
          </a:p>
        </p:txBody>
      </p:sp>
      <p:sp>
        <p:nvSpPr>
          <p:cNvPr id="4" name="Text 2"/>
          <p:cNvSpPr/>
          <p:nvPr/>
        </p:nvSpPr>
        <p:spPr>
          <a:xfrm>
            <a:off x="566928" y="1517904"/>
            <a:ext cx="5486400" cy="274320"/>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오픈소스 라이브러리</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11064240" cy="2340864"/>
        </p:xfrm>
        <a:graphic>
          <a:graphicData uri="http://schemas.openxmlformats.org/drawingml/2006/table">
            <a:tbl>
              <a:tblPr/>
              <a:tblGrid>
                <a:gridCol w="21031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4846320">
                  <a:extLst>
                    <a:ext uri="{9D8B030D-6E8A-4147-A177-3AD203B41FA5}">
                      <a16:colId xmlns:a16="http://schemas.microsoft.com/office/drawing/2014/main" val="20003"/>
                    </a:ext>
                  </a:extLst>
                </a:gridCol>
              </a:tblGrid>
              <a:tr h="292608">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이름</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라이선스</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출처</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활용 내용</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extLst>
                  <a:ext uri="{0D108BD9-81ED-4DB2-BD59-A6C34878D82A}">
                    <a16:rowId xmlns:a16="http://schemas.microsoft.com/office/drawing/2014/main" val="10000"/>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Next.js</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MIT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nextjs.org</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웹 프레임워크 (App Router)</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React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MIT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react.dev</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UI 렌더링</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TypeScript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Apache-2.0</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typescriptlang.org</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정적 타입</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Tailwind CSS</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MIT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tailwindcss.com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스타일링</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4"/>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shadcn/ui</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MIT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ui.shadcn.com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UI 컴포넌트</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Recharts</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MIT</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recharts.org</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B2G 대시보드 차트</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6"/>
                  </a:ext>
                </a:extLst>
              </a:tr>
              <a:tr h="292608">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Ultralytics YOLOv8</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AGPL-3.0</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github.com/ultralytics/ultralytics</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사전 준비 단계의 로드뷰 시설 자동 판독 모델 학습 (모델·가중치는 배포물 미포함)</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p:nvPr/>
        </p:nvSpPr>
        <p:spPr>
          <a:xfrm>
            <a:off x="566928" y="4206240"/>
            <a:ext cx="5486400" cy="274320"/>
          </a:xfrm>
          <a:prstGeom prst="rect">
            <a:avLst/>
          </a:prstGeom>
          <a:noFill/>
          <a:ln/>
        </p:spPr>
        <p:txBody>
          <a:bodyPr wrap="square" lIns="0" tIns="0" rIns="0" bIns="0" rtlCol="0" anchor="ctr"/>
          <a:lstStyle/>
          <a:p>
            <a:pPr marL="0" indent="0">
              <a:buNone/>
            </a:pPr>
            <a:r>
              <a:rPr lang="en-US" sz="1300" b="1" dirty="0">
                <a:solidFill>
                  <a:srgbClr val="141B33"/>
                </a:solidFill>
                <a:latin typeface="맑은 고딕" pitchFamily="34" charset="0"/>
                <a:ea typeface="맑은 고딕" pitchFamily="34" charset="-122"/>
                <a:cs typeface="맑은 고딕" pitchFamily="34" charset="-120"/>
              </a:rPr>
              <a:t>생성형 AI</a:t>
            </a:r>
            <a:endParaRPr lang="en-US" sz="130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66928" y="4480560"/>
          <a:ext cx="11064240" cy="1371600"/>
        </p:xfrm>
        <a:graphic>
          <a:graphicData uri="http://schemas.openxmlformats.org/drawingml/2006/table">
            <a:tbl>
              <a:tblPr/>
              <a:tblGrid>
                <a:gridCol w="256032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457200">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도구</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tc>
                  <a:txBody>
                    <a:bodyPr/>
                    <a:lstStyle/>
                    <a:p>
                      <a:pPr marL="0" indent="0" algn="l">
                        <a:buNone/>
                      </a:pPr>
                      <a:r>
                        <a:rPr lang="en-US" sz="1000" b="1" dirty="0">
                          <a:solidFill>
                            <a:srgbClr val="FFFFFF"/>
                          </a:solidFill>
                          <a:latin typeface="맑은 고딕" pitchFamily="34" charset="0"/>
                          <a:ea typeface="맑은 고딕" pitchFamily="34" charset="-122"/>
                          <a:cs typeface="맑은 고딕" pitchFamily="34" charset="-120"/>
                        </a:rPr>
                        <a:t>활용 범위</a:t>
                      </a:r>
                      <a:endParaRPr lang="en-US" sz="100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001871"/>
                    </a:solidFill>
                  </a:tcPr>
                </a:tc>
                <a:extLst>
                  <a:ext uri="{0D108BD9-81ED-4DB2-BD59-A6C34878D82A}">
                    <a16:rowId xmlns:a16="http://schemas.microsoft.com/office/drawing/2014/main" val="10000"/>
                  </a:ext>
                </a:extLst>
              </a:tr>
              <a:tr h="457200">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Claude Code (Anthropic)</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코드 작성 보조, 데이터 구조 분석 보조, 기획 검토 보조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OpenRouter 경유 VLM</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tc>
                  <a:txBody>
                    <a:bodyPr/>
                    <a:lstStyle/>
                    <a:p>
                      <a:pPr marL="0" indent="0">
                        <a:buNone/>
                      </a:pPr>
                      <a:r>
                        <a:rPr lang="en-US" sz="950" dirty="0">
                          <a:solidFill>
                            <a:srgbClr val="39415E"/>
                          </a:solidFill>
                          <a:latin typeface="맑은 고딕" pitchFamily="34" charset="0"/>
                          <a:ea typeface="맑은 고딕" pitchFamily="34" charset="-122"/>
                          <a:cs typeface="맑은 고딕" pitchFamily="34" charset="-120"/>
                        </a:rPr>
                        <a:t>① 사전 준비 : 로드뷰 이미지의 시설 유무 초안 라벨 생성 (최종 라벨은 사람이 검수·확정)</a:t>
                      </a:r>
                      <a:endParaRPr lang="en-US" sz="950" dirty="0">
                        <a:latin typeface="맑은 고딕" charset="0"/>
                        <a:ea typeface="맑은 고딕" charset="0"/>
                        <a:cs typeface="맑은 고딕" charset="0"/>
                      </a:endParaRPr>
                    </a:p>
                    <a:p>
                      <a:pPr marL="0" indent="0">
                        <a:buNone/>
                      </a:pPr>
                      <a:r>
                        <a:rPr lang="en-US" sz="950" dirty="0">
                          <a:solidFill>
                            <a:srgbClr val="39415E"/>
                          </a:solidFill>
                          <a:latin typeface="맑은 고딕" pitchFamily="34" charset="0"/>
                          <a:ea typeface="맑은 고딕" pitchFamily="34" charset="-122"/>
                          <a:cs typeface="맑은 고딕" pitchFamily="34" charset="-120"/>
                        </a:rPr>
                        <a:t>② 서비스 런타임 : 시민 제보 사진의 시설 유무 판독 및 민원 자동 분류 (서버에서 호출, 'AI 판독' 출처 표기)</a:t>
                      </a:r>
                      <a:endParaRPr lang="en-US" sz="950" dirty="0">
                        <a:latin typeface="맑은 고딕" charset="0"/>
                        <a:ea typeface="맑은 고딕" charset="0"/>
                        <a:cs typeface="맑은 고딕" charset="0"/>
                      </a:endParaRPr>
                    </a:p>
                  </a:txBody>
                  <a:tcPr marL="76200" marR="76200" marT="25400" marB="25400" anchor="ctr">
                    <a:lnL w="6350" cap="flat" cmpd="sng" algn="ctr">
                      <a:solidFill>
                        <a:srgbClr val="D4DAEE"/>
                      </a:solidFill>
                      <a:prstDash val="solid"/>
                      <a:round/>
                      <a:headEnd type="none" w="med" len="med"/>
                      <a:tailEnd type="none" w="med" len="med"/>
                    </a:lnL>
                    <a:lnR w="6350" cap="flat" cmpd="sng" algn="ctr">
                      <a:solidFill>
                        <a:srgbClr val="D4DAEE"/>
                      </a:solidFill>
                      <a:prstDash val="solid"/>
                      <a:round/>
                      <a:headEnd type="none" w="med" len="med"/>
                      <a:tailEnd type="none" w="med" len="med"/>
                    </a:lnR>
                    <a:lnT w="6350" cap="flat" cmpd="sng" algn="ctr">
                      <a:solidFill>
                        <a:srgbClr val="D4DAEE"/>
                      </a:solidFill>
                      <a:prstDash val="solid"/>
                      <a:round/>
                      <a:headEnd type="none" w="med" len="med"/>
                      <a:tailEnd type="none" w="med" len="med"/>
                    </a:lnT>
                    <a:lnB w="6350" cap="flat" cmpd="sng" algn="ctr">
                      <a:solidFill>
                        <a:srgbClr val="D4DAEE"/>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bl>
          </a:graphicData>
        </a:graphic>
      </p:graphicFrame>
      <p:sp>
        <p:nvSpPr>
          <p:cNvPr id="8" name="Shape 4"/>
          <p:cNvSpPr/>
          <p:nvPr/>
        </p:nvSpPr>
        <p:spPr>
          <a:xfrm>
            <a:off x="566928" y="5943600"/>
            <a:ext cx="11064240" cy="420624"/>
          </a:xfrm>
          <a:prstGeom prst="roundRect">
            <a:avLst>
              <a:gd name="adj" fmla="val 13043"/>
            </a:avLst>
          </a:prstGeom>
          <a:solidFill>
            <a:srgbClr val="E7EBF8"/>
          </a:solidFill>
          <a:ln w="12700">
            <a:solidFill>
              <a:srgbClr val="E7EBF8"/>
            </a:solidFill>
            <a:prstDash val="solid"/>
          </a:ln>
        </p:spPr>
        <p:txBody>
          <a:bodyPr/>
          <a:lstStyle/>
          <a:p>
            <a:endParaRPr lang="ko-KR" altLang="en-US"/>
          </a:p>
        </p:txBody>
      </p:sp>
      <p:sp>
        <p:nvSpPr>
          <p:cNvPr id="9" name="Text 5"/>
          <p:cNvSpPr/>
          <p:nvPr/>
        </p:nvSpPr>
        <p:spPr>
          <a:xfrm>
            <a:off x="841248" y="5943600"/>
            <a:ext cx="10515600" cy="420624"/>
          </a:xfrm>
          <a:prstGeom prst="rect">
            <a:avLst/>
          </a:prstGeom>
          <a:noFill/>
          <a:ln/>
        </p:spPr>
        <p:txBody>
          <a:bodyPr wrap="square" lIns="0" tIns="0" rIns="0" bIns="0" rtlCol="0" anchor="ctr"/>
          <a:lstStyle/>
          <a:p>
            <a:pPr marL="0" indent="0">
              <a:buNone/>
            </a:pPr>
            <a:r>
              <a:rPr lang="en-US" sz="1100" b="1" dirty="0">
                <a:solidFill>
                  <a:srgbClr val="001871"/>
                </a:solidFill>
                <a:latin typeface="맑은 고딕" pitchFamily="34" charset="0"/>
                <a:ea typeface="맑은 고딕" pitchFamily="34" charset="-122"/>
                <a:cs typeface="맑은 고딕" pitchFamily="34" charset="-120"/>
              </a:rPr>
              <a:t>개인정보 미수집 :  제보 기능은 닉네임·연락처 등 식별정보를 받지 않으며, reports 테이블에도 개인정보 필드가 없습니다.</a:t>
            </a:r>
            <a:endParaRPr lang="en-US" sz="1100" dirty="0"/>
          </a:p>
        </p:txBody>
      </p:sp>
      <p:sp>
        <p:nvSpPr>
          <p:cNvPr id="11" name="Text 6"/>
          <p:cNvSpPr/>
          <p:nvPr/>
        </p:nvSpPr>
        <p:spPr>
          <a:xfrm>
            <a:off x="566928" y="6455664"/>
            <a:ext cx="3657600" cy="237744"/>
          </a:xfrm>
          <a:prstGeom prst="rect">
            <a:avLst/>
          </a:prstGeom>
          <a:noFill/>
          <a:ln/>
        </p:spPr>
        <p:txBody>
          <a:bodyPr wrap="square" lIns="0" tIns="0" rIns="0" bIns="0" rtlCol="0" anchor="ctr"/>
          <a:lstStyle/>
          <a:p>
            <a:pPr marL="0" indent="0">
              <a:buNone/>
            </a:pPr>
            <a:r>
              <a:rPr lang="en-US" sz="900" dirty="0">
                <a:solidFill>
                  <a:srgbClr val="98A0BA"/>
                </a:solidFill>
                <a:latin typeface="맑은 고딕" pitchFamily="34" charset="0"/>
                <a:ea typeface="맑은 고딕" pitchFamily="34" charset="-122"/>
                <a:cs typeface="맑은 고딕" pitchFamily="34" charset="-120"/>
              </a:rPr>
              <a:t>쉼표정류장  ·  팀 오댕국</a:t>
            </a:r>
            <a:endParaRPr lang="en-US" sz="900" dirty="0"/>
          </a:p>
        </p:txBody>
      </p:sp>
      <p:sp>
        <p:nvSpPr>
          <p:cNvPr id="12" name="Text 7"/>
          <p:cNvSpPr/>
          <p:nvPr/>
        </p:nvSpPr>
        <p:spPr>
          <a:xfrm>
            <a:off x="10984687" y="6455664"/>
            <a:ext cx="640080" cy="237744"/>
          </a:xfrm>
          <a:prstGeom prst="rect">
            <a:avLst/>
          </a:prstGeom>
          <a:noFill/>
          <a:ln/>
        </p:spPr>
        <p:txBody>
          <a:bodyPr wrap="square" lIns="0" tIns="0" rIns="0" bIns="0" rtlCol="0" anchor="ctr"/>
          <a:lstStyle/>
          <a:p>
            <a:pPr marL="0" indent="0" algn="r">
              <a:buNone/>
            </a:pPr>
            <a:r>
              <a:rPr lang="en-US" sz="900" dirty="0">
                <a:solidFill>
                  <a:srgbClr val="98A0BA"/>
                </a:solidFill>
                <a:latin typeface="맑은 고딕" pitchFamily="34" charset="0"/>
                <a:ea typeface="맑은 고딕" pitchFamily="34" charset="-122"/>
                <a:cs typeface="맑은 고딕"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198</TotalTime>
  <Words>3678</Words>
  <Application>Microsoft Office PowerPoint</Application>
  <PresentationFormat>Widescreen</PresentationFormat>
  <Paragraphs>660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맑은 고딕</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쉼표정류장 — 춘천시 공공데이터 활용 해커톤</dc:title>
  <dc:subject>PptxGenJS Presentation</dc:subject>
  <dc:creator>팀 오댕국</dc:creator>
  <cp:lastModifiedBy>dongmin kook</cp:lastModifiedBy>
  <cp:revision>5</cp:revision>
  <dcterms:created xsi:type="dcterms:W3CDTF">2026-07-31T18:37:17Z</dcterms:created>
  <dcterms:modified xsi:type="dcterms:W3CDTF">2026-07-31T21:58:27Z</dcterms:modified>
</cp:coreProperties>
</file>