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오댕국의 쉼표정류장 발표를 시작하겠습니다. 한 문장으로 말씀드리면, 버스를 기다리는 어르신에게 '지금 서 계신 정류장에 그늘이 있는지, 없다면 가장 가까운 무더위쉼터가 어디인지'를 알려주는 서비스입니다.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정의부터 데이터, 기능 시연, 활용 시나리오, 정책 효과, 확장 계획 순으로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춘천시 인구 285,027명 중 65세 이상이 66,488명, 23.3%입니다. 2023년 7월에 이미 초고령사회에 들어섰고, 1년 반 만에 5천 명이 더 늘었습니다. 특히 읍면 지역은 주민 둘 중 하나가 어르신입니다. 이분들에게 버스는 선택이 아니라 유일한 이동 수단입니다.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정류장의 63.5%인 1,200곳이 기둥에 노선표만 붙은 표지판형입니다. 스마트 정류장은 한 곳당 1억 원이라 전부 세울 수 없습니다. 저희가 공공데이터로 직접 계산해 보니, 그늘이 확인되지 않으면서 쉼터도 300m 밖인 정류장이 1,369곳이었습니다. 쉼터까지 거리의 중앙값은 1.1km입니다. 이 숫자는 어느 공개 데이터에도 없던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서비스는 화면이 세 개뿐입니다. 길찾기, 쉼터, 민원. 어르신이 쓰는 앱에서 가장 위험한 것은 선택지가 많은 것이라고 봤습니다. 핵심은 길을 안내하면서 그 길 위 각 지점의 그늘 여부와 근처 쉼터를 같이 보여주는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것은 맨 위 무더위쉼터입니다. 좌표 보유율이 100%라 정류장 1,890개 전부에 대해 최근접 쉼터 거리를 계산할 수 있었습니다. 반대로 '이 정류장에 그늘이 있는가'는 어느 공개 데이터에도 없습니다. 그래서 로드뷰로 161개소를 직접 판독해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작업에서 가장 오래 걸린 부분입니다. 부서마다 데이터 키가 달라서, 네 단계 매칭으로 ID 대응 테이블을 만들어 모든 데이터를 정류장 1,890개 위에 얹었습니다. 그 결과로 폭염 취약 정류장 1,369곳이라는 숫자가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앱이 정보를 다루는 방식을 두 가지로 나눠 말씀드리겠습니다. 쉼터 위치나 정류장 위치처럼 잘 바뀌지 않는 정보는 앱 안에 미리 넣어 뒀습니다. 그래서 인터넷이 느린 곳에서도 바로 뜹니다. 반대로 버스가 몇 분 뒤에 오는지는 1분만 지나도 달라지니까, 그때그때 국토교통부에 물어봅니다. 이때 어르신 휴대폰이 직접 묻지 않고 저희 서버가 대신 묻는데, 인증 열쇠가 휴대폰에 노출되지 않게 하기 위해서입니다. 아래는 시민이 보낸 사진 한 장이 다음 사람의 안내가 되기까지의 과정입니다. 사진을 찍으면 위치로 정류장을 자동으로 찾고, AI가 사진을 읽어 시설 유무를 판단하고, 그 결과가 안내 정보에 반영됩니다. 다만 AI가 읽은 것은 'AI가 읽음'이라고 반드시 밝힙니다. 사람이 확인한 것과 섞지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기능은 네 가지입니다. 1번 쉼터 안내가 서비스의 목적이고, 나머지는 그 안내에 닿기 위한 경로입니다. 특히 2번의 '몰라요'가 중요합니다. 데이터에 없는 것을 있다고 말하지 않는 것이 어르신 대상 서비스에서는 안전 문제입니다. 이제 실제 화면을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홈 화면입니다. 출발은 GPS 주소가 자동으로 들어가고, 도착만 고르면 됩니다. 음성 버튼을 눌러 '춘천중앙시장'이라고 말하면 바로 검색됩니다. 고른 위치를 지도로 한 번 되보여주는 것은, 글자만 보고 잘못 고르는 일을 막기 위해서입니다. 확인을 누르면 탈 버스와 실시간 도착 시간이 카드로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실제로 타고 가는 동안 보는 화면입니다. 위에 지도, 아래에 타임라인이 있습니다. 지금 화면에는 '15번 1분 후 도착'이 떠 있는데 이건 국토부 TAGO 실시간 데이터입니다. 버스 안에 있으면 '명동입구 하차까지 1개 정류장'처럼 지금 위치가 카드로 끼어듭니다. 도착 정보를 못 받아오면 '도착 정보 없음'이라고 그대로 씁니다. 가짜 숫자를 보여주지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정류장 상세와 쉼터 지도입니다. 왼쪽 화면에서 '지붕 없음'을 보고, 아래 근처 무더위쉼터로 넘어갑니다. 오른쪽 지도는 쉼터만 표시합니다. 정류장 핀까지 겹치면 어르신에게는 그냥 복잡한 지도가 되기 때문입니다. '운영 종료'처럼 지금 문을 닫았으면 닫았다고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민원 탭입니다. 화면에 '사진 찍기' 버튼 하나뿐입니다. 정류장이 어디인지, 언제 찍었는지 묻지 않습니다. 위치와 시각은 시스템이 압니다. 사진이 올라가면 서버에서 VLM이 시설 유무와 민원 종류를 읽고, 그 결과가 다음 사람이 보는 안내 정보가 됩니다. 지금 그늘 정보가 없는 정류장이 1,729곳인데, 이 기능이 그 숫자를 줄여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오후 2시 폭염특보 속에서 어르신이 외출합니다. 말로 목적지를 찾고, 그늘이 없다는 것과 버스가 12분 뒤라는 것을 확인하고, 240m 떨어진 경로당에서 기다립니다. 이 경로당은 원래부터 무더위쉼터였습니다. 저희가 한 일은 그 존재를 정류장에 서 있는 어르신에게 알려준 것뿐입니다.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행정 쪽 이야기입니다. 저희 서비스가 만들어 내는 것은 화면이 아니라 목록입니다. 그늘도 없고 쉼터도 300m 밖인 정류장 1,369곳. 이 목록이 있으면 어느 구역부터 손대야 하는지 답이 나옵니다. 그리고 시민 제보가 들어올 때마다 이 목록이 저절로 정확해집니다. 전수 현장조사 용역을 대신하는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 제안의 핵심은 순서입니다. 1억 원짜리 스마트 정류장을 세우기 전에, 그늘막을 놓거나 인근 건물을 쉼터로 추가 지정하는 것만으로 해결되는 정류장이 있습니다. 그 구분을 데이터로 할 수 있게 하는 것이 저희 서비스의 행정 가치입니다.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효과는 시민·행정·데이터 세 축으로 정리했고 각각 측정 지표를 붙였습니다. 저희가 가장 중요하게 보는 효과는, 춘천이 이미 갖고 있는 쉼터 226곳이 비로소 버스 이용자에게 쓰이기 시작한다는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 계획입니다. 가장 먼저 할 일은 겨울 버전입니다. 춘천은 겨울 추위도 심하고 한파쉼터·온기쉼터 데이터가 이미 있습니다. 여름에 만든 구조를 데이터만 바꿔 그대로 쓸 수 있습니다. 그리고 이 자리에서 분명히 말씀드리면, 여기 적힌 것은 전부 아직 만들지 않은 것입니다. 오늘 보여드린 화면은 전부 실제로 도는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버스를 기다리는 10분, 어르신을 그늘 아래로. 춘천에 이미 있는 무더위쉼터 226곳을 정류장에 서 있는 어르신에게 연결하는 것, 그것이 쉼표정류장입니다.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무더위쉼터 데이터셋의 정확한 공개 명칭과 기준시점을 공공데이터포털에서 다시 확인해 '기준시점' 칸을 확정하세요.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표에 적힌 자료 외에 추가로 사용한 데이터·API가 있다면 반드시 이 별첨에 추가하세요(미기재 시 실격 사유). 실제로 쓰지 않은 항목은 삭제해야 감점을 피할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디자인 자산(폰트·아이콘·이미지)을 외부에서 가져다 썼다면 이 장에 표를 하나 더 추가하고 라이선스를 명시하세요.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40"/>
        </a:solidFill>
      </p:bgPr>
    </p:bg>
    <p:spTree>
      <p:nvGrpSpPr>
        <p:cNvPr id="1" name=""/>
        <p:cNvGrpSpPr/>
        <p:nvPr/>
      </p:nvGrpSpPr>
      <p:grpSpPr>
        <a:xfrm>
          <a:off x="0" y="0"/>
          <a:ext cx="0" cy="0"/>
          <a:chOff x="0" y="0"/>
          <a:chExt cx="0" cy="0"/>
        </a:xfrm>
      </p:grpSpPr>
      <p:sp>
        <p:nvSpPr>
          <p:cNvPr id="2" name="Text 0"/>
          <p:cNvSpPr/>
          <p:nvPr/>
        </p:nvSpPr>
        <p:spPr>
          <a:xfrm>
            <a:off x="566928" y="1371600"/>
            <a:ext cx="7315200" cy="310896"/>
          </a:xfrm>
          <a:prstGeom prst="rect">
            <a:avLst/>
          </a:prstGeom>
          <a:noFill/>
          <a:ln/>
        </p:spPr>
        <p:txBody>
          <a:bodyPr wrap="square" lIns="0" tIns="0" rIns="0" bIns="0" rtlCol="0" anchor="ctr"/>
          <a:lstStyle/>
          <a:p>
            <a:pPr indent="0" marL="0">
              <a:buNone/>
            </a:pPr>
            <a:r>
              <a:rPr lang="en-US" sz="1300" dirty="0">
                <a:solidFill>
                  <a:srgbClr val="A6B3E6"/>
                </a:solidFill>
                <a:latin typeface="맑은 고딕" pitchFamily="34" charset="0"/>
                <a:ea typeface="맑은 고딕" pitchFamily="34" charset="-122"/>
                <a:cs typeface="맑은 고딕" pitchFamily="34" charset="-120"/>
              </a:rPr>
              <a:t>2026 춘천시 공공데이터 활용 해커톤</a:t>
            </a:r>
            <a:endParaRPr lang="en-US" sz="1300" dirty="0"/>
          </a:p>
        </p:txBody>
      </p:sp>
      <p:sp>
        <p:nvSpPr>
          <p:cNvPr id="3" name="Text 1"/>
          <p:cNvSpPr/>
          <p:nvPr/>
        </p:nvSpPr>
        <p:spPr>
          <a:xfrm>
            <a:off x="566928" y="1783080"/>
            <a:ext cx="7315200" cy="1051560"/>
          </a:xfrm>
          <a:prstGeom prst="rect">
            <a:avLst/>
          </a:prstGeom>
          <a:noFill/>
          <a:ln/>
        </p:spPr>
        <p:txBody>
          <a:bodyPr wrap="square" lIns="0" tIns="0" rIns="0" bIns="0" rtlCol="0" anchor="ctr"/>
          <a:lstStyle/>
          <a:p>
            <a:pPr indent="0" marL="0">
              <a:buNone/>
            </a:pPr>
            <a:r>
              <a:rPr lang="en-US" sz="5600" b="1" dirty="0">
                <a:solidFill>
                  <a:srgbClr val="FFFFFF"/>
                </a:solidFill>
                <a:latin typeface="맑은 고딕" pitchFamily="34" charset="0"/>
                <a:ea typeface="맑은 고딕" pitchFamily="34" charset="-122"/>
                <a:cs typeface="맑은 고딕" pitchFamily="34" charset="-120"/>
              </a:rPr>
              <a:t>쉼표정류장</a:t>
            </a:r>
            <a:endParaRPr lang="en-US" sz="5600" dirty="0"/>
          </a:p>
        </p:txBody>
      </p:sp>
      <p:sp>
        <p:nvSpPr>
          <p:cNvPr id="4" name="Text 2"/>
          <p:cNvSpPr/>
          <p:nvPr/>
        </p:nvSpPr>
        <p:spPr>
          <a:xfrm>
            <a:off x="566928" y="2852928"/>
            <a:ext cx="8229600" cy="457200"/>
          </a:xfrm>
          <a:prstGeom prst="rect">
            <a:avLst/>
          </a:prstGeom>
          <a:noFill/>
          <a:ln/>
        </p:spPr>
        <p:txBody>
          <a:bodyPr wrap="square" lIns="0" tIns="0" rIns="0" bIns="0" rtlCol="0" anchor="ctr"/>
          <a:lstStyle/>
          <a:p>
            <a:pPr indent="0" marL="0">
              <a:buNone/>
            </a:pPr>
            <a:r>
              <a:rPr lang="en-US" sz="2100" dirty="0">
                <a:solidFill>
                  <a:srgbClr val="D4DAEE"/>
                </a:solidFill>
                <a:latin typeface="맑은 고딕" pitchFamily="34" charset="0"/>
                <a:ea typeface="맑은 고딕" pitchFamily="34" charset="-122"/>
                <a:cs typeface="맑은 고딕" pitchFamily="34" charset="-120"/>
              </a:rPr>
              <a:t>버스를 기다리는 10분, 어르신을 그늘 아래로</a:t>
            </a:r>
            <a:endParaRPr lang="en-US" sz="2100" dirty="0"/>
          </a:p>
        </p:txBody>
      </p:sp>
      <p:sp>
        <p:nvSpPr>
          <p:cNvPr id="5" name="Shape 3"/>
          <p:cNvSpPr/>
          <p:nvPr/>
        </p:nvSpPr>
        <p:spPr>
          <a:xfrm>
            <a:off x="566928" y="3794760"/>
            <a:ext cx="3429000" cy="1371600"/>
          </a:xfrm>
          <a:prstGeom prst="roundRect">
            <a:avLst>
              <a:gd name="adj" fmla="val 9333"/>
            </a:avLst>
          </a:prstGeom>
          <a:solidFill>
            <a:srgbClr val="16205C"/>
          </a:solidFill>
          <a:ln w="12700">
            <a:solidFill>
              <a:srgbClr val="2B44A8"/>
            </a:solidFill>
            <a:prstDash val="solid"/>
          </a:ln>
        </p:spPr>
      </p:sp>
      <p:sp>
        <p:nvSpPr>
          <p:cNvPr id="6" name="Text 4"/>
          <p:cNvSpPr/>
          <p:nvPr/>
        </p:nvSpPr>
        <p:spPr>
          <a:xfrm>
            <a:off x="822960" y="3977640"/>
            <a:ext cx="2926080" cy="292608"/>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시민</a:t>
            </a:r>
            <a:endParaRPr lang="en-US" sz="1300" dirty="0"/>
          </a:p>
        </p:txBody>
      </p:sp>
      <p:sp>
        <p:nvSpPr>
          <p:cNvPr id="7" name="Text 5"/>
          <p:cNvSpPr/>
          <p:nvPr/>
        </p:nvSpPr>
        <p:spPr>
          <a:xfrm>
            <a:off x="822960" y="4315968"/>
            <a:ext cx="2926080" cy="685800"/>
          </a:xfrm>
          <a:prstGeom prst="rect">
            <a:avLst/>
          </a:prstGeom>
          <a:noFill/>
          <a:ln/>
        </p:spPr>
        <p:txBody>
          <a:bodyPr wrap="square" lIns="0" tIns="0" rIns="0" bIns="0" rtlCol="0" anchor="t"/>
          <a:lstStyle/>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지금 서 있는 정류장에 그늘이 있는지,</a:t>
            </a:r>
            <a:endParaRPr lang="en-US" sz="1050" dirty="0"/>
          </a:p>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없다면 가장 가까운 무더위쉼터가 어디인지</a:t>
            </a:r>
            <a:endParaRPr lang="en-US" sz="1050" dirty="0"/>
          </a:p>
        </p:txBody>
      </p:sp>
      <p:sp>
        <p:nvSpPr>
          <p:cNvPr id="8" name="Shape 6"/>
          <p:cNvSpPr/>
          <p:nvPr/>
        </p:nvSpPr>
        <p:spPr>
          <a:xfrm>
            <a:off x="4270248" y="3794760"/>
            <a:ext cx="3429000" cy="1371600"/>
          </a:xfrm>
          <a:prstGeom prst="roundRect">
            <a:avLst>
              <a:gd name="adj" fmla="val 9333"/>
            </a:avLst>
          </a:prstGeom>
          <a:solidFill>
            <a:srgbClr val="16205C"/>
          </a:solidFill>
          <a:ln w="12700">
            <a:solidFill>
              <a:srgbClr val="2B44A8"/>
            </a:solidFill>
            <a:prstDash val="solid"/>
          </a:ln>
        </p:spPr>
      </p:sp>
      <p:sp>
        <p:nvSpPr>
          <p:cNvPr id="9" name="Text 7"/>
          <p:cNvSpPr/>
          <p:nvPr/>
        </p:nvSpPr>
        <p:spPr>
          <a:xfrm>
            <a:off x="4526280" y="3977640"/>
            <a:ext cx="2926080" cy="292608"/>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춘천시</a:t>
            </a:r>
            <a:endParaRPr lang="en-US" sz="1300" dirty="0"/>
          </a:p>
        </p:txBody>
      </p:sp>
      <p:sp>
        <p:nvSpPr>
          <p:cNvPr id="10" name="Text 8"/>
          <p:cNvSpPr/>
          <p:nvPr/>
        </p:nvSpPr>
        <p:spPr>
          <a:xfrm>
            <a:off x="4526280" y="4315968"/>
            <a:ext cx="2926080" cy="685800"/>
          </a:xfrm>
          <a:prstGeom prst="rect">
            <a:avLst/>
          </a:prstGeom>
          <a:noFill/>
          <a:ln/>
        </p:spPr>
        <p:txBody>
          <a:bodyPr wrap="square" lIns="0" tIns="0" rIns="0" bIns="0" rtlCol="0" anchor="t"/>
          <a:lstStyle/>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그늘도 쉼터도 없는 '폭염 취약 정류장'</a:t>
            </a:r>
            <a:endParaRPr lang="en-US" sz="1050" dirty="0"/>
          </a:p>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1,369곳을 데이터로 식별</a:t>
            </a:r>
            <a:endParaRPr lang="en-US" sz="1050" dirty="0"/>
          </a:p>
        </p:txBody>
      </p:sp>
      <p:sp>
        <p:nvSpPr>
          <p:cNvPr id="11" name="Shape 9"/>
          <p:cNvSpPr/>
          <p:nvPr/>
        </p:nvSpPr>
        <p:spPr>
          <a:xfrm>
            <a:off x="7973568" y="3794760"/>
            <a:ext cx="3429000" cy="1371600"/>
          </a:xfrm>
          <a:prstGeom prst="roundRect">
            <a:avLst>
              <a:gd name="adj" fmla="val 9333"/>
            </a:avLst>
          </a:prstGeom>
          <a:solidFill>
            <a:srgbClr val="16205C"/>
          </a:solidFill>
          <a:ln w="12700">
            <a:solidFill>
              <a:srgbClr val="2B44A8"/>
            </a:solidFill>
            <a:prstDash val="solid"/>
          </a:ln>
        </p:spPr>
      </p:sp>
      <p:sp>
        <p:nvSpPr>
          <p:cNvPr id="12" name="Text 10"/>
          <p:cNvSpPr/>
          <p:nvPr/>
        </p:nvSpPr>
        <p:spPr>
          <a:xfrm>
            <a:off x="8229600" y="3977640"/>
            <a:ext cx="2926080" cy="292608"/>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팀 오댕국</a:t>
            </a:r>
            <a:endParaRPr lang="en-US" sz="1300" dirty="0"/>
          </a:p>
        </p:txBody>
      </p:sp>
      <p:sp>
        <p:nvSpPr>
          <p:cNvPr id="13" name="Text 11"/>
          <p:cNvSpPr/>
          <p:nvPr/>
        </p:nvSpPr>
        <p:spPr>
          <a:xfrm>
            <a:off x="8229600" y="4315968"/>
            <a:ext cx="2926080" cy="685800"/>
          </a:xfrm>
          <a:prstGeom prst="rect">
            <a:avLst/>
          </a:prstGeom>
          <a:noFill/>
          <a:ln/>
        </p:spPr>
        <p:txBody>
          <a:bodyPr wrap="square" lIns="0" tIns="0" rIns="0" bIns="0" rtlCol="0" anchor="t"/>
          <a:lstStyle/>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1인 개발 · 실제 동작하는 서비스</a:t>
            </a:r>
            <a:endParaRPr lang="en-US" sz="1050" dirty="0"/>
          </a:p>
          <a:p>
            <a:pPr indent="0" marL="0">
              <a:lnSpc>
                <a:spcPct val="125000"/>
              </a:lnSpc>
              <a:buNone/>
            </a:pPr>
            <a:r>
              <a:rPr lang="en-US" sz="1050" dirty="0">
                <a:solidFill>
                  <a:srgbClr val="C7D0EE"/>
                </a:solidFill>
                <a:latin typeface="맑은 고딕" pitchFamily="34" charset="0"/>
                <a:ea typeface="맑은 고딕" pitchFamily="34" charset="-122"/>
                <a:cs typeface="맑은 고딕" pitchFamily="34" charset="-120"/>
              </a:rPr>
              <a:t>(목업 없음)</a:t>
            </a:r>
            <a:endParaRPr lang="en-US" sz="1050" dirty="0"/>
          </a:p>
        </p:txBody>
      </p:sp>
      <p:sp>
        <p:nvSpPr>
          <p:cNvPr id="14" name="Text 12"/>
          <p:cNvSpPr/>
          <p:nvPr/>
        </p:nvSpPr>
        <p:spPr>
          <a:xfrm>
            <a:off x="566928" y="5532120"/>
            <a:ext cx="5486400" cy="329184"/>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팀 오댕국 (13번 팀)</a:t>
            </a:r>
            <a:endParaRPr lang="en-US" sz="1300" dirty="0"/>
          </a:p>
        </p:txBody>
      </p:sp>
      <p:sp>
        <p:nvSpPr>
          <p:cNvPr id="15" name="Text 13"/>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8B9CDD"/>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6" name="Text 14"/>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8B9CDD"/>
                </a:solidFill>
                <a:latin typeface="맑은 고딕" pitchFamily="34" charset="0"/>
                <a:ea typeface="맑은 고딕" pitchFamily="34" charset="-122"/>
                <a:cs typeface="맑은 고딕"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발표 순서</a:t>
            </a:r>
            <a:endParaRPr lang="en-US" sz="2700" dirty="0"/>
          </a:p>
        </p:txBody>
      </p:sp>
      <p:sp>
        <p:nvSpPr>
          <p:cNvPr id="3" name="Text 1"/>
          <p:cNvSpPr/>
          <p:nvPr/>
        </p:nvSpPr>
        <p:spPr>
          <a:xfrm>
            <a:off x="566928" y="402336"/>
            <a:ext cx="3657600" cy="274320"/>
          </a:xfrm>
          <a:prstGeom prst="rect">
            <a:avLst/>
          </a:prstGeom>
          <a:noFill/>
          <a:ln/>
        </p:spPr>
        <p:txBody>
          <a:bodyPr wrap="square" lIns="0" tIns="0" rIns="0" bIns="0" rtlCol="0" anchor="ctr"/>
          <a:lstStyle/>
          <a:p>
            <a:pPr indent="0" marL="0">
              <a:buNone/>
            </a:pPr>
            <a:r>
              <a:rPr lang="en-US" sz="1100" b="1" spc="200" kern="0" dirty="0">
                <a:solidFill>
                  <a:srgbClr val="E8751A"/>
                </a:solidFill>
                <a:latin typeface="맑은 고딕" pitchFamily="34" charset="0"/>
                <a:ea typeface="맑은 고딕" pitchFamily="34" charset="-122"/>
                <a:cs typeface="맑은 고딕" pitchFamily="34" charset="-120"/>
              </a:rPr>
              <a:t>CONTENTS</a:t>
            </a:r>
            <a:endParaRPr lang="en-US" sz="1100" dirty="0"/>
          </a:p>
        </p:txBody>
      </p:sp>
      <p:sp>
        <p:nvSpPr>
          <p:cNvPr id="4" name="Shape 2"/>
          <p:cNvSpPr/>
          <p:nvPr/>
        </p:nvSpPr>
        <p:spPr>
          <a:xfrm>
            <a:off x="566928" y="1783080"/>
            <a:ext cx="5532120" cy="1207008"/>
          </a:xfrm>
          <a:prstGeom prst="roundRect">
            <a:avLst>
              <a:gd name="adj" fmla="val 10606"/>
            </a:avLst>
          </a:prstGeom>
          <a:solidFill>
            <a:srgbClr val="F4F6FC"/>
          </a:solidFill>
          <a:ln w="12700">
            <a:solidFill>
              <a:srgbClr val="D4DAEE"/>
            </a:solidFill>
            <a:prstDash val="solid"/>
          </a:ln>
        </p:spPr>
      </p:sp>
      <p:sp>
        <p:nvSpPr>
          <p:cNvPr id="5" name="Text 3"/>
          <p:cNvSpPr/>
          <p:nvPr/>
        </p:nvSpPr>
        <p:spPr>
          <a:xfrm>
            <a:off x="859536" y="198424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01</a:t>
            </a:r>
            <a:endParaRPr lang="en-US" sz="2600" dirty="0"/>
          </a:p>
        </p:txBody>
      </p:sp>
      <p:sp>
        <p:nvSpPr>
          <p:cNvPr id="6" name="Text 4"/>
          <p:cNvSpPr/>
          <p:nvPr/>
        </p:nvSpPr>
        <p:spPr>
          <a:xfrm>
            <a:off x="1591056" y="200253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문제 정의 및 해결방안 제시</a:t>
            </a:r>
            <a:endParaRPr lang="en-US" sz="1500" dirty="0"/>
          </a:p>
        </p:txBody>
      </p:sp>
      <p:sp>
        <p:nvSpPr>
          <p:cNvPr id="7" name="Text 5"/>
          <p:cNvSpPr/>
          <p:nvPr/>
        </p:nvSpPr>
        <p:spPr>
          <a:xfrm>
            <a:off x="1591056" y="240487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초고령 도시 · 지붕 없는 정류장 · 쉼터까지 1.1km</a:t>
            </a:r>
            <a:endParaRPr lang="en-US" sz="1050" dirty="0"/>
          </a:p>
        </p:txBody>
      </p:sp>
      <p:sp>
        <p:nvSpPr>
          <p:cNvPr id="8" name="Shape 6"/>
          <p:cNvSpPr/>
          <p:nvPr/>
        </p:nvSpPr>
        <p:spPr>
          <a:xfrm>
            <a:off x="6281928" y="1783080"/>
            <a:ext cx="5532120" cy="1207008"/>
          </a:xfrm>
          <a:prstGeom prst="roundRect">
            <a:avLst>
              <a:gd name="adj" fmla="val 10606"/>
            </a:avLst>
          </a:prstGeom>
          <a:solidFill>
            <a:srgbClr val="F4F6FC"/>
          </a:solidFill>
          <a:ln w="12700">
            <a:solidFill>
              <a:srgbClr val="D4DAEE"/>
            </a:solidFill>
            <a:prstDash val="solid"/>
          </a:ln>
        </p:spPr>
      </p:sp>
      <p:sp>
        <p:nvSpPr>
          <p:cNvPr id="9" name="Text 7"/>
          <p:cNvSpPr/>
          <p:nvPr/>
        </p:nvSpPr>
        <p:spPr>
          <a:xfrm>
            <a:off x="6574536" y="198424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02</a:t>
            </a:r>
            <a:endParaRPr lang="en-US" sz="2600" dirty="0"/>
          </a:p>
        </p:txBody>
      </p:sp>
      <p:sp>
        <p:nvSpPr>
          <p:cNvPr id="10" name="Text 8"/>
          <p:cNvSpPr/>
          <p:nvPr/>
        </p:nvSpPr>
        <p:spPr>
          <a:xfrm>
            <a:off x="7306056" y="200253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활용한 데이터와 처리 구조</a:t>
            </a:r>
            <a:endParaRPr lang="en-US" sz="1500" dirty="0"/>
          </a:p>
        </p:txBody>
      </p:sp>
      <p:sp>
        <p:nvSpPr>
          <p:cNvPr id="11" name="Text 9"/>
          <p:cNvSpPr/>
          <p:nvPr/>
        </p:nvSpPr>
        <p:spPr>
          <a:xfrm>
            <a:off x="7306056" y="240487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정류장 1,890개 위에 공공데이터 9종 결합</a:t>
            </a:r>
            <a:endParaRPr lang="en-US" sz="1050" dirty="0"/>
          </a:p>
        </p:txBody>
      </p:sp>
      <p:sp>
        <p:nvSpPr>
          <p:cNvPr id="12" name="Shape 10"/>
          <p:cNvSpPr/>
          <p:nvPr/>
        </p:nvSpPr>
        <p:spPr>
          <a:xfrm>
            <a:off x="566928" y="3246120"/>
            <a:ext cx="5532120" cy="1207008"/>
          </a:xfrm>
          <a:prstGeom prst="roundRect">
            <a:avLst>
              <a:gd name="adj" fmla="val 10606"/>
            </a:avLst>
          </a:prstGeom>
          <a:solidFill>
            <a:srgbClr val="F4F6FC"/>
          </a:solidFill>
          <a:ln w="12700">
            <a:solidFill>
              <a:srgbClr val="D4DAEE"/>
            </a:solidFill>
            <a:prstDash val="solid"/>
          </a:ln>
        </p:spPr>
      </p:sp>
      <p:sp>
        <p:nvSpPr>
          <p:cNvPr id="13" name="Text 11"/>
          <p:cNvSpPr/>
          <p:nvPr/>
        </p:nvSpPr>
        <p:spPr>
          <a:xfrm>
            <a:off x="859536" y="344728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03</a:t>
            </a:r>
            <a:endParaRPr lang="en-US" sz="2600" dirty="0"/>
          </a:p>
        </p:txBody>
      </p:sp>
      <p:sp>
        <p:nvSpPr>
          <p:cNvPr id="14" name="Text 12"/>
          <p:cNvSpPr/>
          <p:nvPr/>
        </p:nvSpPr>
        <p:spPr>
          <a:xfrm>
            <a:off x="1591056" y="346557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서비스 핵심 기능 설명 및 시연</a:t>
            </a:r>
            <a:endParaRPr lang="en-US" sz="1500" dirty="0"/>
          </a:p>
        </p:txBody>
      </p:sp>
      <p:sp>
        <p:nvSpPr>
          <p:cNvPr id="15" name="Text 13"/>
          <p:cNvSpPr/>
          <p:nvPr/>
        </p:nvSpPr>
        <p:spPr>
          <a:xfrm>
            <a:off x="1591056" y="386791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가는 길 찾기 · 실시간 안내 · 쉼터 지도 · 사진 민원</a:t>
            </a:r>
            <a:endParaRPr lang="en-US" sz="1050" dirty="0"/>
          </a:p>
        </p:txBody>
      </p:sp>
      <p:sp>
        <p:nvSpPr>
          <p:cNvPr id="16" name="Shape 14"/>
          <p:cNvSpPr/>
          <p:nvPr/>
        </p:nvSpPr>
        <p:spPr>
          <a:xfrm>
            <a:off x="6281928" y="3246120"/>
            <a:ext cx="5532120" cy="1207008"/>
          </a:xfrm>
          <a:prstGeom prst="roundRect">
            <a:avLst>
              <a:gd name="adj" fmla="val 10606"/>
            </a:avLst>
          </a:prstGeom>
          <a:solidFill>
            <a:srgbClr val="F4F6FC"/>
          </a:solidFill>
          <a:ln w="12700">
            <a:solidFill>
              <a:srgbClr val="D4DAEE"/>
            </a:solidFill>
            <a:prstDash val="solid"/>
          </a:ln>
        </p:spPr>
      </p:sp>
      <p:sp>
        <p:nvSpPr>
          <p:cNvPr id="17" name="Text 15"/>
          <p:cNvSpPr/>
          <p:nvPr/>
        </p:nvSpPr>
        <p:spPr>
          <a:xfrm>
            <a:off x="6574536" y="344728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04</a:t>
            </a:r>
            <a:endParaRPr lang="en-US" sz="2600" dirty="0"/>
          </a:p>
        </p:txBody>
      </p:sp>
      <p:sp>
        <p:nvSpPr>
          <p:cNvPr id="18" name="Text 16"/>
          <p:cNvSpPr/>
          <p:nvPr/>
        </p:nvSpPr>
        <p:spPr>
          <a:xfrm>
            <a:off x="7306056" y="346557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사용자 예상 시나리오</a:t>
            </a:r>
            <a:endParaRPr lang="en-US" sz="1500" dirty="0"/>
          </a:p>
        </p:txBody>
      </p:sp>
      <p:sp>
        <p:nvSpPr>
          <p:cNvPr id="19" name="Text 17"/>
          <p:cNvSpPr/>
          <p:nvPr/>
        </p:nvSpPr>
        <p:spPr>
          <a:xfrm>
            <a:off x="7306056" y="386791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어르신의 폭염 오후 / 제보가 쌓이면 생기는 것</a:t>
            </a:r>
            <a:endParaRPr lang="en-US" sz="1050" dirty="0"/>
          </a:p>
        </p:txBody>
      </p:sp>
      <p:sp>
        <p:nvSpPr>
          <p:cNvPr id="20" name="Shape 18"/>
          <p:cNvSpPr/>
          <p:nvPr/>
        </p:nvSpPr>
        <p:spPr>
          <a:xfrm>
            <a:off x="566928" y="4709160"/>
            <a:ext cx="5532120" cy="1207008"/>
          </a:xfrm>
          <a:prstGeom prst="roundRect">
            <a:avLst>
              <a:gd name="adj" fmla="val 10606"/>
            </a:avLst>
          </a:prstGeom>
          <a:solidFill>
            <a:srgbClr val="F4F6FC"/>
          </a:solidFill>
          <a:ln w="12700">
            <a:solidFill>
              <a:srgbClr val="D4DAEE"/>
            </a:solidFill>
            <a:prstDash val="solid"/>
          </a:ln>
        </p:spPr>
      </p:sp>
      <p:sp>
        <p:nvSpPr>
          <p:cNvPr id="21" name="Text 19"/>
          <p:cNvSpPr/>
          <p:nvPr/>
        </p:nvSpPr>
        <p:spPr>
          <a:xfrm>
            <a:off x="859536" y="491032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05</a:t>
            </a:r>
            <a:endParaRPr lang="en-US" sz="2600" dirty="0"/>
          </a:p>
        </p:txBody>
      </p:sp>
      <p:sp>
        <p:nvSpPr>
          <p:cNvPr id="22" name="Text 20"/>
          <p:cNvSpPr/>
          <p:nvPr/>
        </p:nvSpPr>
        <p:spPr>
          <a:xfrm>
            <a:off x="1591056" y="492861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정책 적용 및 기대 효과</a:t>
            </a:r>
            <a:endParaRPr lang="en-US" sz="1500" dirty="0"/>
          </a:p>
        </p:txBody>
      </p:sp>
      <p:sp>
        <p:nvSpPr>
          <p:cNvPr id="23" name="Text 21"/>
          <p:cNvSpPr/>
          <p:nvPr/>
        </p:nvSpPr>
        <p:spPr>
          <a:xfrm>
            <a:off x="1591056" y="533095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새로 짓기 전에, 이미 있는 것부터 연결하기</a:t>
            </a:r>
            <a:endParaRPr lang="en-US" sz="1050" dirty="0"/>
          </a:p>
        </p:txBody>
      </p:sp>
      <p:sp>
        <p:nvSpPr>
          <p:cNvPr id="24" name="Shape 22"/>
          <p:cNvSpPr/>
          <p:nvPr/>
        </p:nvSpPr>
        <p:spPr>
          <a:xfrm>
            <a:off x="6281928" y="4709160"/>
            <a:ext cx="5532120" cy="1207008"/>
          </a:xfrm>
          <a:prstGeom prst="roundRect">
            <a:avLst>
              <a:gd name="adj" fmla="val 10606"/>
            </a:avLst>
          </a:prstGeom>
          <a:solidFill>
            <a:srgbClr val="F4F6FC"/>
          </a:solidFill>
          <a:ln w="12700">
            <a:solidFill>
              <a:srgbClr val="D4DAEE"/>
            </a:solidFill>
            <a:prstDash val="solid"/>
          </a:ln>
        </p:spPr>
      </p:sp>
      <p:sp>
        <p:nvSpPr>
          <p:cNvPr id="25" name="Text 23"/>
          <p:cNvSpPr/>
          <p:nvPr/>
        </p:nvSpPr>
        <p:spPr>
          <a:xfrm>
            <a:off x="6574536" y="4910328"/>
            <a:ext cx="685800" cy="457200"/>
          </a:xfrm>
          <a:prstGeom prst="rect">
            <a:avLst/>
          </a:prstGeom>
          <a:noFill/>
          <a:ln/>
        </p:spPr>
        <p:txBody>
          <a:bodyPr wrap="square" lIns="0" tIns="0" rIns="0" bIns="0" rtlCol="0" anchor="ctr"/>
          <a:lstStyle/>
          <a:p>
            <a:pPr indent="0" marL="0">
              <a:buNone/>
            </a:pPr>
            <a:r>
              <a:rPr lang="en-US" sz="2600" b="1" dirty="0">
                <a:solidFill>
                  <a:srgbClr val="B9C4EE"/>
                </a:solidFill>
                <a:latin typeface="맑은 고딕" pitchFamily="34" charset="0"/>
                <a:ea typeface="맑은 고딕" pitchFamily="34" charset="-122"/>
                <a:cs typeface="맑은 고딕" pitchFamily="34" charset="-120"/>
              </a:rPr>
              <a:t>06</a:t>
            </a:r>
            <a:endParaRPr lang="en-US" sz="2600" dirty="0"/>
          </a:p>
        </p:txBody>
      </p:sp>
      <p:sp>
        <p:nvSpPr>
          <p:cNvPr id="26" name="Text 24"/>
          <p:cNvSpPr/>
          <p:nvPr/>
        </p:nvSpPr>
        <p:spPr>
          <a:xfrm>
            <a:off x="7306056" y="4928616"/>
            <a:ext cx="4297680" cy="365760"/>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확장 계획 및 마무리</a:t>
            </a:r>
            <a:endParaRPr lang="en-US" sz="1500" dirty="0"/>
          </a:p>
        </p:txBody>
      </p:sp>
      <p:sp>
        <p:nvSpPr>
          <p:cNvPr id="27" name="Text 25"/>
          <p:cNvSpPr/>
          <p:nvPr/>
        </p:nvSpPr>
        <p:spPr>
          <a:xfrm>
            <a:off x="7306056" y="5330952"/>
            <a:ext cx="4297680" cy="384048"/>
          </a:xfrm>
          <a:prstGeom prst="rect">
            <a:avLst/>
          </a:prstGeom>
          <a:noFill/>
          <a:ln/>
        </p:spPr>
        <p:txBody>
          <a:bodyPr wrap="square" lIns="0" tIns="0" rIns="0" bIns="0" rtlCol="0" anchor="t"/>
          <a:lstStyle/>
          <a:p>
            <a:pPr indent="0" marL="0">
              <a:buNone/>
            </a:pPr>
            <a:r>
              <a:rPr lang="en-US" sz="1050" dirty="0">
                <a:solidFill>
                  <a:srgbClr val="6E7796"/>
                </a:solidFill>
                <a:latin typeface="맑은 고딕" pitchFamily="34" charset="0"/>
                <a:ea typeface="맑은 고딕" pitchFamily="34" charset="-122"/>
                <a:cs typeface="맑은 고딕" pitchFamily="34" charset="-120"/>
              </a:rPr>
              <a:t>겨울 버전 · 예산 우선순위 · 타 시군 이식</a:t>
            </a:r>
            <a:endParaRPr lang="en-US" sz="1050" dirty="0"/>
          </a:p>
        </p:txBody>
      </p:sp>
      <p:sp>
        <p:nvSpPr>
          <p:cNvPr id="28" name="Text 26"/>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9" name="Text 27"/>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01</a:t>
            </a:r>
            <a:pPr indent="0" marL="0">
              <a:buNone/>
            </a:pPr>
            <a:r>
              <a:rPr lang="en-US" sz="1100" b="1" dirty="0">
                <a:solidFill>
                  <a:srgbClr val="6E7796"/>
                </a:solidFill>
                <a:latin typeface="맑은 고딕" pitchFamily="34" charset="0"/>
                <a:ea typeface="맑은 고딕" pitchFamily="34" charset="-122"/>
                <a:cs typeface="맑은 고딕" pitchFamily="34" charset="-120"/>
              </a:rPr>
              <a:t>   문제 정의 및 해결방안 제시</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춘천은 이미 초고령 도시입니다</a:t>
            </a:r>
            <a:endParaRPr lang="en-US" sz="2700" dirty="0"/>
          </a:p>
        </p:txBody>
      </p:sp>
      <p:sp>
        <p:nvSpPr>
          <p:cNvPr id="4" name="Shape 2"/>
          <p:cNvSpPr/>
          <p:nvPr/>
        </p:nvSpPr>
        <p:spPr>
          <a:xfrm>
            <a:off x="566928" y="1600200"/>
            <a:ext cx="4663440" cy="2331720"/>
          </a:xfrm>
          <a:prstGeom prst="roundRect">
            <a:avLst>
              <a:gd name="adj" fmla="val 5490"/>
            </a:avLst>
          </a:prstGeom>
          <a:solidFill>
            <a:srgbClr val="001871"/>
          </a:solidFill>
          <a:ln w="12700">
            <a:solidFill>
              <a:srgbClr val="001871"/>
            </a:solidFill>
            <a:prstDash val="solid"/>
          </a:ln>
        </p:spPr>
      </p:sp>
      <p:sp>
        <p:nvSpPr>
          <p:cNvPr id="5" name="Text 3"/>
          <p:cNvSpPr/>
          <p:nvPr/>
        </p:nvSpPr>
        <p:spPr>
          <a:xfrm>
            <a:off x="932688" y="1874520"/>
            <a:ext cx="3931920" cy="914400"/>
          </a:xfrm>
          <a:prstGeom prst="rect">
            <a:avLst/>
          </a:prstGeom>
          <a:noFill/>
          <a:ln/>
        </p:spPr>
        <p:txBody>
          <a:bodyPr wrap="square" lIns="0" tIns="0" rIns="0" bIns="0" rtlCol="0" anchor="ctr"/>
          <a:lstStyle/>
          <a:p>
            <a:pPr indent="0" marL="0">
              <a:buNone/>
            </a:pPr>
            <a:r>
              <a:rPr lang="en-US" sz="6200" b="1" dirty="0">
                <a:solidFill>
                  <a:srgbClr val="FFFFFF"/>
                </a:solidFill>
                <a:latin typeface="맑은 고딕" pitchFamily="34" charset="0"/>
                <a:ea typeface="맑은 고딕" pitchFamily="34" charset="-122"/>
                <a:cs typeface="맑은 고딕" pitchFamily="34" charset="-120"/>
              </a:rPr>
              <a:t>23.3%</a:t>
            </a:r>
            <a:endParaRPr lang="en-US" sz="6200" dirty="0"/>
          </a:p>
        </p:txBody>
      </p:sp>
      <p:sp>
        <p:nvSpPr>
          <p:cNvPr id="6" name="Text 4"/>
          <p:cNvSpPr/>
          <p:nvPr/>
        </p:nvSpPr>
        <p:spPr>
          <a:xfrm>
            <a:off x="950976" y="2788920"/>
            <a:ext cx="3931920" cy="274320"/>
          </a:xfrm>
          <a:prstGeom prst="rect">
            <a:avLst/>
          </a:prstGeom>
          <a:noFill/>
          <a:ln/>
        </p:spPr>
        <p:txBody>
          <a:bodyPr wrap="square" lIns="0" tIns="0" rIns="0" bIns="0" rtlCol="0" anchor="ctr"/>
          <a:lstStyle/>
          <a:p>
            <a:pPr indent="0" marL="0">
              <a:buNone/>
            </a:pPr>
            <a:r>
              <a:rPr lang="en-US" sz="1300" b="1" dirty="0">
                <a:solidFill>
                  <a:srgbClr val="A6B3E6"/>
                </a:solidFill>
                <a:latin typeface="맑은 고딕" pitchFamily="34" charset="0"/>
                <a:ea typeface="맑은 고딕" pitchFamily="34" charset="-122"/>
                <a:cs typeface="맑은 고딕" pitchFamily="34" charset="-120"/>
              </a:rPr>
              <a:t>춘천시 65세 이상 인구 비율</a:t>
            </a:r>
            <a:endParaRPr lang="en-US" sz="1300" dirty="0"/>
          </a:p>
        </p:txBody>
      </p:sp>
      <p:sp>
        <p:nvSpPr>
          <p:cNvPr id="7" name="Text 5"/>
          <p:cNvSpPr/>
          <p:nvPr/>
        </p:nvSpPr>
        <p:spPr>
          <a:xfrm>
            <a:off x="950976" y="3108960"/>
            <a:ext cx="3931920" cy="274320"/>
          </a:xfrm>
          <a:prstGeom prst="rect">
            <a:avLst/>
          </a:prstGeom>
          <a:noFill/>
          <a:ln/>
        </p:spPr>
        <p:txBody>
          <a:bodyPr wrap="square" lIns="0" tIns="0" rIns="0" bIns="0" rtlCol="0" anchor="ctr"/>
          <a:lstStyle/>
          <a:p>
            <a:pPr indent="0" marL="0">
              <a:buNone/>
            </a:pPr>
            <a:r>
              <a:rPr lang="en-US" sz="1100" dirty="0">
                <a:solidFill>
                  <a:srgbClr val="8B9CDD"/>
                </a:solidFill>
                <a:latin typeface="맑은 고딕" pitchFamily="34" charset="0"/>
                <a:ea typeface="맑은 고딕" pitchFamily="34" charset="-122"/>
                <a:cs typeface="맑은 고딕" pitchFamily="34" charset="-120"/>
              </a:rPr>
              <a:t>2026년 6월 기준 · 285,027명 중 66,488명</a:t>
            </a:r>
            <a:endParaRPr lang="en-US" sz="1100" dirty="0"/>
          </a:p>
        </p:txBody>
      </p:sp>
      <p:sp>
        <p:nvSpPr>
          <p:cNvPr id="8" name="Shape 6"/>
          <p:cNvSpPr/>
          <p:nvPr/>
        </p:nvSpPr>
        <p:spPr>
          <a:xfrm>
            <a:off x="5522976" y="1600200"/>
            <a:ext cx="6101791" cy="713232"/>
          </a:xfrm>
          <a:prstGeom prst="roundRect">
            <a:avLst>
              <a:gd name="adj" fmla="val 17949"/>
            </a:avLst>
          </a:prstGeom>
          <a:solidFill>
            <a:srgbClr val="F4F6FC"/>
          </a:solidFill>
          <a:ln w="12700">
            <a:solidFill>
              <a:srgbClr val="D4DAEE"/>
            </a:solidFill>
            <a:prstDash val="solid"/>
          </a:ln>
        </p:spPr>
      </p:sp>
      <p:sp>
        <p:nvSpPr>
          <p:cNvPr id="9" name="Text 7"/>
          <p:cNvSpPr/>
          <p:nvPr/>
        </p:nvSpPr>
        <p:spPr>
          <a:xfrm>
            <a:off x="5797296" y="1691640"/>
            <a:ext cx="2743200" cy="256032"/>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2023년 7월</a:t>
            </a:r>
            <a:endParaRPr lang="en-US" sz="1300" dirty="0"/>
          </a:p>
        </p:txBody>
      </p:sp>
      <p:sp>
        <p:nvSpPr>
          <p:cNvPr id="10" name="Text 8"/>
          <p:cNvSpPr/>
          <p:nvPr/>
        </p:nvSpPr>
        <p:spPr>
          <a:xfrm>
            <a:off x="5797296" y="1965960"/>
            <a:ext cx="274320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초고령사회 진입</a:t>
            </a:r>
            <a:endParaRPr lang="en-US" sz="1200" dirty="0"/>
          </a:p>
        </p:txBody>
      </p:sp>
      <p:sp>
        <p:nvSpPr>
          <p:cNvPr id="11" name="Text 9"/>
          <p:cNvSpPr/>
          <p:nvPr/>
        </p:nvSpPr>
        <p:spPr>
          <a:xfrm>
            <a:off x="8659368" y="1691640"/>
            <a:ext cx="2834640" cy="530352"/>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노인 인구가 전체의 20%를 넘어선 시점</a:t>
            </a:r>
            <a:endParaRPr lang="en-US" sz="1000" dirty="0"/>
          </a:p>
        </p:txBody>
      </p:sp>
      <p:sp>
        <p:nvSpPr>
          <p:cNvPr id="12" name="Shape 10"/>
          <p:cNvSpPr/>
          <p:nvPr/>
        </p:nvSpPr>
        <p:spPr>
          <a:xfrm>
            <a:off x="5522976" y="2423160"/>
            <a:ext cx="6101791" cy="713232"/>
          </a:xfrm>
          <a:prstGeom prst="roundRect">
            <a:avLst>
              <a:gd name="adj" fmla="val 17949"/>
            </a:avLst>
          </a:prstGeom>
          <a:solidFill>
            <a:srgbClr val="F4F6FC"/>
          </a:solidFill>
          <a:ln w="12700">
            <a:solidFill>
              <a:srgbClr val="D4DAEE"/>
            </a:solidFill>
            <a:prstDash val="solid"/>
          </a:ln>
        </p:spPr>
      </p:sp>
      <p:sp>
        <p:nvSpPr>
          <p:cNvPr id="13" name="Text 11"/>
          <p:cNvSpPr/>
          <p:nvPr/>
        </p:nvSpPr>
        <p:spPr>
          <a:xfrm>
            <a:off x="5797296" y="2514600"/>
            <a:ext cx="2743200" cy="256032"/>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1년 반 만에 +5,118명</a:t>
            </a:r>
            <a:endParaRPr lang="en-US" sz="1300" dirty="0"/>
          </a:p>
        </p:txBody>
      </p:sp>
      <p:sp>
        <p:nvSpPr>
          <p:cNvPr id="14" name="Text 12"/>
          <p:cNvSpPr/>
          <p:nvPr/>
        </p:nvSpPr>
        <p:spPr>
          <a:xfrm>
            <a:off x="5797296" y="2788920"/>
            <a:ext cx="274320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21.4% → 23.3%</a:t>
            </a:r>
            <a:endParaRPr lang="en-US" sz="1200" dirty="0"/>
          </a:p>
        </p:txBody>
      </p:sp>
      <p:sp>
        <p:nvSpPr>
          <p:cNvPr id="15" name="Text 13"/>
          <p:cNvSpPr/>
          <p:nvPr/>
        </p:nvSpPr>
        <p:spPr>
          <a:xfrm>
            <a:off x="8659368" y="2514600"/>
            <a:ext cx="2834640" cy="530352"/>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2024년 말 61,370명 → 2026년 6월 66,488명</a:t>
            </a:r>
            <a:endParaRPr lang="en-US" sz="1000" dirty="0"/>
          </a:p>
        </p:txBody>
      </p:sp>
      <p:sp>
        <p:nvSpPr>
          <p:cNvPr id="16" name="Shape 14"/>
          <p:cNvSpPr/>
          <p:nvPr/>
        </p:nvSpPr>
        <p:spPr>
          <a:xfrm>
            <a:off x="5522976" y="3246120"/>
            <a:ext cx="6101791" cy="713232"/>
          </a:xfrm>
          <a:prstGeom prst="roundRect">
            <a:avLst>
              <a:gd name="adj" fmla="val 17949"/>
            </a:avLst>
          </a:prstGeom>
          <a:solidFill>
            <a:srgbClr val="F4F6FC"/>
          </a:solidFill>
          <a:ln w="12700">
            <a:solidFill>
              <a:srgbClr val="D4DAEE"/>
            </a:solidFill>
            <a:prstDash val="solid"/>
          </a:ln>
        </p:spPr>
      </p:sp>
      <p:sp>
        <p:nvSpPr>
          <p:cNvPr id="17" name="Text 15"/>
          <p:cNvSpPr/>
          <p:nvPr/>
        </p:nvSpPr>
        <p:spPr>
          <a:xfrm>
            <a:off x="5797296" y="3337560"/>
            <a:ext cx="2743200" cy="256032"/>
          </a:xfrm>
          <a:prstGeom prst="rect">
            <a:avLst/>
          </a:prstGeom>
          <a:noFill/>
          <a:ln/>
        </p:spPr>
        <p:txBody>
          <a:bodyPr wrap="square" lIns="0" tIns="0" rIns="0" bIns="0" rtlCol="0" anchor="ctr"/>
          <a:lstStyle/>
          <a:p>
            <a:pPr indent="0" marL="0">
              <a:buNone/>
            </a:pPr>
            <a:r>
              <a:rPr lang="en-US" sz="1300" b="1" dirty="0">
                <a:solidFill>
                  <a:srgbClr val="E8751A"/>
                </a:solidFill>
                <a:latin typeface="맑은 고딕" pitchFamily="34" charset="0"/>
                <a:ea typeface="맑은 고딕" pitchFamily="34" charset="-122"/>
                <a:cs typeface="맑은 고딕" pitchFamily="34" charset="-120"/>
              </a:rPr>
              <a:t>2,545억 원 · 53개 사업</a:t>
            </a:r>
            <a:endParaRPr lang="en-US" sz="1300" dirty="0"/>
          </a:p>
        </p:txBody>
      </p:sp>
      <p:sp>
        <p:nvSpPr>
          <p:cNvPr id="18" name="Text 16"/>
          <p:cNvSpPr/>
          <p:nvPr/>
        </p:nvSpPr>
        <p:spPr>
          <a:xfrm>
            <a:off x="5797296" y="3611880"/>
            <a:ext cx="274320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2025년 노인복지정책</a:t>
            </a:r>
            <a:endParaRPr lang="en-US" sz="1200" dirty="0"/>
          </a:p>
        </p:txBody>
      </p:sp>
      <p:sp>
        <p:nvSpPr>
          <p:cNvPr id="19" name="Text 17"/>
          <p:cNvSpPr/>
          <p:nvPr/>
        </p:nvSpPr>
        <p:spPr>
          <a:xfrm>
            <a:off x="8659368" y="3337560"/>
            <a:ext cx="2834640" cy="530352"/>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8개 부서가 함께 집행하는 규모</a:t>
            </a:r>
            <a:endParaRPr lang="en-US" sz="1000" dirty="0"/>
          </a:p>
        </p:txBody>
      </p:sp>
      <p:sp>
        <p:nvSpPr>
          <p:cNvPr id="20" name="Shape 18"/>
          <p:cNvSpPr/>
          <p:nvPr/>
        </p:nvSpPr>
        <p:spPr>
          <a:xfrm>
            <a:off x="566928" y="4114800"/>
            <a:ext cx="11057839" cy="1691640"/>
          </a:xfrm>
          <a:prstGeom prst="roundRect">
            <a:avLst>
              <a:gd name="adj" fmla="val 7568"/>
            </a:avLst>
          </a:prstGeom>
          <a:solidFill>
            <a:srgbClr val="FFFFFF"/>
          </a:solidFill>
          <a:ln w="12700">
            <a:solidFill>
              <a:srgbClr val="D4DAEE"/>
            </a:solidFill>
            <a:prstDash val="solid"/>
          </a:ln>
        </p:spPr>
      </p:sp>
      <p:sp>
        <p:nvSpPr>
          <p:cNvPr id="21" name="Text 19"/>
          <p:cNvSpPr/>
          <p:nvPr/>
        </p:nvSpPr>
        <p:spPr>
          <a:xfrm>
            <a:off x="886968" y="4279392"/>
            <a:ext cx="7315200" cy="310896"/>
          </a:xfrm>
          <a:prstGeom prst="rect">
            <a:avLst/>
          </a:prstGeom>
          <a:noFill/>
          <a:ln/>
        </p:spPr>
        <p:txBody>
          <a:bodyPr wrap="square" lIns="0" tIns="0" rIns="0" bIns="0" rtlCol="0" anchor="ctr"/>
          <a:lstStyle/>
          <a:p>
            <a:pPr indent="0" marL="0">
              <a:buNone/>
            </a:pPr>
            <a:r>
              <a:rPr lang="en-US" sz="1400" b="1" dirty="0">
                <a:solidFill>
                  <a:srgbClr val="141B33"/>
                </a:solidFill>
                <a:latin typeface="맑은 고딕" pitchFamily="34" charset="0"/>
                <a:ea typeface="맑은 고딕" pitchFamily="34" charset="-122"/>
                <a:cs typeface="맑은 고딕" pitchFamily="34" charset="-120"/>
              </a:rPr>
              <a:t>그리고 읍·면은 이미 주민 둘 중 하나가 어르신입니다</a:t>
            </a:r>
            <a:endParaRPr lang="en-US" sz="1400" dirty="0"/>
          </a:p>
        </p:txBody>
      </p:sp>
      <p:sp>
        <p:nvSpPr>
          <p:cNvPr id="22" name="Text 20"/>
          <p:cNvSpPr/>
          <p:nvPr/>
        </p:nvSpPr>
        <p:spPr>
          <a:xfrm>
            <a:off x="88696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59.0%</a:t>
            </a:r>
            <a:endParaRPr lang="en-US" sz="2400" dirty="0"/>
          </a:p>
        </p:txBody>
      </p:sp>
      <p:sp>
        <p:nvSpPr>
          <p:cNvPr id="23" name="Text 21"/>
          <p:cNvSpPr/>
          <p:nvPr/>
        </p:nvSpPr>
        <p:spPr>
          <a:xfrm>
            <a:off x="88696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북산면</a:t>
            </a:r>
            <a:endParaRPr lang="en-US" sz="1100" dirty="0"/>
          </a:p>
        </p:txBody>
      </p:sp>
      <p:sp>
        <p:nvSpPr>
          <p:cNvPr id="24" name="Text 22"/>
          <p:cNvSpPr/>
          <p:nvPr/>
        </p:nvSpPr>
        <p:spPr>
          <a:xfrm>
            <a:off x="267004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54.6%</a:t>
            </a:r>
            <a:endParaRPr lang="en-US" sz="2400" dirty="0"/>
          </a:p>
        </p:txBody>
      </p:sp>
      <p:sp>
        <p:nvSpPr>
          <p:cNvPr id="25" name="Text 23"/>
          <p:cNvSpPr/>
          <p:nvPr/>
        </p:nvSpPr>
        <p:spPr>
          <a:xfrm>
            <a:off x="267004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남면</a:t>
            </a:r>
            <a:endParaRPr lang="en-US" sz="1100" dirty="0"/>
          </a:p>
        </p:txBody>
      </p:sp>
      <p:sp>
        <p:nvSpPr>
          <p:cNvPr id="26" name="Text 24"/>
          <p:cNvSpPr/>
          <p:nvPr/>
        </p:nvSpPr>
        <p:spPr>
          <a:xfrm>
            <a:off x="445312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52.0%</a:t>
            </a:r>
            <a:endParaRPr lang="en-US" sz="2400" dirty="0"/>
          </a:p>
        </p:txBody>
      </p:sp>
      <p:sp>
        <p:nvSpPr>
          <p:cNvPr id="27" name="Text 25"/>
          <p:cNvSpPr/>
          <p:nvPr/>
        </p:nvSpPr>
        <p:spPr>
          <a:xfrm>
            <a:off x="445312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사북면</a:t>
            </a:r>
            <a:endParaRPr lang="en-US" sz="1100" dirty="0"/>
          </a:p>
        </p:txBody>
      </p:sp>
      <p:sp>
        <p:nvSpPr>
          <p:cNvPr id="28" name="Text 26"/>
          <p:cNvSpPr/>
          <p:nvPr/>
        </p:nvSpPr>
        <p:spPr>
          <a:xfrm>
            <a:off x="623620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51.8%</a:t>
            </a:r>
            <a:endParaRPr lang="en-US" sz="2400" dirty="0"/>
          </a:p>
        </p:txBody>
      </p:sp>
      <p:sp>
        <p:nvSpPr>
          <p:cNvPr id="29" name="Text 27"/>
          <p:cNvSpPr/>
          <p:nvPr/>
        </p:nvSpPr>
        <p:spPr>
          <a:xfrm>
            <a:off x="623620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동산면</a:t>
            </a:r>
            <a:endParaRPr lang="en-US" sz="1100" dirty="0"/>
          </a:p>
        </p:txBody>
      </p:sp>
      <p:sp>
        <p:nvSpPr>
          <p:cNvPr id="30" name="Text 28"/>
          <p:cNvSpPr/>
          <p:nvPr/>
        </p:nvSpPr>
        <p:spPr>
          <a:xfrm>
            <a:off x="801928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50.1%</a:t>
            </a:r>
            <a:endParaRPr lang="en-US" sz="2400" dirty="0"/>
          </a:p>
        </p:txBody>
      </p:sp>
      <p:sp>
        <p:nvSpPr>
          <p:cNvPr id="31" name="Text 29"/>
          <p:cNvSpPr/>
          <p:nvPr/>
        </p:nvSpPr>
        <p:spPr>
          <a:xfrm>
            <a:off x="801928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서면</a:t>
            </a:r>
            <a:endParaRPr lang="en-US" sz="1100" dirty="0"/>
          </a:p>
        </p:txBody>
      </p:sp>
      <p:sp>
        <p:nvSpPr>
          <p:cNvPr id="32" name="Text 30"/>
          <p:cNvSpPr/>
          <p:nvPr/>
        </p:nvSpPr>
        <p:spPr>
          <a:xfrm>
            <a:off x="9802368" y="4709160"/>
            <a:ext cx="1645920" cy="438912"/>
          </a:xfrm>
          <a:prstGeom prst="rect">
            <a:avLst/>
          </a:prstGeom>
          <a:noFill/>
          <a:ln/>
        </p:spPr>
        <p:txBody>
          <a:bodyPr wrap="square" lIns="0" tIns="0" rIns="0" bIns="0" rtlCol="0" anchor="ctr"/>
          <a:lstStyle/>
          <a:p>
            <a:pPr indent="0" marL="0">
              <a:buNone/>
            </a:pPr>
            <a:r>
              <a:rPr lang="en-US" sz="2400" b="1" dirty="0">
                <a:solidFill>
                  <a:srgbClr val="001871"/>
                </a:solidFill>
                <a:latin typeface="맑은 고딕" pitchFamily="34" charset="0"/>
                <a:ea typeface="맑은 고딕" pitchFamily="34" charset="-122"/>
                <a:cs typeface="맑은 고딕" pitchFamily="34" charset="-120"/>
              </a:rPr>
              <a:t>48.5%</a:t>
            </a:r>
            <a:endParaRPr lang="en-US" sz="2400" dirty="0"/>
          </a:p>
        </p:txBody>
      </p:sp>
      <p:sp>
        <p:nvSpPr>
          <p:cNvPr id="33" name="Text 31"/>
          <p:cNvSpPr/>
          <p:nvPr/>
        </p:nvSpPr>
        <p:spPr>
          <a:xfrm>
            <a:off x="9802368" y="5148072"/>
            <a:ext cx="1645920" cy="256032"/>
          </a:xfrm>
          <a:prstGeom prst="rect">
            <a:avLst/>
          </a:prstGeom>
          <a:noFill/>
          <a:ln/>
        </p:spPr>
        <p:txBody>
          <a:bodyPr wrap="square" lIns="0" tIns="0" rIns="0" bIns="0" rtlCol="0" anchor="ctr"/>
          <a:lstStyle/>
          <a:p>
            <a:pPr indent="0" marL="0">
              <a:buNone/>
            </a:pPr>
            <a:r>
              <a:rPr lang="en-US" sz="1100" dirty="0">
                <a:solidFill>
                  <a:srgbClr val="6E7796"/>
                </a:solidFill>
                <a:latin typeface="맑은 고딕" pitchFamily="34" charset="0"/>
                <a:ea typeface="맑은 고딕" pitchFamily="34" charset="-122"/>
                <a:cs typeface="맑은 고딕" pitchFamily="34" charset="-120"/>
              </a:rPr>
              <a:t>남산면</a:t>
            </a:r>
            <a:endParaRPr lang="en-US" sz="1100" dirty="0"/>
          </a:p>
        </p:txBody>
      </p:sp>
      <p:sp>
        <p:nvSpPr>
          <p:cNvPr id="34" name="Text 32"/>
          <p:cNvSpPr/>
          <p:nvPr/>
        </p:nvSpPr>
        <p:spPr>
          <a:xfrm>
            <a:off x="886968" y="5440680"/>
            <a:ext cx="10417759" cy="274320"/>
          </a:xfrm>
          <a:prstGeom prst="rect">
            <a:avLst/>
          </a:prstGeom>
          <a:noFill/>
          <a:ln/>
        </p:spPr>
        <p:txBody>
          <a:bodyPr wrap="square" lIns="0" tIns="0" rIns="0" bIns="0" rtlCol="0" anchor="ctr"/>
          <a:lstStyle/>
          <a:p>
            <a:pPr indent="0" marL="0">
              <a:buNone/>
            </a:pPr>
            <a:r>
              <a:rPr lang="en-US" sz="1050" dirty="0">
                <a:solidFill>
                  <a:srgbClr val="6E7796"/>
                </a:solidFill>
                <a:latin typeface="맑은 고딕" pitchFamily="34" charset="0"/>
                <a:ea typeface="맑은 고딕" pitchFamily="34" charset="-122"/>
                <a:cs typeface="맑은 고딕" pitchFamily="34" charset="-120"/>
              </a:rPr>
              <a:t>버스가 유일한 이동 수단인 지역일수록 고령 비율이 높습니다. 폭염 특보 속에서 10분 넘게 뙤약볕에 서 있는 일은 온열질환으로 이어질 수 있습니다.</a:t>
            </a:r>
            <a:endParaRPr lang="en-US" sz="1050" dirty="0"/>
          </a:p>
        </p:txBody>
      </p:sp>
      <p:sp>
        <p:nvSpPr>
          <p:cNvPr id="35" name="Text 33"/>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출처 : 춘천시 「2026년 6월 인구통계(연령별)」, 강원일보 2025-02-25 「초고령사회 진입한 춘천시 2,545억원 투입 노인복지정책 편다」</a:t>
            </a:r>
            <a:endParaRPr lang="en-US" sz="850" dirty="0"/>
          </a:p>
        </p:txBody>
      </p:sp>
      <p:sp>
        <p:nvSpPr>
          <p:cNvPr id="36" name="Text 34"/>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7" name="Text 35"/>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01</a:t>
            </a:r>
            <a:pPr indent="0" marL="0">
              <a:buNone/>
            </a:pPr>
            <a:r>
              <a:rPr lang="en-US" sz="1100" b="1" dirty="0">
                <a:solidFill>
                  <a:srgbClr val="6E7796"/>
                </a:solidFill>
                <a:latin typeface="맑은 고딕" pitchFamily="34" charset="0"/>
                <a:ea typeface="맑은 고딕" pitchFamily="34" charset="-122"/>
                <a:cs typeface="맑은 고딕" pitchFamily="34" charset="-120"/>
              </a:rPr>
              <a:t>   문제 정의 및 해결방안 제시</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그런데 춘천 정류장 10곳 중 6곳은 지붕조차 없습니다</a:t>
            </a:r>
            <a:endParaRPr lang="en-US" sz="2700" dirty="0"/>
          </a:p>
        </p:txBody>
      </p:sp>
      <p:sp>
        <p:nvSpPr>
          <p:cNvPr id="4" name="Shape 2"/>
          <p:cNvSpPr/>
          <p:nvPr/>
        </p:nvSpPr>
        <p:spPr>
          <a:xfrm>
            <a:off x="566928" y="1600200"/>
            <a:ext cx="4663440" cy="2011680"/>
          </a:xfrm>
          <a:prstGeom prst="roundRect">
            <a:avLst>
              <a:gd name="adj" fmla="val 6364"/>
            </a:avLst>
          </a:prstGeom>
          <a:solidFill>
            <a:srgbClr val="001871"/>
          </a:solidFill>
          <a:ln w="12700">
            <a:solidFill>
              <a:srgbClr val="001871"/>
            </a:solidFill>
            <a:prstDash val="solid"/>
          </a:ln>
        </p:spPr>
      </p:sp>
      <p:sp>
        <p:nvSpPr>
          <p:cNvPr id="5" name="Text 3"/>
          <p:cNvSpPr/>
          <p:nvPr/>
        </p:nvSpPr>
        <p:spPr>
          <a:xfrm>
            <a:off x="932688" y="1810512"/>
            <a:ext cx="3931920" cy="868680"/>
          </a:xfrm>
          <a:prstGeom prst="rect">
            <a:avLst/>
          </a:prstGeom>
          <a:noFill/>
          <a:ln/>
        </p:spPr>
        <p:txBody>
          <a:bodyPr wrap="square" lIns="0" tIns="0" rIns="0" bIns="0" rtlCol="0" anchor="ctr"/>
          <a:lstStyle/>
          <a:p>
            <a:pPr indent="0" marL="0">
              <a:buNone/>
            </a:pPr>
            <a:r>
              <a:rPr lang="en-US" sz="5800" b="1" dirty="0">
                <a:solidFill>
                  <a:srgbClr val="FFFFFF"/>
                </a:solidFill>
                <a:latin typeface="맑은 고딕" pitchFamily="34" charset="0"/>
                <a:ea typeface="맑은 고딕" pitchFamily="34" charset="-122"/>
                <a:cs typeface="맑은 고딕" pitchFamily="34" charset="-120"/>
              </a:rPr>
              <a:t>63.5%</a:t>
            </a:r>
            <a:endParaRPr lang="en-US" sz="5800" dirty="0"/>
          </a:p>
        </p:txBody>
      </p:sp>
      <p:sp>
        <p:nvSpPr>
          <p:cNvPr id="6" name="Text 4"/>
          <p:cNvSpPr/>
          <p:nvPr/>
        </p:nvSpPr>
        <p:spPr>
          <a:xfrm>
            <a:off x="950976" y="2670048"/>
            <a:ext cx="3931920" cy="274320"/>
          </a:xfrm>
          <a:prstGeom prst="rect">
            <a:avLst/>
          </a:prstGeom>
          <a:noFill/>
          <a:ln/>
        </p:spPr>
        <p:txBody>
          <a:bodyPr wrap="square" lIns="0" tIns="0" rIns="0" bIns="0" rtlCol="0" anchor="ctr"/>
          <a:lstStyle/>
          <a:p>
            <a:pPr indent="0" marL="0">
              <a:buNone/>
            </a:pPr>
            <a:r>
              <a:rPr lang="en-US" sz="1250" b="1" dirty="0">
                <a:solidFill>
                  <a:srgbClr val="A6B3E6"/>
                </a:solidFill>
                <a:latin typeface="맑은 고딕" pitchFamily="34" charset="0"/>
                <a:ea typeface="맑은 고딕" pitchFamily="34" charset="-122"/>
                <a:cs typeface="맑은 고딕" pitchFamily="34" charset="-120"/>
              </a:rPr>
              <a:t>표지판형 정류장 1,200곳 / 전체 1,890곳</a:t>
            </a:r>
            <a:endParaRPr lang="en-US" sz="1250" dirty="0"/>
          </a:p>
        </p:txBody>
      </p:sp>
      <p:sp>
        <p:nvSpPr>
          <p:cNvPr id="7" name="Text 5"/>
          <p:cNvSpPr/>
          <p:nvPr/>
        </p:nvSpPr>
        <p:spPr>
          <a:xfrm>
            <a:off x="950976" y="2962656"/>
            <a:ext cx="3931920" cy="457200"/>
          </a:xfrm>
          <a:prstGeom prst="rect">
            <a:avLst/>
          </a:prstGeom>
          <a:noFill/>
          <a:ln/>
        </p:spPr>
        <p:txBody>
          <a:bodyPr wrap="square" lIns="0" tIns="0" rIns="0" bIns="0" rtlCol="0" anchor="t"/>
          <a:lstStyle/>
          <a:p>
            <a:pPr indent="0" marL="0">
              <a:buNone/>
            </a:pPr>
            <a:r>
              <a:rPr lang="en-US" sz="1050" dirty="0">
                <a:solidFill>
                  <a:srgbClr val="8B9CDD"/>
                </a:solidFill>
                <a:latin typeface="맑은 고딕" pitchFamily="34" charset="0"/>
                <a:ea typeface="맑은 고딕" pitchFamily="34" charset="-122"/>
                <a:cs typeface="맑은 고딕" pitchFamily="34" charset="-120"/>
              </a:rPr>
              <a:t>기둥에 노선표만 붙어 있는 정류장 — 그늘도, 의자도 없습니다</a:t>
            </a:r>
            <a:endParaRPr lang="en-US" sz="1050" dirty="0"/>
          </a:p>
        </p:txBody>
      </p:sp>
      <p:sp>
        <p:nvSpPr>
          <p:cNvPr id="8" name="Shape 6"/>
          <p:cNvSpPr/>
          <p:nvPr/>
        </p:nvSpPr>
        <p:spPr>
          <a:xfrm>
            <a:off x="5522976" y="1600200"/>
            <a:ext cx="6101791" cy="932688"/>
          </a:xfrm>
          <a:prstGeom prst="roundRect">
            <a:avLst>
              <a:gd name="adj" fmla="val 13725"/>
            </a:avLst>
          </a:prstGeom>
          <a:solidFill>
            <a:srgbClr val="F4F6FC"/>
          </a:solidFill>
          <a:ln w="12700">
            <a:solidFill>
              <a:srgbClr val="D4DAEE"/>
            </a:solidFill>
            <a:prstDash val="solid"/>
          </a:ln>
        </p:spPr>
      </p:sp>
      <p:sp>
        <p:nvSpPr>
          <p:cNvPr id="9" name="Text 7"/>
          <p:cNvSpPr/>
          <p:nvPr/>
        </p:nvSpPr>
        <p:spPr>
          <a:xfrm>
            <a:off x="5824728" y="1728216"/>
            <a:ext cx="5852160" cy="274320"/>
          </a:xfrm>
          <a:prstGeom prst="rect">
            <a:avLst/>
          </a:prstGeom>
          <a:noFill/>
          <a:ln/>
        </p:spPr>
        <p:txBody>
          <a:bodyPr wrap="square" lIns="0" tIns="0" rIns="0" bIns="0" rtlCol="0" anchor="ctr"/>
          <a:lstStyle/>
          <a:p>
            <a:pPr indent="0" marL="0">
              <a:buNone/>
            </a:pPr>
            <a:r>
              <a:rPr lang="en-US" sz="1400" b="1" dirty="0">
                <a:solidFill>
                  <a:srgbClr val="E8751A"/>
                </a:solidFill>
                <a:latin typeface="맑은 고딕" pitchFamily="34" charset="0"/>
                <a:ea typeface="맑은 고딕" pitchFamily="34" charset="-122"/>
                <a:cs typeface="맑은 고딕" pitchFamily="34" charset="-120"/>
              </a:rPr>
              <a:t>스마트 정류장은 16곳</a:t>
            </a:r>
            <a:endParaRPr lang="en-US" sz="1400" dirty="0"/>
          </a:p>
        </p:txBody>
      </p:sp>
      <p:sp>
        <p:nvSpPr>
          <p:cNvPr id="10" name="Text 8"/>
          <p:cNvSpPr/>
          <p:nvPr/>
        </p:nvSpPr>
        <p:spPr>
          <a:xfrm>
            <a:off x="5824728" y="2002536"/>
            <a:ext cx="585216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1곳당 약 1억 원</a:t>
            </a:r>
            <a:endParaRPr lang="en-US" sz="1200" dirty="0"/>
          </a:p>
        </p:txBody>
      </p:sp>
      <p:sp>
        <p:nvSpPr>
          <p:cNvPr id="11" name="Text 9"/>
          <p:cNvSpPr/>
          <p:nvPr/>
        </p:nvSpPr>
        <p:spPr>
          <a:xfrm>
            <a:off x="5824728" y="2249424"/>
            <a:ext cx="585216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냉난방 쉘터를 1,200곳에 세우는 것은 예산상 불가능합니다.</a:t>
            </a:r>
            <a:endParaRPr lang="en-US" sz="1000" dirty="0"/>
          </a:p>
        </p:txBody>
      </p:sp>
      <p:sp>
        <p:nvSpPr>
          <p:cNvPr id="12" name="Shape 10"/>
          <p:cNvSpPr/>
          <p:nvPr/>
        </p:nvSpPr>
        <p:spPr>
          <a:xfrm>
            <a:off x="5522976" y="2651760"/>
            <a:ext cx="6101791" cy="932688"/>
          </a:xfrm>
          <a:prstGeom prst="roundRect">
            <a:avLst>
              <a:gd name="adj" fmla="val 13725"/>
            </a:avLst>
          </a:prstGeom>
          <a:solidFill>
            <a:srgbClr val="F4F6FC"/>
          </a:solidFill>
          <a:ln w="12700">
            <a:solidFill>
              <a:srgbClr val="D4DAEE"/>
            </a:solidFill>
            <a:prstDash val="solid"/>
          </a:ln>
        </p:spPr>
      </p:sp>
      <p:sp>
        <p:nvSpPr>
          <p:cNvPr id="13" name="Text 11"/>
          <p:cNvSpPr/>
          <p:nvPr/>
        </p:nvSpPr>
        <p:spPr>
          <a:xfrm>
            <a:off x="5824728" y="2779776"/>
            <a:ext cx="5852160" cy="274320"/>
          </a:xfrm>
          <a:prstGeom prst="rect">
            <a:avLst/>
          </a:prstGeom>
          <a:noFill/>
          <a:ln/>
        </p:spPr>
        <p:txBody>
          <a:bodyPr wrap="square" lIns="0" tIns="0" rIns="0" bIns="0" rtlCol="0" anchor="ctr"/>
          <a:lstStyle/>
          <a:p>
            <a:pPr indent="0" marL="0">
              <a:buNone/>
            </a:pPr>
            <a:r>
              <a:rPr lang="en-US" sz="1400" b="1" dirty="0">
                <a:solidFill>
                  <a:srgbClr val="E8751A"/>
                </a:solidFill>
                <a:latin typeface="맑은 고딕" pitchFamily="34" charset="0"/>
                <a:ea typeface="맑은 고딕" pitchFamily="34" charset="-122"/>
                <a:cs typeface="맑은 고딕" pitchFamily="34" charset="-120"/>
              </a:rPr>
              <a:t>시설이 갖춰지기까지 몇 년</a:t>
            </a:r>
            <a:endParaRPr lang="en-US" sz="1400" dirty="0"/>
          </a:p>
        </p:txBody>
      </p:sp>
      <p:sp>
        <p:nvSpPr>
          <p:cNvPr id="14" name="Text 12"/>
          <p:cNvSpPr/>
          <p:nvPr/>
        </p:nvSpPr>
        <p:spPr>
          <a:xfrm>
            <a:off x="5824728" y="3054096"/>
            <a:ext cx="585216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그 사이에도 어르신은 매일 버스를 탑니다</a:t>
            </a:r>
            <a:endParaRPr lang="en-US" sz="1200" dirty="0"/>
          </a:p>
        </p:txBody>
      </p:sp>
      <p:sp>
        <p:nvSpPr>
          <p:cNvPr id="15" name="Text 13"/>
          <p:cNvSpPr/>
          <p:nvPr/>
        </p:nvSpPr>
        <p:spPr>
          <a:xfrm>
            <a:off x="5824728" y="3300984"/>
            <a:ext cx="585216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새로 짓기 전에, 지금 있는 자원으로 도울 방법이 필요합니다.</a:t>
            </a:r>
            <a:endParaRPr lang="en-US" sz="1000" dirty="0"/>
          </a:p>
        </p:txBody>
      </p:sp>
      <p:sp>
        <p:nvSpPr>
          <p:cNvPr id="16" name="Shape 14"/>
          <p:cNvSpPr/>
          <p:nvPr/>
        </p:nvSpPr>
        <p:spPr>
          <a:xfrm>
            <a:off x="566928" y="3840480"/>
            <a:ext cx="11057839" cy="1965960"/>
          </a:xfrm>
          <a:prstGeom prst="roundRect">
            <a:avLst>
              <a:gd name="adj" fmla="val 6512"/>
            </a:avLst>
          </a:prstGeom>
          <a:solidFill>
            <a:srgbClr val="FCF3EA"/>
          </a:solidFill>
          <a:ln w="12700">
            <a:solidFill>
              <a:srgbClr val="F2C99E"/>
            </a:solidFill>
            <a:prstDash val="solid"/>
          </a:ln>
        </p:spPr>
      </p:sp>
      <p:sp>
        <p:nvSpPr>
          <p:cNvPr id="17" name="Text 15"/>
          <p:cNvSpPr/>
          <p:nvPr/>
        </p:nvSpPr>
        <p:spPr>
          <a:xfrm>
            <a:off x="886968" y="4005072"/>
            <a:ext cx="5486400" cy="292608"/>
          </a:xfrm>
          <a:prstGeom prst="rect">
            <a:avLst/>
          </a:prstGeom>
          <a:noFill/>
          <a:ln/>
        </p:spPr>
        <p:txBody>
          <a:bodyPr wrap="square" lIns="0" tIns="0" rIns="0" bIns="0" rtlCol="0" anchor="ctr"/>
          <a:lstStyle/>
          <a:p>
            <a:pPr indent="0" marL="0">
              <a:buNone/>
            </a:pPr>
            <a:r>
              <a:rPr lang="en-US" sz="1300" b="1" dirty="0">
                <a:solidFill>
                  <a:srgbClr val="B3560A"/>
                </a:solidFill>
                <a:latin typeface="맑은 고딕" pitchFamily="34" charset="0"/>
                <a:ea typeface="맑은 고딕" pitchFamily="34" charset="-122"/>
                <a:cs typeface="맑은 고딕" pitchFamily="34" charset="-120"/>
              </a:rPr>
              <a:t>그래서 우리가 데이터로 확인한 것</a:t>
            </a:r>
            <a:endParaRPr lang="en-US" sz="1300" dirty="0"/>
          </a:p>
        </p:txBody>
      </p:sp>
      <p:sp>
        <p:nvSpPr>
          <p:cNvPr id="18" name="Text 16"/>
          <p:cNvSpPr/>
          <p:nvPr/>
        </p:nvSpPr>
        <p:spPr>
          <a:xfrm>
            <a:off x="886968" y="4370832"/>
            <a:ext cx="2560320" cy="457200"/>
          </a:xfrm>
          <a:prstGeom prst="rect">
            <a:avLst/>
          </a:prstGeom>
          <a:noFill/>
          <a:ln/>
        </p:spPr>
        <p:txBody>
          <a:bodyPr wrap="square" lIns="0" tIns="0" rIns="0" bIns="0" rtlCol="0" anchor="ctr"/>
          <a:lstStyle/>
          <a:p>
            <a:pPr indent="0" marL="0">
              <a:buNone/>
            </a:pPr>
            <a:r>
              <a:rPr lang="en-US" sz="2700" b="1" dirty="0">
                <a:solidFill>
                  <a:srgbClr val="E8751A"/>
                </a:solidFill>
                <a:latin typeface="맑은 고딕" pitchFamily="34" charset="0"/>
                <a:ea typeface="맑은 고딕" pitchFamily="34" charset="-122"/>
                <a:cs typeface="맑은 고딕" pitchFamily="34" charset="-120"/>
              </a:rPr>
              <a:t>1,369곳</a:t>
            </a:r>
            <a:endParaRPr lang="en-US" sz="2700" dirty="0"/>
          </a:p>
        </p:txBody>
      </p:sp>
      <p:sp>
        <p:nvSpPr>
          <p:cNvPr id="19" name="Text 17"/>
          <p:cNvSpPr/>
          <p:nvPr/>
        </p:nvSpPr>
        <p:spPr>
          <a:xfrm>
            <a:off x="886968" y="4828032"/>
            <a:ext cx="2560320" cy="256032"/>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폭염 취약 정류장</a:t>
            </a:r>
            <a:endParaRPr lang="en-US" sz="1150" dirty="0"/>
          </a:p>
        </p:txBody>
      </p:sp>
      <p:sp>
        <p:nvSpPr>
          <p:cNvPr id="20" name="Text 18"/>
          <p:cNvSpPr/>
          <p:nvPr/>
        </p:nvSpPr>
        <p:spPr>
          <a:xfrm>
            <a:off x="886968" y="5102352"/>
            <a:ext cx="2560320" cy="548640"/>
          </a:xfrm>
          <a:prstGeom prst="rect">
            <a:avLst/>
          </a:prstGeom>
          <a:noFill/>
          <a:ln/>
        </p:spPr>
        <p:txBody>
          <a:bodyPr wrap="square" lIns="0" tIns="0" rIns="0" bIns="0" rtlCol="0" anchor="t"/>
          <a:lstStyle/>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그늘 확인 안 됨 AND</a:t>
            </a:r>
            <a:endParaRPr lang="en-US" sz="950" dirty="0"/>
          </a:p>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최근접 쉼터 300m 밖</a:t>
            </a:r>
            <a:endParaRPr lang="en-US" sz="950" dirty="0"/>
          </a:p>
        </p:txBody>
      </p:sp>
      <p:sp>
        <p:nvSpPr>
          <p:cNvPr id="21" name="Text 19"/>
          <p:cNvSpPr/>
          <p:nvPr/>
        </p:nvSpPr>
        <p:spPr>
          <a:xfrm>
            <a:off x="3611880" y="4370832"/>
            <a:ext cx="2560320" cy="457200"/>
          </a:xfrm>
          <a:prstGeom prst="rect">
            <a:avLst/>
          </a:prstGeom>
          <a:noFill/>
          <a:ln/>
        </p:spPr>
        <p:txBody>
          <a:bodyPr wrap="square" lIns="0" tIns="0" rIns="0" bIns="0" rtlCol="0" anchor="ctr"/>
          <a:lstStyle/>
          <a:p>
            <a:pPr indent="0" marL="0">
              <a:buNone/>
            </a:pPr>
            <a:r>
              <a:rPr lang="en-US" sz="2700" b="1" dirty="0">
                <a:solidFill>
                  <a:srgbClr val="E8751A"/>
                </a:solidFill>
                <a:latin typeface="맑은 고딕" pitchFamily="34" charset="0"/>
                <a:ea typeface="맑은 고딕" pitchFamily="34" charset="-122"/>
                <a:cs typeface="맑은 고딕" pitchFamily="34" charset="-120"/>
              </a:rPr>
              <a:t>1,102m</a:t>
            </a:r>
            <a:endParaRPr lang="en-US" sz="2700" dirty="0"/>
          </a:p>
        </p:txBody>
      </p:sp>
      <p:sp>
        <p:nvSpPr>
          <p:cNvPr id="22" name="Text 20"/>
          <p:cNvSpPr/>
          <p:nvPr/>
        </p:nvSpPr>
        <p:spPr>
          <a:xfrm>
            <a:off x="3611880" y="4828032"/>
            <a:ext cx="2560320" cy="256032"/>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쉼터까지 거리 중앙값</a:t>
            </a:r>
            <a:endParaRPr lang="en-US" sz="1150" dirty="0"/>
          </a:p>
        </p:txBody>
      </p:sp>
      <p:sp>
        <p:nvSpPr>
          <p:cNvPr id="23" name="Text 21"/>
          <p:cNvSpPr/>
          <p:nvPr/>
        </p:nvSpPr>
        <p:spPr>
          <a:xfrm>
            <a:off x="3611880" y="5102352"/>
            <a:ext cx="2560320" cy="548640"/>
          </a:xfrm>
          <a:prstGeom prst="rect">
            <a:avLst/>
          </a:prstGeom>
          <a:noFill/>
          <a:ln/>
        </p:spPr>
        <p:txBody>
          <a:bodyPr wrap="square" lIns="0" tIns="0" rIns="0" bIns="0" rtlCol="0" anchor="t"/>
          <a:lstStyle/>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정류장에 서서 대피할 곳이</a:t>
            </a:r>
            <a:endParaRPr lang="en-US" sz="950" dirty="0"/>
          </a:p>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1km 넘게 떨어져 있습니다</a:t>
            </a:r>
            <a:endParaRPr lang="en-US" sz="950" dirty="0"/>
          </a:p>
        </p:txBody>
      </p:sp>
      <p:sp>
        <p:nvSpPr>
          <p:cNvPr id="24" name="Text 22"/>
          <p:cNvSpPr/>
          <p:nvPr/>
        </p:nvSpPr>
        <p:spPr>
          <a:xfrm>
            <a:off x="6336792" y="4370832"/>
            <a:ext cx="2560320" cy="457200"/>
          </a:xfrm>
          <a:prstGeom prst="rect">
            <a:avLst/>
          </a:prstGeom>
          <a:noFill/>
          <a:ln/>
        </p:spPr>
        <p:txBody>
          <a:bodyPr wrap="square" lIns="0" tIns="0" rIns="0" bIns="0" rtlCol="0" anchor="ctr"/>
          <a:lstStyle/>
          <a:p>
            <a:pPr indent="0" marL="0">
              <a:buNone/>
            </a:pPr>
            <a:r>
              <a:rPr lang="en-US" sz="2700" b="1" dirty="0">
                <a:solidFill>
                  <a:srgbClr val="E8751A"/>
                </a:solidFill>
                <a:latin typeface="맑은 고딕" pitchFamily="34" charset="0"/>
                <a:ea typeface="맑은 고딕" pitchFamily="34" charset="-122"/>
                <a:cs typeface="맑은 고딕" pitchFamily="34" charset="-120"/>
              </a:rPr>
              <a:t>503곳</a:t>
            </a:r>
            <a:endParaRPr lang="en-US" sz="2700" dirty="0"/>
          </a:p>
        </p:txBody>
      </p:sp>
      <p:sp>
        <p:nvSpPr>
          <p:cNvPr id="25" name="Text 23"/>
          <p:cNvSpPr/>
          <p:nvPr/>
        </p:nvSpPr>
        <p:spPr>
          <a:xfrm>
            <a:off x="6336792" y="4828032"/>
            <a:ext cx="2560320" cy="256032"/>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쉼터 300m 이내는 26.6%</a:t>
            </a:r>
            <a:endParaRPr lang="en-US" sz="1150" dirty="0"/>
          </a:p>
        </p:txBody>
      </p:sp>
      <p:sp>
        <p:nvSpPr>
          <p:cNvPr id="26" name="Text 24"/>
          <p:cNvSpPr/>
          <p:nvPr/>
        </p:nvSpPr>
        <p:spPr>
          <a:xfrm>
            <a:off x="6336792" y="5102352"/>
            <a:ext cx="2560320" cy="548640"/>
          </a:xfrm>
          <a:prstGeom prst="rect">
            <a:avLst/>
          </a:prstGeom>
          <a:noFill/>
          <a:ln/>
        </p:spPr>
        <p:txBody>
          <a:bodyPr wrap="square" lIns="0" tIns="0" rIns="0" bIns="0" rtlCol="0" anchor="t"/>
          <a:lstStyle/>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나머지 1,387곳은</a:t>
            </a:r>
            <a:endParaRPr lang="en-US" sz="950" dirty="0"/>
          </a:p>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걸어서 갈 그늘이 없습니다</a:t>
            </a:r>
            <a:endParaRPr lang="en-US" sz="950" dirty="0"/>
          </a:p>
        </p:txBody>
      </p:sp>
      <p:sp>
        <p:nvSpPr>
          <p:cNvPr id="27" name="Text 25"/>
          <p:cNvSpPr/>
          <p:nvPr/>
        </p:nvSpPr>
        <p:spPr>
          <a:xfrm>
            <a:off x="9061704" y="4370832"/>
            <a:ext cx="2560320" cy="457200"/>
          </a:xfrm>
          <a:prstGeom prst="rect">
            <a:avLst/>
          </a:prstGeom>
          <a:noFill/>
          <a:ln/>
        </p:spPr>
        <p:txBody>
          <a:bodyPr wrap="square" lIns="0" tIns="0" rIns="0" bIns="0" rtlCol="0" anchor="ctr"/>
          <a:lstStyle/>
          <a:p>
            <a:pPr indent="0" marL="0">
              <a:buNone/>
            </a:pPr>
            <a:r>
              <a:rPr lang="en-US" sz="2700" b="1" dirty="0">
                <a:solidFill>
                  <a:srgbClr val="E8751A"/>
                </a:solidFill>
                <a:latin typeface="맑은 고딕" pitchFamily="34" charset="0"/>
                <a:ea typeface="맑은 고딕" pitchFamily="34" charset="-122"/>
                <a:cs typeface="맑은 고딕" pitchFamily="34" charset="-120"/>
              </a:rPr>
              <a:t>45.7%</a:t>
            </a:r>
            <a:endParaRPr lang="en-US" sz="2700" dirty="0"/>
          </a:p>
        </p:txBody>
      </p:sp>
      <p:sp>
        <p:nvSpPr>
          <p:cNvPr id="28" name="Text 26"/>
          <p:cNvSpPr/>
          <p:nvPr/>
        </p:nvSpPr>
        <p:spPr>
          <a:xfrm>
            <a:off x="9061704" y="4828032"/>
            <a:ext cx="2560320" cy="256032"/>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버스 이용이 몰리는 시간</a:t>
            </a:r>
            <a:endParaRPr lang="en-US" sz="1150" dirty="0"/>
          </a:p>
        </p:txBody>
      </p:sp>
      <p:sp>
        <p:nvSpPr>
          <p:cNvPr id="29" name="Text 27"/>
          <p:cNvSpPr/>
          <p:nvPr/>
        </p:nvSpPr>
        <p:spPr>
          <a:xfrm>
            <a:off x="9061704" y="5102352"/>
            <a:ext cx="2560320" cy="548640"/>
          </a:xfrm>
          <a:prstGeom prst="rect">
            <a:avLst/>
          </a:prstGeom>
          <a:noFill/>
          <a:ln/>
        </p:spPr>
        <p:txBody>
          <a:bodyPr wrap="square" lIns="0" tIns="0" rIns="0" bIns="0" rtlCol="0" anchor="t"/>
          <a:lstStyle/>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낮 12시~오후 6시 —</a:t>
            </a:r>
            <a:endParaRPr lang="en-US" sz="950" dirty="0"/>
          </a:p>
          <a:p>
            <a:pPr indent="0" marL="0">
              <a:lnSpc>
                <a:spcPct val="120000"/>
              </a:lnSpc>
              <a:buNone/>
            </a:pPr>
            <a:r>
              <a:rPr lang="en-US" sz="950" dirty="0">
                <a:solidFill>
                  <a:srgbClr val="8A6A4A"/>
                </a:solidFill>
                <a:latin typeface="맑은 고딕" pitchFamily="34" charset="0"/>
                <a:ea typeface="맑은 고딕" pitchFamily="34" charset="-122"/>
                <a:cs typeface="맑은 고딕" pitchFamily="34" charset="-120"/>
              </a:rPr>
              <a:t>하루 중 가장 더운 때</a:t>
            </a:r>
            <a:endParaRPr lang="en-US" sz="950" dirty="0"/>
          </a:p>
        </p:txBody>
      </p:sp>
      <p:sp>
        <p:nvSpPr>
          <p:cNvPr id="30" name="Text 28"/>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출처 : 강원일보 2026-02-05 「도내 버스정류장 표지판이 '대부분'…편의시설 확충 과제」 · 하단 4개 수치는 본 서비스가 춘천시 공공데이터로 직접 산출</a:t>
            </a:r>
            <a:endParaRPr lang="en-US" sz="850" dirty="0"/>
          </a:p>
        </p:txBody>
      </p:sp>
      <p:sp>
        <p:nvSpPr>
          <p:cNvPr id="31" name="Text 29"/>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2" name="Text 30"/>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01</a:t>
            </a:r>
            <a:pPr indent="0" marL="0">
              <a:buNone/>
            </a:pPr>
            <a:r>
              <a:rPr lang="en-US" sz="1100" b="1" dirty="0">
                <a:solidFill>
                  <a:srgbClr val="6E7796"/>
                </a:solidFill>
                <a:latin typeface="맑은 고딕" pitchFamily="34" charset="0"/>
                <a:ea typeface="맑은 고딕" pitchFamily="34" charset="-122"/>
                <a:cs typeface="맑은 고딕" pitchFamily="34" charset="-120"/>
              </a:rPr>
              <a:t>   문제 정의 및 해결방안 제시</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해법 : 가는 길을 안내하면서, 그 길 위의 그늘을 같이 알려드립니다</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화면을 세 개로 줄였습니다 — 어르신이 헤맬 곳이 없도록</a:t>
            </a:r>
            <a:endParaRPr lang="en-US" sz="1300" dirty="0"/>
          </a:p>
        </p:txBody>
      </p:sp>
      <p:sp>
        <p:nvSpPr>
          <p:cNvPr id="5" name="Shape 3"/>
          <p:cNvSpPr/>
          <p:nvPr/>
        </p:nvSpPr>
        <p:spPr>
          <a:xfrm>
            <a:off x="566928" y="1828800"/>
            <a:ext cx="3566160" cy="388620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6" name="Shape 4"/>
          <p:cNvSpPr/>
          <p:nvPr/>
        </p:nvSpPr>
        <p:spPr>
          <a:xfrm>
            <a:off x="841248" y="2084832"/>
            <a:ext cx="1051560" cy="384048"/>
          </a:xfrm>
          <a:prstGeom prst="roundRect">
            <a:avLst>
              <a:gd name="adj" fmla="val 23810"/>
            </a:avLst>
          </a:prstGeom>
          <a:solidFill>
            <a:srgbClr val="001871"/>
          </a:solidFill>
          <a:ln w="12700">
            <a:solidFill>
              <a:srgbClr val="001871"/>
            </a:solidFill>
            <a:prstDash val="solid"/>
          </a:ln>
        </p:spPr>
      </p:sp>
      <p:sp>
        <p:nvSpPr>
          <p:cNvPr id="7" name="Text 5"/>
          <p:cNvSpPr/>
          <p:nvPr/>
        </p:nvSpPr>
        <p:spPr>
          <a:xfrm>
            <a:off x="841248" y="2084832"/>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길찾기</a:t>
            </a:r>
            <a:endParaRPr lang="en-US" sz="1200" dirty="0"/>
          </a:p>
        </p:txBody>
      </p:sp>
      <p:sp>
        <p:nvSpPr>
          <p:cNvPr id="8" name="Text 6"/>
          <p:cNvSpPr/>
          <p:nvPr/>
        </p:nvSpPr>
        <p:spPr>
          <a:xfrm>
            <a:off x="3355848" y="2048256"/>
            <a:ext cx="502920" cy="457200"/>
          </a:xfrm>
          <a:prstGeom prst="rect">
            <a:avLst/>
          </a:prstGeom>
          <a:noFill/>
          <a:ln/>
        </p:spPr>
        <p:txBody>
          <a:bodyPr wrap="square" lIns="0" tIns="0" rIns="0" bIns="0" rtlCol="0" anchor="ctr"/>
          <a:lstStyle/>
          <a:p>
            <a:pPr algn="r" indent="0" marL="0">
              <a:buNone/>
            </a:pPr>
            <a:r>
              <a:rPr lang="en-US" sz="2600" b="1" dirty="0">
                <a:solidFill>
                  <a:srgbClr val="E7EBF8"/>
                </a:solidFill>
                <a:latin typeface="맑은 고딕" pitchFamily="34" charset="0"/>
                <a:ea typeface="맑은 고딕" pitchFamily="34" charset="-122"/>
                <a:cs typeface="맑은 고딕" pitchFamily="34" charset="-120"/>
              </a:rPr>
              <a:t>1</a:t>
            </a:r>
            <a:endParaRPr lang="en-US" sz="2600" dirty="0"/>
          </a:p>
        </p:txBody>
      </p:sp>
      <p:sp>
        <p:nvSpPr>
          <p:cNvPr id="9" name="Text 7"/>
          <p:cNvSpPr/>
          <p:nvPr/>
        </p:nvSpPr>
        <p:spPr>
          <a:xfrm>
            <a:off x="841248" y="2615184"/>
            <a:ext cx="3017520" cy="548640"/>
          </a:xfrm>
          <a:prstGeom prst="rect">
            <a:avLst/>
          </a:prstGeom>
          <a:noFill/>
          <a:ln/>
        </p:spPr>
        <p:txBody>
          <a:bodyPr wrap="square" lIns="0" tIns="0" rIns="0" bIns="0" rtlCol="0" anchor="t"/>
          <a:lstStyle/>
          <a:p>
            <a:pPr indent="0" marL="0">
              <a:buNone/>
            </a:pPr>
            <a:r>
              <a:rPr lang="en-US" sz="1600" b="1" dirty="0">
                <a:solidFill>
                  <a:srgbClr val="141B33"/>
                </a:solidFill>
                <a:latin typeface="맑은 고딕" pitchFamily="34" charset="0"/>
                <a:ea typeface="맑은 고딕" pitchFamily="34" charset="-122"/>
                <a:cs typeface="맑은 고딕" pitchFamily="34" charset="-120"/>
              </a:rPr>
              <a:t>어디로 가시나요?</a:t>
            </a:r>
            <a:endParaRPr lang="en-US" sz="1600" dirty="0"/>
          </a:p>
        </p:txBody>
      </p:sp>
      <p:sp>
        <p:nvSpPr>
          <p:cNvPr id="10" name="Text 8"/>
          <p:cNvSpPr/>
          <p:nvPr/>
        </p:nvSpPr>
        <p:spPr>
          <a:xfrm>
            <a:off x="841248" y="3246120"/>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출발·도착만 고르면 탈 버스와 내릴 곳을 정해 드립니다</a:t>
            </a:r>
            <a:endParaRPr lang="en-US" sz="1050" dirty="0"/>
          </a:p>
        </p:txBody>
      </p:sp>
      <p:sp>
        <p:nvSpPr>
          <p:cNvPr id="11" name="Text 9"/>
          <p:cNvSpPr/>
          <p:nvPr/>
        </p:nvSpPr>
        <p:spPr>
          <a:xfrm>
            <a:off x="841248" y="3849624"/>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출발지는 GPS 주소가 자동으로 채워집니다</a:t>
            </a:r>
            <a:endParaRPr lang="en-US" sz="1050" dirty="0"/>
          </a:p>
        </p:txBody>
      </p:sp>
      <p:sp>
        <p:nvSpPr>
          <p:cNvPr id="12" name="Text 10"/>
          <p:cNvSpPr/>
          <p:nvPr/>
        </p:nvSpPr>
        <p:spPr>
          <a:xfrm>
            <a:off x="841248" y="4453128"/>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말로도 찾을 수 있습니다 — [음성으로 찾기]</a:t>
            </a:r>
            <a:endParaRPr lang="en-US" sz="1050" dirty="0"/>
          </a:p>
        </p:txBody>
      </p:sp>
      <p:sp>
        <p:nvSpPr>
          <p:cNvPr id="13" name="Text 11"/>
          <p:cNvSpPr/>
          <p:nvPr/>
        </p:nvSpPr>
        <p:spPr>
          <a:xfrm>
            <a:off x="841248" y="5056632"/>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타고 가는 동안 지금 어디쯤인지 화면이 따라옵니다</a:t>
            </a:r>
            <a:endParaRPr lang="en-US" sz="1050" dirty="0"/>
          </a:p>
        </p:txBody>
      </p:sp>
      <p:sp>
        <p:nvSpPr>
          <p:cNvPr id="14" name="Shape 12"/>
          <p:cNvSpPr/>
          <p:nvPr/>
        </p:nvSpPr>
        <p:spPr>
          <a:xfrm>
            <a:off x="4370832" y="1828800"/>
            <a:ext cx="3566160" cy="388620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5" name="Shape 13"/>
          <p:cNvSpPr/>
          <p:nvPr/>
        </p:nvSpPr>
        <p:spPr>
          <a:xfrm>
            <a:off x="4645152" y="2084832"/>
            <a:ext cx="1051560" cy="384048"/>
          </a:xfrm>
          <a:prstGeom prst="roundRect">
            <a:avLst>
              <a:gd name="adj" fmla="val 23810"/>
            </a:avLst>
          </a:prstGeom>
          <a:solidFill>
            <a:srgbClr val="2B7A3E"/>
          </a:solidFill>
          <a:ln w="12700">
            <a:solidFill>
              <a:srgbClr val="2B7A3E"/>
            </a:solidFill>
            <a:prstDash val="solid"/>
          </a:ln>
        </p:spPr>
      </p:sp>
      <p:sp>
        <p:nvSpPr>
          <p:cNvPr id="16" name="Text 14"/>
          <p:cNvSpPr/>
          <p:nvPr/>
        </p:nvSpPr>
        <p:spPr>
          <a:xfrm>
            <a:off x="4645152" y="2084832"/>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쉼터</a:t>
            </a:r>
            <a:endParaRPr lang="en-US" sz="1200" dirty="0"/>
          </a:p>
        </p:txBody>
      </p:sp>
      <p:sp>
        <p:nvSpPr>
          <p:cNvPr id="17" name="Text 15"/>
          <p:cNvSpPr/>
          <p:nvPr/>
        </p:nvSpPr>
        <p:spPr>
          <a:xfrm>
            <a:off x="7159752" y="2048256"/>
            <a:ext cx="502920" cy="457200"/>
          </a:xfrm>
          <a:prstGeom prst="rect">
            <a:avLst/>
          </a:prstGeom>
          <a:noFill/>
          <a:ln/>
        </p:spPr>
        <p:txBody>
          <a:bodyPr wrap="square" lIns="0" tIns="0" rIns="0" bIns="0" rtlCol="0" anchor="ctr"/>
          <a:lstStyle/>
          <a:p>
            <a:pPr algn="r" indent="0" marL="0">
              <a:buNone/>
            </a:pPr>
            <a:r>
              <a:rPr lang="en-US" sz="2600" b="1" dirty="0">
                <a:solidFill>
                  <a:srgbClr val="E7EBF8"/>
                </a:solidFill>
                <a:latin typeface="맑은 고딕" pitchFamily="34" charset="0"/>
                <a:ea typeface="맑은 고딕" pitchFamily="34" charset="-122"/>
                <a:cs typeface="맑은 고딕" pitchFamily="34" charset="-120"/>
              </a:rPr>
              <a:t>2</a:t>
            </a:r>
            <a:endParaRPr lang="en-US" sz="2600" dirty="0"/>
          </a:p>
        </p:txBody>
      </p:sp>
      <p:sp>
        <p:nvSpPr>
          <p:cNvPr id="18" name="Text 16"/>
          <p:cNvSpPr/>
          <p:nvPr/>
        </p:nvSpPr>
        <p:spPr>
          <a:xfrm>
            <a:off x="4645152" y="2615184"/>
            <a:ext cx="3017520" cy="548640"/>
          </a:xfrm>
          <a:prstGeom prst="rect">
            <a:avLst/>
          </a:prstGeom>
          <a:noFill/>
          <a:ln/>
        </p:spPr>
        <p:txBody>
          <a:bodyPr wrap="square" lIns="0" tIns="0" rIns="0" bIns="0" rtlCol="0" anchor="t"/>
          <a:lstStyle/>
          <a:p>
            <a:pPr indent="0" marL="0">
              <a:buNone/>
            </a:pPr>
            <a:r>
              <a:rPr lang="en-US" sz="1600" b="1" dirty="0">
                <a:solidFill>
                  <a:srgbClr val="141B33"/>
                </a:solidFill>
                <a:latin typeface="맑은 고딕" pitchFamily="34" charset="0"/>
                <a:ea typeface="맑은 고딕" pitchFamily="34" charset="-122"/>
                <a:cs typeface="맑은 고딕" pitchFamily="34" charset="-120"/>
              </a:rPr>
              <a:t>가까운 무더위쉼터</a:t>
            </a:r>
            <a:endParaRPr lang="en-US" sz="1600" dirty="0"/>
          </a:p>
        </p:txBody>
      </p:sp>
      <p:sp>
        <p:nvSpPr>
          <p:cNvPr id="19" name="Text 17"/>
          <p:cNvSpPr/>
          <p:nvPr/>
        </p:nvSpPr>
        <p:spPr>
          <a:xfrm>
            <a:off x="4645152" y="3246120"/>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춘천의 무더위쉼터 226곳을 지도에 초록 핀으로</a:t>
            </a:r>
            <a:endParaRPr lang="en-US" sz="1050" dirty="0"/>
          </a:p>
        </p:txBody>
      </p:sp>
      <p:sp>
        <p:nvSpPr>
          <p:cNvPr id="20" name="Text 18"/>
          <p:cNvSpPr/>
          <p:nvPr/>
        </p:nvSpPr>
        <p:spPr>
          <a:xfrm>
            <a:off x="4645152" y="3849624"/>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지금 문을 열었는지 운영요일·시간으로 판정합니다</a:t>
            </a:r>
            <a:endParaRPr lang="en-US" sz="1050" dirty="0"/>
          </a:p>
        </p:txBody>
      </p:sp>
      <p:sp>
        <p:nvSpPr>
          <p:cNvPr id="21" name="Text 19"/>
          <p:cNvSpPr/>
          <p:nvPr/>
        </p:nvSpPr>
        <p:spPr>
          <a:xfrm>
            <a:off x="4645152" y="4453128"/>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정류장 상세에서도 최근접 쉼터를 거리로 안내</a:t>
            </a:r>
            <a:endParaRPr lang="en-US" sz="1050" dirty="0"/>
          </a:p>
        </p:txBody>
      </p:sp>
      <p:sp>
        <p:nvSpPr>
          <p:cNvPr id="22" name="Text 20"/>
          <p:cNvSpPr/>
          <p:nvPr/>
        </p:nvSpPr>
        <p:spPr>
          <a:xfrm>
            <a:off x="4645152" y="5056632"/>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이미 있는 쉼터를, 비로소 버스 이용자가 씁니다</a:t>
            </a:r>
            <a:endParaRPr lang="en-US" sz="1050" dirty="0"/>
          </a:p>
        </p:txBody>
      </p:sp>
      <p:sp>
        <p:nvSpPr>
          <p:cNvPr id="23" name="Shape 21"/>
          <p:cNvSpPr/>
          <p:nvPr/>
        </p:nvSpPr>
        <p:spPr>
          <a:xfrm>
            <a:off x="8174736" y="1828800"/>
            <a:ext cx="3566160" cy="388620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24" name="Shape 22"/>
          <p:cNvSpPr/>
          <p:nvPr/>
        </p:nvSpPr>
        <p:spPr>
          <a:xfrm>
            <a:off x="8449056" y="2084832"/>
            <a:ext cx="1051560" cy="384048"/>
          </a:xfrm>
          <a:prstGeom prst="roundRect">
            <a:avLst>
              <a:gd name="adj" fmla="val 23810"/>
            </a:avLst>
          </a:prstGeom>
          <a:solidFill>
            <a:srgbClr val="E8751A"/>
          </a:solidFill>
          <a:ln w="12700">
            <a:solidFill>
              <a:srgbClr val="E8751A"/>
            </a:solidFill>
            <a:prstDash val="solid"/>
          </a:ln>
        </p:spPr>
      </p:sp>
      <p:sp>
        <p:nvSpPr>
          <p:cNvPr id="25" name="Text 23"/>
          <p:cNvSpPr/>
          <p:nvPr/>
        </p:nvSpPr>
        <p:spPr>
          <a:xfrm>
            <a:off x="8449056" y="2084832"/>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민원</a:t>
            </a:r>
            <a:endParaRPr lang="en-US" sz="1200" dirty="0"/>
          </a:p>
        </p:txBody>
      </p:sp>
      <p:sp>
        <p:nvSpPr>
          <p:cNvPr id="26" name="Text 24"/>
          <p:cNvSpPr/>
          <p:nvPr/>
        </p:nvSpPr>
        <p:spPr>
          <a:xfrm>
            <a:off x="10963656" y="2048256"/>
            <a:ext cx="502920" cy="457200"/>
          </a:xfrm>
          <a:prstGeom prst="rect">
            <a:avLst/>
          </a:prstGeom>
          <a:noFill/>
          <a:ln/>
        </p:spPr>
        <p:txBody>
          <a:bodyPr wrap="square" lIns="0" tIns="0" rIns="0" bIns="0" rtlCol="0" anchor="ctr"/>
          <a:lstStyle/>
          <a:p>
            <a:pPr algn="r" indent="0" marL="0">
              <a:buNone/>
            </a:pPr>
            <a:r>
              <a:rPr lang="en-US" sz="2600" b="1" dirty="0">
                <a:solidFill>
                  <a:srgbClr val="E7EBF8"/>
                </a:solidFill>
                <a:latin typeface="맑은 고딕" pitchFamily="34" charset="0"/>
                <a:ea typeface="맑은 고딕" pitchFamily="34" charset="-122"/>
                <a:cs typeface="맑은 고딕" pitchFamily="34" charset="-120"/>
              </a:rPr>
              <a:t>3</a:t>
            </a:r>
            <a:endParaRPr lang="en-US" sz="2600" dirty="0"/>
          </a:p>
        </p:txBody>
      </p:sp>
      <p:sp>
        <p:nvSpPr>
          <p:cNvPr id="27" name="Text 25"/>
          <p:cNvSpPr/>
          <p:nvPr/>
        </p:nvSpPr>
        <p:spPr>
          <a:xfrm>
            <a:off x="8449056" y="2615184"/>
            <a:ext cx="3017520" cy="548640"/>
          </a:xfrm>
          <a:prstGeom prst="rect">
            <a:avLst/>
          </a:prstGeom>
          <a:noFill/>
          <a:ln/>
        </p:spPr>
        <p:txBody>
          <a:bodyPr wrap="square" lIns="0" tIns="0" rIns="0" bIns="0" rtlCol="0" anchor="t"/>
          <a:lstStyle/>
          <a:p>
            <a:pPr indent="0" marL="0">
              <a:buNone/>
            </a:pPr>
            <a:r>
              <a:rPr lang="en-US" sz="1600" b="1" dirty="0">
                <a:solidFill>
                  <a:srgbClr val="141B33"/>
                </a:solidFill>
                <a:latin typeface="맑은 고딕" pitchFamily="34" charset="0"/>
                <a:ea typeface="맑은 고딕" pitchFamily="34" charset="-122"/>
                <a:cs typeface="맑은 고딕" pitchFamily="34" charset="-120"/>
              </a:rPr>
              <a:t>사진 한 장만 찍어주시면 됩니다</a:t>
            </a:r>
            <a:endParaRPr lang="en-US" sz="1600" dirty="0"/>
          </a:p>
        </p:txBody>
      </p:sp>
      <p:sp>
        <p:nvSpPr>
          <p:cNvPr id="28" name="Text 26"/>
          <p:cNvSpPr/>
          <p:nvPr/>
        </p:nvSpPr>
        <p:spPr>
          <a:xfrm>
            <a:off x="8449056" y="3246120"/>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버튼 하나 · 글자 입력 0타</a:t>
            </a:r>
            <a:endParaRPr lang="en-US" sz="1050" dirty="0"/>
          </a:p>
        </p:txBody>
      </p:sp>
      <p:sp>
        <p:nvSpPr>
          <p:cNvPr id="29" name="Text 27"/>
          <p:cNvSpPr/>
          <p:nvPr/>
        </p:nvSpPr>
        <p:spPr>
          <a:xfrm>
            <a:off x="8449056" y="3849624"/>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촬영 위치로 정류장을 자동 매칭합니다</a:t>
            </a:r>
            <a:endParaRPr lang="en-US" sz="1050" dirty="0"/>
          </a:p>
        </p:txBody>
      </p:sp>
      <p:sp>
        <p:nvSpPr>
          <p:cNvPr id="30" name="Text 28"/>
          <p:cNvSpPr/>
          <p:nvPr/>
        </p:nvSpPr>
        <p:spPr>
          <a:xfrm>
            <a:off x="8449056" y="4453128"/>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AI가 사진을 읽어 시설 유무·민원 종류를 판독</a:t>
            </a:r>
            <a:endParaRPr lang="en-US" sz="1050" dirty="0"/>
          </a:p>
        </p:txBody>
      </p:sp>
      <p:sp>
        <p:nvSpPr>
          <p:cNvPr id="31" name="Text 29"/>
          <p:cNvSpPr/>
          <p:nvPr/>
        </p:nvSpPr>
        <p:spPr>
          <a:xfrm>
            <a:off x="8449056" y="5056632"/>
            <a:ext cx="3017520" cy="566928"/>
          </a:xfrm>
          <a:prstGeom prst="rect">
            <a:avLst/>
          </a:prstGeom>
          <a:noFill/>
          <a:ln/>
        </p:spPr>
        <p:txBody>
          <a:bodyPr wrap="square" lIns="0" tIns="0" rIns="0" bIns="0" rtlCol="0" anchor="t"/>
          <a:lstStyle/>
          <a:p>
            <a:pPr indent="0" marL="0">
              <a:lnSpc>
                <a:spcPct val="125000"/>
              </a:lnSpc>
              <a:buNone/>
            </a:pPr>
            <a:r>
              <a:rPr lang="en-US" sz="105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050" dirty="0">
                <a:solidFill>
                  <a:srgbClr val="3A4160"/>
                </a:solidFill>
                <a:latin typeface="맑은 고딕" pitchFamily="34" charset="0"/>
                <a:ea typeface="맑은 고딕" pitchFamily="34" charset="-122"/>
                <a:cs typeface="맑은 고딕" pitchFamily="34" charset="-120"/>
              </a:rPr>
              <a:t>그 결과가 다음 사람의 안내 정보가 됩니다</a:t>
            </a:r>
            <a:endParaRPr lang="en-US" sz="1050" dirty="0"/>
          </a:p>
        </p:txBody>
      </p:sp>
      <p:sp>
        <p:nvSpPr>
          <p:cNvPr id="32" name="Text 30"/>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3" name="Text 31"/>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02</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활용한 데이터와 처리 구조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춘천 공공데이터 9종을 정류장 단위로 결합했습니다</a:t>
            </a:r>
            <a:endParaRPr lang="en-US" sz="2700" dirty="0"/>
          </a:p>
        </p:txBody>
      </p:sp>
      <p:sp>
        <p:nvSpPr>
          <p:cNvPr id="4" name="Shape 2"/>
          <p:cNvSpPr/>
          <p:nvPr/>
        </p:nvSpPr>
        <p:spPr>
          <a:xfrm>
            <a:off x="566928" y="1691640"/>
            <a:ext cx="5715000" cy="3977640"/>
          </a:xfrm>
          <a:prstGeom prst="roundRect">
            <a:avLst>
              <a:gd name="adj" fmla="val 3218"/>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5" name="Text 3"/>
          <p:cNvSpPr/>
          <p:nvPr/>
        </p:nvSpPr>
        <p:spPr>
          <a:xfrm>
            <a:off x="804672" y="1847088"/>
            <a:ext cx="4892040" cy="274320"/>
          </a:xfrm>
          <a:prstGeom prst="rect">
            <a:avLst/>
          </a:prstGeom>
          <a:noFill/>
          <a:ln/>
        </p:spPr>
        <p:txBody>
          <a:bodyPr wrap="square" lIns="0" tIns="0" rIns="0" bIns="0" rtlCol="0" anchor="ctr"/>
          <a:lstStyle/>
          <a:p>
            <a:pPr indent="0" marL="0">
              <a:buNone/>
            </a:pPr>
            <a:r>
              <a:rPr lang="en-US" sz="1200" b="1" dirty="0">
                <a:solidFill>
                  <a:srgbClr val="001871"/>
                </a:solidFill>
                <a:latin typeface="맑은 고딕" pitchFamily="34" charset="0"/>
                <a:ea typeface="맑은 고딕" pitchFamily="34" charset="-122"/>
                <a:cs typeface="맑은 고딕" pitchFamily="34" charset="-120"/>
              </a:rPr>
              <a:t>춘천시 · 국토부 공공데이터</a:t>
            </a:r>
            <a:endParaRPr lang="en-US" sz="1200" dirty="0"/>
          </a:p>
        </p:txBody>
      </p:sp>
      <p:sp>
        <p:nvSpPr>
          <p:cNvPr id="6" name="Text 4"/>
          <p:cNvSpPr/>
          <p:nvPr/>
        </p:nvSpPr>
        <p:spPr>
          <a:xfrm>
            <a:off x="5504688" y="1847088"/>
            <a:ext cx="548640" cy="274320"/>
          </a:xfrm>
          <a:prstGeom prst="rect">
            <a:avLst/>
          </a:prstGeom>
          <a:noFill/>
          <a:ln/>
        </p:spPr>
        <p:txBody>
          <a:bodyPr wrap="square" lIns="0" tIns="0" rIns="0" bIns="0" rtlCol="0" anchor="ctr"/>
          <a:lstStyle/>
          <a:p>
            <a:pPr algn="r" indent="0" marL="0">
              <a:buNone/>
            </a:pPr>
            <a:r>
              <a:rPr lang="en-US" sz="1050" b="1" dirty="0">
                <a:solidFill>
                  <a:srgbClr val="6E7796"/>
                </a:solidFill>
                <a:latin typeface="맑은 고딕" pitchFamily="34" charset="0"/>
                <a:ea typeface="맑은 고딕" pitchFamily="34" charset="-122"/>
                <a:cs typeface="맑은 고딕" pitchFamily="34" charset="-120"/>
              </a:rPr>
              <a:t>9종</a:t>
            </a:r>
            <a:endParaRPr lang="en-US" sz="1050" dirty="0"/>
          </a:p>
        </p:txBody>
      </p:sp>
      <p:sp>
        <p:nvSpPr>
          <p:cNvPr id="7" name="Text 5"/>
          <p:cNvSpPr/>
          <p:nvPr/>
        </p:nvSpPr>
        <p:spPr>
          <a:xfrm>
            <a:off x="804672" y="224942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무더위쉼터  ★</a:t>
            </a:r>
            <a:endParaRPr lang="en-US" sz="1050" dirty="0"/>
          </a:p>
        </p:txBody>
      </p:sp>
      <p:sp>
        <p:nvSpPr>
          <p:cNvPr id="8" name="Text 6"/>
          <p:cNvSpPr/>
          <p:nvPr/>
        </p:nvSpPr>
        <p:spPr>
          <a:xfrm>
            <a:off x="3172968" y="224942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228개소 (운영 226) · 좌표 100%</a:t>
            </a:r>
            <a:endParaRPr lang="en-US" sz="950" dirty="0"/>
          </a:p>
        </p:txBody>
      </p:sp>
      <p:sp>
        <p:nvSpPr>
          <p:cNvPr id="9" name="Text 7"/>
          <p:cNvSpPr/>
          <p:nvPr/>
        </p:nvSpPr>
        <p:spPr>
          <a:xfrm>
            <a:off x="804672" y="261518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폭염저감시설</a:t>
            </a:r>
            <a:endParaRPr lang="en-US" sz="1050" dirty="0"/>
          </a:p>
        </p:txBody>
      </p:sp>
      <p:sp>
        <p:nvSpPr>
          <p:cNvPr id="10" name="Text 8"/>
          <p:cNvSpPr/>
          <p:nvPr/>
        </p:nvSpPr>
        <p:spPr>
          <a:xfrm>
            <a:off x="3172968" y="261518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319개소 · 그늘막 281 + 스마트 25 + 쿨링포그 13</a:t>
            </a:r>
            <a:endParaRPr lang="en-US" sz="950" dirty="0"/>
          </a:p>
        </p:txBody>
      </p:sp>
      <p:sp>
        <p:nvSpPr>
          <p:cNvPr id="11" name="Text 9"/>
          <p:cNvSpPr/>
          <p:nvPr/>
        </p:nvSpPr>
        <p:spPr>
          <a:xfrm>
            <a:off x="804672" y="298094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버스정류장 위치정보</a:t>
            </a:r>
            <a:endParaRPr lang="en-US" sz="1050" dirty="0"/>
          </a:p>
        </p:txBody>
      </p:sp>
      <p:sp>
        <p:nvSpPr>
          <p:cNvPr id="12" name="Text 10"/>
          <p:cNvSpPr/>
          <p:nvPr/>
        </p:nvSpPr>
        <p:spPr>
          <a:xfrm>
            <a:off x="3172968" y="298094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1,890개 · 좌표/정류장번호/관리번호</a:t>
            </a:r>
            <a:endParaRPr lang="en-US" sz="950" dirty="0"/>
          </a:p>
        </p:txBody>
      </p:sp>
      <p:sp>
        <p:nvSpPr>
          <p:cNvPr id="13" name="Text 11"/>
          <p:cNvSpPr/>
          <p:nvPr/>
        </p:nvSpPr>
        <p:spPr>
          <a:xfrm>
            <a:off x="804672" y="334670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버스정류장 노선정보</a:t>
            </a:r>
            <a:endParaRPr lang="en-US" sz="1050" dirty="0"/>
          </a:p>
        </p:txBody>
      </p:sp>
      <p:sp>
        <p:nvSpPr>
          <p:cNvPr id="14" name="Text 12"/>
          <p:cNvSpPr/>
          <p:nvPr/>
        </p:nvSpPr>
        <p:spPr>
          <a:xfrm>
            <a:off x="3172968" y="334670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223개 노선 · 정류장-노선 16,168행</a:t>
            </a:r>
            <a:endParaRPr lang="en-US" sz="950" dirty="0"/>
          </a:p>
        </p:txBody>
      </p:sp>
      <p:sp>
        <p:nvSpPr>
          <p:cNvPr id="15" name="Text 13"/>
          <p:cNvSpPr/>
          <p:nvPr/>
        </p:nvSpPr>
        <p:spPr>
          <a:xfrm>
            <a:off x="804672" y="371246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벤치 현황</a:t>
            </a:r>
            <a:endParaRPr lang="en-US" sz="1050" dirty="0"/>
          </a:p>
        </p:txBody>
      </p:sp>
      <p:sp>
        <p:nvSpPr>
          <p:cNvPr id="16" name="Text 14"/>
          <p:cNvSpPr/>
          <p:nvPr/>
        </p:nvSpPr>
        <p:spPr>
          <a:xfrm>
            <a:off x="3172968" y="371246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681건 → 의자 있음 819개 정류장</a:t>
            </a:r>
            <a:endParaRPr lang="en-US" sz="950" dirty="0"/>
          </a:p>
        </p:txBody>
      </p:sp>
      <p:sp>
        <p:nvSpPr>
          <p:cNvPr id="17" name="Text 15"/>
          <p:cNvSpPr/>
          <p:nvPr/>
        </p:nvSpPr>
        <p:spPr>
          <a:xfrm>
            <a:off x="804672" y="407822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버스정보안내단말기(BIT)</a:t>
            </a:r>
            <a:endParaRPr lang="en-US" sz="1050" dirty="0"/>
          </a:p>
        </p:txBody>
      </p:sp>
      <p:sp>
        <p:nvSpPr>
          <p:cNvPr id="18" name="Text 16"/>
          <p:cNvSpPr/>
          <p:nvPr/>
        </p:nvSpPr>
        <p:spPr>
          <a:xfrm>
            <a:off x="3172968" y="407822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345건 → 안내기 있음 307개 정류장</a:t>
            </a:r>
            <a:endParaRPr lang="en-US" sz="950" dirty="0"/>
          </a:p>
        </p:txBody>
      </p:sp>
      <p:sp>
        <p:nvSpPr>
          <p:cNvPr id="19" name="Text 17"/>
          <p:cNvSpPr/>
          <p:nvPr/>
        </p:nvSpPr>
        <p:spPr>
          <a:xfrm>
            <a:off x="804672" y="444398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가로등정보</a:t>
            </a:r>
            <a:endParaRPr lang="en-US" sz="1050" dirty="0"/>
          </a:p>
        </p:txBody>
      </p:sp>
      <p:sp>
        <p:nvSpPr>
          <p:cNvPr id="20" name="Text 18"/>
          <p:cNvSpPr/>
          <p:nvPr/>
        </p:nvSpPr>
        <p:spPr>
          <a:xfrm>
            <a:off x="3172968" y="444398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13,713건 → 30m 이내 조명 778개 정류장</a:t>
            </a:r>
            <a:endParaRPr lang="en-US" sz="950" dirty="0"/>
          </a:p>
        </p:txBody>
      </p:sp>
      <p:sp>
        <p:nvSpPr>
          <p:cNvPr id="21" name="Text 19"/>
          <p:cNvSpPr/>
          <p:nvPr/>
        </p:nvSpPr>
        <p:spPr>
          <a:xfrm>
            <a:off x="804672" y="480974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시간대별 승하차 인원</a:t>
            </a:r>
            <a:endParaRPr lang="en-US" sz="1050" dirty="0"/>
          </a:p>
        </p:txBody>
      </p:sp>
      <p:sp>
        <p:nvSpPr>
          <p:cNvPr id="22" name="Text 20"/>
          <p:cNvSpPr/>
          <p:nvPr/>
        </p:nvSpPr>
        <p:spPr>
          <a:xfrm>
            <a:off x="3172968" y="480974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1,595개 정류장에 24시간 이용량</a:t>
            </a:r>
            <a:endParaRPr lang="en-US" sz="950" dirty="0"/>
          </a:p>
        </p:txBody>
      </p:sp>
      <p:sp>
        <p:nvSpPr>
          <p:cNvPr id="23" name="Text 21"/>
          <p:cNvSpPr/>
          <p:nvPr/>
        </p:nvSpPr>
        <p:spPr>
          <a:xfrm>
            <a:off x="804672" y="5175504"/>
            <a:ext cx="2331720" cy="310896"/>
          </a:xfrm>
          <a:prstGeom prst="rect">
            <a:avLst/>
          </a:prstGeom>
          <a:noFill/>
          <a:ln/>
        </p:spPr>
        <p:txBody>
          <a:bodyPr wrap="square" lIns="0" tIns="0" rIns="0" bIns="0" rtlCol="0" anchor="ctr"/>
          <a:lstStyle/>
          <a:p>
            <a:pPr indent="0" marL="0">
              <a:buNone/>
            </a:pPr>
            <a:r>
              <a:rPr lang="en-US" sz="1050" b="1" dirty="0">
                <a:solidFill>
                  <a:srgbClr val="141B33"/>
                </a:solidFill>
                <a:latin typeface="맑은 고딕" pitchFamily="34" charset="0"/>
                <a:ea typeface="맑은 고딕" pitchFamily="34" charset="-122"/>
                <a:cs typeface="맑은 고딕" pitchFamily="34" charset="-120"/>
              </a:rPr>
              <a:t>국토교통부 정류장 현황</a:t>
            </a:r>
            <a:endParaRPr lang="en-US" sz="1050" dirty="0"/>
          </a:p>
        </p:txBody>
      </p:sp>
      <p:sp>
        <p:nvSpPr>
          <p:cNvPr id="24" name="Text 22"/>
          <p:cNvSpPr/>
          <p:nvPr/>
        </p:nvSpPr>
        <p:spPr>
          <a:xfrm>
            <a:off x="3172968" y="5175504"/>
            <a:ext cx="2880360" cy="310896"/>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승차ID ↔ 정류장번호 대응</a:t>
            </a:r>
            <a:endParaRPr lang="en-US" sz="950" dirty="0"/>
          </a:p>
        </p:txBody>
      </p:sp>
      <p:sp>
        <p:nvSpPr>
          <p:cNvPr id="25" name="Shape 23"/>
          <p:cNvSpPr/>
          <p:nvPr/>
        </p:nvSpPr>
        <p:spPr>
          <a:xfrm>
            <a:off x="6510528" y="1691640"/>
            <a:ext cx="2441448" cy="3977640"/>
          </a:xfrm>
          <a:prstGeom prst="roundRect">
            <a:avLst>
              <a:gd name="adj" fmla="val 5243"/>
            </a:avLst>
          </a:prstGeom>
          <a:solidFill>
            <a:srgbClr val="F4F6FC"/>
          </a:solidFill>
          <a:ln w="12700">
            <a:solidFill>
              <a:srgbClr val="D4DAEE"/>
            </a:solidFill>
            <a:prstDash val="solid"/>
          </a:ln>
        </p:spPr>
      </p:sp>
      <p:sp>
        <p:nvSpPr>
          <p:cNvPr id="26" name="Text 24"/>
          <p:cNvSpPr/>
          <p:nvPr/>
        </p:nvSpPr>
        <p:spPr>
          <a:xfrm>
            <a:off x="6748272" y="1847088"/>
            <a:ext cx="1618488" cy="274320"/>
          </a:xfrm>
          <a:prstGeom prst="rect">
            <a:avLst/>
          </a:prstGeom>
          <a:noFill/>
          <a:ln/>
        </p:spPr>
        <p:txBody>
          <a:bodyPr wrap="square" lIns="0" tIns="0" rIns="0" bIns="0" rtlCol="0" anchor="ctr"/>
          <a:lstStyle/>
          <a:p>
            <a:pPr indent="0" marL="0">
              <a:buNone/>
            </a:pPr>
            <a:r>
              <a:rPr lang="en-US" sz="1200" b="1" dirty="0">
                <a:solidFill>
                  <a:srgbClr val="2B44A8"/>
                </a:solidFill>
                <a:latin typeface="맑은 고딕" pitchFamily="34" charset="0"/>
                <a:ea typeface="맑은 고딕" pitchFamily="34" charset="-122"/>
                <a:cs typeface="맑은 고딕" pitchFamily="34" charset="-120"/>
              </a:rPr>
              <a:t>외부 API</a:t>
            </a:r>
            <a:endParaRPr lang="en-US" sz="1200" dirty="0"/>
          </a:p>
        </p:txBody>
      </p:sp>
      <p:sp>
        <p:nvSpPr>
          <p:cNvPr id="27" name="Text 25"/>
          <p:cNvSpPr/>
          <p:nvPr/>
        </p:nvSpPr>
        <p:spPr>
          <a:xfrm>
            <a:off x="8174736" y="1847088"/>
            <a:ext cx="548640" cy="274320"/>
          </a:xfrm>
          <a:prstGeom prst="rect">
            <a:avLst/>
          </a:prstGeom>
          <a:noFill/>
          <a:ln/>
        </p:spPr>
        <p:txBody>
          <a:bodyPr wrap="square" lIns="0" tIns="0" rIns="0" bIns="0" rtlCol="0" anchor="ctr"/>
          <a:lstStyle/>
          <a:p>
            <a:pPr algn="r" indent="0" marL="0">
              <a:buNone/>
            </a:pPr>
            <a:r>
              <a:rPr lang="en-US" sz="1050" b="1" dirty="0">
                <a:solidFill>
                  <a:srgbClr val="6E7796"/>
                </a:solidFill>
                <a:latin typeface="맑은 고딕" pitchFamily="34" charset="0"/>
                <a:ea typeface="맑은 고딕" pitchFamily="34" charset="-122"/>
                <a:cs typeface="맑은 고딕" pitchFamily="34" charset="-120"/>
              </a:rPr>
              <a:t>4종</a:t>
            </a:r>
            <a:endParaRPr lang="en-US" sz="1050" dirty="0"/>
          </a:p>
        </p:txBody>
      </p:sp>
      <p:sp>
        <p:nvSpPr>
          <p:cNvPr id="28" name="Text 26"/>
          <p:cNvSpPr/>
          <p:nvPr/>
        </p:nvSpPr>
        <p:spPr>
          <a:xfrm>
            <a:off x="6748272" y="2249424"/>
            <a:ext cx="1984248"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TAGO 버스도착정보</a:t>
            </a:r>
            <a:endParaRPr lang="en-US" sz="1000" dirty="0"/>
          </a:p>
        </p:txBody>
      </p:sp>
      <p:sp>
        <p:nvSpPr>
          <p:cNvPr id="29" name="Text 27"/>
          <p:cNvSpPr/>
          <p:nvPr/>
        </p:nvSpPr>
        <p:spPr>
          <a:xfrm>
            <a:off x="6748272" y="2478024"/>
            <a:ext cx="1984248"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실시간 도착 예정 (서버 프록시)</a:t>
            </a:r>
            <a:endParaRPr lang="en-US" sz="900" dirty="0"/>
          </a:p>
        </p:txBody>
      </p:sp>
      <p:sp>
        <p:nvSpPr>
          <p:cNvPr id="30" name="Text 28"/>
          <p:cNvSpPr/>
          <p:nvPr/>
        </p:nvSpPr>
        <p:spPr>
          <a:xfrm>
            <a:off x="6748272" y="3054096"/>
            <a:ext cx="1984248"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TAGO 버스정류소정보</a:t>
            </a:r>
            <a:endParaRPr lang="en-US" sz="1000" dirty="0"/>
          </a:p>
        </p:txBody>
      </p:sp>
      <p:sp>
        <p:nvSpPr>
          <p:cNvPr id="31" name="Text 29"/>
          <p:cNvSpPr/>
          <p:nvPr/>
        </p:nvSpPr>
        <p:spPr>
          <a:xfrm>
            <a:off x="6748272" y="3282696"/>
            <a:ext cx="1984248"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nodeId 대응 1,845곳</a:t>
            </a:r>
            <a:endParaRPr lang="en-US" sz="900" dirty="0"/>
          </a:p>
        </p:txBody>
      </p:sp>
      <p:sp>
        <p:nvSpPr>
          <p:cNvPr id="32" name="Text 30"/>
          <p:cNvSpPr/>
          <p:nvPr/>
        </p:nvSpPr>
        <p:spPr>
          <a:xfrm>
            <a:off x="6748272" y="3858768"/>
            <a:ext cx="1984248"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카카오맵 JavaScript SDK</a:t>
            </a:r>
            <a:endParaRPr lang="en-US" sz="1000" dirty="0"/>
          </a:p>
        </p:txBody>
      </p:sp>
      <p:sp>
        <p:nvSpPr>
          <p:cNvPr id="33" name="Text 31"/>
          <p:cNvSpPr/>
          <p:nvPr/>
        </p:nvSpPr>
        <p:spPr>
          <a:xfrm>
            <a:off x="6748272" y="4087368"/>
            <a:ext cx="1984248"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지도·장소검색·역지오코딩</a:t>
            </a:r>
            <a:endParaRPr lang="en-US" sz="900" dirty="0"/>
          </a:p>
        </p:txBody>
      </p:sp>
      <p:sp>
        <p:nvSpPr>
          <p:cNvPr id="34" name="Text 32"/>
          <p:cNvSpPr/>
          <p:nvPr/>
        </p:nvSpPr>
        <p:spPr>
          <a:xfrm>
            <a:off x="6748272" y="4663440"/>
            <a:ext cx="1984248"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카카오맵 로드뷰</a:t>
            </a:r>
            <a:endParaRPr lang="en-US" sz="1000" dirty="0"/>
          </a:p>
        </p:txBody>
      </p:sp>
      <p:sp>
        <p:nvSpPr>
          <p:cNvPr id="35" name="Text 33"/>
          <p:cNvSpPr/>
          <p:nvPr/>
        </p:nvSpPr>
        <p:spPr>
          <a:xfrm>
            <a:off x="6748272" y="4892040"/>
            <a:ext cx="1984248"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시설 육안 조사 시 참조</a:t>
            </a:r>
            <a:endParaRPr lang="en-US" sz="900" dirty="0"/>
          </a:p>
        </p:txBody>
      </p:sp>
      <p:sp>
        <p:nvSpPr>
          <p:cNvPr id="36" name="Shape 34"/>
          <p:cNvSpPr/>
          <p:nvPr/>
        </p:nvSpPr>
        <p:spPr>
          <a:xfrm>
            <a:off x="9180576" y="1691640"/>
            <a:ext cx="2444191" cy="3977640"/>
          </a:xfrm>
          <a:prstGeom prst="roundRect">
            <a:avLst>
              <a:gd name="adj" fmla="val 5238"/>
            </a:avLst>
          </a:prstGeom>
          <a:solidFill>
            <a:srgbClr val="F4F6FC"/>
          </a:solidFill>
          <a:ln w="12700">
            <a:solidFill>
              <a:srgbClr val="D4DAEE"/>
            </a:solidFill>
            <a:prstDash val="solid"/>
          </a:ln>
        </p:spPr>
      </p:sp>
      <p:sp>
        <p:nvSpPr>
          <p:cNvPr id="37" name="Text 35"/>
          <p:cNvSpPr/>
          <p:nvPr/>
        </p:nvSpPr>
        <p:spPr>
          <a:xfrm>
            <a:off x="9418320" y="1847088"/>
            <a:ext cx="1621231" cy="274320"/>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자체 구축 데이터</a:t>
            </a:r>
            <a:endParaRPr lang="en-US" sz="1200" dirty="0"/>
          </a:p>
        </p:txBody>
      </p:sp>
      <p:sp>
        <p:nvSpPr>
          <p:cNvPr id="38" name="Text 36"/>
          <p:cNvSpPr/>
          <p:nvPr/>
        </p:nvSpPr>
        <p:spPr>
          <a:xfrm>
            <a:off x="10847527" y="1847088"/>
            <a:ext cx="548640" cy="274320"/>
          </a:xfrm>
          <a:prstGeom prst="rect">
            <a:avLst/>
          </a:prstGeom>
          <a:noFill/>
          <a:ln/>
        </p:spPr>
        <p:txBody>
          <a:bodyPr wrap="square" lIns="0" tIns="0" rIns="0" bIns="0" rtlCol="0" anchor="ctr"/>
          <a:lstStyle/>
          <a:p>
            <a:pPr algn="r" indent="0" marL="0">
              <a:buNone/>
            </a:pPr>
            <a:r>
              <a:rPr lang="en-US" sz="1050" b="1" dirty="0">
                <a:solidFill>
                  <a:srgbClr val="6E7796"/>
                </a:solidFill>
                <a:latin typeface="맑은 고딕" pitchFamily="34" charset="0"/>
                <a:ea typeface="맑은 고딕" pitchFamily="34" charset="-122"/>
                <a:cs typeface="맑은 고딕" pitchFamily="34" charset="-120"/>
              </a:rPr>
              <a:t>3종</a:t>
            </a:r>
            <a:endParaRPr lang="en-US" sz="1050" dirty="0"/>
          </a:p>
        </p:txBody>
      </p:sp>
      <p:sp>
        <p:nvSpPr>
          <p:cNvPr id="39" name="Text 37"/>
          <p:cNvSpPr/>
          <p:nvPr/>
        </p:nvSpPr>
        <p:spPr>
          <a:xfrm>
            <a:off x="9418320" y="2249424"/>
            <a:ext cx="1986991"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정류장 시설 현황 조사</a:t>
            </a:r>
            <a:endParaRPr lang="en-US" sz="1000" dirty="0"/>
          </a:p>
        </p:txBody>
      </p:sp>
      <p:sp>
        <p:nvSpPr>
          <p:cNvPr id="40" name="Text 38"/>
          <p:cNvSpPr/>
          <p:nvPr/>
        </p:nvSpPr>
        <p:spPr>
          <a:xfrm>
            <a:off x="9418320" y="2478024"/>
            <a:ext cx="1986991"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161개 정류장 · 로드뷰 육안 판독</a:t>
            </a:r>
            <a:endParaRPr lang="en-US" sz="900" dirty="0"/>
          </a:p>
        </p:txBody>
      </p:sp>
      <p:sp>
        <p:nvSpPr>
          <p:cNvPr id="41" name="Text 39"/>
          <p:cNvSpPr/>
          <p:nvPr/>
        </p:nvSpPr>
        <p:spPr>
          <a:xfrm>
            <a:off x="9418320" y="3300984"/>
            <a:ext cx="1986991"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정류장 ID 대응 테이블</a:t>
            </a:r>
            <a:endParaRPr lang="en-US" sz="1000" dirty="0"/>
          </a:p>
        </p:txBody>
      </p:sp>
      <p:sp>
        <p:nvSpPr>
          <p:cNvPr id="42" name="Text 40"/>
          <p:cNvSpPr/>
          <p:nvPr/>
        </p:nvSpPr>
        <p:spPr>
          <a:xfrm>
            <a:off x="9418320" y="3529584"/>
            <a:ext cx="1986991"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4개 ID 체계 연결</a:t>
            </a:r>
            <a:endParaRPr lang="en-US" sz="900" dirty="0"/>
          </a:p>
        </p:txBody>
      </p:sp>
      <p:sp>
        <p:nvSpPr>
          <p:cNvPr id="43" name="Text 41"/>
          <p:cNvSpPr/>
          <p:nvPr/>
        </p:nvSpPr>
        <p:spPr>
          <a:xfrm>
            <a:off x="9418320" y="4352544"/>
            <a:ext cx="1986991" cy="237744"/>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시민 사진 제보 + AI 판독</a:t>
            </a:r>
            <a:endParaRPr lang="en-US" sz="1000" dirty="0"/>
          </a:p>
        </p:txBody>
      </p:sp>
      <p:sp>
        <p:nvSpPr>
          <p:cNvPr id="44" name="Text 42"/>
          <p:cNvSpPr/>
          <p:nvPr/>
        </p:nvSpPr>
        <p:spPr>
          <a:xfrm>
            <a:off x="9418320" y="4581144"/>
            <a:ext cx="1986991" cy="274320"/>
          </a:xfrm>
          <a:prstGeom prst="rect">
            <a:avLst/>
          </a:prstGeom>
          <a:noFill/>
          <a:ln/>
        </p:spPr>
        <p:txBody>
          <a:bodyPr wrap="square" lIns="0" tIns="0" rIns="0" bIns="0" rtlCol="0" anchor="t"/>
          <a:lstStyle/>
          <a:p>
            <a:pPr indent="0" marL="0">
              <a:buNone/>
            </a:pPr>
            <a:r>
              <a:rPr lang="en-US" sz="900" dirty="0">
                <a:solidFill>
                  <a:srgbClr val="6E7796"/>
                </a:solidFill>
                <a:latin typeface="맑은 고딕" pitchFamily="34" charset="0"/>
                <a:ea typeface="맑은 고딕" pitchFamily="34" charset="-122"/>
                <a:cs typeface="맑은 고딕" pitchFamily="34" charset="-120"/>
              </a:rPr>
              <a:t>런타임 생성 · 미확인 보완</a:t>
            </a:r>
            <a:endParaRPr lang="en-US" sz="900" dirty="0"/>
          </a:p>
        </p:txBody>
      </p:sp>
      <p:sp>
        <p:nvSpPr>
          <p:cNvPr id="45" name="Shape 43"/>
          <p:cNvSpPr/>
          <p:nvPr/>
        </p:nvSpPr>
        <p:spPr>
          <a:xfrm>
            <a:off x="566928" y="5760720"/>
            <a:ext cx="11057839" cy="457200"/>
          </a:xfrm>
          <a:prstGeom prst="roundRect">
            <a:avLst>
              <a:gd name="adj" fmla="val 28000"/>
            </a:avLst>
          </a:prstGeom>
          <a:solidFill>
            <a:srgbClr val="E7EBF8"/>
          </a:solidFill>
          <a:ln w="12700">
            <a:solidFill>
              <a:srgbClr val="E7EBF8"/>
            </a:solidFill>
            <a:prstDash val="solid"/>
          </a:ln>
        </p:spPr>
      </p:sp>
      <p:sp>
        <p:nvSpPr>
          <p:cNvPr id="46" name="Text 44"/>
          <p:cNvSpPr/>
          <p:nvPr/>
        </p:nvSpPr>
        <p:spPr>
          <a:xfrm>
            <a:off x="841248" y="5760720"/>
            <a:ext cx="10509199" cy="457200"/>
          </a:xfrm>
          <a:prstGeom prst="rect">
            <a:avLst/>
          </a:prstGeom>
          <a:noFill/>
          <a:ln/>
        </p:spPr>
        <p:txBody>
          <a:bodyPr wrap="square" lIns="0" tIns="0" rIns="0" bIns="0" rtlCol="0" anchor="ctr"/>
          <a:lstStyle/>
          <a:p>
            <a:pPr indent="0" marL="0">
              <a:buNone/>
            </a:pPr>
            <a:r>
              <a:rPr lang="en-US" sz="950" b="1" dirty="0">
                <a:solidFill>
                  <a:srgbClr val="001871"/>
                </a:solidFill>
                <a:latin typeface="맑은 고딕" pitchFamily="34" charset="0"/>
                <a:ea typeface="맑은 고딕" pitchFamily="34" charset="-122"/>
                <a:cs typeface="맑은 고딕" pitchFamily="34" charset="-120"/>
              </a:rPr>
              <a:t>① 무더위쉼터 좌표 100% — 정류장 1,890개 전부에 최근접 쉼터 거리 계산      ② 그늘 유무는 어느 공개 데이터에도 없어 로드뷰로 161개소 직접 판독</a:t>
            </a:r>
            <a:endParaRPr lang="en-US" sz="950" dirty="0"/>
          </a:p>
        </p:txBody>
      </p:sp>
      <p:sp>
        <p:nvSpPr>
          <p:cNvPr id="47" name="Text 4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48" name="Text 4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02</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활용한 데이터와 처리 구조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흩어진 데이터를 '정류장 단위'로 붙였습니다</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쉼터는 안전 부서, 벤치는 교통 부서, 가로등은 도로 부서 — 연결 키가 전부 다릅니다</a:t>
            </a:r>
            <a:endParaRPr lang="en-US" sz="1300" dirty="0"/>
          </a:p>
        </p:txBody>
      </p:sp>
      <p:sp>
        <p:nvSpPr>
          <p:cNvPr id="5" name="Shape 3"/>
          <p:cNvSpPr/>
          <p:nvPr/>
        </p:nvSpPr>
        <p:spPr>
          <a:xfrm>
            <a:off x="566928" y="1965960"/>
            <a:ext cx="3063240" cy="3246120"/>
          </a:xfrm>
          <a:prstGeom prst="roundRect">
            <a:avLst>
              <a:gd name="adj" fmla="val 4179"/>
            </a:avLst>
          </a:prstGeom>
          <a:solidFill>
            <a:srgbClr val="F4F6FC"/>
          </a:solidFill>
          <a:ln w="12700">
            <a:solidFill>
              <a:srgbClr val="D4DAEE"/>
            </a:solidFill>
            <a:prstDash val="solid"/>
          </a:ln>
        </p:spPr>
      </p:sp>
      <p:sp>
        <p:nvSpPr>
          <p:cNvPr id="6" name="Text 4"/>
          <p:cNvSpPr/>
          <p:nvPr/>
        </p:nvSpPr>
        <p:spPr>
          <a:xfrm>
            <a:off x="822960" y="2121408"/>
            <a:ext cx="2560320" cy="274320"/>
          </a:xfrm>
          <a:prstGeom prst="rect">
            <a:avLst/>
          </a:prstGeom>
          <a:noFill/>
          <a:ln/>
        </p:spPr>
        <p:txBody>
          <a:bodyPr wrap="square" lIns="0" tIns="0" rIns="0" bIns="0" rtlCol="0" anchor="ctr"/>
          <a:lstStyle/>
          <a:p>
            <a:pPr indent="0" marL="0">
              <a:buNone/>
            </a:pPr>
            <a:r>
              <a:rPr lang="en-US" sz="1150" b="1" dirty="0">
                <a:solidFill>
                  <a:srgbClr val="6E7796"/>
                </a:solidFill>
                <a:latin typeface="맑은 고딕" pitchFamily="34" charset="0"/>
                <a:ea typeface="맑은 고딕" pitchFamily="34" charset="-122"/>
                <a:cs typeface="맑은 고딕" pitchFamily="34" charset="-120"/>
              </a:rPr>
              <a:t>분산된 원천 데이터</a:t>
            </a:r>
            <a:endParaRPr lang="en-US" sz="1150" dirty="0"/>
          </a:p>
        </p:txBody>
      </p:sp>
      <p:sp>
        <p:nvSpPr>
          <p:cNvPr id="7" name="Shape 5"/>
          <p:cNvSpPr/>
          <p:nvPr/>
        </p:nvSpPr>
        <p:spPr>
          <a:xfrm>
            <a:off x="804672" y="2487168"/>
            <a:ext cx="2606040" cy="347472"/>
          </a:xfrm>
          <a:prstGeom prst="roundRect">
            <a:avLst>
              <a:gd name="adj" fmla="val 21053"/>
            </a:avLst>
          </a:prstGeom>
          <a:solidFill>
            <a:srgbClr val="FFFFFF"/>
          </a:solidFill>
          <a:ln w="12700">
            <a:solidFill>
              <a:srgbClr val="D4DAEE"/>
            </a:solidFill>
            <a:prstDash val="solid"/>
          </a:ln>
        </p:spPr>
      </p:sp>
      <p:sp>
        <p:nvSpPr>
          <p:cNvPr id="8" name="Text 6"/>
          <p:cNvSpPr/>
          <p:nvPr/>
        </p:nvSpPr>
        <p:spPr>
          <a:xfrm>
            <a:off x="950976" y="2487168"/>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무더위쉼터</a:t>
            </a:r>
            <a:endParaRPr lang="en-US" sz="1000" dirty="0"/>
          </a:p>
        </p:txBody>
      </p:sp>
      <p:sp>
        <p:nvSpPr>
          <p:cNvPr id="9" name="Text 7"/>
          <p:cNvSpPr/>
          <p:nvPr/>
        </p:nvSpPr>
        <p:spPr>
          <a:xfrm>
            <a:off x="2395728" y="2487168"/>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228개소</a:t>
            </a:r>
            <a:endParaRPr lang="en-US" sz="950" dirty="0"/>
          </a:p>
        </p:txBody>
      </p:sp>
      <p:sp>
        <p:nvSpPr>
          <p:cNvPr id="10" name="Shape 8"/>
          <p:cNvSpPr/>
          <p:nvPr/>
        </p:nvSpPr>
        <p:spPr>
          <a:xfrm>
            <a:off x="804672" y="2916936"/>
            <a:ext cx="2606040" cy="347472"/>
          </a:xfrm>
          <a:prstGeom prst="roundRect">
            <a:avLst>
              <a:gd name="adj" fmla="val 21053"/>
            </a:avLst>
          </a:prstGeom>
          <a:solidFill>
            <a:srgbClr val="FFFFFF"/>
          </a:solidFill>
          <a:ln w="12700">
            <a:solidFill>
              <a:srgbClr val="D4DAEE"/>
            </a:solidFill>
            <a:prstDash val="solid"/>
          </a:ln>
        </p:spPr>
      </p:sp>
      <p:sp>
        <p:nvSpPr>
          <p:cNvPr id="11" name="Text 9"/>
          <p:cNvSpPr/>
          <p:nvPr/>
        </p:nvSpPr>
        <p:spPr>
          <a:xfrm>
            <a:off x="950976" y="2916936"/>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폭염저감시설</a:t>
            </a:r>
            <a:endParaRPr lang="en-US" sz="1000" dirty="0"/>
          </a:p>
        </p:txBody>
      </p:sp>
      <p:sp>
        <p:nvSpPr>
          <p:cNvPr id="12" name="Text 10"/>
          <p:cNvSpPr/>
          <p:nvPr/>
        </p:nvSpPr>
        <p:spPr>
          <a:xfrm>
            <a:off x="2395728" y="2916936"/>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319개소</a:t>
            </a:r>
            <a:endParaRPr lang="en-US" sz="950" dirty="0"/>
          </a:p>
        </p:txBody>
      </p:sp>
      <p:sp>
        <p:nvSpPr>
          <p:cNvPr id="13" name="Shape 11"/>
          <p:cNvSpPr/>
          <p:nvPr/>
        </p:nvSpPr>
        <p:spPr>
          <a:xfrm>
            <a:off x="804672" y="3346704"/>
            <a:ext cx="2606040" cy="347472"/>
          </a:xfrm>
          <a:prstGeom prst="roundRect">
            <a:avLst>
              <a:gd name="adj" fmla="val 21053"/>
            </a:avLst>
          </a:prstGeom>
          <a:solidFill>
            <a:srgbClr val="FFFFFF"/>
          </a:solidFill>
          <a:ln w="12700">
            <a:solidFill>
              <a:srgbClr val="D4DAEE"/>
            </a:solidFill>
            <a:prstDash val="solid"/>
          </a:ln>
        </p:spPr>
      </p:sp>
      <p:sp>
        <p:nvSpPr>
          <p:cNvPr id="14" name="Text 12"/>
          <p:cNvSpPr/>
          <p:nvPr/>
        </p:nvSpPr>
        <p:spPr>
          <a:xfrm>
            <a:off x="950976" y="3346704"/>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벤치 현황</a:t>
            </a:r>
            <a:endParaRPr lang="en-US" sz="1000" dirty="0"/>
          </a:p>
        </p:txBody>
      </p:sp>
      <p:sp>
        <p:nvSpPr>
          <p:cNvPr id="15" name="Text 13"/>
          <p:cNvSpPr/>
          <p:nvPr/>
        </p:nvSpPr>
        <p:spPr>
          <a:xfrm>
            <a:off x="2395728" y="3346704"/>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681건</a:t>
            </a:r>
            <a:endParaRPr lang="en-US" sz="950" dirty="0"/>
          </a:p>
        </p:txBody>
      </p:sp>
      <p:sp>
        <p:nvSpPr>
          <p:cNvPr id="16" name="Shape 14"/>
          <p:cNvSpPr/>
          <p:nvPr/>
        </p:nvSpPr>
        <p:spPr>
          <a:xfrm>
            <a:off x="804672" y="3776472"/>
            <a:ext cx="2606040" cy="347472"/>
          </a:xfrm>
          <a:prstGeom prst="roundRect">
            <a:avLst>
              <a:gd name="adj" fmla="val 21053"/>
            </a:avLst>
          </a:prstGeom>
          <a:solidFill>
            <a:srgbClr val="FFFFFF"/>
          </a:solidFill>
          <a:ln w="12700">
            <a:solidFill>
              <a:srgbClr val="D4DAEE"/>
            </a:solidFill>
            <a:prstDash val="solid"/>
          </a:ln>
        </p:spPr>
      </p:sp>
      <p:sp>
        <p:nvSpPr>
          <p:cNvPr id="17" name="Text 15"/>
          <p:cNvSpPr/>
          <p:nvPr/>
        </p:nvSpPr>
        <p:spPr>
          <a:xfrm>
            <a:off x="950976" y="3776472"/>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BIT 현황</a:t>
            </a:r>
            <a:endParaRPr lang="en-US" sz="1000" dirty="0"/>
          </a:p>
        </p:txBody>
      </p:sp>
      <p:sp>
        <p:nvSpPr>
          <p:cNvPr id="18" name="Text 16"/>
          <p:cNvSpPr/>
          <p:nvPr/>
        </p:nvSpPr>
        <p:spPr>
          <a:xfrm>
            <a:off x="2395728" y="3776472"/>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345건</a:t>
            </a:r>
            <a:endParaRPr lang="en-US" sz="950" dirty="0"/>
          </a:p>
        </p:txBody>
      </p:sp>
      <p:sp>
        <p:nvSpPr>
          <p:cNvPr id="19" name="Shape 17"/>
          <p:cNvSpPr/>
          <p:nvPr/>
        </p:nvSpPr>
        <p:spPr>
          <a:xfrm>
            <a:off x="804672" y="4206240"/>
            <a:ext cx="2606040" cy="347472"/>
          </a:xfrm>
          <a:prstGeom prst="roundRect">
            <a:avLst>
              <a:gd name="adj" fmla="val 21053"/>
            </a:avLst>
          </a:prstGeom>
          <a:solidFill>
            <a:srgbClr val="FFFFFF"/>
          </a:solidFill>
          <a:ln w="12700">
            <a:solidFill>
              <a:srgbClr val="D4DAEE"/>
            </a:solidFill>
            <a:prstDash val="solid"/>
          </a:ln>
        </p:spPr>
      </p:sp>
      <p:sp>
        <p:nvSpPr>
          <p:cNvPr id="20" name="Text 18"/>
          <p:cNvSpPr/>
          <p:nvPr/>
        </p:nvSpPr>
        <p:spPr>
          <a:xfrm>
            <a:off x="950976" y="4206240"/>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가로등정보</a:t>
            </a:r>
            <a:endParaRPr lang="en-US" sz="1000" dirty="0"/>
          </a:p>
        </p:txBody>
      </p:sp>
      <p:sp>
        <p:nvSpPr>
          <p:cNvPr id="21" name="Text 19"/>
          <p:cNvSpPr/>
          <p:nvPr/>
        </p:nvSpPr>
        <p:spPr>
          <a:xfrm>
            <a:off x="2395728" y="4206240"/>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13,713건</a:t>
            </a:r>
            <a:endParaRPr lang="en-US" sz="950" dirty="0"/>
          </a:p>
        </p:txBody>
      </p:sp>
      <p:sp>
        <p:nvSpPr>
          <p:cNvPr id="22" name="Shape 20"/>
          <p:cNvSpPr/>
          <p:nvPr/>
        </p:nvSpPr>
        <p:spPr>
          <a:xfrm>
            <a:off x="804672" y="4636008"/>
            <a:ext cx="2606040" cy="347472"/>
          </a:xfrm>
          <a:prstGeom prst="roundRect">
            <a:avLst>
              <a:gd name="adj" fmla="val 21053"/>
            </a:avLst>
          </a:prstGeom>
          <a:solidFill>
            <a:srgbClr val="FFFFFF"/>
          </a:solidFill>
          <a:ln w="12700">
            <a:solidFill>
              <a:srgbClr val="D4DAEE"/>
            </a:solidFill>
            <a:prstDash val="solid"/>
          </a:ln>
        </p:spPr>
      </p:sp>
      <p:sp>
        <p:nvSpPr>
          <p:cNvPr id="23" name="Text 21"/>
          <p:cNvSpPr/>
          <p:nvPr/>
        </p:nvSpPr>
        <p:spPr>
          <a:xfrm>
            <a:off x="950976" y="4636008"/>
            <a:ext cx="1463040" cy="347472"/>
          </a:xfrm>
          <a:prstGeom prst="rect">
            <a:avLst/>
          </a:prstGeom>
          <a:noFill/>
          <a:ln/>
        </p:spPr>
        <p:txBody>
          <a:bodyPr wrap="square" lIns="0" tIns="0" rIns="0" bIns="0" rtlCol="0" anchor="ctr"/>
          <a:lstStyle/>
          <a:p>
            <a:pPr indent="0" marL="0">
              <a:buNone/>
            </a:pPr>
            <a:r>
              <a:rPr lang="en-US" sz="1000" b="1" dirty="0">
                <a:solidFill>
                  <a:srgbClr val="141B33"/>
                </a:solidFill>
                <a:latin typeface="맑은 고딕" pitchFamily="34" charset="0"/>
                <a:ea typeface="맑은 고딕" pitchFamily="34" charset="-122"/>
                <a:cs typeface="맑은 고딕" pitchFamily="34" charset="-120"/>
              </a:rPr>
              <a:t>노선정보</a:t>
            </a:r>
            <a:endParaRPr lang="en-US" sz="1000" dirty="0"/>
          </a:p>
        </p:txBody>
      </p:sp>
      <p:sp>
        <p:nvSpPr>
          <p:cNvPr id="24" name="Text 22"/>
          <p:cNvSpPr/>
          <p:nvPr/>
        </p:nvSpPr>
        <p:spPr>
          <a:xfrm>
            <a:off x="2395728" y="4636008"/>
            <a:ext cx="868680" cy="347472"/>
          </a:xfrm>
          <a:prstGeom prst="rect">
            <a:avLst/>
          </a:prstGeom>
          <a:noFill/>
          <a:ln/>
        </p:spPr>
        <p:txBody>
          <a:bodyPr wrap="square" lIns="0" tIns="0" rIns="0" bIns="0" rtlCol="0" anchor="ctr"/>
          <a:lstStyle/>
          <a:p>
            <a:pPr algn="r" indent="0" marL="0">
              <a:buNone/>
            </a:pPr>
            <a:r>
              <a:rPr lang="en-US" sz="950" dirty="0">
                <a:solidFill>
                  <a:srgbClr val="6E7796"/>
                </a:solidFill>
                <a:latin typeface="맑은 고딕" pitchFamily="34" charset="0"/>
                <a:ea typeface="맑은 고딕" pitchFamily="34" charset="-122"/>
                <a:cs typeface="맑은 고딕" pitchFamily="34" charset="-120"/>
              </a:rPr>
              <a:t>16,168행</a:t>
            </a:r>
            <a:endParaRPr lang="en-US" sz="950" dirty="0"/>
          </a:p>
        </p:txBody>
      </p:sp>
      <p:sp>
        <p:nvSpPr>
          <p:cNvPr id="25" name="Shape 23"/>
          <p:cNvSpPr/>
          <p:nvPr/>
        </p:nvSpPr>
        <p:spPr>
          <a:xfrm>
            <a:off x="3813048" y="1965960"/>
            <a:ext cx="3246120" cy="3246120"/>
          </a:xfrm>
          <a:prstGeom prst="roundRect">
            <a:avLst>
              <a:gd name="adj" fmla="val 3944"/>
            </a:avLst>
          </a:prstGeom>
          <a:solidFill>
            <a:srgbClr val="001871"/>
          </a:solidFill>
          <a:ln w="12700">
            <a:solidFill>
              <a:srgbClr val="001871"/>
            </a:solidFill>
            <a:prstDash val="solid"/>
          </a:ln>
        </p:spPr>
      </p:sp>
      <p:sp>
        <p:nvSpPr>
          <p:cNvPr id="26" name="Text 24"/>
          <p:cNvSpPr/>
          <p:nvPr/>
        </p:nvSpPr>
        <p:spPr>
          <a:xfrm>
            <a:off x="4069080" y="2121408"/>
            <a:ext cx="2743200" cy="274320"/>
          </a:xfrm>
          <a:prstGeom prst="rect">
            <a:avLst/>
          </a:prstGeom>
          <a:noFill/>
          <a:ln/>
        </p:spPr>
        <p:txBody>
          <a:bodyPr wrap="square" lIns="0" tIns="0" rIns="0" bIns="0" rtlCol="0" anchor="ctr"/>
          <a:lstStyle/>
          <a:p>
            <a:pPr indent="0" marL="0">
              <a:buNone/>
            </a:pPr>
            <a:r>
              <a:rPr lang="en-US" sz="1150" b="1" dirty="0">
                <a:solidFill>
                  <a:srgbClr val="A6B3E6"/>
                </a:solidFill>
                <a:latin typeface="맑은 고딕" pitchFamily="34" charset="0"/>
                <a:ea typeface="맑은 고딕" pitchFamily="34" charset="-122"/>
                <a:cs typeface="맑은 고딕" pitchFamily="34" charset="-120"/>
              </a:rPr>
              <a:t>4단계 매칭</a:t>
            </a:r>
            <a:endParaRPr lang="en-US" sz="1150" dirty="0"/>
          </a:p>
        </p:txBody>
      </p:sp>
      <p:sp>
        <p:nvSpPr>
          <p:cNvPr id="27" name="Text 25"/>
          <p:cNvSpPr/>
          <p:nvPr/>
        </p:nvSpPr>
        <p:spPr>
          <a:xfrm>
            <a:off x="4069080" y="2542032"/>
            <a:ext cx="2743200" cy="512064"/>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맑은 고딕" pitchFamily="34" charset="0"/>
                <a:ea typeface="맑은 고딕" pitchFamily="34" charset="-122"/>
                <a:cs typeface="맑은 고딕" pitchFamily="34" charset="-120"/>
              </a:rPr>
              <a:t>① 정류장번호 직접 매칭</a:t>
            </a:r>
            <a:endParaRPr lang="en-US" sz="1100" dirty="0"/>
          </a:p>
        </p:txBody>
      </p:sp>
      <p:sp>
        <p:nvSpPr>
          <p:cNvPr id="28" name="Text 26"/>
          <p:cNvSpPr/>
          <p:nvPr/>
        </p:nvSpPr>
        <p:spPr>
          <a:xfrm>
            <a:off x="4069080" y="3108960"/>
            <a:ext cx="2743200" cy="512064"/>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맑은 고딕" pitchFamily="34" charset="0"/>
                <a:ea typeface="맑은 고딕" pitchFamily="34" charset="-122"/>
                <a:cs typeface="맑은 고딕" pitchFamily="34" charset="-120"/>
              </a:rPr>
              <a:t>② 관리번호 매칭</a:t>
            </a:r>
            <a:endParaRPr lang="en-US" sz="1100" dirty="0"/>
          </a:p>
        </p:txBody>
      </p:sp>
      <p:sp>
        <p:nvSpPr>
          <p:cNvPr id="29" name="Text 27"/>
          <p:cNvSpPr/>
          <p:nvPr/>
        </p:nvSpPr>
        <p:spPr>
          <a:xfrm>
            <a:off x="4069080" y="3675888"/>
            <a:ext cx="2743200" cy="512064"/>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맑은 고딕" pitchFamily="34" charset="0"/>
                <a:ea typeface="맑은 고딕" pitchFamily="34" charset="-122"/>
                <a:cs typeface="맑은 고딕" pitchFamily="34" charset="-120"/>
              </a:rPr>
              <a:t>③ 좌표 반경·거리 매칭</a:t>
            </a:r>
            <a:endParaRPr lang="en-US" sz="1100" dirty="0"/>
          </a:p>
          <a:p>
            <a:pPr indent="0" marL="0">
              <a:lnSpc>
                <a:spcPct val="115000"/>
              </a:lnSpc>
              <a:buNone/>
            </a:pPr>
            <a:r>
              <a:rPr lang="en-US" sz="1100" dirty="0">
                <a:solidFill>
                  <a:srgbClr val="FFFFFF"/>
                </a:solidFill>
                <a:latin typeface="맑은 고딕" pitchFamily="34" charset="0"/>
                <a:ea typeface="맑은 고딕" pitchFamily="34" charset="-122"/>
                <a:cs typeface="맑은 고딕" pitchFamily="34" charset="-120"/>
              </a:rPr>
              <a:t>     (쉼터 · 그늘막 · 가로등)</a:t>
            </a:r>
            <a:endParaRPr lang="en-US" sz="1100" dirty="0"/>
          </a:p>
        </p:txBody>
      </p:sp>
      <p:sp>
        <p:nvSpPr>
          <p:cNvPr id="30" name="Text 28"/>
          <p:cNvSpPr/>
          <p:nvPr/>
        </p:nvSpPr>
        <p:spPr>
          <a:xfrm>
            <a:off x="4069080" y="4242816"/>
            <a:ext cx="2743200" cy="512064"/>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맑은 고딕" pitchFamily="34" charset="0"/>
                <a:ea typeface="맑은 고딕" pitchFamily="34" charset="-122"/>
                <a:cs typeface="맑은 고딕" pitchFamily="34" charset="-120"/>
              </a:rPr>
              <a:t>④ 정류장명 + 법정동 매칭</a:t>
            </a:r>
            <a:endParaRPr lang="en-US" sz="1100" dirty="0"/>
          </a:p>
        </p:txBody>
      </p:sp>
      <p:sp>
        <p:nvSpPr>
          <p:cNvPr id="31" name="Shape 29"/>
          <p:cNvSpPr/>
          <p:nvPr/>
        </p:nvSpPr>
        <p:spPr>
          <a:xfrm>
            <a:off x="4041648" y="4828032"/>
            <a:ext cx="2788920" cy="292608"/>
          </a:xfrm>
          <a:prstGeom prst="roundRect">
            <a:avLst>
              <a:gd name="adj" fmla="val 25000"/>
            </a:avLst>
          </a:prstGeom>
          <a:solidFill>
            <a:srgbClr val="16205C"/>
          </a:solidFill>
          <a:ln w="12700">
            <a:solidFill>
              <a:srgbClr val="2B44A8"/>
            </a:solidFill>
            <a:prstDash val="solid"/>
          </a:ln>
        </p:spPr>
      </p:sp>
      <p:sp>
        <p:nvSpPr>
          <p:cNvPr id="32" name="Text 30"/>
          <p:cNvSpPr/>
          <p:nvPr/>
        </p:nvSpPr>
        <p:spPr>
          <a:xfrm>
            <a:off x="4041648" y="4828032"/>
            <a:ext cx="2788920" cy="292608"/>
          </a:xfrm>
          <a:prstGeom prst="rect">
            <a:avLst/>
          </a:prstGeom>
          <a:noFill/>
          <a:ln/>
        </p:spPr>
        <p:txBody>
          <a:bodyPr wrap="square" lIns="0" tIns="0" rIns="0" bIns="0" rtlCol="0" anchor="ctr"/>
          <a:lstStyle/>
          <a:p>
            <a:pPr algn="ctr" indent="0" marL="0">
              <a:buNone/>
            </a:pPr>
            <a:r>
              <a:rPr lang="en-US" sz="1000" b="1" dirty="0">
                <a:solidFill>
                  <a:srgbClr val="E8751A"/>
                </a:solidFill>
                <a:latin typeface="맑은 고딕" pitchFamily="34" charset="0"/>
                <a:ea typeface="맑은 고딕" pitchFamily="34" charset="-122"/>
                <a:cs typeface="맑은 고딕" pitchFamily="34" charset="-120"/>
              </a:rPr>
              <a:t>→ ID 대응 테이블 구축</a:t>
            </a:r>
            <a:endParaRPr lang="en-US" sz="1000" dirty="0"/>
          </a:p>
        </p:txBody>
      </p:sp>
      <p:sp>
        <p:nvSpPr>
          <p:cNvPr id="33" name="Shape 31"/>
          <p:cNvSpPr/>
          <p:nvPr/>
        </p:nvSpPr>
        <p:spPr>
          <a:xfrm>
            <a:off x="7059168" y="1965960"/>
            <a:ext cx="4565599" cy="3246120"/>
          </a:xfrm>
          <a:prstGeom prst="roundRect">
            <a:avLst>
              <a:gd name="adj" fmla="val 3944"/>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34" name="Text 32"/>
          <p:cNvSpPr/>
          <p:nvPr/>
        </p:nvSpPr>
        <p:spPr>
          <a:xfrm>
            <a:off x="7315200" y="2121408"/>
            <a:ext cx="4023360" cy="274320"/>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정류장 1,890개 위의 산출물</a:t>
            </a:r>
            <a:endParaRPr lang="en-US" sz="1150" dirty="0"/>
          </a:p>
        </p:txBody>
      </p:sp>
      <p:sp>
        <p:nvSpPr>
          <p:cNvPr id="35" name="Text 33"/>
          <p:cNvSpPr/>
          <p:nvPr/>
        </p:nvSpPr>
        <p:spPr>
          <a:xfrm>
            <a:off x="7315200" y="2514600"/>
            <a:ext cx="4114800" cy="237744"/>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근처 무더위쉼터  ★</a:t>
            </a:r>
            <a:endParaRPr lang="en-US" sz="1150" dirty="0"/>
          </a:p>
        </p:txBody>
      </p:sp>
      <p:sp>
        <p:nvSpPr>
          <p:cNvPr id="36" name="Text 34"/>
          <p:cNvSpPr/>
          <p:nvPr/>
        </p:nvSpPr>
        <p:spPr>
          <a:xfrm>
            <a:off x="7315200" y="2743200"/>
            <a:ext cx="41148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최근접 쉼터 거리 · 도보 시간</a:t>
            </a:r>
            <a:endParaRPr lang="en-US" sz="950" dirty="0"/>
          </a:p>
        </p:txBody>
      </p:sp>
      <p:sp>
        <p:nvSpPr>
          <p:cNvPr id="37" name="Text 35"/>
          <p:cNvSpPr/>
          <p:nvPr/>
        </p:nvSpPr>
        <p:spPr>
          <a:xfrm>
            <a:off x="7315200" y="3044952"/>
            <a:ext cx="4114800" cy="237744"/>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폭염 취약 판정</a:t>
            </a:r>
            <a:endParaRPr lang="en-US" sz="1150" dirty="0"/>
          </a:p>
        </p:txBody>
      </p:sp>
      <p:sp>
        <p:nvSpPr>
          <p:cNvPr id="38" name="Text 36"/>
          <p:cNvSpPr/>
          <p:nvPr/>
        </p:nvSpPr>
        <p:spPr>
          <a:xfrm>
            <a:off x="7315200" y="3273552"/>
            <a:ext cx="41148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그늘 없음·미확인 AND 쉼터 300m 밖 → 1,369곳</a:t>
            </a:r>
            <a:endParaRPr lang="en-US" sz="950" dirty="0"/>
          </a:p>
        </p:txBody>
      </p:sp>
      <p:sp>
        <p:nvSpPr>
          <p:cNvPr id="39" name="Text 37"/>
          <p:cNvSpPr/>
          <p:nvPr/>
        </p:nvSpPr>
        <p:spPr>
          <a:xfrm>
            <a:off x="7315200" y="3575304"/>
            <a:ext cx="4114800" cy="237744"/>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시설 실태 5종</a:t>
            </a:r>
            <a:endParaRPr lang="en-US" sz="1150" dirty="0"/>
          </a:p>
        </p:txBody>
      </p:sp>
      <p:sp>
        <p:nvSpPr>
          <p:cNvPr id="40" name="Text 38"/>
          <p:cNvSpPr/>
          <p:nvPr/>
        </p:nvSpPr>
        <p:spPr>
          <a:xfrm>
            <a:off x="7315200" y="3803904"/>
            <a:ext cx="41148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그늘 · 의자 · 쉘터 · 안내기 · 조명</a:t>
            </a:r>
            <a:endParaRPr lang="en-US" sz="950" dirty="0"/>
          </a:p>
        </p:txBody>
      </p:sp>
      <p:sp>
        <p:nvSpPr>
          <p:cNvPr id="41" name="Text 39"/>
          <p:cNvSpPr/>
          <p:nvPr/>
        </p:nvSpPr>
        <p:spPr>
          <a:xfrm>
            <a:off x="7315200" y="4105656"/>
            <a:ext cx="4114800" cy="237744"/>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이용량 축</a:t>
            </a:r>
            <a:endParaRPr lang="en-US" sz="1150" dirty="0"/>
          </a:p>
        </p:txBody>
      </p:sp>
      <p:sp>
        <p:nvSpPr>
          <p:cNvPr id="42" name="Text 40"/>
          <p:cNvSpPr/>
          <p:nvPr/>
        </p:nvSpPr>
        <p:spPr>
          <a:xfrm>
            <a:off x="7315200" y="4334256"/>
            <a:ext cx="41148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정류장별 24시간 이용량 (1,595곳 매칭)</a:t>
            </a:r>
            <a:endParaRPr lang="en-US" sz="950" dirty="0"/>
          </a:p>
        </p:txBody>
      </p:sp>
      <p:sp>
        <p:nvSpPr>
          <p:cNvPr id="43" name="Text 41"/>
          <p:cNvSpPr/>
          <p:nvPr/>
        </p:nvSpPr>
        <p:spPr>
          <a:xfrm>
            <a:off x="7315200" y="4636008"/>
            <a:ext cx="4114800" cy="237744"/>
          </a:xfrm>
          <a:prstGeom prst="rect">
            <a:avLst/>
          </a:prstGeom>
          <a:noFill/>
          <a:ln/>
        </p:spPr>
        <p:txBody>
          <a:bodyPr wrap="square" lIns="0" tIns="0" rIns="0" bIns="0" rtlCol="0" anchor="ctr"/>
          <a:lstStyle/>
          <a:p>
            <a:pPr indent="0" marL="0">
              <a:buNone/>
            </a:pPr>
            <a:r>
              <a:rPr lang="en-US" sz="1150" b="1" dirty="0">
                <a:solidFill>
                  <a:srgbClr val="141B33"/>
                </a:solidFill>
                <a:latin typeface="맑은 고딕" pitchFamily="34" charset="0"/>
                <a:ea typeface="맑은 고딕" pitchFamily="34" charset="-122"/>
                <a:cs typeface="맑은 고딕" pitchFamily="34" charset="-120"/>
              </a:rPr>
              <a:t>실시간 도착</a:t>
            </a:r>
            <a:endParaRPr lang="en-US" sz="1150" dirty="0"/>
          </a:p>
        </p:txBody>
      </p:sp>
      <p:sp>
        <p:nvSpPr>
          <p:cNvPr id="44" name="Text 42"/>
          <p:cNvSpPr/>
          <p:nvPr/>
        </p:nvSpPr>
        <p:spPr>
          <a:xfrm>
            <a:off x="7315200" y="4864608"/>
            <a:ext cx="41148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TAGO nodeId 연결 (1,845곳)</a:t>
            </a:r>
            <a:endParaRPr lang="en-US" sz="950" dirty="0"/>
          </a:p>
        </p:txBody>
      </p:sp>
      <p:sp>
        <p:nvSpPr>
          <p:cNvPr id="45" name="Text 43"/>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 정류장 ID 체계 4종(승차ID ↔ 정류장번호 ↔ 관리번호 ↔ TAGO nodeId)을 하나로 잇는 대응 테이블을 직접 만들었습니다</a:t>
            </a:r>
            <a:endParaRPr lang="en-US" sz="850" dirty="0"/>
          </a:p>
        </p:txBody>
      </p:sp>
      <p:sp>
        <p:nvSpPr>
          <p:cNvPr id="46" name="Text 44"/>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47" name="Text 45"/>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02</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활용한 데이터와 처리 구조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앱은 어떻게 만들어져 있나요</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정보를 두 종류로 나눴습니다 — 미리 넣어둔 것과, 그 순간 물어보는 것</a:t>
            </a:r>
            <a:endParaRPr lang="en-US" sz="1300" dirty="0"/>
          </a:p>
        </p:txBody>
      </p:sp>
      <p:sp>
        <p:nvSpPr>
          <p:cNvPr id="5" name="Shape 3"/>
          <p:cNvSpPr/>
          <p:nvPr/>
        </p:nvSpPr>
        <p:spPr>
          <a:xfrm>
            <a:off x="566928" y="1828800"/>
            <a:ext cx="6720840" cy="1938528"/>
          </a:xfrm>
          <a:prstGeom prst="roundRect">
            <a:avLst>
              <a:gd name="adj" fmla="val 6604"/>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6" name="Text 4"/>
          <p:cNvSpPr/>
          <p:nvPr/>
        </p:nvSpPr>
        <p:spPr>
          <a:xfrm>
            <a:off x="841248" y="1956816"/>
            <a:ext cx="3108960" cy="292608"/>
          </a:xfrm>
          <a:prstGeom prst="rect">
            <a:avLst/>
          </a:prstGeom>
          <a:noFill/>
          <a:ln/>
        </p:spPr>
        <p:txBody>
          <a:bodyPr wrap="square" lIns="0" tIns="0" rIns="0" bIns="0" rtlCol="0" anchor="ctr"/>
          <a:lstStyle/>
          <a:p>
            <a:pPr indent="0" marL="0">
              <a:buNone/>
            </a:pPr>
            <a:r>
              <a:rPr lang="en-US" sz="1300" b="1" dirty="0">
                <a:solidFill>
                  <a:srgbClr val="001871"/>
                </a:solidFill>
                <a:latin typeface="맑은 고딕" pitchFamily="34" charset="0"/>
                <a:ea typeface="맑은 고딕" pitchFamily="34" charset="-122"/>
                <a:cs typeface="맑은 고딕" pitchFamily="34" charset="-120"/>
              </a:rPr>
              <a:t>① 미리 넣어둔 정보</a:t>
            </a:r>
            <a:endParaRPr lang="en-US" sz="1300" dirty="0"/>
          </a:p>
        </p:txBody>
      </p:sp>
      <p:sp>
        <p:nvSpPr>
          <p:cNvPr id="7" name="Text 5"/>
          <p:cNvSpPr/>
          <p:nvPr/>
        </p:nvSpPr>
        <p:spPr>
          <a:xfrm>
            <a:off x="3950208" y="1956816"/>
            <a:ext cx="3017520" cy="292608"/>
          </a:xfrm>
          <a:prstGeom prst="rect">
            <a:avLst/>
          </a:prstGeom>
          <a:noFill/>
          <a:ln/>
        </p:spPr>
        <p:txBody>
          <a:bodyPr wrap="square" lIns="0" tIns="0" rIns="0" bIns="0" rtlCol="0" anchor="ctr"/>
          <a:lstStyle/>
          <a:p>
            <a:pPr algn="r" indent="0" marL="0">
              <a:buNone/>
            </a:pPr>
            <a:r>
              <a:rPr lang="en-US" sz="1050" dirty="0">
                <a:solidFill>
                  <a:srgbClr val="6E7796"/>
                </a:solidFill>
                <a:latin typeface="맑은 고딕" pitchFamily="34" charset="0"/>
                <a:ea typeface="맑은 고딕" pitchFamily="34" charset="-122"/>
                <a:cs typeface="맑은 고딕" pitchFamily="34" charset="-120"/>
              </a:rPr>
              <a:t>잘 바뀌지 않는 것</a:t>
            </a:r>
            <a:endParaRPr lang="en-US" sz="1050" dirty="0"/>
          </a:p>
        </p:txBody>
      </p:sp>
      <p:sp>
        <p:nvSpPr>
          <p:cNvPr id="8" name="Text 6"/>
          <p:cNvSpPr/>
          <p:nvPr/>
        </p:nvSpPr>
        <p:spPr>
          <a:xfrm>
            <a:off x="841248" y="2331720"/>
            <a:ext cx="621792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무더위쉼터 226곳이 어디에 있는지</a:t>
            </a:r>
            <a:endParaRPr lang="en-US" sz="1050" dirty="0"/>
          </a:p>
        </p:txBody>
      </p:sp>
      <p:sp>
        <p:nvSpPr>
          <p:cNvPr id="9" name="Text 7"/>
          <p:cNvSpPr/>
          <p:nvPr/>
        </p:nvSpPr>
        <p:spPr>
          <a:xfrm>
            <a:off x="841248" y="2624328"/>
            <a:ext cx="621792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정류장 1,890개의 위치와 이름, 지나는 버스</a:t>
            </a:r>
            <a:endParaRPr lang="en-US" sz="1050" dirty="0"/>
          </a:p>
        </p:txBody>
      </p:sp>
      <p:sp>
        <p:nvSpPr>
          <p:cNvPr id="10" name="Text 8"/>
          <p:cNvSpPr/>
          <p:nvPr/>
        </p:nvSpPr>
        <p:spPr>
          <a:xfrm>
            <a:off x="841248" y="2916936"/>
            <a:ext cx="621792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정류장 161곳을 직접 조사한 시설 결과</a:t>
            </a:r>
            <a:endParaRPr lang="en-US" sz="1050" dirty="0"/>
          </a:p>
        </p:txBody>
      </p:sp>
      <p:sp>
        <p:nvSpPr>
          <p:cNvPr id="11" name="Shape 9"/>
          <p:cNvSpPr/>
          <p:nvPr/>
        </p:nvSpPr>
        <p:spPr>
          <a:xfrm>
            <a:off x="822960" y="3246120"/>
            <a:ext cx="6263640" cy="384048"/>
          </a:xfrm>
          <a:prstGeom prst="roundRect">
            <a:avLst>
              <a:gd name="adj" fmla="val 19048"/>
            </a:avLst>
          </a:prstGeom>
          <a:solidFill>
            <a:srgbClr val="E7EBF8"/>
          </a:solidFill>
          <a:ln w="12700">
            <a:solidFill>
              <a:srgbClr val="E7EBF8"/>
            </a:solidFill>
            <a:prstDash val="solid"/>
          </a:ln>
        </p:spPr>
      </p:sp>
      <p:sp>
        <p:nvSpPr>
          <p:cNvPr id="12" name="Text 10"/>
          <p:cNvSpPr/>
          <p:nvPr/>
        </p:nvSpPr>
        <p:spPr>
          <a:xfrm>
            <a:off x="822960" y="3246120"/>
            <a:ext cx="6263640" cy="384048"/>
          </a:xfrm>
          <a:prstGeom prst="rect">
            <a:avLst/>
          </a:prstGeom>
          <a:noFill/>
          <a:ln/>
        </p:spPr>
        <p:txBody>
          <a:bodyPr wrap="square" lIns="0" tIns="0" rIns="0" bIns="0" rtlCol="0" anchor="ctr"/>
          <a:lstStyle/>
          <a:p>
            <a:pPr algn="ctr" indent="0" marL="0">
              <a:buNone/>
            </a:pPr>
            <a:r>
              <a:rPr lang="en-US" sz="1000" b="1" dirty="0">
                <a:solidFill>
                  <a:srgbClr val="001871"/>
                </a:solidFill>
                <a:latin typeface="맑은 고딕" pitchFamily="34" charset="0"/>
                <a:ea typeface="맑은 고딕" pitchFamily="34" charset="-122"/>
                <a:cs typeface="맑은 고딕" pitchFamily="34" charset="-120"/>
              </a:rPr>
              <a:t>이 정보들은 앱 안에 이미 들어 있습니다. 그래서 인터넷이 느린 곳에서도 화면이 바로 뜹니다.</a:t>
            </a:r>
            <a:endParaRPr lang="en-US" sz="1000" dirty="0"/>
          </a:p>
        </p:txBody>
      </p:sp>
      <p:sp>
        <p:nvSpPr>
          <p:cNvPr id="13" name="Shape 11"/>
          <p:cNvSpPr/>
          <p:nvPr/>
        </p:nvSpPr>
        <p:spPr>
          <a:xfrm>
            <a:off x="7470648" y="1828800"/>
            <a:ext cx="4154119" cy="1938528"/>
          </a:xfrm>
          <a:prstGeom prst="roundRect">
            <a:avLst>
              <a:gd name="adj" fmla="val 6604"/>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4" name="Text 12"/>
          <p:cNvSpPr/>
          <p:nvPr/>
        </p:nvSpPr>
        <p:spPr>
          <a:xfrm>
            <a:off x="7744968" y="1956816"/>
            <a:ext cx="2743200" cy="292608"/>
          </a:xfrm>
          <a:prstGeom prst="rect">
            <a:avLst/>
          </a:prstGeom>
          <a:noFill/>
          <a:ln/>
        </p:spPr>
        <p:txBody>
          <a:bodyPr wrap="square" lIns="0" tIns="0" rIns="0" bIns="0" rtlCol="0" anchor="ctr"/>
          <a:lstStyle/>
          <a:p>
            <a:pPr indent="0" marL="0">
              <a:buNone/>
            </a:pPr>
            <a:r>
              <a:rPr lang="en-US" sz="1300" b="1" dirty="0">
                <a:solidFill>
                  <a:srgbClr val="2B7A3E"/>
                </a:solidFill>
                <a:latin typeface="맑은 고딕" pitchFamily="34" charset="0"/>
                <a:ea typeface="맑은 고딕" pitchFamily="34" charset="-122"/>
                <a:cs typeface="맑은 고딕" pitchFamily="34" charset="-120"/>
              </a:rPr>
              <a:t>② 그 순간 물어보는 정보</a:t>
            </a:r>
            <a:endParaRPr lang="en-US" sz="1300" dirty="0"/>
          </a:p>
        </p:txBody>
      </p:sp>
      <p:sp>
        <p:nvSpPr>
          <p:cNvPr id="15" name="Text 13"/>
          <p:cNvSpPr/>
          <p:nvPr/>
        </p:nvSpPr>
        <p:spPr>
          <a:xfrm>
            <a:off x="7744968" y="2286000"/>
            <a:ext cx="3657600" cy="256032"/>
          </a:xfrm>
          <a:prstGeom prst="rect">
            <a:avLst/>
          </a:prstGeom>
          <a:noFill/>
          <a:ln/>
        </p:spPr>
        <p:txBody>
          <a:bodyPr wrap="square" lIns="0" tIns="0" rIns="0" bIns="0" rtlCol="0" anchor="ctr"/>
          <a:lstStyle/>
          <a:p>
            <a:pPr indent="0" marL="0">
              <a:buNone/>
            </a:pPr>
            <a:r>
              <a:rPr lang="en-US" sz="1050" dirty="0">
                <a:solidFill>
                  <a:srgbClr val="6E7796"/>
                </a:solidFill>
                <a:latin typeface="맑은 고딕" pitchFamily="34" charset="0"/>
                <a:ea typeface="맑은 고딕" pitchFamily="34" charset="-122"/>
                <a:cs typeface="맑은 고딕" pitchFamily="34" charset="-120"/>
              </a:rPr>
              <a:t>1분 뒤면 달라지는 것</a:t>
            </a:r>
            <a:endParaRPr lang="en-US" sz="1050" dirty="0"/>
          </a:p>
        </p:txBody>
      </p:sp>
      <p:sp>
        <p:nvSpPr>
          <p:cNvPr id="16" name="Text 14"/>
          <p:cNvSpPr/>
          <p:nvPr/>
        </p:nvSpPr>
        <p:spPr>
          <a:xfrm>
            <a:off x="7744968" y="2578608"/>
            <a:ext cx="3657600" cy="310896"/>
          </a:xfrm>
          <a:prstGeom prst="rect">
            <a:avLst/>
          </a:prstGeom>
          <a:noFill/>
          <a:ln/>
        </p:spPr>
        <p:txBody>
          <a:bodyPr wrap="square" lIns="0" tIns="0" rIns="0" bIns="0" rtlCol="0" anchor="ctr"/>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버스가 몇 분 뒤에 오는지</a:t>
            </a:r>
            <a:endParaRPr lang="en-US" sz="1300" dirty="0"/>
          </a:p>
        </p:txBody>
      </p:sp>
      <p:sp>
        <p:nvSpPr>
          <p:cNvPr id="17" name="Text 15"/>
          <p:cNvSpPr/>
          <p:nvPr/>
        </p:nvSpPr>
        <p:spPr>
          <a:xfrm>
            <a:off x="7744968" y="2889504"/>
            <a:ext cx="3657600" cy="713232"/>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어르신 휴대폰이 국토교통부에 직접 묻지 않고, 저희 서버가 대신 물어봅니다. 인증 열쇠가 밖으로 새지 않게 하려고요.</a:t>
            </a:r>
            <a:endParaRPr lang="en-US" sz="1000" dirty="0"/>
          </a:p>
        </p:txBody>
      </p:sp>
      <p:sp>
        <p:nvSpPr>
          <p:cNvPr id="18" name="Shape 16"/>
          <p:cNvSpPr/>
          <p:nvPr/>
        </p:nvSpPr>
        <p:spPr>
          <a:xfrm>
            <a:off x="566928" y="3913632"/>
            <a:ext cx="11057839" cy="1417320"/>
          </a:xfrm>
          <a:prstGeom prst="roundRect">
            <a:avLst>
              <a:gd name="adj" fmla="val 9032"/>
            </a:avLst>
          </a:prstGeom>
          <a:solidFill>
            <a:srgbClr val="F4F6FC"/>
          </a:solidFill>
          <a:ln w="12700">
            <a:solidFill>
              <a:srgbClr val="D4DAEE"/>
            </a:solidFill>
            <a:prstDash val="solid"/>
          </a:ln>
        </p:spPr>
      </p:sp>
      <p:sp>
        <p:nvSpPr>
          <p:cNvPr id="19" name="Text 17"/>
          <p:cNvSpPr/>
          <p:nvPr/>
        </p:nvSpPr>
        <p:spPr>
          <a:xfrm>
            <a:off x="841248" y="4023360"/>
            <a:ext cx="5486400" cy="274320"/>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사진 한 장이 다음 사람의 안내가 되기까지</a:t>
            </a:r>
            <a:endParaRPr lang="en-US" sz="1200" dirty="0"/>
          </a:p>
        </p:txBody>
      </p:sp>
      <p:sp>
        <p:nvSpPr>
          <p:cNvPr id="20" name="Shape 18"/>
          <p:cNvSpPr/>
          <p:nvPr/>
        </p:nvSpPr>
        <p:spPr>
          <a:xfrm>
            <a:off x="841248" y="4334256"/>
            <a:ext cx="1993392" cy="841248"/>
          </a:xfrm>
          <a:prstGeom prst="roundRect">
            <a:avLst>
              <a:gd name="adj" fmla="val 8696"/>
            </a:avLst>
          </a:prstGeom>
          <a:solidFill>
            <a:srgbClr val="FFFFFF"/>
          </a:solidFill>
          <a:ln w="12700">
            <a:solidFill>
              <a:srgbClr val="D4DAEE"/>
            </a:solidFill>
            <a:prstDash val="solid"/>
          </a:ln>
        </p:spPr>
      </p:sp>
      <p:sp>
        <p:nvSpPr>
          <p:cNvPr id="21" name="Text 19"/>
          <p:cNvSpPr/>
          <p:nvPr/>
        </p:nvSpPr>
        <p:spPr>
          <a:xfrm>
            <a:off x="969264" y="4389120"/>
            <a:ext cx="1783080" cy="256032"/>
          </a:xfrm>
          <a:prstGeom prst="rect">
            <a:avLst/>
          </a:prstGeom>
          <a:noFill/>
          <a:ln/>
        </p:spPr>
        <p:txBody>
          <a:bodyPr wrap="square" lIns="0" tIns="0" rIns="0" bIns="0" rtlCol="0" anchor="ctr"/>
          <a:lstStyle/>
          <a:p>
            <a:pPr indent="0" marL="0">
              <a:buNone/>
            </a:pPr>
            <a:r>
              <a:rPr lang="en-US" sz="950" b="1" dirty="0">
                <a:solidFill>
                  <a:srgbClr val="141B33"/>
                </a:solidFill>
                <a:latin typeface="맑은 고딕" pitchFamily="34" charset="0"/>
                <a:ea typeface="맑은 고딕" pitchFamily="34" charset="-122"/>
                <a:cs typeface="맑은 고딕" pitchFamily="34" charset="-120"/>
              </a:rPr>
              <a:t>1  사진을 찍습니다</a:t>
            </a:r>
            <a:endParaRPr lang="en-US" sz="950" dirty="0"/>
          </a:p>
        </p:txBody>
      </p:sp>
      <p:sp>
        <p:nvSpPr>
          <p:cNvPr id="22" name="Text 20"/>
          <p:cNvSpPr/>
          <p:nvPr/>
        </p:nvSpPr>
        <p:spPr>
          <a:xfrm>
            <a:off x="969264" y="4645152"/>
            <a:ext cx="1783080" cy="493776"/>
          </a:xfrm>
          <a:prstGeom prst="rect">
            <a:avLst/>
          </a:prstGeom>
          <a:noFill/>
          <a:ln/>
        </p:spPr>
        <p:txBody>
          <a:bodyPr wrap="square" lIns="0" tIns="0" rIns="0" bIns="0" rtlCol="0" anchor="t"/>
          <a:lstStyle/>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정류장 이름은 묻지 않습니다.</a:t>
            </a:r>
            <a:endParaRPr lang="en-US" sz="850" dirty="0"/>
          </a:p>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찍은 위치로 저희가 찾습니다</a:t>
            </a:r>
            <a:endParaRPr lang="en-US" sz="850" dirty="0"/>
          </a:p>
        </p:txBody>
      </p:sp>
      <p:sp>
        <p:nvSpPr>
          <p:cNvPr id="23" name="Text 21"/>
          <p:cNvSpPr/>
          <p:nvPr/>
        </p:nvSpPr>
        <p:spPr>
          <a:xfrm>
            <a:off x="2852928" y="4334256"/>
            <a:ext cx="201168" cy="841248"/>
          </a:xfrm>
          <a:prstGeom prst="rect">
            <a:avLst/>
          </a:prstGeom>
          <a:noFill/>
          <a:ln/>
        </p:spPr>
        <p:txBody>
          <a:bodyPr wrap="square" lIns="0" tIns="0" rIns="0" bIns="0" rtlCol="0" anchor="ctr"/>
          <a:lstStyle/>
          <a:p>
            <a:pPr algn="ctr" indent="0" marL="0">
              <a:buNone/>
            </a:pPr>
            <a:r>
              <a:rPr lang="en-US" sz="1000" dirty="0">
                <a:solidFill>
                  <a:srgbClr val="A6B3E6"/>
                </a:solidFill>
                <a:latin typeface="맑은 고딕" pitchFamily="34" charset="0"/>
                <a:ea typeface="맑은 고딕" pitchFamily="34" charset="-122"/>
                <a:cs typeface="맑은 고딕" pitchFamily="34" charset="-120"/>
              </a:rPr>
              <a:t>▶</a:t>
            </a:r>
            <a:endParaRPr lang="en-US" sz="1000" dirty="0"/>
          </a:p>
        </p:txBody>
      </p:sp>
      <p:sp>
        <p:nvSpPr>
          <p:cNvPr id="24" name="Shape 22"/>
          <p:cNvSpPr/>
          <p:nvPr/>
        </p:nvSpPr>
        <p:spPr>
          <a:xfrm>
            <a:off x="3054096" y="4334256"/>
            <a:ext cx="1993392" cy="841248"/>
          </a:xfrm>
          <a:prstGeom prst="roundRect">
            <a:avLst>
              <a:gd name="adj" fmla="val 8696"/>
            </a:avLst>
          </a:prstGeom>
          <a:solidFill>
            <a:srgbClr val="FFFFFF"/>
          </a:solidFill>
          <a:ln w="12700">
            <a:solidFill>
              <a:srgbClr val="D4DAEE"/>
            </a:solidFill>
            <a:prstDash val="solid"/>
          </a:ln>
        </p:spPr>
      </p:sp>
      <p:sp>
        <p:nvSpPr>
          <p:cNvPr id="25" name="Text 23"/>
          <p:cNvSpPr/>
          <p:nvPr/>
        </p:nvSpPr>
        <p:spPr>
          <a:xfrm>
            <a:off x="3182112" y="4389120"/>
            <a:ext cx="1783080" cy="256032"/>
          </a:xfrm>
          <a:prstGeom prst="rect">
            <a:avLst/>
          </a:prstGeom>
          <a:noFill/>
          <a:ln/>
        </p:spPr>
        <p:txBody>
          <a:bodyPr wrap="square" lIns="0" tIns="0" rIns="0" bIns="0" rtlCol="0" anchor="ctr"/>
          <a:lstStyle/>
          <a:p>
            <a:pPr indent="0" marL="0">
              <a:buNone/>
            </a:pPr>
            <a:r>
              <a:rPr lang="en-US" sz="950" b="1" dirty="0">
                <a:solidFill>
                  <a:srgbClr val="141B33"/>
                </a:solidFill>
                <a:latin typeface="맑은 고딕" pitchFamily="34" charset="0"/>
                <a:ea typeface="맑은 고딕" pitchFamily="34" charset="-122"/>
                <a:cs typeface="맑은 고딕" pitchFamily="34" charset="-120"/>
              </a:rPr>
              <a:t>2  사진을 보관합니다</a:t>
            </a:r>
            <a:endParaRPr lang="en-US" sz="950" dirty="0"/>
          </a:p>
        </p:txBody>
      </p:sp>
      <p:sp>
        <p:nvSpPr>
          <p:cNvPr id="26" name="Text 24"/>
          <p:cNvSpPr/>
          <p:nvPr/>
        </p:nvSpPr>
        <p:spPr>
          <a:xfrm>
            <a:off x="3182112" y="4645152"/>
            <a:ext cx="1783080" cy="493776"/>
          </a:xfrm>
          <a:prstGeom prst="rect">
            <a:avLst/>
          </a:prstGeom>
          <a:noFill/>
          <a:ln/>
        </p:spPr>
        <p:txBody>
          <a:bodyPr wrap="square" lIns="0" tIns="0" rIns="0" bIns="0" rtlCol="0" anchor="t"/>
          <a:lstStyle/>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휴대폰이 아니라</a:t>
            </a:r>
            <a:endParaRPr lang="en-US" sz="850" dirty="0"/>
          </a:p>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서비스 저장소에 올라갑니다</a:t>
            </a:r>
            <a:endParaRPr lang="en-US" sz="850" dirty="0"/>
          </a:p>
        </p:txBody>
      </p:sp>
      <p:sp>
        <p:nvSpPr>
          <p:cNvPr id="27" name="Text 25"/>
          <p:cNvSpPr/>
          <p:nvPr/>
        </p:nvSpPr>
        <p:spPr>
          <a:xfrm>
            <a:off x="5065776" y="4334256"/>
            <a:ext cx="201168" cy="841248"/>
          </a:xfrm>
          <a:prstGeom prst="rect">
            <a:avLst/>
          </a:prstGeom>
          <a:noFill/>
          <a:ln/>
        </p:spPr>
        <p:txBody>
          <a:bodyPr wrap="square" lIns="0" tIns="0" rIns="0" bIns="0" rtlCol="0" anchor="ctr"/>
          <a:lstStyle/>
          <a:p>
            <a:pPr algn="ctr" indent="0" marL="0">
              <a:buNone/>
            </a:pPr>
            <a:r>
              <a:rPr lang="en-US" sz="1000" dirty="0">
                <a:solidFill>
                  <a:srgbClr val="A6B3E6"/>
                </a:solidFill>
                <a:latin typeface="맑은 고딕" pitchFamily="34" charset="0"/>
                <a:ea typeface="맑은 고딕" pitchFamily="34" charset="-122"/>
                <a:cs typeface="맑은 고딕" pitchFamily="34" charset="-120"/>
              </a:rPr>
              <a:t>▶</a:t>
            </a:r>
            <a:endParaRPr lang="en-US" sz="1000" dirty="0"/>
          </a:p>
        </p:txBody>
      </p:sp>
      <p:sp>
        <p:nvSpPr>
          <p:cNvPr id="28" name="Shape 26"/>
          <p:cNvSpPr/>
          <p:nvPr/>
        </p:nvSpPr>
        <p:spPr>
          <a:xfrm>
            <a:off x="5266944" y="4334256"/>
            <a:ext cx="1993392" cy="841248"/>
          </a:xfrm>
          <a:prstGeom prst="roundRect">
            <a:avLst>
              <a:gd name="adj" fmla="val 8696"/>
            </a:avLst>
          </a:prstGeom>
          <a:solidFill>
            <a:srgbClr val="FFFFFF"/>
          </a:solidFill>
          <a:ln w="12700">
            <a:solidFill>
              <a:srgbClr val="D4DAEE"/>
            </a:solidFill>
            <a:prstDash val="solid"/>
          </a:ln>
        </p:spPr>
      </p:sp>
      <p:sp>
        <p:nvSpPr>
          <p:cNvPr id="29" name="Text 27"/>
          <p:cNvSpPr/>
          <p:nvPr/>
        </p:nvSpPr>
        <p:spPr>
          <a:xfrm>
            <a:off x="5394960" y="4389120"/>
            <a:ext cx="1783080" cy="256032"/>
          </a:xfrm>
          <a:prstGeom prst="rect">
            <a:avLst/>
          </a:prstGeom>
          <a:noFill/>
          <a:ln/>
        </p:spPr>
        <p:txBody>
          <a:bodyPr wrap="square" lIns="0" tIns="0" rIns="0" bIns="0" rtlCol="0" anchor="ctr"/>
          <a:lstStyle/>
          <a:p>
            <a:pPr indent="0" marL="0">
              <a:buNone/>
            </a:pPr>
            <a:r>
              <a:rPr lang="en-US" sz="950" b="1" dirty="0">
                <a:solidFill>
                  <a:srgbClr val="141B33"/>
                </a:solidFill>
                <a:latin typeface="맑은 고딕" pitchFamily="34" charset="0"/>
                <a:ea typeface="맑은 고딕" pitchFamily="34" charset="-122"/>
                <a:cs typeface="맑은 고딕" pitchFamily="34" charset="-120"/>
              </a:rPr>
              <a:t>3  AI가 사진을 봅니다</a:t>
            </a:r>
            <a:endParaRPr lang="en-US" sz="950" dirty="0"/>
          </a:p>
        </p:txBody>
      </p:sp>
      <p:sp>
        <p:nvSpPr>
          <p:cNvPr id="30" name="Text 28"/>
          <p:cNvSpPr/>
          <p:nvPr/>
        </p:nvSpPr>
        <p:spPr>
          <a:xfrm>
            <a:off x="5394960" y="4645152"/>
            <a:ext cx="1783080" cy="493776"/>
          </a:xfrm>
          <a:prstGeom prst="rect">
            <a:avLst/>
          </a:prstGeom>
          <a:noFill/>
          <a:ln/>
        </p:spPr>
        <p:txBody>
          <a:bodyPr wrap="square" lIns="0" tIns="0" rIns="0" bIns="0" rtlCol="0" anchor="t"/>
          <a:lstStyle/>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지붕이 있는지, 의자가 있는지,</a:t>
            </a:r>
            <a:endParaRPr lang="en-US" sz="850" dirty="0"/>
          </a:p>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어디가 망가졌는지</a:t>
            </a:r>
            <a:endParaRPr lang="en-US" sz="850" dirty="0"/>
          </a:p>
        </p:txBody>
      </p:sp>
      <p:sp>
        <p:nvSpPr>
          <p:cNvPr id="31" name="Text 29"/>
          <p:cNvSpPr/>
          <p:nvPr/>
        </p:nvSpPr>
        <p:spPr>
          <a:xfrm>
            <a:off x="7278624" y="4334256"/>
            <a:ext cx="201168" cy="841248"/>
          </a:xfrm>
          <a:prstGeom prst="rect">
            <a:avLst/>
          </a:prstGeom>
          <a:noFill/>
          <a:ln/>
        </p:spPr>
        <p:txBody>
          <a:bodyPr wrap="square" lIns="0" tIns="0" rIns="0" bIns="0" rtlCol="0" anchor="ctr"/>
          <a:lstStyle/>
          <a:p>
            <a:pPr algn="ctr" indent="0" marL="0">
              <a:buNone/>
            </a:pPr>
            <a:r>
              <a:rPr lang="en-US" sz="1000" dirty="0">
                <a:solidFill>
                  <a:srgbClr val="A6B3E6"/>
                </a:solidFill>
                <a:latin typeface="맑은 고딕" pitchFamily="34" charset="0"/>
                <a:ea typeface="맑은 고딕" pitchFamily="34" charset="-122"/>
                <a:cs typeface="맑은 고딕" pitchFamily="34" charset="-120"/>
              </a:rPr>
              <a:t>▶</a:t>
            </a:r>
            <a:endParaRPr lang="en-US" sz="1000" dirty="0"/>
          </a:p>
        </p:txBody>
      </p:sp>
      <p:sp>
        <p:nvSpPr>
          <p:cNvPr id="32" name="Shape 30"/>
          <p:cNvSpPr/>
          <p:nvPr/>
        </p:nvSpPr>
        <p:spPr>
          <a:xfrm>
            <a:off x="7479792" y="4334256"/>
            <a:ext cx="1993392" cy="841248"/>
          </a:xfrm>
          <a:prstGeom prst="roundRect">
            <a:avLst>
              <a:gd name="adj" fmla="val 8696"/>
            </a:avLst>
          </a:prstGeom>
          <a:solidFill>
            <a:srgbClr val="FFFFFF"/>
          </a:solidFill>
          <a:ln w="12700">
            <a:solidFill>
              <a:srgbClr val="D4DAEE"/>
            </a:solidFill>
            <a:prstDash val="solid"/>
          </a:ln>
        </p:spPr>
      </p:sp>
      <p:sp>
        <p:nvSpPr>
          <p:cNvPr id="33" name="Text 31"/>
          <p:cNvSpPr/>
          <p:nvPr/>
        </p:nvSpPr>
        <p:spPr>
          <a:xfrm>
            <a:off x="7607808" y="4389120"/>
            <a:ext cx="1783080" cy="256032"/>
          </a:xfrm>
          <a:prstGeom prst="rect">
            <a:avLst/>
          </a:prstGeom>
          <a:noFill/>
          <a:ln/>
        </p:spPr>
        <p:txBody>
          <a:bodyPr wrap="square" lIns="0" tIns="0" rIns="0" bIns="0" rtlCol="0" anchor="ctr"/>
          <a:lstStyle/>
          <a:p>
            <a:pPr indent="0" marL="0">
              <a:buNone/>
            </a:pPr>
            <a:r>
              <a:rPr lang="en-US" sz="950" b="1" dirty="0">
                <a:solidFill>
                  <a:srgbClr val="141B33"/>
                </a:solidFill>
                <a:latin typeface="맑은 고딕" pitchFamily="34" charset="0"/>
                <a:ea typeface="맑은 고딕" pitchFamily="34" charset="-122"/>
                <a:cs typeface="맑은 고딕" pitchFamily="34" charset="-120"/>
              </a:rPr>
              <a:t>4  읽은 결과를 적습니다</a:t>
            </a:r>
            <a:endParaRPr lang="en-US" sz="950" dirty="0"/>
          </a:p>
        </p:txBody>
      </p:sp>
      <p:sp>
        <p:nvSpPr>
          <p:cNvPr id="34" name="Text 32"/>
          <p:cNvSpPr/>
          <p:nvPr/>
        </p:nvSpPr>
        <p:spPr>
          <a:xfrm>
            <a:off x="7607808" y="4645152"/>
            <a:ext cx="1783080" cy="493776"/>
          </a:xfrm>
          <a:prstGeom prst="rect">
            <a:avLst/>
          </a:prstGeom>
          <a:noFill/>
          <a:ln/>
        </p:spPr>
        <p:txBody>
          <a:bodyPr wrap="square" lIns="0" tIns="0" rIns="0" bIns="0" rtlCol="0" anchor="t"/>
          <a:lstStyle/>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'모름'이던 칸이</a:t>
            </a:r>
            <a:endParaRPr lang="en-US" sz="850" dirty="0"/>
          </a:p>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'있음' 또는 '없음'으로 바뀝니다</a:t>
            </a:r>
            <a:endParaRPr lang="en-US" sz="850" dirty="0"/>
          </a:p>
        </p:txBody>
      </p:sp>
      <p:sp>
        <p:nvSpPr>
          <p:cNvPr id="35" name="Text 33"/>
          <p:cNvSpPr/>
          <p:nvPr/>
        </p:nvSpPr>
        <p:spPr>
          <a:xfrm>
            <a:off x="9491472" y="4334256"/>
            <a:ext cx="201168" cy="841248"/>
          </a:xfrm>
          <a:prstGeom prst="rect">
            <a:avLst/>
          </a:prstGeom>
          <a:noFill/>
          <a:ln/>
        </p:spPr>
        <p:txBody>
          <a:bodyPr wrap="square" lIns="0" tIns="0" rIns="0" bIns="0" rtlCol="0" anchor="ctr"/>
          <a:lstStyle/>
          <a:p>
            <a:pPr algn="ctr" indent="0" marL="0">
              <a:buNone/>
            </a:pPr>
            <a:r>
              <a:rPr lang="en-US" sz="1000" dirty="0">
                <a:solidFill>
                  <a:srgbClr val="A6B3E6"/>
                </a:solidFill>
                <a:latin typeface="맑은 고딕" pitchFamily="34" charset="0"/>
                <a:ea typeface="맑은 고딕" pitchFamily="34" charset="-122"/>
                <a:cs typeface="맑은 고딕" pitchFamily="34" charset="-120"/>
              </a:rPr>
              <a:t>▶</a:t>
            </a:r>
            <a:endParaRPr lang="en-US" sz="1000" dirty="0"/>
          </a:p>
        </p:txBody>
      </p:sp>
      <p:sp>
        <p:nvSpPr>
          <p:cNvPr id="36" name="Shape 34"/>
          <p:cNvSpPr/>
          <p:nvPr/>
        </p:nvSpPr>
        <p:spPr>
          <a:xfrm>
            <a:off x="9692640" y="4334256"/>
            <a:ext cx="1993392" cy="841248"/>
          </a:xfrm>
          <a:prstGeom prst="roundRect">
            <a:avLst>
              <a:gd name="adj" fmla="val 8696"/>
            </a:avLst>
          </a:prstGeom>
          <a:solidFill>
            <a:srgbClr val="FFFFFF"/>
          </a:solidFill>
          <a:ln w="12700">
            <a:solidFill>
              <a:srgbClr val="D4DAEE"/>
            </a:solidFill>
            <a:prstDash val="solid"/>
          </a:ln>
        </p:spPr>
      </p:sp>
      <p:sp>
        <p:nvSpPr>
          <p:cNvPr id="37" name="Text 35"/>
          <p:cNvSpPr/>
          <p:nvPr/>
        </p:nvSpPr>
        <p:spPr>
          <a:xfrm>
            <a:off x="9820656" y="4389120"/>
            <a:ext cx="1783080" cy="256032"/>
          </a:xfrm>
          <a:prstGeom prst="rect">
            <a:avLst/>
          </a:prstGeom>
          <a:noFill/>
          <a:ln/>
        </p:spPr>
        <p:txBody>
          <a:bodyPr wrap="square" lIns="0" tIns="0" rIns="0" bIns="0" rtlCol="0" anchor="ctr"/>
          <a:lstStyle/>
          <a:p>
            <a:pPr indent="0" marL="0">
              <a:buNone/>
            </a:pPr>
            <a:r>
              <a:rPr lang="en-US" sz="950" b="1" dirty="0">
                <a:solidFill>
                  <a:srgbClr val="141B33"/>
                </a:solidFill>
                <a:latin typeface="맑은 고딕" pitchFamily="34" charset="0"/>
                <a:ea typeface="맑은 고딕" pitchFamily="34" charset="-122"/>
                <a:cs typeface="맑은 고딕" pitchFamily="34" charset="-120"/>
              </a:rPr>
              <a:t>5  다음 사람이 봅니다</a:t>
            </a:r>
            <a:endParaRPr lang="en-US" sz="950" dirty="0"/>
          </a:p>
        </p:txBody>
      </p:sp>
      <p:sp>
        <p:nvSpPr>
          <p:cNvPr id="38" name="Text 36"/>
          <p:cNvSpPr/>
          <p:nvPr/>
        </p:nvSpPr>
        <p:spPr>
          <a:xfrm>
            <a:off x="9820656" y="4645152"/>
            <a:ext cx="1783080" cy="493776"/>
          </a:xfrm>
          <a:prstGeom prst="rect">
            <a:avLst/>
          </a:prstGeom>
          <a:noFill/>
          <a:ln/>
        </p:spPr>
        <p:txBody>
          <a:bodyPr wrap="square" lIns="0" tIns="0" rIns="0" bIns="0" rtlCol="0" anchor="t"/>
          <a:lstStyle/>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출처는 'AI가 읽음'이라고</a:t>
            </a:r>
            <a:endParaRPr lang="en-US" sz="850" dirty="0"/>
          </a:p>
          <a:p>
            <a:pPr indent="0" marL="0">
              <a:lnSpc>
                <a:spcPct val="115000"/>
              </a:lnSpc>
              <a:buNone/>
            </a:pPr>
            <a:r>
              <a:rPr lang="en-US" sz="850" dirty="0">
                <a:solidFill>
                  <a:srgbClr val="6E7796"/>
                </a:solidFill>
                <a:latin typeface="맑은 고딕" pitchFamily="34" charset="0"/>
                <a:ea typeface="맑은 고딕" pitchFamily="34" charset="-122"/>
                <a:cs typeface="맑은 고딕" pitchFamily="34" charset="-120"/>
              </a:rPr>
              <a:t>숨기지 않고 밝힙니다</a:t>
            </a:r>
            <a:endParaRPr lang="en-US" sz="850" dirty="0"/>
          </a:p>
        </p:txBody>
      </p:sp>
      <p:sp>
        <p:nvSpPr>
          <p:cNvPr id="39" name="Text 37"/>
          <p:cNvSpPr/>
          <p:nvPr/>
        </p:nvSpPr>
        <p:spPr>
          <a:xfrm>
            <a:off x="566928" y="5468112"/>
            <a:ext cx="1005840" cy="310896"/>
          </a:xfrm>
          <a:prstGeom prst="rect">
            <a:avLst/>
          </a:prstGeom>
          <a:noFill/>
          <a:ln/>
        </p:spPr>
        <p:txBody>
          <a:bodyPr wrap="square" lIns="0" tIns="0" rIns="0" bIns="0" rtlCol="0" anchor="ctr"/>
          <a:lstStyle/>
          <a:p>
            <a:pPr indent="0" marL="0">
              <a:buNone/>
            </a:pPr>
            <a:r>
              <a:rPr lang="en-US" sz="1100" b="1" dirty="0">
                <a:solidFill>
                  <a:srgbClr val="6E7796"/>
                </a:solidFill>
                <a:latin typeface="맑은 고딕" pitchFamily="34" charset="0"/>
                <a:ea typeface="맑은 고딕" pitchFamily="34" charset="-122"/>
                <a:cs typeface="맑은 고딕" pitchFamily="34" charset="-120"/>
              </a:rPr>
              <a:t>지킨 것</a:t>
            </a:r>
            <a:endParaRPr lang="en-US" sz="1100" dirty="0"/>
          </a:p>
        </p:txBody>
      </p:sp>
      <p:sp>
        <p:nvSpPr>
          <p:cNvPr id="40" name="Shape 38"/>
          <p:cNvSpPr/>
          <p:nvPr/>
        </p:nvSpPr>
        <p:spPr>
          <a:xfrm>
            <a:off x="1618488" y="5468112"/>
            <a:ext cx="2377440" cy="310896"/>
          </a:xfrm>
          <a:prstGeom prst="roundRect">
            <a:avLst>
              <a:gd name="adj" fmla="val 23529"/>
            </a:avLst>
          </a:prstGeom>
          <a:solidFill>
            <a:srgbClr val="E7EBF8"/>
          </a:solidFill>
          <a:ln w="12700">
            <a:solidFill>
              <a:srgbClr val="E7EBF8"/>
            </a:solidFill>
            <a:prstDash val="solid"/>
          </a:ln>
        </p:spPr>
      </p:sp>
      <p:sp>
        <p:nvSpPr>
          <p:cNvPr id="41" name="Text 39"/>
          <p:cNvSpPr/>
          <p:nvPr/>
        </p:nvSpPr>
        <p:spPr>
          <a:xfrm>
            <a:off x="1618488" y="5468112"/>
            <a:ext cx="237744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모르면 모른다고 씁니다</a:t>
            </a:r>
            <a:endParaRPr lang="en-US" sz="950" dirty="0"/>
          </a:p>
        </p:txBody>
      </p:sp>
      <p:sp>
        <p:nvSpPr>
          <p:cNvPr id="42" name="Shape 40"/>
          <p:cNvSpPr/>
          <p:nvPr/>
        </p:nvSpPr>
        <p:spPr>
          <a:xfrm>
            <a:off x="4133088" y="5468112"/>
            <a:ext cx="2377440" cy="310896"/>
          </a:xfrm>
          <a:prstGeom prst="roundRect">
            <a:avLst>
              <a:gd name="adj" fmla="val 23529"/>
            </a:avLst>
          </a:prstGeom>
          <a:solidFill>
            <a:srgbClr val="E7EBF8"/>
          </a:solidFill>
          <a:ln w="12700">
            <a:solidFill>
              <a:srgbClr val="E7EBF8"/>
            </a:solidFill>
            <a:prstDash val="solid"/>
          </a:ln>
        </p:spPr>
      </p:sp>
      <p:sp>
        <p:nvSpPr>
          <p:cNvPr id="43" name="Text 41"/>
          <p:cNvSpPr/>
          <p:nvPr/>
        </p:nvSpPr>
        <p:spPr>
          <a:xfrm>
            <a:off x="4133088" y="5468112"/>
            <a:ext cx="237744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이름·연락처를 받지 않습니다</a:t>
            </a:r>
            <a:endParaRPr lang="en-US" sz="950" dirty="0"/>
          </a:p>
        </p:txBody>
      </p:sp>
      <p:sp>
        <p:nvSpPr>
          <p:cNvPr id="44" name="Shape 42"/>
          <p:cNvSpPr/>
          <p:nvPr/>
        </p:nvSpPr>
        <p:spPr>
          <a:xfrm>
            <a:off x="6647688" y="5468112"/>
            <a:ext cx="2377440" cy="310896"/>
          </a:xfrm>
          <a:prstGeom prst="roundRect">
            <a:avLst>
              <a:gd name="adj" fmla="val 23529"/>
            </a:avLst>
          </a:prstGeom>
          <a:solidFill>
            <a:srgbClr val="E7EBF8"/>
          </a:solidFill>
          <a:ln w="12700">
            <a:solidFill>
              <a:srgbClr val="E7EBF8"/>
            </a:solidFill>
            <a:prstDash val="solid"/>
          </a:ln>
        </p:spPr>
      </p:sp>
      <p:sp>
        <p:nvSpPr>
          <p:cNvPr id="45" name="Text 43"/>
          <p:cNvSpPr/>
          <p:nvPr/>
        </p:nvSpPr>
        <p:spPr>
          <a:xfrm>
            <a:off x="6647688" y="5468112"/>
            <a:ext cx="237744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AI는 서버에서만 돌립니다</a:t>
            </a:r>
            <a:endParaRPr lang="en-US" sz="950" dirty="0"/>
          </a:p>
        </p:txBody>
      </p:sp>
      <p:sp>
        <p:nvSpPr>
          <p:cNvPr id="46" name="Shape 44"/>
          <p:cNvSpPr/>
          <p:nvPr/>
        </p:nvSpPr>
        <p:spPr>
          <a:xfrm>
            <a:off x="9162288" y="5468112"/>
            <a:ext cx="2377440" cy="310896"/>
          </a:xfrm>
          <a:prstGeom prst="roundRect">
            <a:avLst>
              <a:gd name="adj" fmla="val 23529"/>
            </a:avLst>
          </a:prstGeom>
          <a:solidFill>
            <a:srgbClr val="E7EBF8"/>
          </a:solidFill>
          <a:ln w="12700">
            <a:solidFill>
              <a:srgbClr val="E7EBF8"/>
            </a:solidFill>
            <a:prstDash val="solid"/>
          </a:ln>
        </p:spPr>
      </p:sp>
      <p:sp>
        <p:nvSpPr>
          <p:cNvPr id="47" name="Text 45"/>
          <p:cNvSpPr/>
          <p:nvPr/>
        </p:nvSpPr>
        <p:spPr>
          <a:xfrm>
            <a:off x="9162288" y="5468112"/>
            <a:ext cx="237744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AI가 실패해도 사진은 남습니다</a:t>
            </a:r>
            <a:endParaRPr lang="en-US" sz="950" dirty="0"/>
          </a:p>
        </p:txBody>
      </p:sp>
      <p:sp>
        <p:nvSpPr>
          <p:cNvPr id="48" name="Text 46"/>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 기술 용어로는 — ① 정적 결합(빌드 타임) · PWA  ② 국토부 TAGO API 서버 프록시(캐시 10초, 키는 서버 보관)  ③ 제보 파이프라인 : 업로드 → VLM 판독 → 안내 반영</a:t>
            </a:r>
            <a:endParaRPr lang="en-US" sz="850" dirty="0"/>
          </a:p>
        </p:txBody>
      </p:sp>
      <p:sp>
        <p:nvSpPr>
          <p:cNvPr id="49" name="Text 47"/>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50" name="Text 48"/>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03</a:t>
            </a:r>
            <a:pPr indent="0" marL="0">
              <a:buNone/>
            </a:pPr>
            <a:r>
              <a:rPr lang="en-US" sz="1100" b="1" dirty="0">
                <a:solidFill>
                  <a:srgbClr val="6E7796"/>
                </a:solidFill>
                <a:latin typeface="맑은 고딕" pitchFamily="34" charset="0"/>
                <a:ea typeface="맑은 고딕" pitchFamily="34" charset="-122"/>
                <a:cs typeface="맑은 고딕" pitchFamily="34" charset="-120"/>
              </a:rPr>
              <a:t>   서비스 핵심 기능 설명 및 시연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핵심 기능</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1번이 서비스의 목적이고, 2·3·4번은 그 안내에 닿기 위한 경로입니다</a:t>
            </a:r>
            <a:endParaRPr lang="en-US" sz="1300" dirty="0"/>
          </a:p>
        </p:txBody>
      </p:sp>
      <p:sp>
        <p:nvSpPr>
          <p:cNvPr id="5" name="Shape 3"/>
          <p:cNvSpPr/>
          <p:nvPr/>
        </p:nvSpPr>
        <p:spPr>
          <a:xfrm>
            <a:off x="566928" y="1874520"/>
            <a:ext cx="5532120" cy="1874520"/>
          </a:xfrm>
          <a:prstGeom prst="roundRect">
            <a:avLst>
              <a:gd name="adj" fmla="val 6829"/>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6" name="Shape 4"/>
          <p:cNvSpPr/>
          <p:nvPr/>
        </p:nvSpPr>
        <p:spPr>
          <a:xfrm>
            <a:off x="822960" y="2093976"/>
            <a:ext cx="384048" cy="384048"/>
          </a:xfrm>
          <a:prstGeom prst="roundRect">
            <a:avLst>
              <a:gd name="adj" fmla="val 50000"/>
            </a:avLst>
          </a:prstGeom>
          <a:solidFill>
            <a:srgbClr val="001871"/>
          </a:solidFill>
          <a:ln w="12700">
            <a:solidFill>
              <a:srgbClr val="001871"/>
            </a:solidFill>
            <a:prstDash val="solid"/>
          </a:ln>
        </p:spPr>
      </p:sp>
      <p:sp>
        <p:nvSpPr>
          <p:cNvPr id="7" name="Text 5"/>
          <p:cNvSpPr/>
          <p:nvPr/>
        </p:nvSpPr>
        <p:spPr>
          <a:xfrm>
            <a:off x="822960" y="2093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6"/>
          <p:cNvSpPr/>
          <p:nvPr/>
        </p:nvSpPr>
        <p:spPr>
          <a:xfrm>
            <a:off x="1335024" y="2093976"/>
            <a:ext cx="4480560" cy="384048"/>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가는 길 안내 위의 쉼터</a:t>
            </a:r>
            <a:endParaRPr lang="en-US" sz="1500" dirty="0"/>
          </a:p>
        </p:txBody>
      </p:sp>
      <p:sp>
        <p:nvSpPr>
          <p:cNvPr id="9" name="Text 7"/>
          <p:cNvSpPr/>
          <p:nvPr/>
        </p:nvSpPr>
        <p:spPr>
          <a:xfrm>
            <a:off x="859536" y="2569464"/>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타는 곳 · 내리는 곳 · 도착지 각 지점에서</a:t>
            </a:r>
            <a:endParaRPr lang="en-US" sz="1050" dirty="0"/>
          </a:p>
        </p:txBody>
      </p:sp>
      <p:sp>
        <p:nvSpPr>
          <p:cNvPr id="10" name="Text 8"/>
          <p:cNvSpPr/>
          <p:nvPr/>
        </p:nvSpPr>
        <p:spPr>
          <a:xfrm>
            <a:off x="859536" y="2852928"/>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50m 안에 무더위쉼터가 있으면 함께 표시</a:t>
            </a:r>
            <a:endParaRPr lang="en-US" sz="1050" dirty="0"/>
          </a:p>
        </p:txBody>
      </p:sp>
      <p:sp>
        <p:nvSpPr>
          <p:cNvPr id="11" name="Text 9"/>
          <p:cNvSpPr/>
          <p:nvPr/>
        </p:nvSpPr>
        <p:spPr>
          <a:xfrm>
            <a:off x="859536" y="3136392"/>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지도 탭에서는 226곳 전체를 초록 핀으로</a:t>
            </a:r>
            <a:endParaRPr lang="en-US" sz="1050" dirty="0"/>
          </a:p>
        </p:txBody>
      </p:sp>
      <p:sp>
        <p:nvSpPr>
          <p:cNvPr id="12" name="Text 10"/>
          <p:cNvSpPr/>
          <p:nvPr/>
        </p:nvSpPr>
        <p:spPr>
          <a:xfrm>
            <a:off x="859536" y="3419856"/>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지금 문을 열었는지 운영시간으로 판정</a:t>
            </a:r>
            <a:endParaRPr lang="en-US" sz="1050" dirty="0"/>
          </a:p>
        </p:txBody>
      </p:sp>
      <p:sp>
        <p:nvSpPr>
          <p:cNvPr id="13" name="Shape 11"/>
          <p:cNvSpPr/>
          <p:nvPr/>
        </p:nvSpPr>
        <p:spPr>
          <a:xfrm>
            <a:off x="6281928" y="1874520"/>
            <a:ext cx="5532120" cy="1874520"/>
          </a:xfrm>
          <a:prstGeom prst="roundRect">
            <a:avLst>
              <a:gd name="adj" fmla="val 6829"/>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4" name="Shape 12"/>
          <p:cNvSpPr/>
          <p:nvPr/>
        </p:nvSpPr>
        <p:spPr>
          <a:xfrm>
            <a:off x="6537960" y="2093976"/>
            <a:ext cx="384048" cy="384048"/>
          </a:xfrm>
          <a:prstGeom prst="roundRect">
            <a:avLst>
              <a:gd name="adj" fmla="val 50000"/>
            </a:avLst>
          </a:prstGeom>
          <a:solidFill>
            <a:srgbClr val="001871"/>
          </a:solidFill>
          <a:ln w="12700">
            <a:solidFill>
              <a:srgbClr val="001871"/>
            </a:solidFill>
            <a:prstDash val="solid"/>
          </a:ln>
        </p:spPr>
      </p:sp>
      <p:sp>
        <p:nvSpPr>
          <p:cNvPr id="15" name="Text 13"/>
          <p:cNvSpPr/>
          <p:nvPr/>
        </p:nvSpPr>
        <p:spPr>
          <a:xfrm>
            <a:off x="6537960" y="2093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6" name="Text 14"/>
          <p:cNvSpPr/>
          <p:nvPr/>
        </p:nvSpPr>
        <p:spPr>
          <a:xfrm>
            <a:off x="7050024" y="2093976"/>
            <a:ext cx="4480560" cy="384048"/>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기다리기 환경 안내</a:t>
            </a:r>
            <a:endParaRPr lang="en-US" sz="1500" dirty="0"/>
          </a:p>
        </p:txBody>
      </p:sp>
      <p:sp>
        <p:nvSpPr>
          <p:cNvPr id="17" name="Text 15"/>
          <p:cNvSpPr/>
          <p:nvPr/>
        </p:nvSpPr>
        <p:spPr>
          <a:xfrm>
            <a:off x="6574536" y="2569464"/>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그늘 · 의자 · 쉘터 · 안내기 · 조명을 단어 칩으로</a:t>
            </a:r>
            <a:endParaRPr lang="en-US" sz="1050" dirty="0"/>
          </a:p>
        </p:txBody>
      </p:sp>
      <p:sp>
        <p:nvSpPr>
          <p:cNvPr id="18" name="Text 16"/>
          <p:cNvSpPr/>
          <p:nvPr/>
        </p:nvSpPr>
        <p:spPr>
          <a:xfrm>
            <a:off x="6574536" y="2852928"/>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모르면 '몰라요' — 추측해서 말하지 않습니다</a:t>
            </a:r>
            <a:endParaRPr lang="en-US" sz="1050" dirty="0"/>
          </a:p>
        </p:txBody>
      </p:sp>
      <p:sp>
        <p:nvSpPr>
          <p:cNvPr id="19" name="Text 17"/>
          <p:cNvSpPr/>
          <p:nvPr/>
        </p:nvSpPr>
        <p:spPr>
          <a:xfrm>
            <a:off x="6574536" y="3136392"/>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출처 라벨을 함께 표기 (조사 / 대장 / AI 판독)</a:t>
            </a:r>
            <a:endParaRPr lang="en-US" sz="1050" dirty="0"/>
          </a:p>
        </p:txBody>
      </p:sp>
      <p:sp>
        <p:nvSpPr>
          <p:cNvPr id="20" name="Text 18"/>
          <p:cNvSpPr/>
          <p:nvPr/>
        </p:nvSpPr>
        <p:spPr>
          <a:xfrm>
            <a:off x="6574536" y="3419856"/>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실시간 도착정보(TAGO)를 같은 화면에</a:t>
            </a:r>
            <a:endParaRPr lang="en-US" sz="1050" dirty="0"/>
          </a:p>
        </p:txBody>
      </p:sp>
      <p:sp>
        <p:nvSpPr>
          <p:cNvPr id="21" name="Shape 19"/>
          <p:cNvSpPr/>
          <p:nvPr/>
        </p:nvSpPr>
        <p:spPr>
          <a:xfrm>
            <a:off x="566928" y="3904488"/>
            <a:ext cx="5532120" cy="1874520"/>
          </a:xfrm>
          <a:prstGeom prst="roundRect">
            <a:avLst>
              <a:gd name="adj" fmla="val 6829"/>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22" name="Shape 20"/>
          <p:cNvSpPr/>
          <p:nvPr/>
        </p:nvSpPr>
        <p:spPr>
          <a:xfrm>
            <a:off x="822960" y="4123944"/>
            <a:ext cx="384048" cy="384048"/>
          </a:xfrm>
          <a:prstGeom prst="roundRect">
            <a:avLst>
              <a:gd name="adj" fmla="val 50000"/>
            </a:avLst>
          </a:prstGeom>
          <a:solidFill>
            <a:srgbClr val="001871"/>
          </a:solidFill>
          <a:ln w="12700">
            <a:solidFill>
              <a:srgbClr val="001871"/>
            </a:solidFill>
            <a:prstDash val="solid"/>
          </a:ln>
        </p:spPr>
      </p:sp>
      <p:sp>
        <p:nvSpPr>
          <p:cNvPr id="23" name="Text 21"/>
          <p:cNvSpPr/>
          <p:nvPr/>
        </p:nvSpPr>
        <p:spPr>
          <a:xfrm>
            <a:off x="822960" y="4123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4" name="Text 22"/>
          <p:cNvSpPr/>
          <p:nvPr/>
        </p:nvSpPr>
        <p:spPr>
          <a:xfrm>
            <a:off x="1335024" y="4123944"/>
            <a:ext cx="4480560" cy="384048"/>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어르신을 위한 입력</a:t>
            </a:r>
            <a:endParaRPr lang="en-US" sz="1500" dirty="0"/>
          </a:p>
        </p:txBody>
      </p:sp>
      <p:sp>
        <p:nvSpPr>
          <p:cNvPr id="25" name="Text 23"/>
          <p:cNvSpPr/>
          <p:nvPr/>
        </p:nvSpPr>
        <p:spPr>
          <a:xfrm>
            <a:off x="859536" y="4599432"/>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[음성으로 찾기] — 말하면 바로 검색</a:t>
            </a:r>
            <a:endParaRPr lang="en-US" sz="1050" dirty="0"/>
          </a:p>
        </p:txBody>
      </p:sp>
      <p:sp>
        <p:nvSpPr>
          <p:cNvPr id="26" name="Text 24"/>
          <p:cNvSpPr/>
          <p:nvPr/>
        </p:nvSpPr>
        <p:spPr>
          <a:xfrm>
            <a:off x="859536" y="4882896"/>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아이콘 대신 큰 단어 카드 · 터치 영역 56px 이상</a:t>
            </a:r>
            <a:endParaRPr lang="en-US" sz="1050" dirty="0"/>
          </a:p>
        </p:txBody>
      </p:sp>
      <p:sp>
        <p:nvSpPr>
          <p:cNvPr id="27" name="Text 25"/>
          <p:cNvSpPr/>
          <p:nvPr/>
        </p:nvSpPr>
        <p:spPr>
          <a:xfrm>
            <a:off x="859536" y="5166360"/>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출발지는 GPS 주소로 자동 입력</a:t>
            </a:r>
            <a:endParaRPr lang="en-US" sz="1050" dirty="0"/>
          </a:p>
        </p:txBody>
      </p:sp>
      <p:sp>
        <p:nvSpPr>
          <p:cNvPr id="28" name="Text 26"/>
          <p:cNvSpPr/>
          <p:nvPr/>
        </p:nvSpPr>
        <p:spPr>
          <a:xfrm>
            <a:off x="859536" y="5449824"/>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설치 없이 웹 주소·QR로 바로 진입 (PWA)</a:t>
            </a:r>
            <a:endParaRPr lang="en-US" sz="1050" dirty="0"/>
          </a:p>
        </p:txBody>
      </p:sp>
      <p:sp>
        <p:nvSpPr>
          <p:cNvPr id="29" name="Shape 27"/>
          <p:cNvSpPr/>
          <p:nvPr/>
        </p:nvSpPr>
        <p:spPr>
          <a:xfrm>
            <a:off x="6281928" y="3904488"/>
            <a:ext cx="5532120" cy="1874520"/>
          </a:xfrm>
          <a:prstGeom prst="roundRect">
            <a:avLst>
              <a:gd name="adj" fmla="val 6829"/>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30" name="Shape 28"/>
          <p:cNvSpPr/>
          <p:nvPr/>
        </p:nvSpPr>
        <p:spPr>
          <a:xfrm>
            <a:off x="6537960" y="4123944"/>
            <a:ext cx="384048" cy="384048"/>
          </a:xfrm>
          <a:prstGeom prst="roundRect">
            <a:avLst>
              <a:gd name="adj" fmla="val 50000"/>
            </a:avLst>
          </a:prstGeom>
          <a:solidFill>
            <a:srgbClr val="001871"/>
          </a:solidFill>
          <a:ln w="12700">
            <a:solidFill>
              <a:srgbClr val="001871"/>
            </a:solidFill>
            <a:prstDash val="solid"/>
          </a:ln>
        </p:spPr>
      </p:sp>
      <p:sp>
        <p:nvSpPr>
          <p:cNvPr id="31" name="Text 29"/>
          <p:cNvSpPr/>
          <p:nvPr/>
        </p:nvSpPr>
        <p:spPr>
          <a:xfrm>
            <a:off x="6537960" y="4123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32" name="Text 30"/>
          <p:cNvSpPr/>
          <p:nvPr/>
        </p:nvSpPr>
        <p:spPr>
          <a:xfrm>
            <a:off x="7050024" y="4123944"/>
            <a:ext cx="4480560" cy="384048"/>
          </a:xfrm>
          <a:prstGeom prst="rect">
            <a:avLst/>
          </a:prstGeom>
          <a:noFill/>
          <a:ln/>
        </p:spPr>
        <p:txBody>
          <a:bodyPr wrap="square" lIns="0" tIns="0" rIns="0" bIns="0" rtlCol="0" anchor="ctr"/>
          <a:lstStyle/>
          <a:p>
            <a:pPr indent="0" marL="0">
              <a:buNone/>
            </a:pPr>
            <a:r>
              <a:rPr lang="en-US" sz="1500" b="1" dirty="0">
                <a:solidFill>
                  <a:srgbClr val="141B33"/>
                </a:solidFill>
                <a:latin typeface="맑은 고딕" pitchFamily="34" charset="0"/>
                <a:ea typeface="맑은 고딕" pitchFamily="34" charset="-122"/>
                <a:cs typeface="맑은 고딕" pitchFamily="34" charset="-120"/>
              </a:rPr>
              <a:t>실시간 안내 타임라인</a:t>
            </a:r>
            <a:endParaRPr lang="en-US" sz="1500" dirty="0"/>
          </a:p>
        </p:txBody>
      </p:sp>
      <p:sp>
        <p:nvSpPr>
          <p:cNvPr id="33" name="Text 31"/>
          <p:cNvSpPr/>
          <p:nvPr/>
        </p:nvSpPr>
        <p:spPr>
          <a:xfrm>
            <a:off x="6574536" y="4599432"/>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탈 버스가 몇 분 뒤 오는지 (TAGO 30초 갱신)</a:t>
            </a:r>
            <a:endParaRPr lang="en-US" sz="1050" dirty="0"/>
          </a:p>
        </p:txBody>
      </p:sp>
      <p:sp>
        <p:nvSpPr>
          <p:cNvPr id="34" name="Text 32"/>
          <p:cNvSpPr/>
          <p:nvPr/>
        </p:nvSpPr>
        <p:spPr>
          <a:xfrm>
            <a:off x="6574536" y="4882896"/>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타고 가는 동안 지금 어느 정류장인지 GPS로 추종</a:t>
            </a:r>
            <a:endParaRPr lang="en-US" sz="1050" dirty="0"/>
          </a:p>
        </p:txBody>
      </p:sp>
      <p:sp>
        <p:nvSpPr>
          <p:cNvPr id="35" name="Text 33"/>
          <p:cNvSpPr/>
          <p:nvPr/>
        </p:nvSpPr>
        <p:spPr>
          <a:xfrm>
            <a:off x="6574536" y="5166360"/>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'내리기까지 N개 정류장' · 도착까지 남은 시간</a:t>
            </a:r>
            <a:endParaRPr lang="en-US" sz="1050" dirty="0"/>
          </a:p>
        </p:txBody>
      </p:sp>
      <p:sp>
        <p:nvSpPr>
          <p:cNvPr id="36" name="Text 34"/>
          <p:cNvSpPr/>
          <p:nvPr/>
        </p:nvSpPr>
        <p:spPr>
          <a:xfrm>
            <a:off x="6574536" y="5449824"/>
            <a:ext cx="5029200" cy="274320"/>
          </a:xfrm>
          <a:prstGeom prst="rect">
            <a:avLst/>
          </a:prstGeom>
          <a:noFill/>
          <a:ln/>
        </p:spPr>
        <p:txBody>
          <a:bodyPr wrap="square" lIns="0" tIns="0" rIns="0" bIns="0" rtlCol="0" anchor="ctr"/>
          <a:lstStyle/>
          <a:p>
            <a:pPr indent="0" marL="0">
              <a:buNone/>
            </a:pPr>
            <a:r>
              <a:rPr lang="en-US" sz="1050" dirty="0">
                <a:solidFill>
                  <a:srgbClr val="3A4160"/>
                </a:solidFill>
                <a:latin typeface="맑은 고딕" pitchFamily="34" charset="0"/>
                <a:ea typeface="맑은 고딕" pitchFamily="34" charset="-122"/>
                <a:cs typeface="맑은 고딕" pitchFamily="34" charset="-120"/>
              </a:rPr>
              <a:t>·  환승 1회까지 탐색 · 없으면 없다고 말합니다</a:t>
            </a:r>
            <a:endParaRPr lang="en-US" sz="1050" dirty="0"/>
          </a:p>
        </p:txBody>
      </p:sp>
      <p:sp>
        <p:nvSpPr>
          <p:cNvPr id="37" name="Text 3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8" name="Text 3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03</a:t>
            </a:r>
            <a:pPr indent="0" marL="0">
              <a:buNone/>
            </a:pPr>
            <a:r>
              <a:rPr lang="en-US" sz="1100" b="1" dirty="0">
                <a:solidFill>
                  <a:srgbClr val="6E7796"/>
                </a:solidFill>
                <a:latin typeface="맑은 고딕" pitchFamily="34" charset="0"/>
                <a:ea typeface="맑은 고딕" pitchFamily="34" charset="-122"/>
                <a:cs typeface="맑은 고딕" pitchFamily="34" charset="-120"/>
              </a:rPr>
              <a:t>   서비스 핵심 기능 설명 및 시연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가는 길 찾기 — 말로 목적지를 찾고, 탈 버스를 받습니다</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홈 화면이 곧 길찾기입니다. 어르신이 처음 보는 문장은 '어디로 가시나요?' 하나뿐</a:t>
            </a:r>
            <a:endParaRPr lang="en-US" sz="1300" dirty="0"/>
          </a:p>
        </p:txBody>
      </p:sp>
      <p:pic>
        <p:nvPicPr>
          <p:cNvPr id="5" name="Image 0" descr="C:\Users\hyeon\AppData\Local\Temp\claude\C--Users-hyeon-Desktop-projects-chuncheon-busstop\0f55358b-f5eb-4845-9df0-56fc6a2517cf\scratchpad\deck\shots\00_place_search.png">    </p:cNvPr>
          <p:cNvPicPr>
            <a:picLocks noChangeAspect="1"/>
          </p:cNvPicPr>
          <p:nvPr/>
        </p:nvPicPr>
        <p:blipFill>
          <a:blip r:embed="rId1"/>
          <a:stretch>
            <a:fillRect/>
          </a:stretch>
        </p:blipFill>
        <p:spPr>
          <a:xfrm>
            <a:off x="704088" y="1847088"/>
            <a:ext cx="1835138" cy="3977640"/>
          </a:xfrm>
          <a:prstGeom prst="rect">
            <a:avLst/>
          </a:prstGeom>
        </p:spPr>
      </p:pic>
      <p:sp>
        <p:nvSpPr>
          <p:cNvPr id="6" name="Text 3"/>
          <p:cNvSpPr/>
          <p:nvPr/>
        </p:nvSpPr>
        <p:spPr>
          <a:xfrm>
            <a:off x="429768" y="5879592"/>
            <a:ext cx="2383778"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① 장소 찾기 · [음성으로 찾기]</a:t>
            </a:r>
            <a:endParaRPr lang="en-US" sz="950" dirty="0"/>
          </a:p>
        </p:txBody>
      </p:sp>
      <p:pic>
        <p:nvPicPr>
          <p:cNvPr id="7" name="Image 1" descr="C:\Users\hyeon\AppData\Local\Temp\claude\C--Users-hyeon-Desktop-projects-chuncheon-busstop\0f55358b-f5eb-4845-9df0-56fc6a2517cf\scratchpad\deck\shots\01_home_route.png">    </p:cNvPr>
          <p:cNvPicPr>
            <a:picLocks noChangeAspect="1"/>
          </p:cNvPicPr>
          <p:nvPr/>
        </p:nvPicPr>
        <p:blipFill>
          <a:blip r:embed="rId2"/>
          <a:stretch>
            <a:fillRect/>
          </a:stretch>
        </p:blipFill>
        <p:spPr>
          <a:xfrm>
            <a:off x="2923274" y="1847088"/>
            <a:ext cx="1835138" cy="3977640"/>
          </a:xfrm>
          <a:prstGeom prst="rect">
            <a:avLst/>
          </a:prstGeom>
        </p:spPr>
      </p:pic>
      <p:sp>
        <p:nvSpPr>
          <p:cNvPr id="8" name="Text 4"/>
          <p:cNvSpPr/>
          <p:nvPr/>
        </p:nvSpPr>
        <p:spPr>
          <a:xfrm>
            <a:off x="2648954" y="5879592"/>
            <a:ext cx="2383778"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② 추천 경로 카드 (실시간 도착)</a:t>
            </a:r>
            <a:endParaRPr lang="en-US" sz="950" dirty="0"/>
          </a:p>
        </p:txBody>
      </p:sp>
      <p:sp>
        <p:nvSpPr>
          <p:cNvPr id="9" name="Text 5"/>
          <p:cNvSpPr/>
          <p:nvPr/>
        </p:nvSpPr>
        <p:spPr>
          <a:xfrm>
            <a:off x="5307053" y="1847088"/>
            <a:ext cx="6317714" cy="292608"/>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무엇을 보여드리나요</a:t>
            </a:r>
            <a:endParaRPr lang="en-US" sz="1200" dirty="0"/>
          </a:p>
        </p:txBody>
      </p:sp>
      <p:sp>
        <p:nvSpPr>
          <p:cNvPr id="10" name="Shape 6"/>
          <p:cNvSpPr/>
          <p:nvPr/>
        </p:nvSpPr>
        <p:spPr>
          <a:xfrm>
            <a:off x="5307053" y="2267712"/>
            <a:ext cx="6317714" cy="621792"/>
          </a:xfrm>
          <a:prstGeom prst="roundRect">
            <a:avLst>
              <a:gd name="adj" fmla="val 14706"/>
            </a:avLst>
          </a:prstGeom>
          <a:solidFill>
            <a:srgbClr val="F4F6FC"/>
          </a:solidFill>
          <a:ln w="12700">
            <a:solidFill>
              <a:srgbClr val="D4DAEE"/>
            </a:solidFill>
            <a:prstDash val="solid"/>
          </a:ln>
        </p:spPr>
      </p:sp>
      <p:sp>
        <p:nvSpPr>
          <p:cNvPr id="11" name="Text 7"/>
          <p:cNvSpPr/>
          <p:nvPr/>
        </p:nvSpPr>
        <p:spPr>
          <a:xfrm>
            <a:off x="5544797" y="2340864"/>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말하면 검색됩니다</a:t>
            </a:r>
            <a:endParaRPr lang="en-US" sz="1200" dirty="0"/>
          </a:p>
        </p:txBody>
      </p:sp>
      <p:sp>
        <p:nvSpPr>
          <p:cNvPr id="12" name="Text 8"/>
          <p:cNvSpPr/>
          <p:nvPr/>
        </p:nvSpPr>
        <p:spPr>
          <a:xfrm>
            <a:off x="5544797" y="2587752"/>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타이핑 없이 “춘천중앙시장”이라고 말하면 결과가 뜹니다</a:t>
            </a:r>
            <a:endParaRPr lang="en-US" sz="1000" dirty="0"/>
          </a:p>
        </p:txBody>
      </p:sp>
      <p:sp>
        <p:nvSpPr>
          <p:cNvPr id="13" name="Shape 9"/>
          <p:cNvSpPr/>
          <p:nvPr/>
        </p:nvSpPr>
        <p:spPr>
          <a:xfrm>
            <a:off x="5307053" y="2980944"/>
            <a:ext cx="6317714" cy="621792"/>
          </a:xfrm>
          <a:prstGeom prst="roundRect">
            <a:avLst>
              <a:gd name="adj" fmla="val 14706"/>
            </a:avLst>
          </a:prstGeom>
          <a:solidFill>
            <a:srgbClr val="F4F6FC"/>
          </a:solidFill>
          <a:ln w="12700">
            <a:solidFill>
              <a:srgbClr val="D4DAEE"/>
            </a:solidFill>
            <a:prstDash val="solid"/>
          </a:ln>
        </p:spPr>
      </p:sp>
      <p:sp>
        <p:nvSpPr>
          <p:cNvPr id="14" name="Text 10"/>
          <p:cNvSpPr/>
          <p:nvPr/>
        </p:nvSpPr>
        <p:spPr>
          <a:xfrm>
            <a:off x="5544797" y="3054096"/>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고른 위치가 맞는지 지도로 확인</a:t>
            </a:r>
            <a:endParaRPr lang="en-US" sz="1200" dirty="0"/>
          </a:p>
        </p:txBody>
      </p:sp>
      <p:sp>
        <p:nvSpPr>
          <p:cNvPr id="15" name="Text 11"/>
          <p:cNvSpPr/>
          <p:nvPr/>
        </p:nvSpPr>
        <p:spPr>
          <a:xfrm>
            <a:off x="5544797" y="3300984"/>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글자만으로 헷갈리지 않도록 선택한 곳을 지도로 되보여줍니다</a:t>
            </a:r>
            <a:endParaRPr lang="en-US" sz="1000" dirty="0"/>
          </a:p>
        </p:txBody>
      </p:sp>
      <p:sp>
        <p:nvSpPr>
          <p:cNvPr id="16" name="Shape 12"/>
          <p:cNvSpPr/>
          <p:nvPr/>
        </p:nvSpPr>
        <p:spPr>
          <a:xfrm>
            <a:off x="5307053" y="3694176"/>
            <a:ext cx="6317714" cy="621792"/>
          </a:xfrm>
          <a:prstGeom prst="roundRect">
            <a:avLst>
              <a:gd name="adj" fmla="val 14706"/>
            </a:avLst>
          </a:prstGeom>
          <a:solidFill>
            <a:srgbClr val="F4F6FC"/>
          </a:solidFill>
          <a:ln w="12700">
            <a:solidFill>
              <a:srgbClr val="D4DAEE"/>
            </a:solidFill>
            <a:prstDash val="solid"/>
          </a:ln>
        </p:spPr>
      </p:sp>
      <p:sp>
        <p:nvSpPr>
          <p:cNvPr id="17" name="Text 13"/>
          <p:cNvSpPr/>
          <p:nvPr/>
        </p:nvSpPr>
        <p:spPr>
          <a:xfrm>
            <a:off x="5544797" y="3767328"/>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출발지는 GPS 주소가 자동으로</a:t>
            </a:r>
            <a:endParaRPr lang="en-US" sz="1200" dirty="0"/>
          </a:p>
        </p:txBody>
      </p:sp>
      <p:sp>
        <p:nvSpPr>
          <p:cNvPr id="18" name="Text 14"/>
          <p:cNvSpPr/>
          <p:nvPr/>
        </p:nvSpPr>
        <p:spPr>
          <a:xfrm>
            <a:off x="5544797" y="4014216"/>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카카오 역지오코딩 — 어르신이 자기 주소를 입력할 필요가 없습니다</a:t>
            </a:r>
            <a:endParaRPr lang="en-US" sz="1000" dirty="0"/>
          </a:p>
        </p:txBody>
      </p:sp>
      <p:sp>
        <p:nvSpPr>
          <p:cNvPr id="19" name="Shape 15"/>
          <p:cNvSpPr/>
          <p:nvPr/>
        </p:nvSpPr>
        <p:spPr>
          <a:xfrm>
            <a:off x="5307053" y="4407408"/>
            <a:ext cx="6317714" cy="621792"/>
          </a:xfrm>
          <a:prstGeom prst="roundRect">
            <a:avLst>
              <a:gd name="adj" fmla="val 14706"/>
            </a:avLst>
          </a:prstGeom>
          <a:solidFill>
            <a:srgbClr val="F4F6FC"/>
          </a:solidFill>
          <a:ln w="12700">
            <a:solidFill>
              <a:srgbClr val="D4DAEE"/>
            </a:solidFill>
            <a:prstDash val="solid"/>
          </a:ln>
        </p:spPr>
      </p:sp>
      <p:sp>
        <p:nvSpPr>
          <p:cNvPr id="20" name="Text 16"/>
          <p:cNvSpPr/>
          <p:nvPr/>
        </p:nvSpPr>
        <p:spPr>
          <a:xfrm>
            <a:off x="5544797" y="4480560"/>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추천 경로는 하나만</a:t>
            </a:r>
            <a:endParaRPr lang="en-US" sz="1200" dirty="0"/>
          </a:p>
        </p:txBody>
      </p:sp>
      <p:sp>
        <p:nvSpPr>
          <p:cNvPr id="21" name="Text 17"/>
          <p:cNvSpPr/>
          <p:nvPr/>
        </p:nvSpPr>
        <p:spPr>
          <a:xfrm>
            <a:off x="5544797" y="4727448"/>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직통 우선 · 환승 1회까지 탐색해 가장 빠른 하나만 보여줍니다</a:t>
            </a:r>
            <a:endParaRPr lang="en-US" sz="1000" dirty="0"/>
          </a:p>
        </p:txBody>
      </p:sp>
      <p:sp>
        <p:nvSpPr>
          <p:cNvPr id="22" name="Text 18"/>
          <p:cNvSpPr/>
          <p:nvPr/>
        </p:nvSpPr>
        <p:spPr>
          <a:xfrm>
            <a:off x="5307053" y="5266944"/>
            <a:ext cx="1188720" cy="310896"/>
          </a:xfrm>
          <a:prstGeom prst="rect">
            <a:avLst/>
          </a:prstGeom>
          <a:noFill/>
          <a:ln/>
        </p:spPr>
        <p:txBody>
          <a:bodyPr wrap="square" lIns="0" tIns="0" rIns="0" bIns="0" rtlCol="0" anchor="ctr"/>
          <a:lstStyle/>
          <a:p>
            <a:pPr indent="0" marL="0">
              <a:buNone/>
            </a:pPr>
            <a:r>
              <a:rPr lang="en-US" sz="1050" b="1" dirty="0">
                <a:solidFill>
                  <a:srgbClr val="6E7796"/>
                </a:solidFill>
                <a:latin typeface="맑은 고딕" pitchFamily="34" charset="0"/>
                <a:ea typeface="맑은 고딕" pitchFamily="34" charset="-122"/>
                <a:cs typeface="맑은 고딕" pitchFamily="34" charset="-120"/>
              </a:rPr>
              <a:t>심사 포인트</a:t>
            </a:r>
            <a:endParaRPr lang="en-US" sz="1050" dirty="0"/>
          </a:p>
        </p:txBody>
      </p:sp>
      <p:sp>
        <p:nvSpPr>
          <p:cNvPr id="23" name="Shape 19"/>
          <p:cNvSpPr/>
          <p:nvPr/>
        </p:nvSpPr>
        <p:spPr>
          <a:xfrm>
            <a:off x="6541493" y="5266944"/>
            <a:ext cx="1602985" cy="310896"/>
          </a:xfrm>
          <a:prstGeom prst="roundRect">
            <a:avLst>
              <a:gd name="adj" fmla="val 23529"/>
            </a:avLst>
          </a:prstGeom>
          <a:solidFill>
            <a:srgbClr val="E7EBF8"/>
          </a:solidFill>
          <a:ln w="12700">
            <a:solidFill>
              <a:srgbClr val="E7EBF8"/>
            </a:solidFill>
            <a:prstDash val="solid"/>
          </a:ln>
        </p:spPr>
      </p:sp>
      <p:sp>
        <p:nvSpPr>
          <p:cNvPr id="24" name="Text 20"/>
          <p:cNvSpPr/>
          <p:nvPr/>
        </p:nvSpPr>
        <p:spPr>
          <a:xfrm>
            <a:off x="6541493"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공공데이터 직접 활용</a:t>
            </a:r>
            <a:endParaRPr lang="en-US" sz="950" dirty="0"/>
          </a:p>
        </p:txBody>
      </p:sp>
      <p:sp>
        <p:nvSpPr>
          <p:cNvPr id="25" name="Shape 21"/>
          <p:cNvSpPr/>
          <p:nvPr/>
        </p:nvSpPr>
        <p:spPr>
          <a:xfrm>
            <a:off x="8235918" y="5266944"/>
            <a:ext cx="1602985" cy="310896"/>
          </a:xfrm>
          <a:prstGeom prst="roundRect">
            <a:avLst>
              <a:gd name="adj" fmla="val 23529"/>
            </a:avLst>
          </a:prstGeom>
          <a:solidFill>
            <a:srgbClr val="E7EBF8"/>
          </a:solidFill>
          <a:ln w="12700">
            <a:solidFill>
              <a:srgbClr val="E7EBF8"/>
            </a:solidFill>
            <a:prstDash val="solid"/>
          </a:ln>
        </p:spPr>
      </p:sp>
      <p:sp>
        <p:nvSpPr>
          <p:cNvPr id="26" name="Text 22"/>
          <p:cNvSpPr/>
          <p:nvPr/>
        </p:nvSpPr>
        <p:spPr>
          <a:xfrm>
            <a:off x="8235918"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어르신 실제 불편 해결</a:t>
            </a:r>
            <a:endParaRPr lang="en-US" sz="950" dirty="0"/>
          </a:p>
        </p:txBody>
      </p:sp>
      <p:sp>
        <p:nvSpPr>
          <p:cNvPr id="27" name="Shape 23"/>
          <p:cNvSpPr/>
          <p:nvPr/>
        </p:nvSpPr>
        <p:spPr>
          <a:xfrm>
            <a:off x="9930342" y="5266944"/>
            <a:ext cx="1602985" cy="310896"/>
          </a:xfrm>
          <a:prstGeom prst="roundRect">
            <a:avLst>
              <a:gd name="adj" fmla="val 23529"/>
            </a:avLst>
          </a:prstGeom>
          <a:solidFill>
            <a:srgbClr val="E7EBF8"/>
          </a:solidFill>
          <a:ln w="12700">
            <a:solidFill>
              <a:srgbClr val="E7EBF8"/>
            </a:solidFill>
            <a:prstDash val="solid"/>
          </a:ln>
        </p:spPr>
      </p:sp>
      <p:sp>
        <p:nvSpPr>
          <p:cNvPr id="28" name="Text 24"/>
          <p:cNvSpPr/>
          <p:nvPr/>
        </p:nvSpPr>
        <p:spPr>
          <a:xfrm>
            <a:off x="9930342"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음성 입력</a:t>
            </a:r>
            <a:endParaRPr lang="en-US" sz="950" dirty="0"/>
          </a:p>
        </p:txBody>
      </p:sp>
      <p:sp>
        <p:nvSpPr>
          <p:cNvPr id="29" name="Text 25"/>
          <p:cNvSpPr/>
          <p:nvPr/>
        </p:nvSpPr>
        <p:spPr>
          <a:xfrm>
            <a:off x="5307053" y="5705856"/>
            <a:ext cx="6317714" cy="274320"/>
          </a:xfrm>
          <a:prstGeom prst="rect">
            <a:avLst/>
          </a:prstGeom>
          <a:noFill/>
          <a:ln/>
        </p:spPr>
        <p:txBody>
          <a:bodyPr wrap="square" lIns="0" tIns="0" rIns="0" bIns="0" rtlCol="0" anchor="ctr"/>
          <a:lstStyle/>
          <a:p>
            <a:pPr indent="0" marL="0">
              <a:buNone/>
            </a:pPr>
            <a:r>
              <a:rPr lang="en-US" sz="900" dirty="0">
                <a:solidFill>
                  <a:srgbClr val="6E7796"/>
                </a:solidFill>
                <a:latin typeface="맑은 고딕" pitchFamily="34" charset="0"/>
                <a:ea typeface="맑은 고딕" pitchFamily="34" charset="-122"/>
                <a:cs typeface="맑은 고딕" pitchFamily="34" charset="-120"/>
              </a:rPr>
              <a:t>※ 실제 앱 화면을 그대로 캡처한 것입니다 (목업·합성 없음)</a:t>
            </a:r>
            <a:endParaRPr lang="en-US" sz="900" dirty="0"/>
          </a:p>
        </p:txBody>
      </p:sp>
      <p:sp>
        <p:nvSpPr>
          <p:cNvPr id="30" name="Text 26"/>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1" name="Text 27"/>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03</a:t>
            </a:r>
            <a:pPr indent="0" marL="0">
              <a:buNone/>
            </a:pPr>
            <a:r>
              <a:rPr lang="en-US" sz="1100" b="1" dirty="0">
                <a:solidFill>
                  <a:srgbClr val="6E7796"/>
                </a:solidFill>
                <a:latin typeface="맑은 고딕" pitchFamily="34" charset="0"/>
                <a:ea typeface="맑은 고딕" pitchFamily="34" charset="-122"/>
                <a:cs typeface="맑은 고딕" pitchFamily="34" charset="-120"/>
              </a:rPr>
              <a:t>   서비스 핵심 기능 설명 및 시연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실시간 안내 — 지금 어디쯤인지, 어디서 쉴 수 있는지</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타는 곳부터 도착지까지를 한 화면 타임라인으로. 각 지점의 시설과 근처 쉼터를 같이 봅니다</a:t>
            </a:r>
            <a:endParaRPr lang="en-US" sz="1300" dirty="0"/>
          </a:p>
        </p:txBody>
      </p:sp>
      <p:pic>
        <p:nvPicPr>
          <p:cNvPr id="5" name="Image 0" descr="C:\Users\hyeon\AppData\Local\Temp\claude\C--Users-hyeon-Desktop-projects-chuncheon-busstop\0f55358b-f5eb-4845-9df0-56fc6a2517cf\scratchpad\deck\shots\02_live_timeline.png">    </p:cNvPr>
          <p:cNvPicPr>
            <a:picLocks noChangeAspect="1"/>
          </p:cNvPicPr>
          <p:nvPr/>
        </p:nvPicPr>
        <p:blipFill>
          <a:blip r:embed="rId1"/>
          <a:stretch>
            <a:fillRect/>
          </a:stretch>
        </p:blipFill>
        <p:spPr>
          <a:xfrm>
            <a:off x="704088" y="1810512"/>
            <a:ext cx="1898419" cy="4114800"/>
          </a:xfrm>
          <a:prstGeom prst="rect">
            <a:avLst/>
          </a:prstGeom>
        </p:spPr>
      </p:pic>
      <p:sp>
        <p:nvSpPr>
          <p:cNvPr id="6" name="Text 3"/>
          <p:cNvSpPr/>
          <p:nvPr/>
        </p:nvSpPr>
        <p:spPr>
          <a:xfrm>
            <a:off x="429768" y="5980176"/>
            <a:ext cx="2447059"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가는 길 안내 (GPS 추종 타임라인)</a:t>
            </a:r>
            <a:endParaRPr lang="en-US" sz="950" dirty="0"/>
          </a:p>
        </p:txBody>
      </p:sp>
      <p:sp>
        <p:nvSpPr>
          <p:cNvPr id="7" name="Text 4"/>
          <p:cNvSpPr/>
          <p:nvPr/>
        </p:nvSpPr>
        <p:spPr>
          <a:xfrm>
            <a:off x="3151147" y="1847088"/>
            <a:ext cx="8473620" cy="292608"/>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무엇을 보여드리나요</a:t>
            </a:r>
            <a:endParaRPr lang="en-US" sz="1200" dirty="0"/>
          </a:p>
        </p:txBody>
      </p:sp>
      <p:sp>
        <p:nvSpPr>
          <p:cNvPr id="8" name="Shape 5"/>
          <p:cNvSpPr/>
          <p:nvPr/>
        </p:nvSpPr>
        <p:spPr>
          <a:xfrm>
            <a:off x="3151147" y="2267712"/>
            <a:ext cx="8473620" cy="621792"/>
          </a:xfrm>
          <a:prstGeom prst="roundRect">
            <a:avLst>
              <a:gd name="adj" fmla="val 14706"/>
            </a:avLst>
          </a:prstGeom>
          <a:solidFill>
            <a:srgbClr val="F4F6FC"/>
          </a:solidFill>
          <a:ln w="12700">
            <a:solidFill>
              <a:srgbClr val="D4DAEE"/>
            </a:solidFill>
            <a:prstDash val="solid"/>
          </a:ln>
        </p:spPr>
      </p:sp>
      <p:sp>
        <p:nvSpPr>
          <p:cNvPr id="9" name="Text 6"/>
          <p:cNvSpPr/>
          <p:nvPr/>
        </p:nvSpPr>
        <p:spPr>
          <a:xfrm>
            <a:off x="3388891" y="2340864"/>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탈 버스가 몇 분 뒤 오는지</a:t>
            </a:r>
            <a:endParaRPr lang="en-US" sz="1200" dirty="0"/>
          </a:p>
        </p:txBody>
      </p:sp>
      <p:sp>
        <p:nvSpPr>
          <p:cNvPr id="10" name="Text 7"/>
          <p:cNvSpPr/>
          <p:nvPr/>
        </p:nvSpPr>
        <p:spPr>
          <a:xfrm>
            <a:off x="3388891" y="2587752"/>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국토부 TAGO 실시간 도착정보를 30초마다 갱신합니다</a:t>
            </a:r>
            <a:endParaRPr lang="en-US" sz="1000" dirty="0"/>
          </a:p>
        </p:txBody>
      </p:sp>
      <p:sp>
        <p:nvSpPr>
          <p:cNvPr id="11" name="Shape 8"/>
          <p:cNvSpPr/>
          <p:nvPr/>
        </p:nvSpPr>
        <p:spPr>
          <a:xfrm>
            <a:off x="3151147" y="2980944"/>
            <a:ext cx="8473620" cy="621792"/>
          </a:xfrm>
          <a:prstGeom prst="roundRect">
            <a:avLst>
              <a:gd name="adj" fmla="val 14706"/>
            </a:avLst>
          </a:prstGeom>
          <a:solidFill>
            <a:srgbClr val="F4F6FC"/>
          </a:solidFill>
          <a:ln w="12700">
            <a:solidFill>
              <a:srgbClr val="D4DAEE"/>
            </a:solidFill>
            <a:prstDash val="solid"/>
          </a:ln>
        </p:spPr>
      </p:sp>
      <p:sp>
        <p:nvSpPr>
          <p:cNvPr id="12" name="Text 9"/>
          <p:cNvSpPr/>
          <p:nvPr/>
        </p:nvSpPr>
        <p:spPr>
          <a:xfrm>
            <a:off x="3388891" y="3054096"/>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각 지점의 기다리기 환경</a:t>
            </a:r>
            <a:endParaRPr lang="en-US" sz="1200" dirty="0"/>
          </a:p>
        </p:txBody>
      </p:sp>
      <p:sp>
        <p:nvSpPr>
          <p:cNvPr id="13" name="Text 10"/>
          <p:cNvSpPr/>
          <p:nvPr/>
        </p:nvSpPr>
        <p:spPr>
          <a:xfrm>
            <a:off x="3388891" y="3300984"/>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지붕 · 의자 · 쉘터 · 안내기 · 조명을 단어 칩으로 — 흐린 칩은 '없음'</a:t>
            </a:r>
            <a:endParaRPr lang="en-US" sz="1000" dirty="0"/>
          </a:p>
        </p:txBody>
      </p:sp>
      <p:sp>
        <p:nvSpPr>
          <p:cNvPr id="14" name="Shape 11"/>
          <p:cNvSpPr/>
          <p:nvPr/>
        </p:nvSpPr>
        <p:spPr>
          <a:xfrm>
            <a:off x="3151147" y="3694176"/>
            <a:ext cx="8473620" cy="621792"/>
          </a:xfrm>
          <a:prstGeom prst="roundRect">
            <a:avLst>
              <a:gd name="adj" fmla="val 14706"/>
            </a:avLst>
          </a:prstGeom>
          <a:solidFill>
            <a:srgbClr val="F4F6FC"/>
          </a:solidFill>
          <a:ln w="12700">
            <a:solidFill>
              <a:srgbClr val="D4DAEE"/>
            </a:solidFill>
            <a:prstDash val="solid"/>
          </a:ln>
        </p:spPr>
      </p:sp>
      <p:sp>
        <p:nvSpPr>
          <p:cNvPr id="15" name="Text 12"/>
          <p:cNvSpPr/>
          <p:nvPr/>
        </p:nvSpPr>
        <p:spPr>
          <a:xfrm>
            <a:off x="3388891" y="3767328"/>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버스 안에서도 위치를 따라옵니다</a:t>
            </a:r>
            <a:endParaRPr lang="en-US" sz="1200" dirty="0"/>
          </a:p>
        </p:txBody>
      </p:sp>
      <p:sp>
        <p:nvSpPr>
          <p:cNvPr id="16" name="Text 13"/>
          <p:cNvSpPr/>
          <p:nvPr/>
        </p:nvSpPr>
        <p:spPr>
          <a:xfrm>
            <a:off x="3388891" y="4014216"/>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GPS로 경유 정류장을 매칭해 '하차까지 N개 정류장'을 표시</a:t>
            </a:r>
            <a:endParaRPr lang="en-US" sz="1000" dirty="0"/>
          </a:p>
        </p:txBody>
      </p:sp>
      <p:sp>
        <p:nvSpPr>
          <p:cNvPr id="17" name="Shape 14"/>
          <p:cNvSpPr/>
          <p:nvPr/>
        </p:nvSpPr>
        <p:spPr>
          <a:xfrm>
            <a:off x="3151147" y="4407408"/>
            <a:ext cx="8473620" cy="621792"/>
          </a:xfrm>
          <a:prstGeom prst="roundRect">
            <a:avLst>
              <a:gd name="adj" fmla="val 14706"/>
            </a:avLst>
          </a:prstGeom>
          <a:solidFill>
            <a:srgbClr val="F4F6FC"/>
          </a:solidFill>
          <a:ln w="12700">
            <a:solidFill>
              <a:srgbClr val="D4DAEE"/>
            </a:solidFill>
            <a:prstDash val="solid"/>
          </a:ln>
        </p:spPr>
      </p:sp>
      <p:sp>
        <p:nvSpPr>
          <p:cNvPr id="18" name="Text 15"/>
          <p:cNvSpPr/>
          <p:nvPr/>
        </p:nvSpPr>
        <p:spPr>
          <a:xfrm>
            <a:off x="3388891" y="4480560"/>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50m 안에 쉼터가 있으면 함께</a:t>
            </a:r>
            <a:endParaRPr lang="en-US" sz="1200" dirty="0"/>
          </a:p>
        </p:txBody>
      </p:sp>
      <p:sp>
        <p:nvSpPr>
          <p:cNvPr id="19" name="Text 16"/>
          <p:cNvSpPr/>
          <p:nvPr/>
        </p:nvSpPr>
        <p:spPr>
          <a:xfrm>
            <a:off x="3388891" y="4727448"/>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타는 곳·내리는 곳·도착지 어디든, 잠깐 들어갈 곳을 지도 핀으로</a:t>
            </a:r>
            <a:endParaRPr lang="en-US" sz="1000" dirty="0"/>
          </a:p>
        </p:txBody>
      </p:sp>
      <p:sp>
        <p:nvSpPr>
          <p:cNvPr id="20" name="Text 17"/>
          <p:cNvSpPr/>
          <p:nvPr/>
        </p:nvSpPr>
        <p:spPr>
          <a:xfrm>
            <a:off x="3151147" y="5266944"/>
            <a:ext cx="1188720" cy="310896"/>
          </a:xfrm>
          <a:prstGeom prst="rect">
            <a:avLst/>
          </a:prstGeom>
          <a:noFill/>
          <a:ln/>
        </p:spPr>
        <p:txBody>
          <a:bodyPr wrap="square" lIns="0" tIns="0" rIns="0" bIns="0" rtlCol="0" anchor="ctr"/>
          <a:lstStyle/>
          <a:p>
            <a:pPr indent="0" marL="0">
              <a:buNone/>
            </a:pPr>
            <a:r>
              <a:rPr lang="en-US" sz="1050" b="1" dirty="0">
                <a:solidFill>
                  <a:srgbClr val="6E7796"/>
                </a:solidFill>
                <a:latin typeface="맑은 고딕" pitchFamily="34" charset="0"/>
                <a:ea typeface="맑은 고딕" pitchFamily="34" charset="-122"/>
                <a:cs typeface="맑은 고딕" pitchFamily="34" charset="-120"/>
              </a:rPr>
              <a:t>심사 포인트</a:t>
            </a:r>
            <a:endParaRPr lang="en-US" sz="1050" dirty="0"/>
          </a:p>
        </p:txBody>
      </p:sp>
      <p:sp>
        <p:nvSpPr>
          <p:cNvPr id="21" name="Shape 18"/>
          <p:cNvSpPr/>
          <p:nvPr/>
        </p:nvSpPr>
        <p:spPr>
          <a:xfrm>
            <a:off x="4385587" y="5266944"/>
            <a:ext cx="2321620" cy="310896"/>
          </a:xfrm>
          <a:prstGeom prst="roundRect">
            <a:avLst>
              <a:gd name="adj" fmla="val 23529"/>
            </a:avLst>
          </a:prstGeom>
          <a:solidFill>
            <a:srgbClr val="E7EBF8"/>
          </a:solidFill>
          <a:ln w="12700">
            <a:solidFill>
              <a:srgbClr val="E7EBF8"/>
            </a:solidFill>
            <a:prstDash val="solid"/>
          </a:ln>
        </p:spPr>
      </p:sp>
      <p:sp>
        <p:nvSpPr>
          <p:cNvPr id="22" name="Text 19"/>
          <p:cNvSpPr/>
          <p:nvPr/>
        </p:nvSpPr>
        <p:spPr>
          <a:xfrm>
            <a:off x="438558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실시간 API 결합</a:t>
            </a:r>
            <a:endParaRPr lang="en-US" sz="950" dirty="0"/>
          </a:p>
        </p:txBody>
      </p:sp>
      <p:sp>
        <p:nvSpPr>
          <p:cNvPr id="23" name="Shape 20"/>
          <p:cNvSpPr/>
          <p:nvPr/>
        </p:nvSpPr>
        <p:spPr>
          <a:xfrm>
            <a:off x="6798647" y="5266944"/>
            <a:ext cx="2321620" cy="310896"/>
          </a:xfrm>
          <a:prstGeom prst="roundRect">
            <a:avLst>
              <a:gd name="adj" fmla="val 23529"/>
            </a:avLst>
          </a:prstGeom>
          <a:solidFill>
            <a:srgbClr val="E7EBF8"/>
          </a:solidFill>
          <a:ln w="12700">
            <a:solidFill>
              <a:srgbClr val="E7EBF8"/>
            </a:solidFill>
            <a:prstDash val="solid"/>
          </a:ln>
        </p:spPr>
      </p:sp>
      <p:sp>
        <p:nvSpPr>
          <p:cNvPr id="24" name="Text 21"/>
          <p:cNvSpPr/>
          <p:nvPr/>
        </p:nvSpPr>
        <p:spPr>
          <a:xfrm>
            <a:off x="679864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폭염 노출 시간 단축</a:t>
            </a:r>
            <a:endParaRPr lang="en-US" sz="950" dirty="0"/>
          </a:p>
        </p:txBody>
      </p:sp>
      <p:sp>
        <p:nvSpPr>
          <p:cNvPr id="25" name="Shape 22"/>
          <p:cNvSpPr/>
          <p:nvPr/>
        </p:nvSpPr>
        <p:spPr>
          <a:xfrm>
            <a:off x="9211707" y="5266944"/>
            <a:ext cx="2321620" cy="310896"/>
          </a:xfrm>
          <a:prstGeom prst="roundRect">
            <a:avLst>
              <a:gd name="adj" fmla="val 23529"/>
            </a:avLst>
          </a:prstGeom>
          <a:solidFill>
            <a:srgbClr val="E7EBF8"/>
          </a:solidFill>
          <a:ln w="12700">
            <a:solidFill>
              <a:srgbClr val="E7EBF8"/>
            </a:solidFill>
            <a:prstDash val="solid"/>
          </a:ln>
        </p:spPr>
      </p:sp>
      <p:sp>
        <p:nvSpPr>
          <p:cNvPr id="26" name="Text 23"/>
          <p:cNvSpPr/>
          <p:nvPr/>
        </p:nvSpPr>
        <p:spPr>
          <a:xfrm>
            <a:off x="921170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정직한 실패 처리</a:t>
            </a:r>
            <a:endParaRPr lang="en-US" sz="950" dirty="0"/>
          </a:p>
        </p:txBody>
      </p:sp>
      <p:sp>
        <p:nvSpPr>
          <p:cNvPr id="27" name="Text 24"/>
          <p:cNvSpPr/>
          <p:nvPr/>
        </p:nvSpPr>
        <p:spPr>
          <a:xfrm>
            <a:off x="3151147" y="5705856"/>
            <a:ext cx="8473620" cy="274320"/>
          </a:xfrm>
          <a:prstGeom prst="rect">
            <a:avLst/>
          </a:prstGeom>
          <a:noFill/>
          <a:ln/>
        </p:spPr>
        <p:txBody>
          <a:bodyPr wrap="square" lIns="0" tIns="0" rIns="0" bIns="0" rtlCol="0" anchor="ctr"/>
          <a:lstStyle/>
          <a:p>
            <a:pPr indent="0" marL="0">
              <a:buNone/>
            </a:pPr>
            <a:r>
              <a:rPr lang="en-US" sz="900" dirty="0">
                <a:solidFill>
                  <a:srgbClr val="6E7796"/>
                </a:solidFill>
                <a:latin typeface="맑은 고딕" pitchFamily="34" charset="0"/>
                <a:ea typeface="맑은 고딕" pitchFamily="34" charset="-122"/>
                <a:cs typeface="맑은 고딕" pitchFamily="34" charset="-120"/>
              </a:rPr>
              <a:t>※ 실제 앱 화면을 그대로 캡처한 것입니다 (목업·합성 없음)</a:t>
            </a:r>
            <a:endParaRPr lang="en-US" sz="900" dirty="0"/>
          </a:p>
        </p:txBody>
      </p:sp>
      <p:sp>
        <p:nvSpPr>
          <p:cNvPr id="28" name="Text 2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9" name="Text 2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03</a:t>
            </a:r>
            <a:pPr indent="0" marL="0">
              <a:buNone/>
            </a:pPr>
            <a:r>
              <a:rPr lang="en-US" sz="1100" b="1" dirty="0">
                <a:solidFill>
                  <a:srgbClr val="6E7796"/>
                </a:solidFill>
                <a:latin typeface="맑은 고딕" pitchFamily="34" charset="0"/>
                <a:ea typeface="맑은 고딕" pitchFamily="34" charset="-122"/>
                <a:cs typeface="맑은 고딕" pitchFamily="34" charset="-120"/>
              </a:rPr>
              <a:t>   서비스 핵심 기능 설명 및 시연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정류장 상세와 무더위쉼터 지도</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'여기서 기다려도 되나'에 답하고, 아니면 갈 곳을 알려줍니다</a:t>
            </a:r>
            <a:endParaRPr lang="en-US" sz="1300" dirty="0"/>
          </a:p>
        </p:txBody>
      </p:sp>
      <p:pic>
        <p:nvPicPr>
          <p:cNvPr id="5" name="Image 0" descr="C:\Users\hyeon\AppData\Local\Temp\claude\C--Users-hyeon-Desktop-projects-chuncheon-busstop\0f55358b-f5eb-4845-9df0-56fc6a2517cf\scratchpad\deck\shots\04_stop_detail.png">    </p:cNvPr>
          <p:cNvPicPr>
            <a:picLocks noChangeAspect="1"/>
          </p:cNvPicPr>
          <p:nvPr/>
        </p:nvPicPr>
        <p:blipFill>
          <a:blip r:embed="rId1"/>
          <a:stretch>
            <a:fillRect/>
          </a:stretch>
        </p:blipFill>
        <p:spPr>
          <a:xfrm>
            <a:off x="704088" y="1847088"/>
            <a:ext cx="1835138" cy="3977640"/>
          </a:xfrm>
          <a:prstGeom prst="rect">
            <a:avLst/>
          </a:prstGeom>
        </p:spPr>
      </p:pic>
      <p:sp>
        <p:nvSpPr>
          <p:cNvPr id="6" name="Text 3"/>
          <p:cNvSpPr/>
          <p:nvPr/>
        </p:nvSpPr>
        <p:spPr>
          <a:xfrm>
            <a:off x="429768" y="5879592"/>
            <a:ext cx="2383778"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① 정류장 상세 · 기다리기 환경</a:t>
            </a:r>
            <a:endParaRPr lang="en-US" sz="950" dirty="0"/>
          </a:p>
        </p:txBody>
      </p:sp>
      <p:pic>
        <p:nvPicPr>
          <p:cNvPr id="7" name="Image 1" descr="C:\Users\hyeon\AppData\Local\Temp\claude\C--Users-hyeon-Desktop-projects-chuncheon-busstop\0f55358b-f5eb-4845-9df0-56fc6a2517cf\scratchpad\deck\shots\03_map_shelter.png">    </p:cNvPr>
          <p:cNvPicPr>
            <a:picLocks noChangeAspect="1"/>
          </p:cNvPicPr>
          <p:nvPr/>
        </p:nvPicPr>
        <p:blipFill>
          <a:blip r:embed="rId2"/>
          <a:stretch>
            <a:fillRect/>
          </a:stretch>
        </p:blipFill>
        <p:spPr>
          <a:xfrm>
            <a:off x="2923274" y="1847088"/>
            <a:ext cx="1835138" cy="3977640"/>
          </a:xfrm>
          <a:prstGeom prst="rect">
            <a:avLst/>
          </a:prstGeom>
        </p:spPr>
      </p:pic>
      <p:sp>
        <p:nvSpPr>
          <p:cNvPr id="8" name="Text 4"/>
          <p:cNvSpPr/>
          <p:nvPr/>
        </p:nvSpPr>
        <p:spPr>
          <a:xfrm>
            <a:off x="2648954" y="5879592"/>
            <a:ext cx="2383778"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② 쉼터 탭 · 무더위쉼터 226곳</a:t>
            </a:r>
            <a:endParaRPr lang="en-US" sz="950" dirty="0"/>
          </a:p>
        </p:txBody>
      </p:sp>
      <p:sp>
        <p:nvSpPr>
          <p:cNvPr id="9" name="Text 5"/>
          <p:cNvSpPr/>
          <p:nvPr/>
        </p:nvSpPr>
        <p:spPr>
          <a:xfrm>
            <a:off x="5307053" y="1847088"/>
            <a:ext cx="6317714" cy="292608"/>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무엇을 보여드리나요</a:t>
            </a:r>
            <a:endParaRPr lang="en-US" sz="1200" dirty="0"/>
          </a:p>
        </p:txBody>
      </p:sp>
      <p:sp>
        <p:nvSpPr>
          <p:cNvPr id="10" name="Shape 6"/>
          <p:cNvSpPr/>
          <p:nvPr/>
        </p:nvSpPr>
        <p:spPr>
          <a:xfrm>
            <a:off x="5307053" y="2267712"/>
            <a:ext cx="6317714" cy="621792"/>
          </a:xfrm>
          <a:prstGeom prst="roundRect">
            <a:avLst>
              <a:gd name="adj" fmla="val 14706"/>
            </a:avLst>
          </a:prstGeom>
          <a:solidFill>
            <a:srgbClr val="F4F6FC"/>
          </a:solidFill>
          <a:ln w="12700">
            <a:solidFill>
              <a:srgbClr val="D4DAEE"/>
            </a:solidFill>
            <a:prstDash val="solid"/>
          </a:ln>
        </p:spPr>
      </p:sp>
      <p:sp>
        <p:nvSpPr>
          <p:cNvPr id="11" name="Text 7"/>
          <p:cNvSpPr/>
          <p:nvPr/>
        </p:nvSpPr>
        <p:spPr>
          <a:xfrm>
            <a:off x="5544797" y="2340864"/>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시설을 단어로 말합니다</a:t>
            </a:r>
            <a:endParaRPr lang="en-US" sz="1200" dirty="0"/>
          </a:p>
        </p:txBody>
      </p:sp>
      <p:sp>
        <p:nvSpPr>
          <p:cNvPr id="12" name="Text 8"/>
          <p:cNvSpPr/>
          <p:nvPr/>
        </p:nvSpPr>
        <p:spPr>
          <a:xfrm>
            <a:off x="5544797" y="2587752"/>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'지붕 없음 · 의자 있음 · 쉘터 없음 · 안내기 있음 · 조명 있음'</a:t>
            </a:r>
            <a:endParaRPr lang="en-US" sz="1000" dirty="0"/>
          </a:p>
        </p:txBody>
      </p:sp>
      <p:sp>
        <p:nvSpPr>
          <p:cNvPr id="13" name="Shape 9"/>
          <p:cNvSpPr/>
          <p:nvPr/>
        </p:nvSpPr>
        <p:spPr>
          <a:xfrm>
            <a:off x="5307053" y="2980944"/>
            <a:ext cx="6317714" cy="621792"/>
          </a:xfrm>
          <a:prstGeom prst="roundRect">
            <a:avLst>
              <a:gd name="adj" fmla="val 14706"/>
            </a:avLst>
          </a:prstGeom>
          <a:solidFill>
            <a:srgbClr val="F4F6FC"/>
          </a:solidFill>
          <a:ln w="12700">
            <a:solidFill>
              <a:srgbClr val="D4DAEE"/>
            </a:solidFill>
            <a:prstDash val="solid"/>
          </a:ln>
        </p:spPr>
      </p:sp>
      <p:sp>
        <p:nvSpPr>
          <p:cNvPr id="14" name="Text 10"/>
          <p:cNvSpPr/>
          <p:nvPr/>
        </p:nvSpPr>
        <p:spPr>
          <a:xfrm>
            <a:off x="5544797" y="3054096"/>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없으면 근처 무더위쉼터로</a:t>
            </a:r>
            <a:endParaRPr lang="en-US" sz="1200" dirty="0"/>
          </a:p>
        </p:txBody>
      </p:sp>
      <p:sp>
        <p:nvSpPr>
          <p:cNvPr id="15" name="Text 11"/>
          <p:cNvSpPr/>
          <p:nvPr/>
        </p:nvSpPr>
        <p:spPr>
          <a:xfrm>
            <a:off x="5544797" y="3300984"/>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최근접 쉼터를 이름과 거리로 — 이 정류장은 GS25편의점춘천승리점</a:t>
            </a:r>
            <a:endParaRPr lang="en-US" sz="1000" dirty="0"/>
          </a:p>
        </p:txBody>
      </p:sp>
      <p:sp>
        <p:nvSpPr>
          <p:cNvPr id="16" name="Shape 12"/>
          <p:cNvSpPr/>
          <p:nvPr/>
        </p:nvSpPr>
        <p:spPr>
          <a:xfrm>
            <a:off x="5307053" y="3694176"/>
            <a:ext cx="6317714" cy="621792"/>
          </a:xfrm>
          <a:prstGeom prst="roundRect">
            <a:avLst>
              <a:gd name="adj" fmla="val 14706"/>
            </a:avLst>
          </a:prstGeom>
          <a:solidFill>
            <a:srgbClr val="F4F6FC"/>
          </a:solidFill>
          <a:ln w="12700">
            <a:solidFill>
              <a:srgbClr val="D4DAEE"/>
            </a:solidFill>
            <a:prstDash val="solid"/>
          </a:ln>
        </p:spPr>
      </p:sp>
      <p:sp>
        <p:nvSpPr>
          <p:cNvPr id="17" name="Text 13"/>
          <p:cNvSpPr/>
          <p:nvPr/>
        </p:nvSpPr>
        <p:spPr>
          <a:xfrm>
            <a:off x="5544797" y="3767328"/>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지도는 쉼터 전용</a:t>
            </a:r>
            <a:endParaRPr lang="en-US" sz="1200" dirty="0"/>
          </a:p>
        </p:txBody>
      </p:sp>
      <p:sp>
        <p:nvSpPr>
          <p:cNvPr id="18" name="Text 14"/>
          <p:cNvSpPr/>
          <p:nvPr/>
        </p:nvSpPr>
        <p:spPr>
          <a:xfrm>
            <a:off x="5544797" y="4014216"/>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정류장 핀을 겹치지 않습니다. 초록 핀 하나만 찾으면 됩니다</a:t>
            </a:r>
            <a:endParaRPr lang="en-US" sz="1000" dirty="0"/>
          </a:p>
        </p:txBody>
      </p:sp>
      <p:sp>
        <p:nvSpPr>
          <p:cNvPr id="19" name="Shape 15"/>
          <p:cNvSpPr/>
          <p:nvPr/>
        </p:nvSpPr>
        <p:spPr>
          <a:xfrm>
            <a:off x="5307053" y="4407408"/>
            <a:ext cx="6317714" cy="621792"/>
          </a:xfrm>
          <a:prstGeom prst="roundRect">
            <a:avLst>
              <a:gd name="adj" fmla="val 14706"/>
            </a:avLst>
          </a:prstGeom>
          <a:solidFill>
            <a:srgbClr val="F4F6FC"/>
          </a:solidFill>
          <a:ln w="12700">
            <a:solidFill>
              <a:srgbClr val="D4DAEE"/>
            </a:solidFill>
            <a:prstDash val="solid"/>
          </a:ln>
        </p:spPr>
      </p:sp>
      <p:sp>
        <p:nvSpPr>
          <p:cNvPr id="20" name="Text 16"/>
          <p:cNvSpPr/>
          <p:nvPr/>
        </p:nvSpPr>
        <p:spPr>
          <a:xfrm>
            <a:off x="5544797" y="4480560"/>
            <a:ext cx="5860514"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지금 문을 열었는지까지</a:t>
            </a:r>
            <a:endParaRPr lang="en-US" sz="1200" dirty="0"/>
          </a:p>
        </p:txBody>
      </p:sp>
      <p:sp>
        <p:nvSpPr>
          <p:cNvPr id="21" name="Text 17"/>
          <p:cNvSpPr/>
          <p:nvPr/>
        </p:nvSpPr>
        <p:spPr>
          <a:xfrm>
            <a:off x="5544797" y="4727448"/>
            <a:ext cx="5860514"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운영 요일·시간으로 판정 — 자정을 넘겨 여는 곳도 정확히</a:t>
            </a:r>
            <a:endParaRPr lang="en-US" sz="1000" dirty="0"/>
          </a:p>
        </p:txBody>
      </p:sp>
      <p:sp>
        <p:nvSpPr>
          <p:cNvPr id="22" name="Text 18"/>
          <p:cNvSpPr/>
          <p:nvPr/>
        </p:nvSpPr>
        <p:spPr>
          <a:xfrm>
            <a:off x="5307053" y="5266944"/>
            <a:ext cx="1188720" cy="310896"/>
          </a:xfrm>
          <a:prstGeom prst="rect">
            <a:avLst/>
          </a:prstGeom>
          <a:noFill/>
          <a:ln/>
        </p:spPr>
        <p:txBody>
          <a:bodyPr wrap="square" lIns="0" tIns="0" rIns="0" bIns="0" rtlCol="0" anchor="ctr"/>
          <a:lstStyle/>
          <a:p>
            <a:pPr indent="0" marL="0">
              <a:buNone/>
            </a:pPr>
            <a:r>
              <a:rPr lang="en-US" sz="1050" b="1" dirty="0">
                <a:solidFill>
                  <a:srgbClr val="6E7796"/>
                </a:solidFill>
                <a:latin typeface="맑은 고딕" pitchFamily="34" charset="0"/>
                <a:ea typeface="맑은 고딕" pitchFamily="34" charset="-122"/>
                <a:cs typeface="맑은 고딕" pitchFamily="34" charset="-120"/>
              </a:rPr>
              <a:t>심사 포인트</a:t>
            </a:r>
            <a:endParaRPr lang="en-US" sz="1050" dirty="0"/>
          </a:p>
        </p:txBody>
      </p:sp>
      <p:sp>
        <p:nvSpPr>
          <p:cNvPr id="23" name="Shape 19"/>
          <p:cNvSpPr/>
          <p:nvPr/>
        </p:nvSpPr>
        <p:spPr>
          <a:xfrm>
            <a:off x="6541493" y="5266944"/>
            <a:ext cx="1602985" cy="310896"/>
          </a:xfrm>
          <a:prstGeom prst="roundRect">
            <a:avLst>
              <a:gd name="adj" fmla="val 23529"/>
            </a:avLst>
          </a:prstGeom>
          <a:solidFill>
            <a:srgbClr val="E7EBF8"/>
          </a:solidFill>
          <a:ln w="12700">
            <a:solidFill>
              <a:srgbClr val="E7EBF8"/>
            </a:solidFill>
            <a:prstDash val="solid"/>
          </a:ln>
        </p:spPr>
      </p:sp>
      <p:sp>
        <p:nvSpPr>
          <p:cNvPr id="24" name="Text 20"/>
          <p:cNvSpPr/>
          <p:nvPr/>
        </p:nvSpPr>
        <p:spPr>
          <a:xfrm>
            <a:off x="6541493"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쉼터 데이터 시각화</a:t>
            </a:r>
            <a:endParaRPr lang="en-US" sz="950" dirty="0"/>
          </a:p>
        </p:txBody>
      </p:sp>
      <p:sp>
        <p:nvSpPr>
          <p:cNvPr id="25" name="Shape 21"/>
          <p:cNvSpPr/>
          <p:nvPr/>
        </p:nvSpPr>
        <p:spPr>
          <a:xfrm>
            <a:off x="8235918" y="5266944"/>
            <a:ext cx="1602985" cy="310896"/>
          </a:xfrm>
          <a:prstGeom prst="roundRect">
            <a:avLst>
              <a:gd name="adj" fmla="val 23529"/>
            </a:avLst>
          </a:prstGeom>
          <a:solidFill>
            <a:srgbClr val="E7EBF8"/>
          </a:solidFill>
          <a:ln w="12700">
            <a:solidFill>
              <a:srgbClr val="E7EBF8"/>
            </a:solidFill>
            <a:prstDash val="solid"/>
          </a:ln>
        </p:spPr>
      </p:sp>
      <p:sp>
        <p:nvSpPr>
          <p:cNvPr id="26" name="Text 22"/>
          <p:cNvSpPr/>
          <p:nvPr/>
        </p:nvSpPr>
        <p:spPr>
          <a:xfrm>
            <a:off x="8235918"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어르신용 단순 지도</a:t>
            </a:r>
            <a:endParaRPr lang="en-US" sz="950" dirty="0"/>
          </a:p>
        </p:txBody>
      </p:sp>
      <p:sp>
        <p:nvSpPr>
          <p:cNvPr id="27" name="Shape 23"/>
          <p:cNvSpPr/>
          <p:nvPr/>
        </p:nvSpPr>
        <p:spPr>
          <a:xfrm>
            <a:off x="9930342" y="5266944"/>
            <a:ext cx="1602985" cy="310896"/>
          </a:xfrm>
          <a:prstGeom prst="roundRect">
            <a:avLst>
              <a:gd name="adj" fmla="val 23529"/>
            </a:avLst>
          </a:prstGeom>
          <a:solidFill>
            <a:srgbClr val="E7EBF8"/>
          </a:solidFill>
          <a:ln w="12700">
            <a:solidFill>
              <a:srgbClr val="E7EBF8"/>
            </a:solidFill>
            <a:prstDash val="solid"/>
          </a:ln>
        </p:spPr>
      </p:sp>
      <p:sp>
        <p:nvSpPr>
          <p:cNvPr id="28" name="Text 24"/>
          <p:cNvSpPr/>
          <p:nvPr/>
        </p:nvSpPr>
        <p:spPr>
          <a:xfrm>
            <a:off x="9930342" y="5266944"/>
            <a:ext cx="1602985"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출처 라벨 표기</a:t>
            </a:r>
            <a:endParaRPr lang="en-US" sz="950" dirty="0"/>
          </a:p>
        </p:txBody>
      </p:sp>
      <p:sp>
        <p:nvSpPr>
          <p:cNvPr id="29" name="Text 25"/>
          <p:cNvSpPr/>
          <p:nvPr/>
        </p:nvSpPr>
        <p:spPr>
          <a:xfrm>
            <a:off x="5307053" y="5705856"/>
            <a:ext cx="6317714" cy="274320"/>
          </a:xfrm>
          <a:prstGeom prst="rect">
            <a:avLst/>
          </a:prstGeom>
          <a:noFill/>
          <a:ln/>
        </p:spPr>
        <p:txBody>
          <a:bodyPr wrap="square" lIns="0" tIns="0" rIns="0" bIns="0" rtlCol="0" anchor="ctr"/>
          <a:lstStyle/>
          <a:p>
            <a:pPr indent="0" marL="0">
              <a:buNone/>
            </a:pPr>
            <a:r>
              <a:rPr lang="en-US" sz="900" dirty="0">
                <a:solidFill>
                  <a:srgbClr val="6E7796"/>
                </a:solidFill>
                <a:latin typeface="맑은 고딕" pitchFamily="34" charset="0"/>
                <a:ea typeface="맑은 고딕" pitchFamily="34" charset="-122"/>
                <a:cs typeface="맑은 고딕" pitchFamily="34" charset="-120"/>
              </a:rPr>
              <a:t>※ 실제 앱 화면을 그대로 캡처한 것입니다 (목업·합성 없음)</a:t>
            </a:r>
            <a:endParaRPr lang="en-US" sz="900" dirty="0"/>
          </a:p>
        </p:txBody>
      </p:sp>
      <p:sp>
        <p:nvSpPr>
          <p:cNvPr id="30" name="Text 26"/>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1" name="Text 27"/>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03</a:t>
            </a:r>
            <a:pPr indent="0" marL="0">
              <a:buNone/>
            </a:pPr>
            <a:r>
              <a:rPr lang="en-US" sz="1100" b="1" dirty="0">
                <a:solidFill>
                  <a:srgbClr val="6E7796"/>
                </a:solidFill>
                <a:latin typeface="맑은 고딕" pitchFamily="34" charset="0"/>
                <a:ea typeface="맑은 고딕" pitchFamily="34" charset="-122"/>
                <a:cs typeface="맑은 고딕" pitchFamily="34" charset="-120"/>
              </a:rPr>
              <a:t>   서비스 핵심 기능 설명 및 시연</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사진 한 장이 다음 사람의 안내가 됩니다</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버튼 하나 · 글자 입력 0타. 안내 정확도를 시민이 직접 올립니다</a:t>
            </a:r>
            <a:endParaRPr lang="en-US" sz="1300" dirty="0"/>
          </a:p>
        </p:txBody>
      </p:sp>
      <p:pic>
        <p:nvPicPr>
          <p:cNvPr id="5" name="Image 0" descr="C:\Users\hyeon\AppData\Local\Temp\claude\C--Users-hyeon-Desktop-projects-chuncheon-busstop\0f55358b-f5eb-4845-9df0-56fc6a2517cf\scratchpad\deck\shots\05_report.png">    </p:cNvPr>
          <p:cNvPicPr>
            <a:picLocks noChangeAspect="1"/>
          </p:cNvPicPr>
          <p:nvPr/>
        </p:nvPicPr>
        <p:blipFill>
          <a:blip r:embed="rId1"/>
          <a:stretch>
            <a:fillRect/>
          </a:stretch>
        </p:blipFill>
        <p:spPr>
          <a:xfrm>
            <a:off x="704088" y="1810512"/>
            <a:ext cx="1898419" cy="4114800"/>
          </a:xfrm>
          <a:prstGeom prst="rect">
            <a:avLst/>
          </a:prstGeom>
        </p:spPr>
      </p:pic>
      <p:sp>
        <p:nvSpPr>
          <p:cNvPr id="6" name="Text 3"/>
          <p:cNvSpPr/>
          <p:nvPr/>
        </p:nvSpPr>
        <p:spPr>
          <a:xfrm>
            <a:off x="429768" y="5980176"/>
            <a:ext cx="2447059" cy="274320"/>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민원 탭 — 사진 찍기 한 번</a:t>
            </a:r>
            <a:endParaRPr lang="en-US" sz="950" dirty="0"/>
          </a:p>
        </p:txBody>
      </p:sp>
      <p:sp>
        <p:nvSpPr>
          <p:cNvPr id="7" name="Text 4"/>
          <p:cNvSpPr/>
          <p:nvPr/>
        </p:nvSpPr>
        <p:spPr>
          <a:xfrm>
            <a:off x="3151147" y="1847088"/>
            <a:ext cx="8473620" cy="292608"/>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무엇을 보여드리나요</a:t>
            </a:r>
            <a:endParaRPr lang="en-US" sz="1200" dirty="0"/>
          </a:p>
        </p:txBody>
      </p:sp>
      <p:sp>
        <p:nvSpPr>
          <p:cNvPr id="8" name="Shape 5"/>
          <p:cNvSpPr/>
          <p:nvPr/>
        </p:nvSpPr>
        <p:spPr>
          <a:xfrm>
            <a:off x="3151147" y="2267712"/>
            <a:ext cx="8473620" cy="621792"/>
          </a:xfrm>
          <a:prstGeom prst="roundRect">
            <a:avLst>
              <a:gd name="adj" fmla="val 14706"/>
            </a:avLst>
          </a:prstGeom>
          <a:solidFill>
            <a:srgbClr val="F4F6FC"/>
          </a:solidFill>
          <a:ln w="12700">
            <a:solidFill>
              <a:srgbClr val="D4DAEE"/>
            </a:solidFill>
            <a:prstDash val="solid"/>
          </a:ln>
        </p:spPr>
      </p:sp>
      <p:sp>
        <p:nvSpPr>
          <p:cNvPr id="9" name="Text 6"/>
          <p:cNvSpPr/>
          <p:nvPr/>
        </p:nvSpPr>
        <p:spPr>
          <a:xfrm>
            <a:off x="3388891" y="2340864"/>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묻지 않습니다</a:t>
            </a:r>
            <a:endParaRPr lang="en-US" sz="1200" dirty="0"/>
          </a:p>
        </p:txBody>
      </p:sp>
      <p:sp>
        <p:nvSpPr>
          <p:cNvPr id="10" name="Text 7"/>
          <p:cNvSpPr/>
          <p:nvPr/>
        </p:nvSpPr>
        <p:spPr>
          <a:xfrm>
            <a:off x="3388891" y="2587752"/>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정류장은 촬영 위치(GPS)로 자동 매칭, 시각은 서버 타임스탬프</a:t>
            </a:r>
            <a:endParaRPr lang="en-US" sz="1000" dirty="0"/>
          </a:p>
        </p:txBody>
      </p:sp>
      <p:sp>
        <p:nvSpPr>
          <p:cNvPr id="11" name="Shape 8"/>
          <p:cNvSpPr/>
          <p:nvPr/>
        </p:nvSpPr>
        <p:spPr>
          <a:xfrm>
            <a:off x="3151147" y="2980944"/>
            <a:ext cx="8473620" cy="621792"/>
          </a:xfrm>
          <a:prstGeom prst="roundRect">
            <a:avLst>
              <a:gd name="adj" fmla="val 14706"/>
            </a:avLst>
          </a:prstGeom>
          <a:solidFill>
            <a:srgbClr val="F4F6FC"/>
          </a:solidFill>
          <a:ln w="12700">
            <a:solidFill>
              <a:srgbClr val="D4DAEE"/>
            </a:solidFill>
            <a:prstDash val="solid"/>
          </a:ln>
        </p:spPr>
      </p:sp>
      <p:sp>
        <p:nvSpPr>
          <p:cNvPr id="12" name="Text 9"/>
          <p:cNvSpPr/>
          <p:nvPr/>
        </p:nvSpPr>
        <p:spPr>
          <a:xfrm>
            <a:off x="3388891" y="3054096"/>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AI가 사진을 읽습니다</a:t>
            </a:r>
            <a:endParaRPr lang="en-US" sz="1200" dirty="0"/>
          </a:p>
        </p:txBody>
      </p:sp>
      <p:sp>
        <p:nvSpPr>
          <p:cNvPr id="13" name="Text 10"/>
          <p:cNvSpPr/>
          <p:nvPr/>
        </p:nvSpPr>
        <p:spPr>
          <a:xfrm>
            <a:off x="3388891" y="3300984"/>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그늘·의자·쉘터·안내기 유무 판독 + 민원 종류 분류(파손/고장/노후/청결)</a:t>
            </a:r>
            <a:endParaRPr lang="en-US" sz="1000" dirty="0"/>
          </a:p>
        </p:txBody>
      </p:sp>
      <p:sp>
        <p:nvSpPr>
          <p:cNvPr id="14" name="Shape 11"/>
          <p:cNvSpPr/>
          <p:nvPr/>
        </p:nvSpPr>
        <p:spPr>
          <a:xfrm>
            <a:off x="3151147" y="3694176"/>
            <a:ext cx="8473620" cy="621792"/>
          </a:xfrm>
          <a:prstGeom prst="roundRect">
            <a:avLst>
              <a:gd name="adj" fmla="val 14706"/>
            </a:avLst>
          </a:prstGeom>
          <a:solidFill>
            <a:srgbClr val="F4F6FC"/>
          </a:solidFill>
          <a:ln w="12700">
            <a:solidFill>
              <a:srgbClr val="D4DAEE"/>
            </a:solidFill>
            <a:prstDash val="solid"/>
          </a:ln>
        </p:spPr>
      </p:sp>
      <p:sp>
        <p:nvSpPr>
          <p:cNvPr id="15" name="Text 12"/>
          <p:cNvSpPr/>
          <p:nvPr/>
        </p:nvSpPr>
        <p:spPr>
          <a:xfrm>
            <a:off x="3388891" y="3767328"/>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판독 결과가 안내에 반영</a:t>
            </a:r>
            <a:endParaRPr lang="en-US" sz="1200" dirty="0"/>
          </a:p>
        </p:txBody>
      </p:sp>
      <p:sp>
        <p:nvSpPr>
          <p:cNvPr id="16" name="Text 13"/>
          <p:cNvSpPr/>
          <p:nvPr/>
        </p:nvSpPr>
        <p:spPr>
          <a:xfrm>
            <a:off x="3388891" y="4014216"/>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'미확인'이던 시설이 채워지고, 출처는 'AI 판독'으로 표기</a:t>
            </a:r>
            <a:endParaRPr lang="en-US" sz="1000" dirty="0"/>
          </a:p>
        </p:txBody>
      </p:sp>
      <p:sp>
        <p:nvSpPr>
          <p:cNvPr id="17" name="Shape 14"/>
          <p:cNvSpPr/>
          <p:nvPr/>
        </p:nvSpPr>
        <p:spPr>
          <a:xfrm>
            <a:off x="3151147" y="4407408"/>
            <a:ext cx="8473620" cy="621792"/>
          </a:xfrm>
          <a:prstGeom prst="roundRect">
            <a:avLst>
              <a:gd name="adj" fmla="val 14706"/>
            </a:avLst>
          </a:prstGeom>
          <a:solidFill>
            <a:srgbClr val="F4F6FC"/>
          </a:solidFill>
          <a:ln w="12700">
            <a:solidFill>
              <a:srgbClr val="D4DAEE"/>
            </a:solidFill>
            <a:prstDash val="solid"/>
          </a:ln>
        </p:spPr>
      </p:sp>
      <p:sp>
        <p:nvSpPr>
          <p:cNvPr id="18" name="Text 15"/>
          <p:cNvSpPr/>
          <p:nvPr/>
        </p:nvSpPr>
        <p:spPr>
          <a:xfrm>
            <a:off x="3388891" y="4480560"/>
            <a:ext cx="8016420" cy="256032"/>
          </a:xfrm>
          <a:prstGeom prst="rect">
            <a:avLst/>
          </a:prstGeom>
          <a:noFill/>
          <a:ln/>
        </p:spPr>
        <p:txBody>
          <a:bodyPr wrap="square" lIns="0" tIns="0" rIns="0" bIns="0" rtlCol="0" anchor="ctr"/>
          <a:lstStyle/>
          <a:p>
            <a:pPr indent="0" marL="0">
              <a:buNone/>
            </a:pPr>
            <a:r>
              <a:rPr lang="en-US" sz="1200" b="1" dirty="0">
                <a:solidFill>
                  <a:srgbClr val="141B33"/>
                </a:solidFill>
                <a:latin typeface="맑은 고딕" pitchFamily="34" charset="0"/>
                <a:ea typeface="맑은 고딕" pitchFamily="34" charset="-122"/>
                <a:cs typeface="맑은 고딕" pitchFamily="34" charset="-120"/>
              </a:rPr>
              <a:t>개인정보를 받지 않습니다</a:t>
            </a:r>
            <a:endParaRPr lang="en-US" sz="1200" dirty="0"/>
          </a:p>
        </p:txBody>
      </p:sp>
      <p:sp>
        <p:nvSpPr>
          <p:cNvPr id="19" name="Text 16"/>
          <p:cNvSpPr/>
          <p:nvPr/>
        </p:nvSpPr>
        <p:spPr>
          <a:xfrm>
            <a:off x="3388891" y="4727448"/>
            <a:ext cx="801642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닉네임·연락처 필드 자체가 없습니다 — 민원 채널로 써도 처리 부담 없음</a:t>
            </a:r>
            <a:endParaRPr lang="en-US" sz="1000" dirty="0"/>
          </a:p>
        </p:txBody>
      </p:sp>
      <p:sp>
        <p:nvSpPr>
          <p:cNvPr id="20" name="Text 17"/>
          <p:cNvSpPr/>
          <p:nvPr/>
        </p:nvSpPr>
        <p:spPr>
          <a:xfrm>
            <a:off x="3151147" y="5266944"/>
            <a:ext cx="1188720" cy="310896"/>
          </a:xfrm>
          <a:prstGeom prst="rect">
            <a:avLst/>
          </a:prstGeom>
          <a:noFill/>
          <a:ln/>
        </p:spPr>
        <p:txBody>
          <a:bodyPr wrap="square" lIns="0" tIns="0" rIns="0" bIns="0" rtlCol="0" anchor="ctr"/>
          <a:lstStyle/>
          <a:p>
            <a:pPr indent="0" marL="0">
              <a:buNone/>
            </a:pPr>
            <a:r>
              <a:rPr lang="en-US" sz="1050" b="1" dirty="0">
                <a:solidFill>
                  <a:srgbClr val="6E7796"/>
                </a:solidFill>
                <a:latin typeface="맑은 고딕" pitchFamily="34" charset="0"/>
                <a:ea typeface="맑은 고딕" pitchFamily="34" charset="-122"/>
                <a:cs typeface="맑은 고딕" pitchFamily="34" charset="-120"/>
              </a:rPr>
              <a:t>심사 포인트</a:t>
            </a:r>
            <a:endParaRPr lang="en-US" sz="1050" dirty="0"/>
          </a:p>
        </p:txBody>
      </p:sp>
      <p:sp>
        <p:nvSpPr>
          <p:cNvPr id="21" name="Shape 18"/>
          <p:cNvSpPr/>
          <p:nvPr/>
        </p:nvSpPr>
        <p:spPr>
          <a:xfrm>
            <a:off x="4385587" y="5266944"/>
            <a:ext cx="2321620" cy="310896"/>
          </a:xfrm>
          <a:prstGeom prst="roundRect">
            <a:avLst>
              <a:gd name="adj" fmla="val 23529"/>
            </a:avLst>
          </a:prstGeom>
          <a:solidFill>
            <a:srgbClr val="E7EBF8"/>
          </a:solidFill>
          <a:ln w="12700">
            <a:solidFill>
              <a:srgbClr val="E7EBF8"/>
            </a:solidFill>
            <a:prstDash val="solid"/>
          </a:ln>
        </p:spPr>
      </p:sp>
      <p:sp>
        <p:nvSpPr>
          <p:cNvPr id="22" name="Text 19"/>
          <p:cNvSpPr/>
          <p:nvPr/>
        </p:nvSpPr>
        <p:spPr>
          <a:xfrm>
            <a:off x="438558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생성형 AI 활용</a:t>
            </a:r>
            <a:endParaRPr lang="en-US" sz="950" dirty="0"/>
          </a:p>
        </p:txBody>
      </p:sp>
      <p:sp>
        <p:nvSpPr>
          <p:cNvPr id="23" name="Shape 20"/>
          <p:cNvSpPr/>
          <p:nvPr/>
        </p:nvSpPr>
        <p:spPr>
          <a:xfrm>
            <a:off x="6798647" y="5266944"/>
            <a:ext cx="2321620" cy="310896"/>
          </a:xfrm>
          <a:prstGeom prst="roundRect">
            <a:avLst>
              <a:gd name="adj" fmla="val 23529"/>
            </a:avLst>
          </a:prstGeom>
          <a:solidFill>
            <a:srgbClr val="E7EBF8"/>
          </a:solidFill>
          <a:ln w="12700">
            <a:solidFill>
              <a:srgbClr val="E7EBF8"/>
            </a:solidFill>
            <a:prstDash val="solid"/>
          </a:ln>
        </p:spPr>
      </p:sp>
      <p:sp>
        <p:nvSpPr>
          <p:cNvPr id="24" name="Text 21"/>
          <p:cNvSpPr/>
          <p:nvPr/>
        </p:nvSpPr>
        <p:spPr>
          <a:xfrm>
            <a:off x="679864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데이터 자가 갱신</a:t>
            </a:r>
            <a:endParaRPr lang="en-US" sz="950" dirty="0"/>
          </a:p>
        </p:txBody>
      </p:sp>
      <p:sp>
        <p:nvSpPr>
          <p:cNvPr id="25" name="Shape 22"/>
          <p:cNvSpPr/>
          <p:nvPr/>
        </p:nvSpPr>
        <p:spPr>
          <a:xfrm>
            <a:off x="9211707" y="5266944"/>
            <a:ext cx="2321620" cy="310896"/>
          </a:xfrm>
          <a:prstGeom prst="roundRect">
            <a:avLst>
              <a:gd name="adj" fmla="val 23529"/>
            </a:avLst>
          </a:prstGeom>
          <a:solidFill>
            <a:srgbClr val="E7EBF8"/>
          </a:solidFill>
          <a:ln w="12700">
            <a:solidFill>
              <a:srgbClr val="E7EBF8"/>
            </a:solidFill>
            <a:prstDash val="solid"/>
          </a:ln>
        </p:spPr>
      </p:sp>
      <p:sp>
        <p:nvSpPr>
          <p:cNvPr id="26" name="Text 23"/>
          <p:cNvSpPr/>
          <p:nvPr/>
        </p:nvSpPr>
        <p:spPr>
          <a:xfrm>
            <a:off x="9211707" y="5266944"/>
            <a:ext cx="2321620" cy="310896"/>
          </a:xfrm>
          <a:prstGeom prst="rect">
            <a:avLst/>
          </a:prstGeom>
          <a:noFill/>
          <a:ln/>
        </p:spPr>
        <p:txBody>
          <a:bodyPr wrap="square" lIns="0" tIns="0" rIns="0" bIns="0" rtlCol="0" anchor="ctr"/>
          <a:lstStyle/>
          <a:p>
            <a:pPr algn="ctr" indent="0" marL="0">
              <a:buNone/>
            </a:pPr>
            <a:r>
              <a:rPr lang="en-US" sz="950" b="1" dirty="0">
                <a:solidFill>
                  <a:srgbClr val="001871"/>
                </a:solidFill>
                <a:latin typeface="맑은 고딕" pitchFamily="34" charset="0"/>
                <a:ea typeface="맑은 고딕" pitchFamily="34" charset="-122"/>
                <a:cs typeface="맑은 고딕" pitchFamily="34" charset="-120"/>
              </a:rPr>
              <a:t>개인정보 미수집</a:t>
            </a:r>
            <a:endParaRPr lang="en-US" sz="950" dirty="0"/>
          </a:p>
        </p:txBody>
      </p:sp>
      <p:sp>
        <p:nvSpPr>
          <p:cNvPr id="27" name="Text 24"/>
          <p:cNvSpPr/>
          <p:nvPr/>
        </p:nvSpPr>
        <p:spPr>
          <a:xfrm>
            <a:off x="3151147" y="5705856"/>
            <a:ext cx="8473620" cy="274320"/>
          </a:xfrm>
          <a:prstGeom prst="rect">
            <a:avLst/>
          </a:prstGeom>
          <a:noFill/>
          <a:ln/>
        </p:spPr>
        <p:txBody>
          <a:bodyPr wrap="square" lIns="0" tIns="0" rIns="0" bIns="0" rtlCol="0" anchor="ctr"/>
          <a:lstStyle/>
          <a:p>
            <a:pPr indent="0" marL="0">
              <a:buNone/>
            </a:pPr>
            <a:r>
              <a:rPr lang="en-US" sz="900" dirty="0">
                <a:solidFill>
                  <a:srgbClr val="6E7796"/>
                </a:solidFill>
                <a:latin typeface="맑은 고딕" pitchFamily="34" charset="0"/>
                <a:ea typeface="맑은 고딕" pitchFamily="34" charset="-122"/>
                <a:cs typeface="맑은 고딕" pitchFamily="34" charset="-120"/>
              </a:rPr>
              <a:t>※ 실제 앱 화면을 그대로 캡처한 것입니다 (목업·합성 없음)</a:t>
            </a:r>
            <a:endParaRPr lang="en-US" sz="900" dirty="0"/>
          </a:p>
        </p:txBody>
      </p:sp>
      <p:sp>
        <p:nvSpPr>
          <p:cNvPr id="28" name="Text 2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9" name="Text 2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04</a:t>
            </a:r>
            <a:pPr indent="0" marL="0">
              <a:buNone/>
            </a:pPr>
            <a:r>
              <a:rPr lang="en-US" sz="1100" b="1" dirty="0">
                <a:solidFill>
                  <a:srgbClr val="6E7796"/>
                </a:solidFill>
                <a:latin typeface="맑은 고딕" pitchFamily="34" charset="0"/>
                <a:ea typeface="맑은 고딕" pitchFamily="34" charset="-122"/>
                <a:cs typeface="맑은 고딕" pitchFamily="34" charset="-120"/>
              </a:rPr>
              <a:t>   사용자 예상 시나리오</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시나리오 ① 폭염특보가 내린 오후 2시, 외출하는 어르신</a:t>
            </a:r>
            <a:endParaRPr lang="en-US" sz="2700" dirty="0"/>
          </a:p>
        </p:txBody>
      </p:sp>
      <p:sp>
        <p:nvSpPr>
          <p:cNvPr id="4" name="Shape 2"/>
          <p:cNvSpPr/>
          <p:nvPr/>
        </p:nvSpPr>
        <p:spPr>
          <a:xfrm>
            <a:off x="566928" y="1783080"/>
            <a:ext cx="2103120" cy="2880360"/>
          </a:xfrm>
          <a:prstGeom prst="roundRect">
            <a:avLst>
              <a:gd name="adj" fmla="val 608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5" name="Shape 3"/>
          <p:cNvSpPr/>
          <p:nvPr/>
        </p:nvSpPr>
        <p:spPr>
          <a:xfrm>
            <a:off x="768096" y="1993392"/>
            <a:ext cx="914400" cy="329184"/>
          </a:xfrm>
          <a:prstGeom prst="roundRect">
            <a:avLst>
              <a:gd name="adj" fmla="val 25000"/>
            </a:avLst>
          </a:prstGeom>
          <a:solidFill>
            <a:srgbClr val="001871"/>
          </a:solidFill>
          <a:ln w="12700">
            <a:solidFill>
              <a:srgbClr val="001871"/>
            </a:solidFill>
            <a:prstDash val="solid"/>
          </a:ln>
        </p:spPr>
      </p:sp>
      <p:sp>
        <p:nvSpPr>
          <p:cNvPr id="6" name="Text 4"/>
          <p:cNvSpPr/>
          <p:nvPr/>
        </p:nvSpPr>
        <p:spPr>
          <a:xfrm>
            <a:off x="768096" y="1993392"/>
            <a:ext cx="9144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14:02</a:t>
            </a:r>
            <a:endParaRPr lang="en-US" sz="1150" dirty="0"/>
          </a:p>
        </p:txBody>
      </p:sp>
      <p:sp>
        <p:nvSpPr>
          <p:cNvPr id="7" name="Text 5"/>
          <p:cNvSpPr/>
          <p:nvPr/>
        </p:nvSpPr>
        <p:spPr>
          <a:xfrm>
            <a:off x="768096" y="2432304"/>
            <a:ext cx="1700784" cy="548640"/>
          </a:xfrm>
          <a:prstGeom prst="rect">
            <a:avLst/>
          </a:prstGeom>
          <a:noFill/>
          <a:ln/>
        </p:spPr>
        <p:txBody>
          <a:bodyPr wrap="square" lIns="0" tIns="0" rIns="0" bIns="0" rtlCol="0" anchor="t"/>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가는 곳을 말합니다</a:t>
            </a:r>
            <a:endParaRPr lang="en-US" sz="1300" dirty="0"/>
          </a:p>
        </p:txBody>
      </p:sp>
      <p:sp>
        <p:nvSpPr>
          <p:cNvPr id="8" name="Text 6"/>
          <p:cNvSpPr/>
          <p:nvPr/>
        </p:nvSpPr>
        <p:spPr>
          <a:xfrm>
            <a:off x="768096" y="3035808"/>
            <a:ext cx="1700784" cy="1234440"/>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바탕화면 아이콘을 눌러 [음성으로 찾기]에</a:t>
            </a:r>
            <a:endParaRPr lang="en-US" sz="1000" dirty="0"/>
          </a:p>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“중앙시장”이라고 말합니다.</a:t>
            </a:r>
            <a:endParaRPr lang="en-US" sz="1000" dirty="0"/>
          </a:p>
        </p:txBody>
      </p:sp>
      <p:sp>
        <p:nvSpPr>
          <p:cNvPr id="9" name="Text 7"/>
          <p:cNvSpPr/>
          <p:nvPr/>
        </p:nvSpPr>
        <p:spPr>
          <a:xfrm>
            <a:off x="768096" y="4224528"/>
            <a:ext cx="1700784" cy="310896"/>
          </a:xfrm>
          <a:prstGeom prst="rect">
            <a:avLst/>
          </a:prstGeom>
          <a:noFill/>
          <a:ln/>
        </p:spPr>
        <p:txBody>
          <a:bodyPr wrap="square" lIns="0" tIns="0" rIns="0" bIns="0" rtlCol="0" anchor="ctr"/>
          <a:lstStyle/>
          <a:p>
            <a:pPr indent="0" marL="0">
              <a:buNone/>
            </a:pPr>
            <a:r>
              <a:rPr lang="en-US" sz="900" b="1" dirty="0">
                <a:solidFill>
                  <a:srgbClr val="E8751A"/>
                </a:solidFill>
                <a:latin typeface="맑은 고딕" pitchFamily="34" charset="0"/>
                <a:ea typeface="맑은 고딕" pitchFamily="34" charset="-122"/>
                <a:cs typeface="맑은 고딕" pitchFamily="34" charset="-120"/>
              </a:rPr>
              <a:t>음성 검색</a:t>
            </a:r>
            <a:endParaRPr lang="en-US" sz="900" dirty="0"/>
          </a:p>
        </p:txBody>
      </p:sp>
      <p:sp>
        <p:nvSpPr>
          <p:cNvPr id="10" name="Text 8"/>
          <p:cNvSpPr/>
          <p:nvPr/>
        </p:nvSpPr>
        <p:spPr>
          <a:xfrm>
            <a:off x="2688336" y="1783080"/>
            <a:ext cx="137160" cy="2880360"/>
          </a:xfrm>
          <a:prstGeom prst="rect">
            <a:avLst/>
          </a:prstGeom>
          <a:noFill/>
          <a:ln/>
        </p:spPr>
        <p:txBody>
          <a:bodyPr wrap="square" lIns="0" tIns="0" rIns="0" bIns="0" rtlCol="0" anchor="ctr"/>
          <a:lstStyle/>
          <a:p>
            <a:pPr algn="ctr" indent="0" marL="0">
              <a:buNone/>
            </a:pPr>
            <a:r>
              <a:rPr lang="en-US" sz="1100" dirty="0">
                <a:solidFill>
                  <a:srgbClr val="A6B3E6"/>
                </a:solidFill>
                <a:latin typeface="맑은 고딕" pitchFamily="34" charset="0"/>
                <a:ea typeface="맑은 고딕" pitchFamily="34" charset="-122"/>
                <a:cs typeface="맑은 고딕" pitchFamily="34" charset="-120"/>
              </a:rPr>
              <a:t>▶</a:t>
            </a:r>
            <a:endParaRPr lang="en-US" sz="1100" dirty="0"/>
          </a:p>
        </p:txBody>
      </p:sp>
      <p:sp>
        <p:nvSpPr>
          <p:cNvPr id="11" name="Shape 9"/>
          <p:cNvSpPr/>
          <p:nvPr/>
        </p:nvSpPr>
        <p:spPr>
          <a:xfrm>
            <a:off x="2825496" y="1783080"/>
            <a:ext cx="2103120" cy="2880360"/>
          </a:xfrm>
          <a:prstGeom prst="roundRect">
            <a:avLst>
              <a:gd name="adj" fmla="val 608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2" name="Shape 10"/>
          <p:cNvSpPr/>
          <p:nvPr/>
        </p:nvSpPr>
        <p:spPr>
          <a:xfrm>
            <a:off x="3026664" y="1993392"/>
            <a:ext cx="914400" cy="329184"/>
          </a:xfrm>
          <a:prstGeom prst="roundRect">
            <a:avLst>
              <a:gd name="adj" fmla="val 25000"/>
            </a:avLst>
          </a:prstGeom>
          <a:solidFill>
            <a:srgbClr val="001871"/>
          </a:solidFill>
          <a:ln w="12700">
            <a:solidFill>
              <a:srgbClr val="001871"/>
            </a:solidFill>
            <a:prstDash val="solid"/>
          </a:ln>
        </p:spPr>
      </p:sp>
      <p:sp>
        <p:nvSpPr>
          <p:cNvPr id="13" name="Text 11"/>
          <p:cNvSpPr/>
          <p:nvPr/>
        </p:nvSpPr>
        <p:spPr>
          <a:xfrm>
            <a:off x="3026664" y="1993392"/>
            <a:ext cx="9144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14:03</a:t>
            </a:r>
            <a:endParaRPr lang="en-US" sz="1150" dirty="0"/>
          </a:p>
        </p:txBody>
      </p:sp>
      <p:sp>
        <p:nvSpPr>
          <p:cNvPr id="14" name="Text 12"/>
          <p:cNvSpPr/>
          <p:nvPr/>
        </p:nvSpPr>
        <p:spPr>
          <a:xfrm>
            <a:off x="3026664" y="2432304"/>
            <a:ext cx="1700784" cy="548640"/>
          </a:xfrm>
          <a:prstGeom prst="rect">
            <a:avLst/>
          </a:prstGeom>
          <a:noFill/>
          <a:ln/>
        </p:spPr>
        <p:txBody>
          <a:bodyPr wrap="square" lIns="0" tIns="0" rIns="0" bIns="0" rtlCol="0" anchor="t"/>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여기서 기다려도 되나</a:t>
            </a:r>
            <a:endParaRPr lang="en-US" sz="1300" dirty="0"/>
          </a:p>
        </p:txBody>
      </p:sp>
      <p:sp>
        <p:nvSpPr>
          <p:cNvPr id="15" name="Text 13"/>
          <p:cNvSpPr/>
          <p:nvPr/>
        </p:nvSpPr>
        <p:spPr>
          <a:xfrm>
            <a:off x="3026664" y="3035808"/>
            <a:ext cx="1700784" cy="1234440"/>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[지붕 없음] 칩과 함께 “버스 12분 뒤”.</a:t>
            </a:r>
            <a:endParaRPr lang="en-US" sz="1000" dirty="0"/>
          </a:p>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뙤약볕에 12분을 서야 한다는 뜻입니다.</a:t>
            </a:r>
            <a:endParaRPr lang="en-US" sz="1000" dirty="0"/>
          </a:p>
        </p:txBody>
      </p:sp>
      <p:sp>
        <p:nvSpPr>
          <p:cNvPr id="16" name="Text 14"/>
          <p:cNvSpPr/>
          <p:nvPr/>
        </p:nvSpPr>
        <p:spPr>
          <a:xfrm>
            <a:off x="3026664" y="4224528"/>
            <a:ext cx="1700784" cy="310896"/>
          </a:xfrm>
          <a:prstGeom prst="rect">
            <a:avLst/>
          </a:prstGeom>
          <a:noFill/>
          <a:ln/>
        </p:spPr>
        <p:txBody>
          <a:bodyPr wrap="square" lIns="0" tIns="0" rIns="0" bIns="0" rtlCol="0" anchor="ctr"/>
          <a:lstStyle/>
          <a:p>
            <a:pPr indent="0" marL="0">
              <a:buNone/>
            </a:pPr>
            <a:r>
              <a:rPr lang="en-US" sz="900" b="1" dirty="0">
                <a:solidFill>
                  <a:srgbClr val="E8751A"/>
                </a:solidFill>
                <a:latin typeface="맑은 고딕" pitchFamily="34" charset="0"/>
                <a:ea typeface="맑은 고딕" pitchFamily="34" charset="-122"/>
                <a:cs typeface="맑은 고딕" pitchFamily="34" charset="-120"/>
              </a:rPr>
              <a:t>시설 칩 · 실시간 도착</a:t>
            </a:r>
            <a:endParaRPr lang="en-US" sz="900" dirty="0"/>
          </a:p>
        </p:txBody>
      </p:sp>
      <p:sp>
        <p:nvSpPr>
          <p:cNvPr id="17" name="Text 15"/>
          <p:cNvSpPr/>
          <p:nvPr/>
        </p:nvSpPr>
        <p:spPr>
          <a:xfrm>
            <a:off x="4946904" y="1783080"/>
            <a:ext cx="137160" cy="2880360"/>
          </a:xfrm>
          <a:prstGeom prst="rect">
            <a:avLst/>
          </a:prstGeom>
          <a:noFill/>
          <a:ln/>
        </p:spPr>
        <p:txBody>
          <a:bodyPr wrap="square" lIns="0" tIns="0" rIns="0" bIns="0" rtlCol="0" anchor="ctr"/>
          <a:lstStyle/>
          <a:p>
            <a:pPr algn="ctr" indent="0" marL="0">
              <a:buNone/>
            </a:pPr>
            <a:r>
              <a:rPr lang="en-US" sz="1100" dirty="0">
                <a:solidFill>
                  <a:srgbClr val="A6B3E6"/>
                </a:solidFill>
                <a:latin typeface="맑은 고딕" pitchFamily="34" charset="0"/>
                <a:ea typeface="맑은 고딕" pitchFamily="34" charset="-122"/>
                <a:cs typeface="맑은 고딕" pitchFamily="34" charset="-120"/>
              </a:rPr>
              <a:t>▶</a:t>
            </a:r>
            <a:endParaRPr lang="en-US" sz="1100" dirty="0"/>
          </a:p>
        </p:txBody>
      </p:sp>
      <p:sp>
        <p:nvSpPr>
          <p:cNvPr id="18" name="Shape 16"/>
          <p:cNvSpPr/>
          <p:nvPr/>
        </p:nvSpPr>
        <p:spPr>
          <a:xfrm>
            <a:off x="5084064" y="1783080"/>
            <a:ext cx="2103120" cy="2880360"/>
          </a:xfrm>
          <a:prstGeom prst="roundRect">
            <a:avLst>
              <a:gd name="adj" fmla="val 608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9" name="Shape 17"/>
          <p:cNvSpPr/>
          <p:nvPr/>
        </p:nvSpPr>
        <p:spPr>
          <a:xfrm>
            <a:off x="5285232" y="1993392"/>
            <a:ext cx="914400" cy="329184"/>
          </a:xfrm>
          <a:prstGeom prst="roundRect">
            <a:avLst>
              <a:gd name="adj" fmla="val 25000"/>
            </a:avLst>
          </a:prstGeom>
          <a:solidFill>
            <a:srgbClr val="001871"/>
          </a:solidFill>
          <a:ln w="12700">
            <a:solidFill>
              <a:srgbClr val="001871"/>
            </a:solidFill>
            <a:prstDash val="solid"/>
          </a:ln>
        </p:spPr>
      </p:sp>
      <p:sp>
        <p:nvSpPr>
          <p:cNvPr id="20" name="Text 18"/>
          <p:cNvSpPr/>
          <p:nvPr/>
        </p:nvSpPr>
        <p:spPr>
          <a:xfrm>
            <a:off x="5285232" y="1993392"/>
            <a:ext cx="9144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14:04</a:t>
            </a:r>
            <a:endParaRPr lang="en-US" sz="1150" dirty="0"/>
          </a:p>
        </p:txBody>
      </p:sp>
      <p:sp>
        <p:nvSpPr>
          <p:cNvPr id="21" name="Text 19"/>
          <p:cNvSpPr/>
          <p:nvPr/>
        </p:nvSpPr>
        <p:spPr>
          <a:xfrm>
            <a:off x="5285232" y="2432304"/>
            <a:ext cx="1700784" cy="548640"/>
          </a:xfrm>
          <a:prstGeom prst="rect">
            <a:avLst/>
          </a:prstGeom>
          <a:noFill/>
          <a:ln/>
        </p:spPr>
        <p:txBody>
          <a:bodyPr wrap="square" lIns="0" tIns="0" rIns="0" bIns="0" rtlCol="0" anchor="t"/>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가까운 그늘로</a:t>
            </a:r>
            <a:endParaRPr lang="en-US" sz="1300" dirty="0"/>
          </a:p>
        </p:txBody>
      </p:sp>
      <p:sp>
        <p:nvSpPr>
          <p:cNvPr id="22" name="Text 20"/>
          <p:cNvSpPr/>
          <p:nvPr/>
        </p:nvSpPr>
        <p:spPr>
          <a:xfrm>
            <a:off x="5285232" y="3035808"/>
            <a:ext cx="1700784" cy="1234440"/>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“○○경로당 · 240m · 도보 4분”.</a:t>
            </a:r>
            <a:endParaRPr lang="en-US" sz="1000" dirty="0"/>
          </a:p>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에어컨이 있는 실내에서 버스를 기다립니다.</a:t>
            </a:r>
            <a:endParaRPr lang="en-US" sz="1000" dirty="0"/>
          </a:p>
        </p:txBody>
      </p:sp>
      <p:sp>
        <p:nvSpPr>
          <p:cNvPr id="23" name="Text 21"/>
          <p:cNvSpPr/>
          <p:nvPr/>
        </p:nvSpPr>
        <p:spPr>
          <a:xfrm>
            <a:off x="5285232" y="4224528"/>
            <a:ext cx="1700784" cy="310896"/>
          </a:xfrm>
          <a:prstGeom prst="rect">
            <a:avLst/>
          </a:prstGeom>
          <a:noFill/>
          <a:ln/>
        </p:spPr>
        <p:txBody>
          <a:bodyPr wrap="square" lIns="0" tIns="0" rIns="0" bIns="0" rtlCol="0" anchor="ctr"/>
          <a:lstStyle/>
          <a:p>
            <a:pPr indent="0" marL="0">
              <a:buNone/>
            </a:pPr>
            <a:r>
              <a:rPr lang="en-US" sz="900" b="1" dirty="0">
                <a:solidFill>
                  <a:srgbClr val="E8751A"/>
                </a:solidFill>
                <a:latin typeface="맑은 고딕" pitchFamily="34" charset="0"/>
                <a:ea typeface="맑은 고딕" pitchFamily="34" charset="-122"/>
                <a:cs typeface="맑은 고딕" pitchFamily="34" charset="-120"/>
              </a:rPr>
              <a:t>무더위쉼터 226곳</a:t>
            </a:r>
            <a:endParaRPr lang="en-US" sz="900" dirty="0"/>
          </a:p>
        </p:txBody>
      </p:sp>
      <p:sp>
        <p:nvSpPr>
          <p:cNvPr id="24" name="Text 22"/>
          <p:cNvSpPr/>
          <p:nvPr/>
        </p:nvSpPr>
        <p:spPr>
          <a:xfrm>
            <a:off x="7205472" y="1783080"/>
            <a:ext cx="137160" cy="2880360"/>
          </a:xfrm>
          <a:prstGeom prst="rect">
            <a:avLst/>
          </a:prstGeom>
          <a:noFill/>
          <a:ln/>
        </p:spPr>
        <p:txBody>
          <a:bodyPr wrap="square" lIns="0" tIns="0" rIns="0" bIns="0" rtlCol="0" anchor="ctr"/>
          <a:lstStyle/>
          <a:p>
            <a:pPr algn="ctr" indent="0" marL="0">
              <a:buNone/>
            </a:pPr>
            <a:r>
              <a:rPr lang="en-US" sz="1100" dirty="0">
                <a:solidFill>
                  <a:srgbClr val="A6B3E6"/>
                </a:solidFill>
                <a:latin typeface="맑은 고딕" pitchFamily="34" charset="0"/>
                <a:ea typeface="맑은 고딕" pitchFamily="34" charset="-122"/>
                <a:cs typeface="맑은 고딕" pitchFamily="34" charset="-120"/>
              </a:rPr>
              <a:t>▶</a:t>
            </a:r>
            <a:endParaRPr lang="en-US" sz="1100" dirty="0"/>
          </a:p>
        </p:txBody>
      </p:sp>
      <p:sp>
        <p:nvSpPr>
          <p:cNvPr id="25" name="Shape 23"/>
          <p:cNvSpPr/>
          <p:nvPr/>
        </p:nvSpPr>
        <p:spPr>
          <a:xfrm>
            <a:off x="7342632" y="1783080"/>
            <a:ext cx="2103120" cy="2880360"/>
          </a:xfrm>
          <a:prstGeom prst="roundRect">
            <a:avLst>
              <a:gd name="adj" fmla="val 608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26" name="Shape 24"/>
          <p:cNvSpPr/>
          <p:nvPr/>
        </p:nvSpPr>
        <p:spPr>
          <a:xfrm>
            <a:off x="7543800" y="1993392"/>
            <a:ext cx="914400" cy="329184"/>
          </a:xfrm>
          <a:prstGeom prst="roundRect">
            <a:avLst>
              <a:gd name="adj" fmla="val 25000"/>
            </a:avLst>
          </a:prstGeom>
          <a:solidFill>
            <a:srgbClr val="001871"/>
          </a:solidFill>
          <a:ln w="12700">
            <a:solidFill>
              <a:srgbClr val="001871"/>
            </a:solidFill>
            <a:prstDash val="solid"/>
          </a:ln>
        </p:spPr>
      </p:sp>
      <p:sp>
        <p:nvSpPr>
          <p:cNvPr id="27" name="Text 25"/>
          <p:cNvSpPr/>
          <p:nvPr/>
        </p:nvSpPr>
        <p:spPr>
          <a:xfrm>
            <a:off x="7543800" y="1993392"/>
            <a:ext cx="9144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14:15</a:t>
            </a:r>
            <a:endParaRPr lang="en-US" sz="1150" dirty="0"/>
          </a:p>
        </p:txBody>
      </p:sp>
      <p:sp>
        <p:nvSpPr>
          <p:cNvPr id="28" name="Text 26"/>
          <p:cNvSpPr/>
          <p:nvPr/>
        </p:nvSpPr>
        <p:spPr>
          <a:xfrm>
            <a:off x="7543800" y="2432304"/>
            <a:ext cx="1700784" cy="548640"/>
          </a:xfrm>
          <a:prstGeom prst="rect">
            <a:avLst/>
          </a:prstGeom>
          <a:noFill/>
          <a:ln/>
        </p:spPr>
        <p:txBody>
          <a:bodyPr wrap="square" lIns="0" tIns="0" rIns="0" bIns="0" rtlCol="0" anchor="t"/>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타고 가면서도 안내</a:t>
            </a:r>
            <a:endParaRPr lang="en-US" sz="1300" dirty="0"/>
          </a:p>
        </p:txBody>
      </p:sp>
      <p:sp>
        <p:nvSpPr>
          <p:cNvPr id="29" name="Text 27"/>
          <p:cNvSpPr/>
          <p:nvPr/>
        </p:nvSpPr>
        <p:spPr>
          <a:xfrm>
            <a:off x="7543800" y="3035808"/>
            <a:ext cx="1700784" cy="1234440"/>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버스 안에서 “하차까지 2개 정류장”.</a:t>
            </a:r>
            <a:endParaRPr lang="en-US" sz="1000" dirty="0"/>
          </a:p>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내릴 곳을 놓칠 걱정이 없습니다.</a:t>
            </a:r>
            <a:endParaRPr lang="en-US" sz="1000" dirty="0"/>
          </a:p>
        </p:txBody>
      </p:sp>
      <p:sp>
        <p:nvSpPr>
          <p:cNvPr id="30" name="Text 28"/>
          <p:cNvSpPr/>
          <p:nvPr/>
        </p:nvSpPr>
        <p:spPr>
          <a:xfrm>
            <a:off x="7543800" y="4224528"/>
            <a:ext cx="1700784" cy="310896"/>
          </a:xfrm>
          <a:prstGeom prst="rect">
            <a:avLst/>
          </a:prstGeom>
          <a:noFill/>
          <a:ln/>
        </p:spPr>
        <p:txBody>
          <a:bodyPr wrap="square" lIns="0" tIns="0" rIns="0" bIns="0" rtlCol="0" anchor="ctr"/>
          <a:lstStyle/>
          <a:p>
            <a:pPr indent="0" marL="0">
              <a:buNone/>
            </a:pPr>
            <a:r>
              <a:rPr lang="en-US" sz="900" b="1" dirty="0">
                <a:solidFill>
                  <a:srgbClr val="E8751A"/>
                </a:solidFill>
                <a:latin typeface="맑은 고딕" pitchFamily="34" charset="0"/>
                <a:ea typeface="맑은 고딕" pitchFamily="34" charset="-122"/>
                <a:cs typeface="맑은 고딕" pitchFamily="34" charset="-120"/>
              </a:rPr>
              <a:t>GPS 타임라인</a:t>
            </a:r>
            <a:endParaRPr lang="en-US" sz="900" dirty="0"/>
          </a:p>
        </p:txBody>
      </p:sp>
      <p:sp>
        <p:nvSpPr>
          <p:cNvPr id="31" name="Text 29"/>
          <p:cNvSpPr/>
          <p:nvPr/>
        </p:nvSpPr>
        <p:spPr>
          <a:xfrm>
            <a:off x="9464040" y="1783080"/>
            <a:ext cx="137160" cy="2880360"/>
          </a:xfrm>
          <a:prstGeom prst="rect">
            <a:avLst/>
          </a:prstGeom>
          <a:noFill/>
          <a:ln/>
        </p:spPr>
        <p:txBody>
          <a:bodyPr wrap="square" lIns="0" tIns="0" rIns="0" bIns="0" rtlCol="0" anchor="ctr"/>
          <a:lstStyle/>
          <a:p>
            <a:pPr algn="ctr" indent="0" marL="0">
              <a:buNone/>
            </a:pPr>
            <a:r>
              <a:rPr lang="en-US" sz="1100" dirty="0">
                <a:solidFill>
                  <a:srgbClr val="A6B3E6"/>
                </a:solidFill>
                <a:latin typeface="맑은 고딕" pitchFamily="34" charset="0"/>
                <a:ea typeface="맑은 고딕" pitchFamily="34" charset="-122"/>
                <a:cs typeface="맑은 고딕" pitchFamily="34" charset="-120"/>
              </a:rPr>
              <a:t>▶</a:t>
            </a:r>
            <a:endParaRPr lang="en-US" sz="1100" dirty="0"/>
          </a:p>
        </p:txBody>
      </p:sp>
      <p:sp>
        <p:nvSpPr>
          <p:cNvPr id="32" name="Shape 30"/>
          <p:cNvSpPr/>
          <p:nvPr/>
        </p:nvSpPr>
        <p:spPr>
          <a:xfrm>
            <a:off x="9601200" y="1783080"/>
            <a:ext cx="2103120" cy="2880360"/>
          </a:xfrm>
          <a:prstGeom prst="roundRect">
            <a:avLst>
              <a:gd name="adj" fmla="val 608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33" name="Shape 31"/>
          <p:cNvSpPr/>
          <p:nvPr/>
        </p:nvSpPr>
        <p:spPr>
          <a:xfrm>
            <a:off x="9802368" y="1993392"/>
            <a:ext cx="914400" cy="329184"/>
          </a:xfrm>
          <a:prstGeom prst="roundRect">
            <a:avLst>
              <a:gd name="adj" fmla="val 25000"/>
            </a:avLst>
          </a:prstGeom>
          <a:solidFill>
            <a:srgbClr val="001871"/>
          </a:solidFill>
          <a:ln w="12700">
            <a:solidFill>
              <a:srgbClr val="001871"/>
            </a:solidFill>
            <a:prstDash val="solid"/>
          </a:ln>
        </p:spPr>
      </p:sp>
      <p:sp>
        <p:nvSpPr>
          <p:cNvPr id="34" name="Text 32"/>
          <p:cNvSpPr/>
          <p:nvPr/>
        </p:nvSpPr>
        <p:spPr>
          <a:xfrm>
            <a:off x="9802368" y="1993392"/>
            <a:ext cx="9144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14:24</a:t>
            </a:r>
            <a:endParaRPr lang="en-US" sz="1150" dirty="0"/>
          </a:p>
        </p:txBody>
      </p:sp>
      <p:sp>
        <p:nvSpPr>
          <p:cNvPr id="35" name="Text 33"/>
          <p:cNvSpPr/>
          <p:nvPr/>
        </p:nvSpPr>
        <p:spPr>
          <a:xfrm>
            <a:off x="9802368" y="2432304"/>
            <a:ext cx="1700784" cy="548640"/>
          </a:xfrm>
          <a:prstGeom prst="rect">
            <a:avLst/>
          </a:prstGeom>
          <a:noFill/>
          <a:ln/>
        </p:spPr>
        <p:txBody>
          <a:bodyPr wrap="square" lIns="0" tIns="0" rIns="0" bIns="0" rtlCol="0" anchor="t"/>
          <a:lstStyle/>
          <a:p>
            <a:pPr indent="0" marL="0">
              <a:buNone/>
            </a:pPr>
            <a:r>
              <a:rPr lang="en-US" sz="1300" b="1" dirty="0">
                <a:solidFill>
                  <a:srgbClr val="141B33"/>
                </a:solidFill>
                <a:latin typeface="맑은 고딕" pitchFamily="34" charset="0"/>
                <a:ea typeface="맑은 고딕" pitchFamily="34" charset="-122"/>
                <a:cs typeface="맑은 고딕" pitchFamily="34" charset="-120"/>
              </a:rPr>
              <a:t>돌아오는 길에 한 장</a:t>
            </a:r>
            <a:endParaRPr lang="en-US" sz="1300" dirty="0"/>
          </a:p>
        </p:txBody>
      </p:sp>
      <p:sp>
        <p:nvSpPr>
          <p:cNvPr id="36" name="Text 34"/>
          <p:cNvSpPr/>
          <p:nvPr/>
        </p:nvSpPr>
        <p:spPr>
          <a:xfrm>
            <a:off x="9802368" y="3035808"/>
            <a:ext cx="1700784" cy="1234440"/>
          </a:xfrm>
          <a:prstGeom prst="rect">
            <a:avLst/>
          </a:prstGeom>
          <a:noFill/>
          <a:ln/>
        </p:spPr>
        <p:txBody>
          <a:bodyPr wrap="square" lIns="0" tIns="0" rIns="0" bIns="0" rtlCol="0" anchor="t"/>
          <a:lstStyle/>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깨진 쉘터를 보고 사진 한 장만 찍어 보냅니다.</a:t>
            </a:r>
            <a:endParaRPr lang="en-US" sz="1000" dirty="0"/>
          </a:p>
          <a:p>
            <a:pPr indent="0" marL="0">
              <a:lnSpc>
                <a:spcPct val="125000"/>
              </a:lnSpc>
              <a:buNone/>
            </a:pPr>
            <a:r>
              <a:rPr lang="en-US" sz="1000" dirty="0">
                <a:solidFill>
                  <a:srgbClr val="3A4160"/>
                </a:solidFill>
                <a:latin typeface="맑은 고딕" pitchFamily="34" charset="0"/>
                <a:ea typeface="맑은 고딕" pitchFamily="34" charset="-122"/>
                <a:cs typeface="맑은 고딕" pitchFamily="34" charset="-120"/>
              </a:rPr>
              <a:t>다음 사람의 안내가 정확해집니다.</a:t>
            </a:r>
            <a:endParaRPr lang="en-US" sz="1000" dirty="0"/>
          </a:p>
        </p:txBody>
      </p:sp>
      <p:sp>
        <p:nvSpPr>
          <p:cNvPr id="37" name="Text 35"/>
          <p:cNvSpPr/>
          <p:nvPr/>
        </p:nvSpPr>
        <p:spPr>
          <a:xfrm>
            <a:off x="9802368" y="4224528"/>
            <a:ext cx="1700784" cy="310896"/>
          </a:xfrm>
          <a:prstGeom prst="rect">
            <a:avLst/>
          </a:prstGeom>
          <a:noFill/>
          <a:ln/>
        </p:spPr>
        <p:txBody>
          <a:bodyPr wrap="square" lIns="0" tIns="0" rIns="0" bIns="0" rtlCol="0" anchor="ctr"/>
          <a:lstStyle/>
          <a:p>
            <a:pPr indent="0" marL="0">
              <a:buNone/>
            </a:pPr>
            <a:r>
              <a:rPr lang="en-US" sz="900" b="1" dirty="0">
                <a:solidFill>
                  <a:srgbClr val="E8751A"/>
                </a:solidFill>
                <a:latin typeface="맑은 고딕" pitchFamily="34" charset="0"/>
                <a:ea typeface="맑은 고딕" pitchFamily="34" charset="-122"/>
                <a:cs typeface="맑은 고딕" pitchFamily="34" charset="-120"/>
              </a:rPr>
              <a:t>안내 데이터 갱신</a:t>
            </a:r>
            <a:endParaRPr lang="en-US" sz="900" dirty="0"/>
          </a:p>
        </p:txBody>
      </p:sp>
      <p:sp>
        <p:nvSpPr>
          <p:cNvPr id="38" name="Shape 36"/>
          <p:cNvSpPr/>
          <p:nvPr/>
        </p:nvSpPr>
        <p:spPr>
          <a:xfrm>
            <a:off x="566928" y="4956048"/>
            <a:ext cx="11057839" cy="841248"/>
          </a:xfrm>
          <a:prstGeom prst="roundRect">
            <a:avLst>
              <a:gd name="adj" fmla="val 15217"/>
            </a:avLst>
          </a:prstGeom>
          <a:solidFill>
            <a:srgbClr val="F4F6FC"/>
          </a:solidFill>
          <a:ln w="12700">
            <a:solidFill>
              <a:srgbClr val="D4DAEE"/>
            </a:solidFill>
            <a:prstDash val="solid"/>
          </a:ln>
        </p:spPr>
      </p:sp>
      <p:sp>
        <p:nvSpPr>
          <p:cNvPr id="39" name="Text 37"/>
          <p:cNvSpPr/>
          <p:nvPr/>
        </p:nvSpPr>
        <p:spPr>
          <a:xfrm>
            <a:off x="841248" y="4956048"/>
            <a:ext cx="1600200" cy="841248"/>
          </a:xfrm>
          <a:prstGeom prst="rect">
            <a:avLst/>
          </a:prstGeom>
          <a:noFill/>
          <a:ln/>
        </p:spPr>
        <p:txBody>
          <a:bodyPr wrap="square" lIns="0" tIns="0" rIns="0" bIns="0" rtlCol="0" anchor="ctr"/>
          <a:lstStyle/>
          <a:p>
            <a:pPr indent="0" marL="0">
              <a:buNone/>
            </a:pPr>
            <a:r>
              <a:rPr lang="en-US" sz="1150" b="1" dirty="0">
                <a:solidFill>
                  <a:srgbClr val="6E7796"/>
                </a:solidFill>
                <a:latin typeface="맑은 고딕" pitchFamily="34" charset="0"/>
                <a:ea typeface="맑은 고딕" pitchFamily="34" charset="-122"/>
                <a:cs typeface="맑은 고딕" pitchFamily="34" charset="-120"/>
              </a:rPr>
              <a:t>시민이 체감하는 것</a:t>
            </a:r>
            <a:endParaRPr lang="en-US" sz="1150" dirty="0"/>
          </a:p>
        </p:txBody>
      </p:sp>
      <p:sp>
        <p:nvSpPr>
          <p:cNvPr id="40" name="Text 38"/>
          <p:cNvSpPr/>
          <p:nvPr/>
        </p:nvSpPr>
        <p:spPr>
          <a:xfrm>
            <a:off x="2532888" y="4956048"/>
            <a:ext cx="2926080" cy="841248"/>
          </a:xfrm>
          <a:prstGeom prst="rect">
            <a:avLst/>
          </a:prstGeom>
          <a:noFill/>
          <a:ln/>
        </p:spPr>
        <p:txBody>
          <a:bodyPr wrap="square" lIns="0" tIns="0" rIns="0" bIns="0" rtlCol="0" anchor="ctr"/>
          <a:lstStyle/>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① 뙤약볕에 서 있던 시간이</a:t>
            </a:r>
            <a:endParaRPr lang="en-US" sz="1100" dirty="0"/>
          </a:p>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     실내 대기로 바뀝니다</a:t>
            </a:r>
            <a:endParaRPr lang="en-US" sz="1100" dirty="0"/>
          </a:p>
        </p:txBody>
      </p:sp>
      <p:sp>
        <p:nvSpPr>
          <p:cNvPr id="41" name="Text 39"/>
          <p:cNvSpPr/>
          <p:nvPr/>
        </p:nvSpPr>
        <p:spPr>
          <a:xfrm>
            <a:off x="5550408" y="4956048"/>
            <a:ext cx="2926080" cy="841248"/>
          </a:xfrm>
          <a:prstGeom prst="rect">
            <a:avLst/>
          </a:prstGeom>
          <a:noFill/>
          <a:ln/>
        </p:spPr>
        <p:txBody>
          <a:bodyPr wrap="square" lIns="0" tIns="0" rIns="0" bIns="0" rtlCol="0" anchor="ctr"/>
          <a:lstStyle/>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② 시설의 유무를</a:t>
            </a:r>
            <a:endParaRPr lang="en-US" sz="1100" dirty="0"/>
          </a:p>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     '가기 전에' 알 수 있습니다</a:t>
            </a:r>
            <a:endParaRPr lang="en-US" sz="1100" dirty="0"/>
          </a:p>
        </p:txBody>
      </p:sp>
      <p:sp>
        <p:nvSpPr>
          <p:cNvPr id="42" name="Text 40"/>
          <p:cNvSpPr/>
          <p:nvPr/>
        </p:nvSpPr>
        <p:spPr>
          <a:xfrm>
            <a:off x="8567928" y="4956048"/>
            <a:ext cx="2926080" cy="841248"/>
          </a:xfrm>
          <a:prstGeom prst="rect">
            <a:avLst/>
          </a:prstGeom>
          <a:noFill/>
          <a:ln/>
        </p:spPr>
        <p:txBody>
          <a:bodyPr wrap="square" lIns="0" tIns="0" rIns="0" bIns="0" rtlCol="0" anchor="ctr"/>
          <a:lstStyle/>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③ 이미 있는 쉼터를</a:t>
            </a:r>
            <a:endParaRPr lang="en-US" sz="1100" dirty="0"/>
          </a:p>
          <a:p>
            <a:pPr indent="0" marL="0">
              <a:lnSpc>
                <a:spcPct val="120000"/>
              </a:lnSpc>
              <a:buNone/>
            </a:pPr>
            <a:r>
              <a:rPr lang="en-US" sz="1100" b="1" dirty="0">
                <a:solidFill>
                  <a:srgbClr val="001871"/>
                </a:solidFill>
                <a:latin typeface="맑은 고딕" pitchFamily="34" charset="0"/>
                <a:ea typeface="맑은 고딕" pitchFamily="34" charset="-122"/>
                <a:cs typeface="맑은 고딕" pitchFamily="34" charset="-120"/>
              </a:rPr>
              <a:t>     비로소 쓰게 됩니다</a:t>
            </a:r>
            <a:endParaRPr lang="en-US" sz="1100" dirty="0"/>
          </a:p>
        </p:txBody>
      </p:sp>
      <p:sp>
        <p:nvSpPr>
          <p:cNvPr id="43" name="Text 41"/>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44" name="Text 42"/>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04</a:t>
            </a:r>
            <a:pPr indent="0" marL="0">
              <a:buNone/>
            </a:pPr>
            <a:r>
              <a:rPr lang="en-US" sz="1100" b="1" dirty="0">
                <a:solidFill>
                  <a:srgbClr val="6E7796"/>
                </a:solidFill>
                <a:latin typeface="맑은 고딕" pitchFamily="34" charset="0"/>
                <a:ea typeface="맑은 고딕" pitchFamily="34" charset="-122"/>
                <a:cs typeface="맑은 고딕" pitchFamily="34" charset="-120"/>
              </a:rPr>
              <a:t>   사용자 예상 시나리오</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시나리오 ② 제보가 쌓이면 춘천시가 답을 얻습니다</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지금 그늘 정보가 없는 정류장이 1,729곳(91.5%) — 이 숫자가 줄어드는 만큼 판단이 정확해집니다</a:t>
            </a:r>
            <a:endParaRPr lang="en-US" sz="1300" dirty="0"/>
          </a:p>
        </p:txBody>
      </p:sp>
      <p:sp>
        <p:nvSpPr>
          <p:cNvPr id="5" name="Shape 3"/>
          <p:cNvSpPr/>
          <p:nvPr/>
        </p:nvSpPr>
        <p:spPr>
          <a:xfrm>
            <a:off x="566928" y="1965960"/>
            <a:ext cx="5074920" cy="2148840"/>
          </a:xfrm>
          <a:prstGeom prst="roundRect">
            <a:avLst>
              <a:gd name="adj" fmla="val 5957"/>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6" name="Text 4"/>
          <p:cNvSpPr/>
          <p:nvPr/>
        </p:nvSpPr>
        <p:spPr>
          <a:xfrm>
            <a:off x="841248" y="2121408"/>
            <a:ext cx="4480560" cy="292608"/>
          </a:xfrm>
          <a:prstGeom prst="rect">
            <a:avLst/>
          </a:prstGeom>
          <a:noFill/>
          <a:ln/>
        </p:spPr>
        <p:txBody>
          <a:bodyPr wrap="square" lIns="0" tIns="0" rIns="0" bIns="0" rtlCol="0" anchor="ctr"/>
          <a:lstStyle/>
          <a:p>
            <a:pPr indent="0" marL="0">
              <a:buNone/>
            </a:pPr>
            <a:r>
              <a:rPr lang="en-US" sz="1200" b="1" dirty="0">
                <a:solidFill>
                  <a:srgbClr val="E8751A"/>
                </a:solidFill>
                <a:latin typeface="맑은 고딕" pitchFamily="34" charset="0"/>
                <a:ea typeface="맑은 고딕" pitchFamily="34" charset="-122"/>
                <a:cs typeface="맑은 고딕" pitchFamily="34" charset="-120"/>
              </a:rPr>
              <a:t>지금 데이터로 이미 알 수 있는 것</a:t>
            </a:r>
            <a:endParaRPr lang="en-US" sz="1200" dirty="0"/>
          </a:p>
        </p:txBody>
      </p:sp>
      <p:sp>
        <p:nvSpPr>
          <p:cNvPr id="7" name="Text 5"/>
          <p:cNvSpPr/>
          <p:nvPr/>
        </p:nvSpPr>
        <p:spPr>
          <a:xfrm>
            <a:off x="841248" y="2505456"/>
            <a:ext cx="1920240" cy="256032"/>
          </a:xfrm>
          <a:prstGeom prst="rect">
            <a:avLst/>
          </a:prstGeom>
          <a:noFill/>
          <a:ln/>
        </p:spPr>
        <p:txBody>
          <a:bodyPr wrap="square" lIns="0" tIns="0" rIns="0" bIns="0" rtlCol="0" anchor="ctr"/>
          <a:lstStyle/>
          <a:p>
            <a:pPr indent="0" marL="0">
              <a:buNone/>
            </a:pPr>
            <a:r>
              <a:rPr lang="en-US" sz="1100" b="1" dirty="0">
                <a:solidFill>
                  <a:srgbClr val="141B33"/>
                </a:solidFill>
                <a:latin typeface="맑은 고딕" pitchFamily="34" charset="0"/>
                <a:ea typeface="맑은 고딕" pitchFamily="34" charset="-122"/>
                <a:cs typeface="맑은 고딕" pitchFamily="34" charset="-120"/>
              </a:rPr>
              <a:t>폭염 취약 정류장</a:t>
            </a:r>
            <a:endParaRPr lang="en-US" sz="1100" dirty="0"/>
          </a:p>
        </p:txBody>
      </p:sp>
      <p:sp>
        <p:nvSpPr>
          <p:cNvPr id="8" name="Text 6"/>
          <p:cNvSpPr/>
          <p:nvPr/>
        </p:nvSpPr>
        <p:spPr>
          <a:xfrm>
            <a:off x="2761488" y="2505456"/>
            <a:ext cx="914400" cy="256032"/>
          </a:xfrm>
          <a:prstGeom prst="rect">
            <a:avLst/>
          </a:prstGeom>
          <a:noFill/>
          <a:ln/>
        </p:spPr>
        <p:txBody>
          <a:bodyPr wrap="square" lIns="0" tIns="0" rIns="0" bIns="0" rtlCol="0" anchor="ctr"/>
          <a:lstStyle/>
          <a:p>
            <a:pPr algn="r" indent="0" marL="0">
              <a:buNone/>
            </a:pPr>
            <a:r>
              <a:rPr lang="en-US" sz="1400" b="1" dirty="0">
                <a:solidFill>
                  <a:srgbClr val="001871"/>
                </a:solidFill>
                <a:latin typeface="맑은 고딕" pitchFamily="34" charset="0"/>
                <a:ea typeface="맑은 고딕" pitchFamily="34" charset="-122"/>
                <a:cs typeface="맑은 고딕" pitchFamily="34" charset="-120"/>
              </a:rPr>
              <a:t>1,369곳</a:t>
            </a:r>
            <a:endParaRPr lang="en-US" sz="1400" dirty="0"/>
          </a:p>
        </p:txBody>
      </p:sp>
      <p:sp>
        <p:nvSpPr>
          <p:cNvPr id="9" name="Text 7"/>
          <p:cNvSpPr/>
          <p:nvPr/>
        </p:nvSpPr>
        <p:spPr>
          <a:xfrm>
            <a:off x="841248" y="2743200"/>
            <a:ext cx="45720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그늘 확인 안 됨 + 쉼터 300m 밖</a:t>
            </a:r>
            <a:endParaRPr lang="en-US" sz="950" dirty="0"/>
          </a:p>
        </p:txBody>
      </p:sp>
      <p:sp>
        <p:nvSpPr>
          <p:cNvPr id="10" name="Text 8"/>
          <p:cNvSpPr/>
          <p:nvPr/>
        </p:nvSpPr>
        <p:spPr>
          <a:xfrm>
            <a:off x="841248" y="3017520"/>
            <a:ext cx="1920240" cy="256032"/>
          </a:xfrm>
          <a:prstGeom prst="rect">
            <a:avLst/>
          </a:prstGeom>
          <a:noFill/>
          <a:ln/>
        </p:spPr>
        <p:txBody>
          <a:bodyPr wrap="square" lIns="0" tIns="0" rIns="0" bIns="0" rtlCol="0" anchor="ctr"/>
          <a:lstStyle/>
          <a:p>
            <a:pPr indent="0" marL="0">
              <a:buNone/>
            </a:pPr>
            <a:r>
              <a:rPr lang="en-US" sz="1100" b="1" dirty="0">
                <a:solidFill>
                  <a:srgbClr val="141B33"/>
                </a:solidFill>
                <a:latin typeface="맑은 고딕" pitchFamily="34" charset="0"/>
                <a:ea typeface="맑은 고딕" pitchFamily="34" charset="-122"/>
                <a:cs typeface="맑은 고딕" pitchFamily="34" charset="-120"/>
              </a:rPr>
              <a:t>쉼터 도보권 정류장</a:t>
            </a:r>
            <a:endParaRPr lang="en-US" sz="1100" dirty="0"/>
          </a:p>
        </p:txBody>
      </p:sp>
      <p:sp>
        <p:nvSpPr>
          <p:cNvPr id="11" name="Text 9"/>
          <p:cNvSpPr/>
          <p:nvPr/>
        </p:nvSpPr>
        <p:spPr>
          <a:xfrm>
            <a:off x="2761488" y="3017520"/>
            <a:ext cx="914400" cy="256032"/>
          </a:xfrm>
          <a:prstGeom prst="rect">
            <a:avLst/>
          </a:prstGeom>
          <a:noFill/>
          <a:ln/>
        </p:spPr>
        <p:txBody>
          <a:bodyPr wrap="square" lIns="0" tIns="0" rIns="0" bIns="0" rtlCol="0" anchor="ctr"/>
          <a:lstStyle/>
          <a:p>
            <a:pPr algn="r" indent="0" marL="0">
              <a:buNone/>
            </a:pPr>
            <a:r>
              <a:rPr lang="en-US" sz="1400" b="1" dirty="0">
                <a:solidFill>
                  <a:srgbClr val="001871"/>
                </a:solidFill>
                <a:latin typeface="맑은 고딕" pitchFamily="34" charset="0"/>
                <a:ea typeface="맑은 고딕" pitchFamily="34" charset="-122"/>
                <a:cs typeface="맑은 고딕" pitchFamily="34" charset="-120"/>
              </a:rPr>
              <a:t>503곳</a:t>
            </a:r>
            <a:endParaRPr lang="en-US" sz="1400" dirty="0"/>
          </a:p>
        </p:txBody>
      </p:sp>
      <p:sp>
        <p:nvSpPr>
          <p:cNvPr id="12" name="Text 10"/>
          <p:cNvSpPr/>
          <p:nvPr/>
        </p:nvSpPr>
        <p:spPr>
          <a:xfrm>
            <a:off x="841248" y="3255264"/>
            <a:ext cx="45720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전체의 26.6%에 불과</a:t>
            </a:r>
            <a:endParaRPr lang="en-US" sz="950" dirty="0"/>
          </a:p>
        </p:txBody>
      </p:sp>
      <p:sp>
        <p:nvSpPr>
          <p:cNvPr id="13" name="Text 11"/>
          <p:cNvSpPr/>
          <p:nvPr/>
        </p:nvSpPr>
        <p:spPr>
          <a:xfrm>
            <a:off x="841248" y="3529584"/>
            <a:ext cx="1920240" cy="256032"/>
          </a:xfrm>
          <a:prstGeom prst="rect">
            <a:avLst/>
          </a:prstGeom>
          <a:noFill/>
          <a:ln/>
        </p:spPr>
        <p:txBody>
          <a:bodyPr wrap="square" lIns="0" tIns="0" rIns="0" bIns="0" rtlCol="0" anchor="ctr"/>
          <a:lstStyle/>
          <a:p>
            <a:pPr indent="0" marL="0">
              <a:buNone/>
            </a:pPr>
            <a:r>
              <a:rPr lang="en-US" sz="1100" b="1" dirty="0">
                <a:solidFill>
                  <a:srgbClr val="141B33"/>
                </a:solidFill>
                <a:latin typeface="맑은 고딕" pitchFamily="34" charset="0"/>
                <a:ea typeface="맑은 고딕" pitchFamily="34" charset="-122"/>
                <a:cs typeface="맑은 고딕" pitchFamily="34" charset="-120"/>
              </a:rPr>
              <a:t>시설 실태가 확인된 곳</a:t>
            </a:r>
            <a:endParaRPr lang="en-US" sz="1100" dirty="0"/>
          </a:p>
        </p:txBody>
      </p:sp>
      <p:sp>
        <p:nvSpPr>
          <p:cNvPr id="14" name="Text 12"/>
          <p:cNvSpPr/>
          <p:nvPr/>
        </p:nvSpPr>
        <p:spPr>
          <a:xfrm>
            <a:off x="2761488" y="3529584"/>
            <a:ext cx="914400" cy="256032"/>
          </a:xfrm>
          <a:prstGeom prst="rect">
            <a:avLst/>
          </a:prstGeom>
          <a:noFill/>
          <a:ln/>
        </p:spPr>
        <p:txBody>
          <a:bodyPr wrap="square" lIns="0" tIns="0" rIns="0" bIns="0" rtlCol="0" anchor="ctr"/>
          <a:lstStyle/>
          <a:p>
            <a:pPr algn="r" indent="0" marL="0">
              <a:buNone/>
            </a:pPr>
            <a:r>
              <a:rPr lang="en-US" sz="1400" b="1" dirty="0">
                <a:solidFill>
                  <a:srgbClr val="001871"/>
                </a:solidFill>
                <a:latin typeface="맑은 고딕" pitchFamily="34" charset="0"/>
                <a:ea typeface="맑은 고딕" pitchFamily="34" charset="-122"/>
                <a:cs typeface="맑은 고딕" pitchFamily="34" charset="-120"/>
              </a:rPr>
              <a:t>161곳</a:t>
            </a:r>
            <a:endParaRPr lang="en-US" sz="1400" dirty="0"/>
          </a:p>
        </p:txBody>
      </p:sp>
      <p:sp>
        <p:nvSpPr>
          <p:cNvPr id="15" name="Text 13"/>
          <p:cNvSpPr/>
          <p:nvPr/>
        </p:nvSpPr>
        <p:spPr>
          <a:xfrm>
            <a:off x="841248" y="3767328"/>
            <a:ext cx="4572000" cy="237744"/>
          </a:xfrm>
          <a:prstGeom prst="rect">
            <a:avLst/>
          </a:prstGeom>
          <a:noFill/>
          <a:ln/>
        </p:spPr>
        <p:txBody>
          <a:bodyPr wrap="square" lIns="0" tIns="0" rIns="0" bIns="0" rtlCol="0" anchor="ctr"/>
          <a:lstStyle/>
          <a:p>
            <a:pPr indent="0" marL="0">
              <a:buNone/>
            </a:pPr>
            <a:r>
              <a:rPr lang="en-US" sz="950" dirty="0">
                <a:solidFill>
                  <a:srgbClr val="6E7796"/>
                </a:solidFill>
                <a:latin typeface="맑은 고딕" pitchFamily="34" charset="0"/>
                <a:ea typeface="맑은 고딕" pitchFamily="34" charset="-122"/>
                <a:cs typeface="맑은 고딕" pitchFamily="34" charset="-120"/>
              </a:rPr>
              <a:t>로드뷰 육안 판독 — 나머지는 미확인</a:t>
            </a:r>
            <a:endParaRPr lang="en-US" sz="950" dirty="0"/>
          </a:p>
        </p:txBody>
      </p:sp>
      <p:sp>
        <p:nvSpPr>
          <p:cNvPr id="16" name="Shape 14"/>
          <p:cNvSpPr/>
          <p:nvPr/>
        </p:nvSpPr>
        <p:spPr>
          <a:xfrm>
            <a:off x="5916168" y="1965960"/>
            <a:ext cx="5708599" cy="2148840"/>
          </a:xfrm>
          <a:prstGeom prst="roundRect">
            <a:avLst>
              <a:gd name="adj" fmla="val 5957"/>
            </a:avLst>
          </a:prstGeom>
          <a:solidFill>
            <a:srgbClr val="001871"/>
          </a:solidFill>
          <a:ln w="12700">
            <a:solidFill>
              <a:srgbClr val="001871"/>
            </a:solidFill>
            <a:prstDash val="solid"/>
          </a:ln>
        </p:spPr>
      </p:sp>
      <p:sp>
        <p:nvSpPr>
          <p:cNvPr id="17" name="Text 15"/>
          <p:cNvSpPr/>
          <p:nvPr/>
        </p:nvSpPr>
        <p:spPr>
          <a:xfrm>
            <a:off x="6190488" y="2121408"/>
            <a:ext cx="5029200" cy="292608"/>
          </a:xfrm>
          <a:prstGeom prst="rect">
            <a:avLst/>
          </a:prstGeom>
          <a:noFill/>
          <a:ln/>
        </p:spPr>
        <p:txBody>
          <a:bodyPr wrap="square" lIns="0" tIns="0" rIns="0" bIns="0" rtlCol="0" anchor="ctr"/>
          <a:lstStyle/>
          <a:p>
            <a:pPr indent="0" marL="0">
              <a:buNone/>
            </a:pPr>
            <a:r>
              <a:rPr lang="en-US" sz="1200" b="1" dirty="0">
                <a:solidFill>
                  <a:srgbClr val="A6B3E6"/>
                </a:solidFill>
                <a:latin typeface="맑은 고딕" pitchFamily="34" charset="0"/>
                <a:ea typeface="맑은 고딕" pitchFamily="34" charset="-122"/>
                <a:cs typeface="맑은 고딕" pitchFamily="34" charset="-120"/>
              </a:rPr>
              <a:t>춘천시가 이 목록으로 할 수 있는 일</a:t>
            </a:r>
            <a:endParaRPr lang="en-US" sz="1200" dirty="0"/>
          </a:p>
        </p:txBody>
      </p:sp>
      <p:sp>
        <p:nvSpPr>
          <p:cNvPr id="18" name="Text 16"/>
          <p:cNvSpPr/>
          <p:nvPr/>
        </p:nvSpPr>
        <p:spPr>
          <a:xfrm>
            <a:off x="6190488" y="2542032"/>
            <a:ext cx="4983480" cy="493776"/>
          </a:xfrm>
          <a:prstGeom prst="rect">
            <a:avLst/>
          </a:prstGeom>
          <a:noFill/>
          <a:ln/>
        </p:spPr>
        <p:txBody>
          <a:bodyPr wrap="square" lIns="0" tIns="0" rIns="0" bIns="0" rtlCol="0" anchor="t"/>
          <a:lstStyle/>
          <a:p>
            <a:pPr indent="0" marL="0">
              <a:lnSpc>
                <a:spcPct val="120000"/>
              </a:lnSpc>
              <a:buNone/>
            </a:pPr>
            <a:r>
              <a:rPr lang="en-US" sz="1000" b="1" dirty="0">
                <a:solidFill>
                  <a:srgbClr val="E8751A"/>
                </a:solidFill>
                <a:latin typeface="맑은 고딕" pitchFamily="34" charset="0"/>
                <a:ea typeface="맑은 고딕" pitchFamily="34" charset="-122"/>
                <a:cs typeface="맑은 고딕" pitchFamily="34" charset="-120"/>
              </a:rPr>
              <a:t>·  </a:t>
            </a:r>
            <a:pPr indent="0" marL="0">
              <a:lnSpc>
                <a:spcPct val="120000"/>
              </a:lnSpc>
              <a:buNone/>
            </a:pPr>
            <a:r>
              <a:rPr lang="en-US" sz="1000" dirty="0">
                <a:solidFill>
                  <a:srgbClr val="D4DAEE"/>
                </a:solidFill>
                <a:latin typeface="맑은 고딕" pitchFamily="34" charset="0"/>
                <a:ea typeface="맑은 고딕" pitchFamily="34" charset="-122"/>
                <a:cs typeface="맑은 고딕" pitchFamily="34" charset="-120"/>
              </a:rPr>
              <a:t>취약 정류장이 몰린 구역을 안전총괄과와 공유 → 무더위쉼터 추가 지정·그늘막 설치 후보로</a:t>
            </a:r>
            <a:endParaRPr lang="en-US" sz="1000" dirty="0"/>
          </a:p>
        </p:txBody>
      </p:sp>
      <p:sp>
        <p:nvSpPr>
          <p:cNvPr id="19" name="Text 17"/>
          <p:cNvSpPr/>
          <p:nvPr/>
        </p:nvSpPr>
        <p:spPr>
          <a:xfrm>
            <a:off x="6190488" y="3072384"/>
            <a:ext cx="4983480" cy="493776"/>
          </a:xfrm>
          <a:prstGeom prst="rect">
            <a:avLst/>
          </a:prstGeom>
          <a:noFill/>
          <a:ln/>
        </p:spPr>
        <p:txBody>
          <a:bodyPr wrap="square" lIns="0" tIns="0" rIns="0" bIns="0" rtlCol="0" anchor="t"/>
          <a:lstStyle/>
          <a:p>
            <a:pPr indent="0" marL="0">
              <a:lnSpc>
                <a:spcPct val="120000"/>
              </a:lnSpc>
              <a:buNone/>
            </a:pPr>
            <a:r>
              <a:rPr lang="en-US" sz="1000" b="1" dirty="0">
                <a:solidFill>
                  <a:srgbClr val="E8751A"/>
                </a:solidFill>
                <a:latin typeface="맑은 고딕" pitchFamily="34" charset="0"/>
                <a:ea typeface="맑은 고딕" pitchFamily="34" charset="-122"/>
                <a:cs typeface="맑은 고딕" pitchFamily="34" charset="-120"/>
              </a:rPr>
              <a:t>·  </a:t>
            </a:r>
            <a:pPr indent="0" marL="0">
              <a:lnSpc>
                <a:spcPct val="120000"/>
              </a:lnSpc>
              <a:buNone/>
            </a:pPr>
            <a:r>
              <a:rPr lang="en-US" sz="1000" dirty="0">
                <a:solidFill>
                  <a:srgbClr val="D4DAEE"/>
                </a:solidFill>
                <a:latin typeface="맑은 고딕" pitchFamily="34" charset="0"/>
                <a:ea typeface="맑은 고딕" pitchFamily="34" charset="-122"/>
                <a:cs typeface="맑은 고딕" pitchFamily="34" charset="-120"/>
              </a:rPr>
              <a:t>'그늘 없음 + 쉼터 300m 밖 + 이용량 상위'를 겹쳐 유개식 승강장 설치 후보 목록 산출</a:t>
            </a:r>
            <a:endParaRPr lang="en-US" sz="1000" dirty="0"/>
          </a:p>
        </p:txBody>
      </p:sp>
      <p:sp>
        <p:nvSpPr>
          <p:cNvPr id="20" name="Text 18"/>
          <p:cNvSpPr/>
          <p:nvPr/>
        </p:nvSpPr>
        <p:spPr>
          <a:xfrm>
            <a:off x="6190488" y="3602736"/>
            <a:ext cx="4983480" cy="493776"/>
          </a:xfrm>
          <a:prstGeom prst="rect">
            <a:avLst/>
          </a:prstGeom>
          <a:noFill/>
          <a:ln/>
        </p:spPr>
        <p:txBody>
          <a:bodyPr wrap="square" lIns="0" tIns="0" rIns="0" bIns="0" rtlCol="0" anchor="t"/>
          <a:lstStyle/>
          <a:p>
            <a:pPr indent="0" marL="0">
              <a:lnSpc>
                <a:spcPct val="120000"/>
              </a:lnSpc>
              <a:buNone/>
            </a:pPr>
            <a:r>
              <a:rPr lang="en-US" sz="1000" b="1" dirty="0">
                <a:solidFill>
                  <a:srgbClr val="E8751A"/>
                </a:solidFill>
                <a:latin typeface="맑은 고딕" pitchFamily="34" charset="0"/>
                <a:ea typeface="맑은 고딕" pitchFamily="34" charset="-122"/>
                <a:cs typeface="맑은 고딕" pitchFamily="34" charset="-120"/>
              </a:rPr>
              <a:t>·  </a:t>
            </a:r>
            <a:pPr indent="0" marL="0">
              <a:lnSpc>
                <a:spcPct val="120000"/>
              </a:lnSpc>
              <a:buNone/>
            </a:pPr>
            <a:r>
              <a:rPr lang="en-US" sz="1000" dirty="0">
                <a:solidFill>
                  <a:srgbClr val="D4DAEE"/>
                </a:solidFill>
                <a:latin typeface="맑은 고딕" pitchFamily="34" charset="0"/>
                <a:ea typeface="맑은 고딕" pitchFamily="34" charset="-122"/>
                <a:cs typeface="맑은 고딕" pitchFamily="34" charset="-120"/>
              </a:rPr>
              <a:t>제보가 쌓일수록 실태가 정확해져, 다음 연도 예산 요구서에 '왜 이 정류장인지'를 숫자로 씀</a:t>
            </a:r>
            <a:endParaRPr lang="en-US" sz="1000" dirty="0"/>
          </a:p>
        </p:txBody>
      </p:sp>
      <p:sp>
        <p:nvSpPr>
          <p:cNvPr id="21" name="Shape 19"/>
          <p:cNvSpPr/>
          <p:nvPr/>
        </p:nvSpPr>
        <p:spPr>
          <a:xfrm>
            <a:off x="566928" y="4315968"/>
            <a:ext cx="11057839" cy="1481328"/>
          </a:xfrm>
          <a:prstGeom prst="roundRect">
            <a:avLst>
              <a:gd name="adj" fmla="val 8642"/>
            </a:avLst>
          </a:prstGeom>
          <a:solidFill>
            <a:srgbClr val="F4F6FC"/>
          </a:solidFill>
          <a:ln w="12700">
            <a:solidFill>
              <a:srgbClr val="D4DAEE"/>
            </a:solidFill>
            <a:prstDash val="solid"/>
          </a:ln>
        </p:spPr>
      </p:sp>
      <p:sp>
        <p:nvSpPr>
          <p:cNvPr id="22" name="Text 20"/>
          <p:cNvSpPr/>
          <p:nvPr/>
        </p:nvSpPr>
        <p:spPr>
          <a:xfrm>
            <a:off x="841248" y="4462272"/>
            <a:ext cx="2743200" cy="274320"/>
          </a:xfrm>
          <a:prstGeom prst="rect">
            <a:avLst/>
          </a:prstGeom>
          <a:noFill/>
          <a:ln/>
        </p:spPr>
        <p:txBody>
          <a:bodyPr wrap="square" lIns="0" tIns="0" rIns="0" bIns="0" rtlCol="0" anchor="ctr"/>
          <a:lstStyle/>
          <a:p>
            <a:pPr indent="0" marL="0">
              <a:buNone/>
            </a:pPr>
            <a:r>
              <a:rPr lang="en-US" sz="1200" b="1" dirty="0">
                <a:solidFill>
                  <a:srgbClr val="6E7796"/>
                </a:solidFill>
                <a:latin typeface="맑은 고딕" pitchFamily="34" charset="0"/>
                <a:ea typeface="맑은 고딕" pitchFamily="34" charset="-122"/>
                <a:cs typeface="맑은 고딕" pitchFamily="34" charset="-120"/>
              </a:rPr>
              <a:t>행정 활용 관점</a:t>
            </a:r>
            <a:endParaRPr lang="en-US" sz="1200" dirty="0"/>
          </a:p>
        </p:txBody>
      </p:sp>
      <p:sp>
        <p:nvSpPr>
          <p:cNvPr id="23" name="Text 21"/>
          <p:cNvSpPr/>
          <p:nvPr/>
        </p:nvSpPr>
        <p:spPr>
          <a:xfrm>
            <a:off x="841248" y="4791456"/>
            <a:ext cx="201168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담당 부서</a:t>
            </a:r>
            <a:endParaRPr lang="en-US" sz="1000" dirty="0"/>
          </a:p>
        </p:txBody>
      </p:sp>
      <p:sp>
        <p:nvSpPr>
          <p:cNvPr id="24" name="Text 22"/>
          <p:cNvSpPr/>
          <p:nvPr/>
        </p:nvSpPr>
        <p:spPr>
          <a:xfrm>
            <a:off x="841248" y="5029200"/>
            <a:ext cx="2011680" cy="438912"/>
          </a:xfrm>
          <a:prstGeom prst="rect">
            <a:avLst/>
          </a:prstGeom>
          <a:noFill/>
          <a:ln/>
        </p:spPr>
        <p:txBody>
          <a:bodyPr wrap="square" lIns="0" tIns="0" rIns="0" bIns="0" rtlCol="0" anchor="t"/>
          <a:lstStyle/>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교통과 · 안전총괄과</a:t>
            </a:r>
            <a:endParaRPr lang="en-US" sz="1000" dirty="0"/>
          </a:p>
        </p:txBody>
      </p:sp>
      <p:sp>
        <p:nvSpPr>
          <p:cNvPr id="25" name="Text 23"/>
          <p:cNvSpPr/>
          <p:nvPr/>
        </p:nvSpPr>
        <p:spPr>
          <a:xfrm>
            <a:off x="2944368" y="4791456"/>
            <a:ext cx="201168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도입 비용</a:t>
            </a:r>
            <a:endParaRPr lang="en-US" sz="1000" dirty="0"/>
          </a:p>
        </p:txBody>
      </p:sp>
      <p:sp>
        <p:nvSpPr>
          <p:cNvPr id="26" name="Text 24"/>
          <p:cNvSpPr/>
          <p:nvPr/>
        </p:nvSpPr>
        <p:spPr>
          <a:xfrm>
            <a:off x="2944368" y="5029200"/>
            <a:ext cx="2011680" cy="438912"/>
          </a:xfrm>
          <a:prstGeom prst="rect">
            <a:avLst/>
          </a:prstGeom>
          <a:noFill/>
          <a:ln/>
        </p:spPr>
        <p:txBody>
          <a:bodyPr wrap="square" lIns="0" tIns="0" rIns="0" bIns="0" rtlCol="0" anchor="t"/>
          <a:lstStyle/>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웹 주소 접속만 · 별도 설치 없음</a:t>
            </a:r>
            <a:endParaRPr lang="en-US" sz="1000" dirty="0"/>
          </a:p>
        </p:txBody>
      </p:sp>
      <p:sp>
        <p:nvSpPr>
          <p:cNvPr id="27" name="Text 25"/>
          <p:cNvSpPr/>
          <p:nvPr/>
        </p:nvSpPr>
        <p:spPr>
          <a:xfrm>
            <a:off x="5047488" y="4791456"/>
            <a:ext cx="201168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갱신 주기</a:t>
            </a:r>
            <a:endParaRPr lang="en-US" sz="1000" dirty="0"/>
          </a:p>
        </p:txBody>
      </p:sp>
      <p:sp>
        <p:nvSpPr>
          <p:cNvPr id="28" name="Text 26"/>
          <p:cNvSpPr/>
          <p:nvPr/>
        </p:nvSpPr>
        <p:spPr>
          <a:xfrm>
            <a:off x="5047488" y="5029200"/>
            <a:ext cx="2011680" cy="438912"/>
          </a:xfrm>
          <a:prstGeom prst="rect">
            <a:avLst/>
          </a:prstGeom>
          <a:noFill/>
          <a:ln/>
        </p:spPr>
        <p:txBody>
          <a:bodyPr wrap="square" lIns="0" tIns="0" rIns="0" bIns="0" rtlCol="0" anchor="t"/>
          <a:lstStyle/>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시민 제보가 들어올 때마다 상시</a:t>
            </a:r>
            <a:endParaRPr lang="en-US" sz="1000" dirty="0"/>
          </a:p>
        </p:txBody>
      </p:sp>
      <p:sp>
        <p:nvSpPr>
          <p:cNvPr id="29" name="Text 27"/>
          <p:cNvSpPr/>
          <p:nvPr/>
        </p:nvSpPr>
        <p:spPr>
          <a:xfrm>
            <a:off x="7150608" y="4791456"/>
            <a:ext cx="201168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대체하는 것</a:t>
            </a:r>
            <a:endParaRPr lang="en-US" sz="1000" dirty="0"/>
          </a:p>
        </p:txBody>
      </p:sp>
      <p:sp>
        <p:nvSpPr>
          <p:cNvPr id="30" name="Text 28"/>
          <p:cNvSpPr/>
          <p:nvPr/>
        </p:nvSpPr>
        <p:spPr>
          <a:xfrm>
            <a:off x="7150608" y="5029200"/>
            <a:ext cx="2011680" cy="438912"/>
          </a:xfrm>
          <a:prstGeom prst="rect">
            <a:avLst/>
          </a:prstGeom>
          <a:noFill/>
          <a:ln/>
        </p:spPr>
        <p:txBody>
          <a:bodyPr wrap="square" lIns="0" tIns="0" rIns="0" bIns="0" rtlCol="0" anchor="t"/>
          <a:lstStyle/>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정류장 전수 현장 실태조사</a:t>
            </a:r>
            <a:endParaRPr lang="en-US" sz="1000" dirty="0"/>
          </a:p>
        </p:txBody>
      </p:sp>
      <p:sp>
        <p:nvSpPr>
          <p:cNvPr id="31" name="Text 29"/>
          <p:cNvSpPr/>
          <p:nvPr/>
        </p:nvSpPr>
        <p:spPr>
          <a:xfrm>
            <a:off x="9253728" y="4791456"/>
            <a:ext cx="2011680" cy="237744"/>
          </a:xfrm>
          <a:prstGeom prst="rect">
            <a:avLst/>
          </a:prstGeom>
          <a:noFill/>
          <a:ln/>
        </p:spPr>
        <p:txBody>
          <a:bodyPr wrap="square" lIns="0" tIns="0" rIns="0" bIns="0" rtlCol="0" anchor="ctr"/>
          <a:lstStyle/>
          <a:p>
            <a:pPr indent="0" marL="0">
              <a:buNone/>
            </a:pPr>
            <a:r>
              <a:rPr lang="en-US" sz="1000" dirty="0">
                <a:solidFill>
                  <a:srgbClr val="6E7796"/>
                </a:solidFill>
                <a:latin typeface="맑은 고딕" pitchFamily="34" charset="0"/>
                <a:ea typeface="맑은 고딕" pitchFamily="34" charset="-122"/>
                <a:cs typeface="맑은 고딕" pitchFamily="34" charset="-120"/>
              </a:rPr>
              <a:t>산출물</a:t>
            </a:r>
            <a:endParaRPr lang="en-US" sz="1000" dirty="0"/>
          </a:p>
        </p:txBody>
      </p:sp>
      <p:sp>
        <p:nvSpPr>
          <p:cNvPr id="32" name="Text 30"/>
          <p:cNvSpPr/>
          <p:nvPr/>
        </p:nvSpPr>
        <p:spPr>
          <a:xfrm>
            <a:off x="9253728" y="5029200"/>
            <a:ext cx="2011680" cy="438912"/>
          </a:xfrm>
          <a:prstGeom prst="rect">
            <a:avLst/>
          </a:prstGeom>
          <a:noFill/>
          <a:ln/>
        </p:spPr>
        <p:txBody>
          <a:bodyPr wrap="square" lIns="0" tIns="0" rIns="0" bIns="0" rtlCol="0" anchor="t"/>
          <a:lstStyle/>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폭염 취약 정류장 목록</a:t>
            </a:r>
            <a:endParaRPr lang="en-US" sz="1000" dirty="0"/>
          </a:p>
          <a:p>
            <a:pPr indent="0" marL="0">
              <a:lnSpc>
                <a:spcPct val="115000"/>
              </a:lnSpc>
              <a:buNone/>
            </a:pPr>
            <a:r>
              <a:rPr lang="en-US" sz="1000" b="1" dirty="0">
                <a:solidFill>
                  <a:srgbClr val="141B33"/>
                </a:solidFill>
                <a:latin typeface="맑은 고딕" pitchFamily="34" charset="0"/>
                <a:ea typeface="맑은 고딕" pitchFamily="34" charset="-122"/>
                <a:cs typeface="맑은 고딕" pitchFamily="34" charset="-120"/>
              </a:rPr>
              <a:t>시설 실태 5종</a:t>
            </a:r>
            <a:endParaRPr lang="en-US" sz="1000" dirty="0"/>
          </a:p>
        </p:txBody>
      </p:sp>
      <p:sp>
        <p:nvSpPr>
          <p:cNvPr id="33" name="Text 31"/>
          <p:cNvSpPr/>
          <p:nvPr/>
        </p:nvSpPr>
        <p:spPr>
          <a:xfrm>
            <a:off x="841248" y="5468112"/>
            <a:ext cx="10509199" cy="256032"/>
          </a:xfrm>
          <a:prstGeom prst="rect">
            <a:avLst/>
          </a:prstGeom>
          <a:noFill/>
          <a:ln/>
        </p:spPr>
        <p:txBody>
          <a:bodyPr wrap="square" lIns="0" tIns="0" rIns="0" bIns="0" rtlCol="0" anchor="ctr"/>
          <a:lstStyle/>
          <a:p>
            <a:pPr indent="0" marL="0">
              <a:buNone/>
            </a:pPr>
            <a:r>
              <a:rPr lang="en-US" sz="900" dirty="0">
                <a:solidFill>
                  <a:srgbClr val="6E7796"/>
                </a:solidFill>
                <a:latin typeface="맑은 고딕" pitchFamily="34" charset="0"/>
                <a:ea typeface="맑은 고딕" pitchFamily="34" charset="-122"/>
                <a:cs typeface="맑은 고딕" pitchFamily="34" charset="-120"/>
              </a:rPr>
              <a:t>※ 개인정보를 수집하지 않으므로(닉네임·연락처 필드 없음) 민원 접수 채널로 쓰더라도 개인정보 처리 부담이 발생하지 않습니다.</a:t>
            </a:r>
            <a:endParaRPr lang="en-US" sz="900" dirty="0"/>
          </a:p>
        </p:txBody>
      </p:sp>
      <p:sp>
        <p:nvSpPr>
          <p:cNvPr id="34" name="Text 32"/>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5" name="Text 33"/>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05</a:t>
            </a:r>
            <a:pPr indent="0" marL="0">
              <a:buNone/>
            </a:pPr>
            <a:r>
              <a:rPr lang="en-US" sz="1100" b="1" dirty="0">
                <a:solidFill>
                  <a:srgbClr val="6E7796"/>
                </a:solidFill>
                <a:latin typeface="맑은 고딕" pitchFamily="34" charset="0"/>
                <a:ea typeface="맑은 고딕" pitchFamily="34" charset="-122"/>
                <a:cs typeface="맑은 고딕" pitchFamily="34" charset="-120"/>
              </a:rPr>
              <a:t>   정책 적용 및 기대 효과</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새로 짓기 전에, 이미 있는 것부터 연결합니다</a:t>
            </a:r>
            <a:endParaRPr lang="en-US" sz="2700" dirty="0"/>
          </a:p>
        </p:txBody>
      </p:sp>
      <p:sp>
        <p:nvSpPr>
          <p:cNvPr id="4" name="Shape 2"/>
          <p:cNvSpPr/>
          <p:nvPr/>
        </p:nvSpPr>
        <p:spPr>
          <a:xfrm>
            <a:off x="566928" y="1783080"/>
            <a:ext cx="3566160" cy="3154680"/>
          </a:xfrm>
          <a:prstGeom prst="roundRect">
            <a:avLst>
              <a:gd name="adj" fmla="val 4058"/>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5" name="Text 3"/>
          <p:cNvSpPr/>
          <p:nvPr/>
        </p:nvSpPr>
        <p:spPr>
          <a:xfrm>
            <a:off x="841248" y="1965960"/>
            <a:ext cx="457200" cy="457200"/>
          </a:xfrm>
          <a:prstGeom prst="rect">
            <a:avLst/>
          </a:prstGeom>
          <a:noFill/>
          <a:ln/>
        </p:spPr>
        <p:txBody>
          <a:bodyPr wrap="square" lIns="0" tIns="0" rIns="0" bIns="0" rtlCol="0" anchor="ctr"/>
          <a:lstStyle/>
          <a:p>
            <a:pPr indent="0" marL="0">
              <a:buNone/>
            </a:pPr>
            <a:r>
              <a:rPr lang="en-US" sz="3000" b="1" dirty="0">
                <a:solidFill>
                  <a:srgbClr val="E7EBF8"/>
                </a:solidFill>
                <a:latin typeface="맑은 고딕" pitchFamily="34" charset="0"/>
                <a:ea typeface="맑은 고딕" pitchFamily="34" charset="-122"/>
                <a:cs typeface="맑은 고딕" pitchFamily="34" charset="-120"/>
              </a:rPr>
              <a:t>1</a:t>
            </a:r>
            <a:endParaRPr lang="en-US" sz="3000" dirty="0"/>
          </a:p>
        </p:txBody>
      </p:sp>
      <p:sp>
        <p:nvSpPr>
          <p:cNvPr id="6" name="Text 4"/>
          <p:cNvSpPr/>
          <p:nvPr/>
        </p:nvSpPr>
        <p:spPr>
          <a:xfrm>
            <a:off x="841248" y="2450592"/>
            <a:ext cx="3017520" cy="365760"/>
          </a:xfrm>
          <a:prstGeom prst="rect">
            <a:avLst/>
          </a:prstGeom>
          <a:noFill/>
          <a:ln/>
        </p:spPr>
        <p:txBody>
          <a:bodyPr wrap="square" lIns="0" tIns="0" rIns="0" bIns="0" rtlCol="0" anchor="ctr"/>
          <a:lstStyle/>
          <a:p>
            <a:pPr indent="0" marL="0">
              <a:buNone/>
            </a:pPr>
            <a:r>
              <a:rPr lang="en-US" sz="1500" b="1" dirty="0">
                <a:solidFill>
                  <a:srgbClr val="001871"/>
                </a:solidFill>
                <a:latin typeface="맑은 고딕" pitchFamily="34" charset="0"/>
                <a:ea typeface="맑은 고딕" pitchFamily="34" charset="-122"/>
                <a:cs typeface="맑은 고딕" pitchFamily="34" charset="-120"/>
              </a:rPr>
              <a:t>취약 식별 → 저비용 우선</a:t>
            </a:r>
            <a:endParaRPr lang="en-US" sz="1500" dirty="0"/>
          </a:p>
        </p:txBody>
      </p:sp>
      <p:sp>
        <p:nvSpPr>
          <p:cNvPr id="7" name="Text 5"/>
          <p:cNvSpPr/>
          <p:nvPr/>
        </p:nvSpPr>
        <p:spPr>
          <a:xfrm>
            <a:off x="841248" y="2907792"/>
            <a:ext cx="3063240" cy="1371600"/>
          </a:xfrm>
          <a:prstGeom prst="rect">
            <a:avLst/>
          </a:prstGeom>
          <a:noFill/>
          <a:ln/>
        </p:spPr>
        <p:txBody>
          <a:bodyPr wrap="square" lIns="0" tIns="0" rIns="0" bIns="0" rtlCol="0" anchor="t"/>
          <a:lstStyle/>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1억 원짜리 스마트 정류장을 세우기 전에,</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그늘막을 놓거나 인근 건물을 무더위쉼터로</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추가 지정하는 것만으로 해결되는 정류장이</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있습니다. 그 구분을 데이터로 합니다.</a:t>
            </a:r>
            <a:endParaRPr lang="en-US" sz="1050" dirty="0"/>
          </a:p>
        </p:txBody>
      </p:sp>
      <p:sp>
        <p:nvSpPr>
          <p:cNvPr id="8" name="Shape 6"/>
          <p:cNvSpPr/>
          <p:nvPr/>
        </p:nvSpPr>
        <p:spPr>
          <a:xfrm>
            <a:off x="822960" y="4370832"/>
            <a:ext cx="3063240" cy="457200"/>
          </a:xfrm>
          <a:prstGeom prst="roundRect">
            <a:avLst>
              <a:gd name="adj" fmla="val 16000"/>
            </a:avLst>
          </a:prstGeom>
          <a:solidFill>
            <a:srgbClr val="F4F6FC"/>
          </a:solidFill>
          <a:ln w="12700">
            <a:solidFill>
              <a:srgbClr val="D4DAEE"/>
            </a:solidFill>
            <a:prstDash val="solid"/>
          </a:ln>
        </p:spPr>
      </p:sp>
      <p:sp>
        <p:nvSpPr>
          <p:cNvPr id="9" name="Text 7"/>
          <p:cNvSpPr/>
          <p:nvPr/>
        </p:nvSpPr>
        <p:spPr>
          <a:xfrm>
            <a:off x="950976" y="4370832"/>
            <a:ext cx="2807208" cy="457200"/>
          </a:xfrm>
          <a:prstGeom prst="rect">
            <a:avLst/>
          </a:prstGeom>
          <a:noFill/>
          <a:ln/>
        </p:spPr>
        <p:txBody>
          <a:bodyPr wrap="square" lIns="0" tIns="0" rIns="0" bIns="0" rtlCol="0" anchor="ctr"/>
          <a:lstStyle/>
          <a:p>
            <a:pPr indent="0" marL="0">
              <a:buNone/>
            </a:pPr>
            <a:r>
              <a:rPr lang="en-US" sz="900" b="1" dirty="0">
                <a:solidFill>
                  <a:srgbClr val="001871"/>
                </a:solidFill>
                <a:latin typeface="맑은 고딕" pitchFamily="34" charset="0"/>
                <a:ea typeface="맑은 고딕" pitchFamily="34" charset="-122"/>
                <a:cs typeface="맑은 고딕" pitchFamily="34" charset="-120"/>
              </a:rPr>
              <a:t>폭염 취약 1,369곳 중 저비용 해결 가능 구간 선별</a:t>
            </a:r>
            <a:endParaRPr lang="en-US" sz="900" dirty="0"/>
          </a:p>
        </p:txBody>
      </p:sp>
      <p:sp>
        <p:nvSpPr>
          <p:cNvPr id="10" name="Shape 8"/>
          <p:cNvSpPr/>
          <p:nvPr/>
        </p:nvSpPr>
        <p:spPr>
          <a:xfrm>
            <a:off x="4370832" y="1783080"/>
            <a:ext cx="3566160" cy="3154680"/>
          </a:xfrm>
          <a:prstGeom prst="roundRect">
            <a:avLst>
              <a:gd name="adj" fmla="val 4058"/>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1" name="Text 9"/>
          <p:cNvSpPr/>
          <p:nvPr/>
        </p:nvSpPr>
        <p:spPr>
          <a:xfrm>
            <a:off x="4645152" y="1965960"/>
            <a:ext cx="457200" cy="457200"/>
          </a:xfrm>
          <a:prstGeom prst="rect">
            <a:avLst/>
          </a:prstGeom>
          <a:noFill/>
          <a:ln/>
        </p:spPr>
        <p:txBody>
          <a:bodyPr wrap="square" lIns="0" tIns="0" rIns="0" bIns="0" rtlCol="0" anchor="ctr"/>
          <a:lstStyle/>
          <a:p>
            <a:pPr indent="0" marL="0">
              <a:buNone/>
            </a:pPr>
            <a:r>
              <a:rPr lang="en-US" sz="3000" b="1" dirty="0">
                <a:solidFill>
                  <a:srgbClr val="E7EBF8"/>
                </a:solidFill>
                <a:latin typeface="맑은 고딕" pitchFamily="34" charset="0"/>
                <a:ea typeface="맑은 고딕" pitchFamily="34" charset="-122"/>
                <a:cs typeface="맑은 고딕" pitchFamily="34" charset="-120"/>
              </a:rPr>
              <a:t>2</a:t>
            </a:r>
            <a:endParaRPr lang="en-US" sz="3000" dirty="0"/>
          </a:p>
        </p:txBody>
      </p:sp>
      <p:sp>
        <p:nvSpPr>
          <p:cNvPr id="12" name="Text 10"/>
          <p:cNvSpPr/>
          <p:nvPr/>
        </p:nvSpPr>
        <p:spPr>
          <a:xfrm>
            <a:off x="4645152" y="2450592"/>
            <a:ext cx="3017520" cy="365760"/>
          </a:xfrm>
          <a:prstGeom prst="rect">
            <a:avLst/>
          </a:prstGeom>
          <a:noFill/>
          <a:ln/>
        </p:spPr>
        <p:txBody>
          <a:bodyPr wrap="square" lIns="0" tIns="0" rIns="0" bIns="0" rtlCol="0" anchor="ctr"/>
          <a:lstStyle/>
          <a:p>
            <a:pPr indent="0" marL="0">
              <a:buNone/>
            </a:pPr>
            <a:r>
              <a:rPr lang="en-US" sz="1500" b="1" dirty="0">
                <a:solidFill>
                  <a:srgbClr val="001871"/>
                </a:solidFill>
                <a:latin typeface="맑은 고딕" pitchFamily="34" charset="0"/>
                <a:ea typeface="맑은 고딕" pitchFamily="34" charset="-122"/>
                <a:cs typeface="맑은 고딕" pitchFamily="34" charset="-120"/>
              </a:rPr>
              <a:t>부서 분산 → 통합 판단</a:t>
            </a:r>
            <a:endParaRPr lang="en-US" sz="1500" dirty="0"/>
          </a:p>
        </p:txBody>
      </p:sp>
      <p:sp>
        <p:nvSpPr>
          <p:cNvPr id="13" name="Text 11"/>
          <p:cNvSpPr/>
          <p:nvPr/>
        </p:nvSpPr>
        <p:spPr>
          <a:xfrm>
            <a:off x="4645152" y="2907792"/>
            <a:ext cx="3063240" cy="1371600"/>
          </a:xfrm>
          <a:prstGeom prst="rect">
            <a:avLst/>
          </a:prstGeom>
          <a:noFill/>
          <a:ln/>
        </p:spPr>
        <p:txBody>
          <a:bodyPr wrap="square" lIns="0" tIns="0" rIns="0" bIns="0" rtlCol="0" anchor="t"/>
          <a:lstStyle/>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쉼터는 안전총괄과, 벤치·정류장은 교통과,</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가로등은 도로과 자료입니다. 정류장 키 하나로</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묶어 두면 '이 정류장의 상태'를 한 번에</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볼 수 있습니다.</a:t>
            </a:r>
            <a:endParaRPr lang="en-US" sz="1050" dirty="0"/>
          </a:p>
        </p:txBody>
      </p:sp>
      <p:sp>
        <p:nvSpPr>
          <p:cNvPr id="14" name="Shape 12"/>
          <p:cNvSpPr/>
          <p:nvPr/>
        </p:nvSpPr>
        <p:spPr>
          <a:xfrm>
            <a:off x="4626864" y="4370832"/>
            <a:ext cx="3063240" cy="457200"/>
          </a:xfrm>
          <a:prstGeom prst="roundRect">
            <a:avLst>
              <a:gd name="adj" fmla="val 16000"/>
            </a:avLst>
          </a:prstGeom>
          <a:solidFill>
            <a:srgbClr val="F4F6FC"/>
          </a:solidFill>
          <a:ln w="12700">
            <a:solidFill>
              <a:srgbClr val="D4DAEE"/>
            </a:solidFill>
            <a:prstDash val="solid"/>
          </a:ln>
        </p:spPr>
      </p:sp>
      <p:sp>
        <p:nvSpPr>
          <p:cNvPr id="15" name="Text 13"/>
          <p:cNvSpPr/>
          <p:nvPr/>
        </p:nvSpPr>
        <p:spPr>
          <a:xfrm>
            <a:off x="4754880" y="4370832"/>
            <a:ext cx="2807208" cy="457200"/>
          </a:xfrm>
          <a:prstGeom prst="rect">
            <a:avLst/>
          </a:prstGeom>
          <a:noFill/>
          <a:ln/>
        </p:spPr>
        <p:txBody>
          <a:bodyPr wrap="square" lIns="0" tIns="0" rIns="0" bIns="0" rtlCol="0" anchor="ctr"/>
          <a:lstStyle/>
          <a:p>
            <a:pPr indent="0" marL="0">
              <a:buNone/>
            </a:pPr>
            <a:r>
              <a:rPr lang="en-US" sz="900" b="1" dirty="0">
                <a:solidFill>
                  <a:srgbClr val="001871"/>
                </a:solidFill>
                <a:latin typeface="맑은 고딕" pitchFamily="34" charset="0"/>
                <a:ea typeface="맑은 고딕" pitchFamily="34" charset="-122"/>
                <a:cs typeface="맑은 고딕" pitchFamily="34" charset="-120"/>
              </a:rPr>
              <a:t>공공데이터 9종을 정류장 1,890개 위에 결합</a:t>
            </a:r>
            <a:endParaRPr lang="en-US" sz="900" dirty="0"/>
          </a:p>
        </p:txBody>
      </p:sp>
      <p:sp>
        <p:nvSpPr>
          <p:cNvPr id="16" name="Shape 14"/>
          <p:cNvSpPr/>
          <p:nvPr/>
        </p:nvSpPr>
        <p:spPr>
          <a:xfrm>
            <a:off x="8174736" y="1783080"/>
            <a:ext cx="3566160" cy="3154680"/>
          </a:xfrm>
          <a:prstGeom prst="roundRect">
            <a:avLst>
              <a:gd name="adj" fmla="val 4058"/>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7" name="Text 15"/>
          <p:cNvSpPr/>
          <p:nvPr/>
        </p:nvSpPr>
        <p:spPr>
          <a:xfrm>
            <a:off x="8449056" y="1965960"/>
            <a:ext cx="457200" cy="457200"/>
          </a:xfrm>
          <a:prstGeom prst="rect">
            <a:avLst/>
          </a:prstGeom>
          <a:noFill/>
          <a:ln/>
        </p:spPr>
        <p:txBody>
          <a:bodyPr wrap="square" lIns="0" tIns="0" rIns="0" bIns="0" rtlCol="0" anchor="ctr"/>
          <a:lstStyle/>
          <a:p>
            <a:pPr indent="0" marL="0">
              <a:buNone/>
            </a:pPr>
            <a:r>
              <a:rPr lang="en-US" sz="3000" b="1" dirty="0">
                <a:solidFill>
                  <a:srgbClr val="E7EBF8"/>
                </a:solidFill>
                <a:latin typeface="맑은 고딕" pitchFamily="34" charset="0"/>
                <a:ea typeface="맑은 고딕" pitchFamily="34" charset="-122"/>
                <a:cs typeface="맑은 고딕" pitchFamily="34" charset="-120"/>
              </a:rPr>
              <a:t>3</a:t>
            </a:r>
            <a:endParaRPr lang="en-US" sz="3000" dirty="0"/>
          </a:p>
        </p:txBody>
      </p:sp>
      <p:sp>
        <p:nvSpPr>
          <p:cNvPr id="18" name="Text 16"/>
          <p:cNvSpPr/>
          <p:nvPr/>
        </p:nvSpPr>
        <p:spPr>
          <a:xfrm>
            <a:off x="8449056" y="2450592"/>
            <a:ext cx="3017520" cy="365760"/>
          </a:xfrm>
          <a:prstGeom prst="rect">
            <a:avLst/>
          </a:prstGeom>
          <a:noFill/>
          <a:ln/>
        </p:spPr>
        <p:txBody>
          <a:bodyPr wrap="square" lIns="0" tIns="0" rIns="0" bIns="0" rtlCol="0" anchor="ctr"/>
          <a:lstStyle/>
          <a:p>
            <a:pPr indent="0" marL="0">
              <a:buNone/>
            </a:pPr>
            <a:r>
              <a:rPr lang="en-US" sz="1500" b="1" dirty="0">
                <a:solidFill>
                  <a:srgbClr val="001871"/>
                </a:solidFill>
                <a:latin typeface="맑은 고딕" pitchFamily="34" charset="0"/>
                <a:ea typeface="맑은 고딕" pitchFamily="34" charset="-122"/>
                <a:cs typeface="맑은 고딕" pitchFamily="34" charset="-120"/>
              </a:rPr>
              <a:t>총량 계획 → 지점 선정</a:t>
            </a:r>
            <a:endParaRPr lang="en-US" sz="1500" dirty="0"/>
          </a:p>
        </p:txBody>
      </p:sp>
      <p:sp>
        <p:nvSpPr>
          <p:cNvPr id="19" name="Text 17"/>
          <p:cNvSpPr/>
          <p:nvPr/>
        </p:nvSpPr>
        <p:spPr>
          <a:xfrm>
            <a:off x="8449056" y="2907792"/>
            <a:ext cx="3063240" cy="1371600"/>
          </a:xfrm>
          <a:prstGeom prst="rect">
            <a:avLst/>
          </a:prstGeom>
          <a:noFill/>
          <a:ln/>
        </p:spPr>
        <p:txBody>
          <a:bodyPr wrap="square" lIns="0" tIns="0" rIns="0" bIns="0" rtlCol="0" anchor="t"/>
          <a:lstStyle/>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유개식 승강장 716곳 → 980곳 확대 계획의</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'어느 정류장부터'에 답을 줍니다.</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실태 조사 용역 없이, 시민 제보로</a:t>
            </a:r>
            <a:endParaRPr lang="en-US" sz="1050" dirty="0"/>
          </a:p>
          <a:p>
            <a:pPr indent="0" marL="0">
              <a:lnSpc>
                <a:spcPct val="130000"/>
              </a:lnSpc>
              <a:buNone/>
            </a:pPr>
            <a:r>
              <a:rPr lang="en-US" sz="1050" dirty="0">
                <a:solidFill>
                  <a:srgbClr val="3A4160"/>
                </a:solidFill>
                <a:latin typeface="맑은 고딕" pitchFamily="34" charset="0"/>
                <a:ea typeface="맑은 고딕" pitchFamily="34" charset="-122"/>
                <a:cs typeface="맑은 고딕" pitchFamily="34" charset="-120"/>
              </a:rPr>
              <a:t>상시 갱신됩니다.</a:t>
            </a:r>
            <a:endParaRPr lang="en-US" sz="1050" dirty="0"/>
          </a:p>
        </p:txBody>
      </p:sp>
      <p:sp>
        <p:nvSpPr>
          <p:cNvPr id="20" name="Shape 18"/>
          <p:cNvSpPr/>
          <p:nvPr/>
        </p:nvSpPr>
        <p:spPr>
          <a:xfrm>
            <a:off x="8430768" y="4370832"/>
            <a:ext cx="3063240" cy="457200"/>
          </a:xfrm>
          <a:prstGeom prst="roundRect">
            <a:avLst>
              <a:gd name="adj" fmla="val 16000"/>
            </a:avLst>
          </a:prstGeom>
          <a:solidFill>
            <a:srgbClr val="F4F6FC"/>
          </a:solidFill>
          <a:ln w="12700">
            <a:solidFill>
              <a:srgbClr val="D4DAEE"/>
            </a:solidFill>
            <a:prstDash val="solid"/>
          </a:ln>
        </p:spPr>
      </p:sp>
      <p:sp>
        <p:nvSpPr>
          <p:cNvPr id="21" name="Text 19"/>
          <p:cNvSpPr/>
          <p:nvPr/>
        </p:nvSpPr>
        <p:spPr>
          <a:xfrm>
            <a:off x="8558784" y="4370832"/>
            <a:ext cx="2807208" cy="457200"/>
          </a:xfrm>
          <a:prstGeom prst="rect">
            <a:avLst/>
          </a:prstGeom>
          <a:noFill/>
          <a:ln/>
        </p:spPr>
        <p:txBody>
          <a:bodyPr wrap="square" lIns="0" tIns="0" rIns="0" bIns="0" rtlCol="0" anchor="ctr"/>
          <a:lstStyle/>
          <a:p>
            <a:pPr indent="0" marL="0">
              <a:buNone/>
            </a:pPr>
            <a:r>
              <a:rPr lang="en-US" sz="900" b="1" dirty="0">
                <a:solidFill>
                  <a:srgbClr val="001871"/>
                </a:solidFill>
                <a:latin typeface="맑은 고딕" pitchFamily="34" charset="0"/>
                <a:ea typeface="맑은 고딕" pitchFamily="34" charset="-122"/>
                <a:cs typeface="맑은 고딕" pitchFamily="34" charset="-120"/>
              </a:rPr>
              <a:t>그늘 없음 + 쉼터 밖 + 이용량 상위 교집합</a:t>
            </a:r>
            <a:endParaRPr lang="en-US" sz="900" dirty="0"/>
          </a:p>
        </p:txBody>
      </p:sp>
      <p:sp>
        <p:nvSpPr>
          <p:cNvPr id="22" name="Shape 20"/>
          <p:cNvSpPr/>
          <p:nvPr/>
        </p:nvSpPr>
        <p:spPr>
          <a:xfrm>
            <a:off x="566928" y="5074920"/>
            <a:ext cx="11057839" cy="804672"/>
          </a:xfrm>
          <a:prstGeom prst="roundRect">
            <a:avLst>
              <a:gd name="adj" fmla="val 15909"/>
            </a:avLst>
          </a:prstGeom>
          <a:solidFill>
            <a:srgbClr val="FCF3EA"/>
          </a:solidFill>
          <a:ln w="12700">
            <a:solidFill>
              <a:srgbClr val="F2C99E"/>
            </a:solidFill>
            <a:prstDash val="solid"/>
          </a:ln>
        </p:spPr>
      </p:sp>
      <p:sp>
        <p:nvSpPr>
          <p:cNvPr id="23" name="Text 21"/>
          <p:cNvSpPr/>
          <p:nvPr/>
        </p:nvSpPr>
        <p:spPr>
          <a:xfrm>
            <a:off x="841248" y="5074920"/>
            <a:ext cx="1143000" cy="804672"/>
          </a:xfrm>
          <a:prstGeom prst="rect">
            <a:avLst/>
          </a:prstGeom>
          <a:noFill/>
          <a:ln/>
        </p:spPr>
        <p:txBody>
          <a:bodyPr wrap="square" lIns="0" tIns="0" rIns="0" bIns="0" rtlCol="0" anchor="ctr"/>
          <a:lstStyle/>
          <a:p>
            <a:pPr indent="0" marL="0">
              <a:buNone/>
            </a:pPr>
            <a:r>
              <a:rPr lang="en-US" sz="1150" b="1" dirty="0">
                <a:solidFill>
                  <a:srgbClr val="B3560A"/>
                </a:solidFill>
                <a:latin typeface="맑은 고딕" pitchFamily="34" charset="0"/>
                <a:ea typeface="맑은 고딕" pitchFamily="34" charset="-122"/>
                <a:cs typeface="맑은 고딕" pitchFamily="34" charset="-120"/>
              </a:rPr>
              <a:t>적용 방식</a:t>
            </a:r>
            <a:endParaRPr lang="en-US" sz="1150" dirty="0"/>
          </a:p>
        </p:txBody>
      </p:sp>
      <p:sp>
        <p:nvSpPr>
          <p:cNvPr id="24" name="Text 22"/>
          <p:cNvSpPr/>
          <p:nvPr/>
        </p:nvSpPr>
        <p:spPr>
          <a:xfrm>
            <a:off x="2048256" y="5074920"/>
            <a:ext cx="3063240" cy="804672"/>
          </a:xfrm>
          <a:prstGeom prst="rect">
            <a:avLst/>
          </a:prstGeom>
          <a:noFill/>
          <a:ln/>
        </p:spPr>
        <p:txBody>
          <a:bodyPr wrap="square" lIns="0" tIns="0" rIns="0" bIns="0" rtlCol="0" anchor="ctr"/>
          <a:lstStyle/>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① 정류장에 QR 스티커만 붙이면</a:t>
            </a:r>
            <a:endParaRPr lang="en-US" sz="1000" dirty="0"/>
          </a:p>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     어르신 진입 경로가 열립니다</a:t>
            </a:r>
            <a:endParaRPr lang="en-US" sz="1000" dirty="0"/>
          </a:p>
        </p:txBody>
      </p:sp>
      <p:sp>
        <p:nvSpPr>
          <p:cNvPr id="25" name="Text 23"/>
          <p:cNvSpPr/>
          <p:nvPr/>
        </p:nvSpPr>
        <p:spPr>
          <a:xfrm>
            <a:off x="5202936" y="5074920"/>
            <a:ext cx="3063240" cy="804672"/>
          </a:xfrm>
          <a:prstGeom prst="rect">
            <a:avLst/>
          </a:prstGeom>
          <a:noFill/>
          <a:ln/>
        </p:spPr>
        <p:txBody>
          <a:bodyPr wrap="square" lIns="0" tIns="0" rIns="0" bIns="0" rtlCol="0" anchor="ctr"/>
          <a:lstStyle/>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② 웹 주소 접속만 —</a:t>
            </a:r>
            <a:endParaRPr lang="en-US" sz="1000" dirty="0"/>
          </a:p>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     설치·계정 없음 (PWA)</a:t>
            </a:r>
            <a:endParaRPr lang="en-US" sz="1000" dirty="0"/>
          </a:p>
        </p:txBody>
      </p:sp>
      <p:sp>
        <p:nvSpPr>
          <p:cNvPr id="26" name="Text 24"/>
          <p:cNvSpPr/>
          <p:nvPr/>
        </p:nvSpPr>
        <p:spPr>
          <a:xfrm>
            <a:off x="8357616" y="5074920"/>
            <a:ext cx="3063240" cy="804672"/>
          </a:xfrm>
          <a:prstGeom prst="rect">
            <a:avLst/>
          </a:prstGeom>
          <a:noFill/>
          <a:ln/>
        </p:spPr>
        <p:txBody>
          <a:bodyPr wrap="square" lIns="0" tIns="0" rIns="0" bIns="0" rtlCol="0" anchor="ctr"/>
          <a:lstStyle/>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③ 축적된 실태 데이터는</a:t>
            </a:r>
            <a:endParaRPr lang="en-US" sz="1000" dirty="0"/>
          </a:p>
          <a:p>
            <a:pPr indent="0" marL="0">
              <a:lnSpc>
                <a:spcPct val="120000"/>
              </a:lnSpc>
              <a:buNone/>
            </a:pPr>
            <a:r>
              <a:rPr lang="en-US" sz="1000" b="1" dirty="0">
                <a:solidFill>
                  <a:srgbClr val="8A5210"/>
                </a:solidFill>
                <a:latin typeface="맑은 고딕" pitchFamily="34" charset="0"/>
                <a:ea typeface="맑은 고딕" pitchFamily="34" charset="-122"/>
                <a:cs typeface="맑은 고딕" pitchFamily="34" charset="-120"/>
              </a:rPr>
              <a:t>     춘천시 공공데이터로 재개방 가능</a:t>
            </a:r>
            <a:endParaRPr lang="en-US" sz="1000" dirty="0"/>
          </a:p>
        </p:txBody>
      </p:sp>
      <p:sp>
        <p:nvSpPr>
          <p:cNvPr id="27" name="Text 25"/>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출처 : 전자신문 2024-07-03 「춘천시, 친환경 시내버스 전량 교체」 — 유개식 승강장 716→980곳 확대 계획</a:t>
            </a:r>
            <a:endParaRPr lang="en-US" sz="850" dirty="0"/>
          </a:p>
        </p:txBody>
      </p:sp>
      <p:sp>
        <p:nvSpPr>
          <p:cNvPr id="28" name="Text 26"/>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9" name="Text 27"/>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05</a:t>
            </a:r>
            <a:pPr indent="0" marL="0">
              <a:buNone/>
            </a:pPr>
            <a:r>
              <a:rPr lang="en-US" sz="1100" b="1" dirty="0">
                <a:solidFill>
                  <a:srgbClr val="6E7796"/>
                </a:solidFill>
                <a:latin typeface="맑은 고딕" pitchFamily="34" charset="0"/>
                <a:ea typeface="맑은 고딕" pitchFamily="34" charset="-122"/>
                <a:cs typeface="맑은 고딕" pitchFamily="34" charset="-120"/>
              </a:rPr>
              <a:t>   정책 적용 및 기대 효과</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기대 효과</a:t>
            </a:r>
            <a:endParaRPr lang="en-US" sz="2700" dirty="0"/>
          </a:p>
        </p:txBody>
      </p:sp>
      <p:sp>
        <p:nvSpPr>
          <p:cNvPr id="4" name="Shape 2"/>
          <p:cNvSpPr/>
          <p:nvPr/>
        </p:nvSpPr>
        <p:spPr>
          <a:xfrm>
            <a:off x="566928" y="1783080"/>
            <a:ext cx="3566160" cy="402336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5" name="Shape 3"/>
          <p:cNvSpPr/>
          <p:nvPr/>
        </p:nvSpPr>
        <p:spPr>
          <a:xfrm>
            <a:off x="841248" y="2011680"/>
            <a:ext cx="960120" cy="402336"/>
          </a:xfrm>
          <a:prstGeom prst="roundRect">
            <a:avLst>
              <a:gd name="adj" fmla="val 22727"/>
            </a:avLst>
          </a:prstGeom>
          <a:solidFill>
            <a:srgbClr val="001871"/>
          </a:solidFill>
          <a:ln w="12700">
            <a:solidFill>
              <a:srgbClr val="001871"/>
            </a:solidFill>
            <a:prstDash val="solid"/>
          </a:ln>
        </p:spPr>
      </p:sp>
      <p:sp>
        <p:nvSpPr>
          <p:cNvPr id="6" name="Text 4"/>
          <p:cNvSpPr/>
          <p:nvPr/>
        </p:nvSpPr>
        <p:spPr>
          <a:xfrm>
            <a:off x="841248" y="2011680"/>
            <a:ext cx="960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시민</a:t>
            </a:r>
            <a:endParaRPr lang="en-US" sz="1300" dirty="0"/>
          </a:p>
        </p:txBody>
      </p:sp>
      <p:sp>
        <p:nvSpPr>
          <p:cNvPr id="7" name="Text 5"/>
          <p:cNvSpPr/>
          <p:nvPr/>
        </p:nvSpPr>
        <p:spPr>
          <a:xfrm>
            <a:off x="841248" y="2651760"/>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폭염 노출 시간 단축 (쉼터 안내)</a:t>
            </a:r>
            <a:endParaRPr lang="en-US" sz="1100" dirty="0"/>
          </a:p>
        </p:txBody>
      </p:sp>
      <p:sp>
        <p:nvSpPr>
          <p:cNvPr id="8" name="Text 6"/>
          <p:cNvSpPr/>
          <p:nvPr/>
        </p:nvSpPr>
        <p:spPr>
          <a:xfrm>
            <a:off x="841248" y="3310128"/>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이미 있는 무더위쉼터 226곳을 실제로 이용</a:t>
            </a:r>
            <a:endParaRPr lang="en-US" sz="1100" dirty="0"/>
          </a:p>
        </p:txBody>
      </p:sp>
      <p:sp>
        <p:nvSpPr>
          <p:cNvPr id="9" name="Text 7"/>
          <p:cNvSpPr/>
          <p:nvPr/>
        </p:nvSpPr>
        <p:spPr>
          <a:xfrm>
            <a:off x="841248" y="3968496"/>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가기 전에 시설을 알고 정류장을 선택</a:t>
            </a:r>
            <a:endParaRPr lang="en-US" sz="1100" dirty="0"/>
          </a:p>
        </p:txBody>
      </p:sp>
      <p:sp>
        <p:nvSpPr>
          <p:cNvPr id="10" name="Text 8"/>
          <p:cNvSpPr/>
          <p:nvPr/>
        </p:nvSpPr>
        <p:spPr>
          <a:xfrm>
            <a:off x="841248" y="4626864"/>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내릴 곳을 놓쳐 되돌아오는 왕복 감소</a:t>
            </a:r>
            <a:endParaRPr lang="en-US" sz="1100" dirty="0"/>
          </a:p>
        </p:txBody>
      </p:sp>
      <p:sp>
        <p:nvSpPr>
          <p:cNvPr id="11" name="Shape 9"/>
          <p:cNvSpPr/>
          <p:nvPr/>
        </p:nvSpPr>
        <p:spPr>
          <a:xfrm>
            <a:off x="822960" y="5303520"/>
            <a:ext cx="3063240" cy="347472"/>
          </a:xfrm>
          <a:prstGeom prst="roundRect">
            <a:avLst>
              <a:gd name="adj" fmla="val 21053"/>
            </a:avLst>
          </a:prstGeom>
          <a:solidFill>
            <a:srgbClr val="F4F6FC"/>
          </a:solidFill>
          <a:ln w="12700">
            <a:solidFill>
              <a:srgbClr val="D4DAEE"/>
            </a:solidFill>
            <a:prstDash val="solid"/>
          </a:ln>
        </p:spPr>
      </p:sp>
      <p:sp>
        <p:nvSpPr>
          <p:cNvPr id="12" name="Text 10"/>
          <p:cNvSpPr/>
          <p:nvPr/>
        </p:nvSpPr>
        <p:spPr>
          <a:xfrm>
            <a:off x="822960" y="5303520"/>
            <a:ext cx="3063240" cy="347472"/>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측정 : 쉼터 안내 노출 · 재방문율</a:t>
            </a:r>
            <a:endParaRPr lang="en-US" sz="950" dirty="0"/>
          </a:p>
        </p:txBody>
      </p:sp>
      <p:sp>
        <p:nvSpPr>
          <p:cNvPr id="13" name="Shape 11"/>
          <p:cNvSpPr/>
          <p:nvPr/>
        </p:nvSpPr>
        <p:spPr>
          <a:xfrm>
            <a:off x="4370832" y="1783080"/>
            <a:ext cx="3566160" cy="402336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4" name="Shape 12"/>
          <p:cNvSpPr/>
          <p:nvPr/>
        </p:nvSpPr>
        <p:spPr>
          <a:xfrm>
            <a:off x="4645152" y="2011680"/>
            <a:ext cx="960120" cy="402336"/>
          </a:xfrm>
          <a:prstGeom prst="roundRect">
            <a:avLst>
              <a:gd name="adj" fmla="val 22727"/>
            </a:avLst>
          </a:prstGeom>
          <a:solidFill>
            <a:srgbClr val="2B44A8"/>
          </a:solidFill>
          <a:ln w="12700">
            <a:solidFill>
              <a:srgbClr val="2B44A8"/>
            </a:solidFill>
            <a:prstDash val="solid"/>
          </a:ln>
        </p:spPr>
      </p:sp>
      <p:sp>
        <p:nvSpPr>
          <p:cNvPr id="15" name="Text 13"/>
          <p:cNvSpPr/>
          <p:nvPr/>
        </p:nvSpPr>
        <p:spPr>
          <a:xfrm>
            <a:off x="4645152" y="2011680"/>
            <a:ext cx="960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행정</a:t>
            </a:r>
            <a:endParaRPr lang="en-US" sz="1300" dirty="0"/>
          </a:p>
        </p:txBody>
      </p:sp>
      <p:sp>
        <p:nvSpPr>
          <p:cNvPr id="16" name="Text 14"/>
          <p:cNvSpPr/>
          <p:nvPr/>
        </p:nvSpPr>
        <p:spPr>
          <a:xfrm>
            <a:off x="4645152" y="2651760"/>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폭염 취약 정류장 목록 1,369곳 최초 확보</a:t>
            </a:r>
            <a:endParaRPr lang="en-US" sz="1100" dirty="0"/>
          </a:p>
        </p:txBody>
      </p:sp>
      <p:sp>
        <p:nvSpPr>
          <p:cNvPr id="17" name="Text 15"/>
          <p:cNvSpPr/>
          <p:nvPr/>
        </p:nvSpPr>
        <p:spPr>
          <a:xfrm>
            <a:off x="4645152" y="3310128"/>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저비용 수단(그늘막·쉼터 지정) 우선 적용</a:t>
            </a:r>
            <a:endParaRPr lang="en-US" sz="1100" dirty="0"/>
          </a:p>
        </p:txBody>
      </p:sp>
      <p:sp>
        <p:nvSpPr>
          <p:cNvPr id="18" name="Text 16"/>
          <p:cNvSpPr/>
          <p:nvPr/>
        </p:nvSpPr>
        <p:spPr>
          <a:xfrm>
            <a:off x="4645152" y="3968496"/>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전수 현장조사 용역 없이 상시 갱신</a:t>
            </a:r>
            <a:endParaRPr lang="en-US" sz="1100" dirty="0"/>
          </a:p>
        </p:txBody>
      </p:sp>
      <p:sp>
        <p:nvSpPr>
          <p:cNvPr id="19" name="Text 17"/>
          <p:cNvSpPr/>
          <p:nvPr/>
        </p:nvSpPr>
        <p:spPr>
          <a:xfrm>
            <a:off x="4645152" y="4626864"/>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예산 배분에 대한 설명 가능성 확보</a:t>
            </a:r>
            <a:endParaRPr lang="en-US" sz="1100" dirty="0"/>
          </a:p>
        </p:txBody>
      </p:sp>
      <p:sp>
        <p:nvSpPr>
          <p:cNvPr id="20" name="Shape 18"/>
          <p:cNvSpPr/>
          <p:nvPr/>
        </p:nvSpPr>
        <p:spPr>
          <a:xfrm>
            <a:off x="4626864" y="5303520"/>
            <a:ext cx="3063240" cy="347472"/>
          </a:xfrm>
          <a:prstGeom prst="roundRect">
            <a:avLst>
              <a:gd name="adj" fmla="val 21053"/>
            </a:avLst>
          </a:prstGeom>
          <a:solidFill>
            <a:srgbClr val="F4F6FC"/>
          </a:solidFill>
          <a:ln w="12700">
            <a:solidFill>
              <a:srgbClr val="D4DAEE"/>
            </a:solidFill>
            <a:prstDash val="solid"/>
          </a:ln>
        </p:spPr>
      </p:sp>
      <p:sp>
        <p:nvSpPr>
          <p:cNvPr id="21" name="Text 19"/>
          <p:cNvSpPr/>
          <p:nvPr/>
        </p:nvSpPr>
        <p:spPr>
          <a:xfrm>
            <a:off x="4626864" y="5303520"/>
            <a:ext cx="3063240" cy="347472"/>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측정 : 취약 정류장 수 · 조사 비용</a:t>
            </a:r>
            <a:endParaRPr lang="en-US" sz="950" dirty="0"/>
          </a:p>
        </p:txBody>
      </p:sp>
      <p:sp>
        <p:nvSpPr>
          <p:cNvPr id="22" name="Shape 20"/>
          <p:cNvSpPr/>
          <p:nvPr/>
        </p:nvSpPr>
        <p:spPr>
          <a:xfrm>
            <a:off x="8174736" y="1783080"/>
            <a:ext cx="3566160" cy="4023360"/>
          </a:xfrm>
          <a:prstGeom prst="roundRect">
            <a:avLst>
              <a:gd name="adj" fmla="val 359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23" name="Shape 21"/>
          <p:cNvSpPr/>
          <p:nvPr/>
        </p:nvSpPr>
        <p:spPr>
          <a:xfrm>
            <a:off x="8449056" y="2011680"/>
            <a:ext cx="960120" cy="402336"/>
          </a:xfrm>
          <a:prstGeom prst="roundRect">
            <a:avLst>
              <a:gd name="adj" fmla="val 22727"/>
            </a:avLst>
          </a:prstGeom>
          <a:solidFill>
            <a:srgbClr val="E8751A"/>
          </a:solidFill>
          <a:ln w="12700">
            <a:solidFill>
              <a:srgbClr val="E8751A"/>
            </a:solidFill>
            <a:prstDash val="solid"/>
          </a:ln>
        </p:spPr>
      </p:sp>
      <p:sp>
        <p:nvSpPr>
          <p:cNvPr id="24" name="Text 22"/>
          <p:cNvSpPr/>
          <p:nvPr/>
        </p:nvSpPr>
        <p:spPr>
          <a:xfrm>
            <a:off x="8449056" y="2011680"/>
            <a:ext cx="960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데이터</a:t>
            </a:r>
            <a:endParaRPr lang="en-US" sz="1300" dirty="0"/>
          </a:p>
        </p:txBody>
      </p:sp>
      <p:sp>
        <p:nvSpPr>
          <p:cNvPr id="25" name="Text 23"/>
          <p:cNvSpPr/>
          <p:nvPr/>
        </p:nvSpPr>
        <p:spPr>
          <a:xfrm>
            <a:off x="8449056" y="2651760"/>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쉼터·정류장 대장을 정류장 키로 통합</a:t>
            </a:r>
            <a:endParaRPr lang="en-US" sz="1100" dirty="0"/>
          </a:p>
        </p:txBody>
      </p:sp>
      <p:sp>
        <p:nvSpPr>
          <p:cNvPr id="26" name="Text 24"/>
          <p:cNvSpPr/>
          <p:nvPr/>
        </p:nvSpPr>
        <p:spPr>
          <a:xfrm>
            <a:off x="8449056" y="3310128"/>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그늘 미확인 1,729곳이 제보에 따라 감소</a:t>
            </a:r>
            <a:endParaRPr lang="en-US" sz="1100" dirty="0"/>
          </a:p>
        </p:txBody>
      </p:sp>
      <p:sp>
        <p:nvSpPr>
          <p:cNvPr id="27" name="Text 25"/>
          <p:cNvSpPr/>
          <p:nvPr/>
        </p:nvSpPr>
        <p:spPr>
          <a:xfrm>
            <a:off x="8449056" y="3968496"/>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공개된 춘천 데이터의 재사용 가치 상승</a:t>
            </a:r>
            <a:endParaRPr lang="en-US" sz="1100" dirty="0"/>
          </a:p>
        </p:txBody>
      </p:sp>
      <p:sp>
        <p:nvSpPr>
          <p:cNvPr id="28" name="Text 26"/>
          <p:cNvSpPr/>
          <p:nvPr/>
        </p:nvSpPr>
        <p:spPr>
          <a:xfrm>
            <a:off x="8449056" y="4626864"/>
            <a:ext cx="3063240" cy="621792"/>
          </a:xfrm>
          <a:prstGeom prst="rect">
            <a:avLst/>
          </a:prstGeom>
          <a:noFill/>
          <a:ln/>
        </p:spPr>
        <p:txBody>
          <a:bodyPr wrap="square" lIns="0" tIns="0" rIns="0" bIns="0" rtlCol="0" anchor="t"/>
          <a:lstStyle/>
          <a:p>
            <a:pPr indent="0" marL="0">
              <a:lnSpc>
                <a:spcPct val="125000"/>
              </a:lnSpc>
              <a:buNone/>
            </a:pPr>
            <a:r>
              <a:rPr lang="en-US" sz="1100" b="1" dirty="0">
                <a:solidFill>
                  <a:srgbClr val="E8751A"/>
                </a:solidFill>
                <a:latin typeface="맑은 고딕" pitchFamily="34" charset="0"/>
                <a:ea typeface="맑은 고딕" pitchFamily="34" charset="-122"/>
                <a:cs typeface="맑은 고딕" pitchFamily="34" charset="-120"/>
              </a:rPr>
              <a:t>·  </a:t>
            </a:r>
            <a:pPr indent="0" marL="0">
              <a:lnSpc>
                <a:spcPct val="125000"/>
              </a:lnSpc>
              <a:buNone/>
            </a:pPr>
            <a:r>
              <a:rPr lang="en-US" sz="1100" dirty="0">
                <a:solidFill>
                  <a:srgbClr val="3A4160"/>
                </a:solidFill>
                <a:latin typeface="맑은 고딕" pitchFamily="34" charset="0"/>
                <a:ea typeface="맑은 고딕" pitchFamily="34" charset="-122"/>
                <a:cs typeface="맑은 고딕" pitchFamily="34" charset="-120"/>
              </a:rPr>
              <a:t>동일 구조를 타 시·군에 그대로 이식 가능</a:t>
            </a:r>
            <a:endParaRPr lang="en-US" sz="1100" dirty="0"/>
          </a:p>
        </p:txBody>
      </p:sp>
      <p:sp>
        <p:nvSpPr>
          <p:cNvPr id="29" name="Shape 27"/>
          <p:cNvSpPr/>
          <p:nvPr/>
        </p:nvSpPr>
        <p:spPr>
          <a:xfrm>
            <a:off x="8430768" y="5303520"/>
            <a:ext cx="3063240" cy="347472"/>
          </a:xfrm>
          <a:prstGeom prst="roundRect">
            <a:avLst>
              <a:gd name="adj" fmla="val 21053"/>
            </a:avLst>
          </a:prstGeom>
          <a:solidFill>
            <a:srgbClr val="F4F6FC"/>
          </a:solidFill>
          <a:ln w="12700">
            <a:solidFill>
              <a:srgbClr val="D4DAEE"/>
            </a:solidFill>
            <a:prstDash val="solid"/>
          </a:ln>
        </p:spPr>
      </p:sp>
      <p:sp>
        <p:nvSpPr>
          <p:cNvPr id="30" name="Text 28"/>
          <p:cNvSpPr/>
          <p:nvPr/>
        </p:nvSpPr>
        <p:spPr>
          <a:xfrm>
            <a:off x="8430768" y="5303520"/>
            <a:ext cx="3063240" cy="347472"/>
          </a:xfrm>
          <a:prstGeom prst="rect">
            <a:avLst/>
          </a:prstGeom>
          <a:noFill/>
          <a:ln/>
        </p:spPr>
        <p:txBody>
          <a:bodyPr wrap="square" lIns="0" tIns="0" rIns="0" bIns="0" rtlCol="0" anchor="ctr"/>
          <a:lstStyle/>
          <a:p>
            <a:pPr algn="ctr" indent="0" marL="0">
              <a:buNone/>
            </a:pPr>
            <a:r>
              <a:rPr lang="en-US" sz="950" b="1" dirty="0">
                <a:solidFill>
                  <a:srgbClr val="6E7796"/>
                </a:solidFill>
                <a:latin typeface="맑은 고딕" pitchFamily="34" charset="0"/>
                <a:ea typeface="맑은 고딕" pitchFamily="34" charset="-122"/>
                <a:cs typeface="맑은 고딕" pitchFamily="34" charset="-120"/>
              </a:rPr>
              <a:t>측정 : 시설 확인율 · 결합 커버리지</a:t>
            </a:r>
            <a:endParaRPr lang="en-US" sz="950" dirty="0"/>
          </a:p>
        </p:txBody>
      </p:sp>
      <p:sp>
        <p:nvSpPr>
          <p:cNvPr id="31" name="Text 29"/>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2" name="Text 30"/>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06</a:t>
            </a:r>
            <a:pPr indent="0" marL="0">
              <a:buNone/>
            </a:pPr>
            <a:r>
              <a:rPr lang="en-US" sz="1100" b="1" dirty="0">
                <a:solidFill>
                  <a:srgbClr val="6E7796"/>
                </a:solidFill>
                <a:latin typeface="맑은 고딕" pitchFamily="34" charset="0"/>
                <a:ea typeface="맑은 고딕" pitchFamily="34" charset="-122"/>
                <a:cs typeface="맑은 고딕" pitchFamily="34" charset="-120"/>
              </a:rPr>
              <a:t>   확장 계획 및 마무리</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확장 계획</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아래 항목은 모두 현재 미구현이며, 오늘 시연은 실제로 동작하는 기능만 보여드렸습니다</a:t>
            </a:r>
            <a:endParaRPr lang="en-US" sz="1300" dirty="0"/>
          </a:p>
        </p:txBody>
      </p:sp>
      <p:sp>
        <p:nvSpPr>
          <p:cNvPr id="5" name="Shape 3"/>
          <p:cNvSpPr/>
          <p:nvPr/>
        </p:nvSpPr>
        <p:spPr>
          <a:xfrm>
            <a:off x="566928" y="1874520"/>
            <a:ext cx="3566160" cy="3200400"/>
          </a:xfrm>
          <a:prstGeom prst="roundRect">
            <a:avLst>
              <a:gd name="adj" fmla="val 400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6" name="Shape 4"/>
          <p:cNvSpPr/>
          <p:nvPr/>
        </p:nvSpPr>
        <p:spPr>
          <a:xfrm>
            <a:off x="841248" y="2103120"/>
            <a:ext cx="777240" cy="365760"/>
          </a:xfrm>
          <a:prstGeom prst="roundRect">
            <a:avLst>
              <a:gd name="adj" fmla="val 25000"/>
            </a:avLst>
          </a:prstGeom>
          <a:solidFill>
            <a:srgbClr val="001871"/>
          </a:solidFill>
          <a:ln w="12700">
            <a:solidFill>
              <a:srgbClr val="001871"/>
            </a:solidFill>
            <a:prstDash val="solid"/>
          </a:ln>
        </p:spPr>
      </p:sp>
      <p:sp>
        <p:nvSpPr>
          <p:cNvPr id="7" name="Text 5"/>
          <p:cNvSpPr/>
          <p:nvPr/>
        </p:nvSpPr>
        <p:spPr>
          <a:xfrm>
            <a:off x="841248" y="2103120"/>
            <a:ext cx="7772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단기</a:t>
            </a:r>
            <a:endParaRPr lang="en-US" sz="1200" dirty="0"/>
          </a:p>
        </p:txBody>
      </p:sp>
      <p:sp>
        <p:nvSpPr>
          <p:cNvPr id="8" name="Text 6"/>
          <p:cNvSpPr/>
          <p:nvPr/>
        </p:nvSpPr>
        <p:spPr>
          <a:xfrm>
            <a:off x="1709928" y="2103120"/>
            <a:ext cx="2103120" cy="365760"/>
          </a:xfrm>
          <a:prstGeom prst="rect">
            <a:avLst/>
          </a:prstGeom>
          <a:noFill/>
          <a:ln/>
        </p:spPr>
        <p:txBody>
          <a:bodyPr wrap="square" lIns="0" tIns="0" rIns="0" bIns="0" rtlCol="0" anchor="ctr"/>
          <a:lstStyle/>
          <a:p>
            <a:pPr indent="0" marL="0">
              <a:buNone/>
            </a:pPr>
            <a:r>
              <a:rPr lang="en-US" sz="1150" b="1" dirty="0">
                <a:solidFill>
                  <a:srgbClr val="6E7796"/>
                </a:solidFill>
                <a:latin typeface="맑은 고딕" pitchFamily="34" charset="0"/>
                <a:ea typeface="맑은 고딕" pitchFamily="34" charset="-122"/>
                <a:cs typeface="맑은 고딕" pitchFamily="34" charset="-120"/>
              </a:rPr>
              <a:t>3개월</a:t>
            </a:r>
            <a:endParaRPr lang="en-US" sz="1150" dirty="0"/>
          </a:p>
        </p:txBody>
      </p:sp>
      <p:sp>
        <p:nvSpPr>
          <p:cNvPr id="9" name="Text 7"/>
          <p:cNvSpPr/>
          <p:nvPr/>
        </p:nvSpPr>
        <p:spPr>
          <a:xfrm>
            <a:off x="841248" y="2651760"/>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겨울 버전 — 한파쉼터·온기쉼터로 데이터만 교체</a:t>
            </a:r>
            <a:endParaRPr lang="en-US" sz="1050" dirty="0"/>
          </a:p>
        </p:txBody>
      </p:sp>
      <p:sp>
        <p:nvSpPr>
          <p:cNvPr id="10" name="Text 8"/>
          <p:cNvSpPr/>
          <p:nvPr/>
        </p:nvSpPr>
        <p:spPr>
          <a:xfrm>
            <a:off x="841248" y="3218688"/>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제보 누적으로 그늘·쉘터 실태 전수화</a:t>
            </a:r>
            <a:endParaRPr lang="en-US" sz="1050" dirty="0"/>
          </a:p>
        </p:txBody>
      </p:sp>
      <p:sp>
        <p:nvSpPr>
          <p:cNvPr id="11" name="Text 9"/>
          <p:cNvSpPr/>
          <p:nvPr/>
        </p:nvSpPr>
        <p:spPr>
          <a:xfrm>
            <a:off x="841248" y="3785616"/>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쉼터 개방시간·도로변 여부 필터 적용</a:t>
            </a:r>
            <a:endParaRPr lang="en-US" sz="1050" dirty="0"/>
          </a:p>
        </p:txBody>
      </p:sp>
      <p:sp>
        <p:nvSpPr>
          <p:cNvPr id="12" name="Text 10"/>
          <p:cNvSpPr/>
          <p:nvPr/>
        </p:nvSpPr>
        <p:spPr>
          <a:xfrm>
            <a:off x="841248" y="4352544"/>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BIT 미설치 정류장 QR 도착정보 스티커</a:t>
            </a:r>
            <a:endParaRPr lang="en-US" sz="1050" dirty="0"/>
          </a:p>
        </p:txBody>
      </p:sp>
      <p:sp>
        <p:nvSpPr>
          <p:cNvPr id="13" name="Shape 11"/>
          <p:cNvSpPr/>
          <p:nvPr/>
        </p:nvSpPr>
        <p:spPr>
          <a:xfrm>
            <a:off x="4370832" y="1874520"/>
            <a:ext cx="3566160" cy="3200400"/>
          </a:xfrm>
          <a:prstGeom prst="roundRect">
            <a:avLst>
              <a:gd name="adj" fmla="val 400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14" name="Shape 12"/>
          <p:cNvSpPr/>
          <p:nvPr/>
        </p:nvSpPr>
        <p:spPr>
          <a:xfrm>
            <a:off x="4645152" y="2103120"/>
            <a:ext cx="777240" cy="365760"/>
          </a:xfrm>
          <a:prstGeom prst="roundRect">
            <a:avLst>
              <a:gd name="adj" fmla="val 25000"/>
            </a:avLst>
          </a:prstGeom>
          <a:solidFill>
            <a:srgbClr val="2B44A8"/>
          </a:solidFill>
          <a:ln w="12700">
            <a:solidFill>
              <a:srgbClr val="2B44A8"/>
            </a:solidFill>
            <a:prstDash val="solid"/>
          </a:ln>
        </p:spPr>
      </p:sp>
      <p:sp>
        <p:nvSpPr>
          <p:cNvPr id="15" name="Text 13"/>
          <p:cNvSpPr/>
          <p:nvPr/>
        </p:nvSpPr>
        <p:spPr>
          <a:xfrm>
            <a:off x="4645152" y="2103120"/>
            <a:ext cx="7772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중기</a:t>
            </a:r>
            <a:endParaRPr lang="en-US" sz="1200" dirty="0"/>
          </a:p>
        </p:txBody>
      </p:sp>
      <p:sp>
        <p:nvSpPr>
          <p:cNvPr id="16" name="Text 14"/>
          <p:cNvSpPr/>
          <p:nvPr/>
        </p:nvSpPr>
        <p:spPr>
          <a:xfrm>
            <a:off x="5513832" y="2103120"/>
            <a:ext cx="2103120" cy="365760"/>
          </a:xfrm>
          <a:prstGeom prst="rect">
            <a:avLst/>
          </a:prstGeom>
          <a:noFill/>
          <a:ln/>
        </p:spPr>
        <p:txBody>
          <a:bodyPr wrap="square" lIns="0" tIns="0" rIns="0" bIns="0" rtlCol="0" anchor="ctr"/>
          <a:lstStyle/>
          <a:p>
            <a:pPr indent="0" marL="0">
              <a:buNone/>
            </a:pPr>
            <a:r>
              <a:rPr lang="en-US" sz="1150" b="1" dirty="0">
                <a:solidFill>
                  <a:srgbClr val="6E7796"/>
                </a:solidFill>
                <a:latin typeface="맑은 고딕" pitchFamily="34" charset="0"/>
                <a:ea typeface="맑은 고딕" pitchFamily="34" charset="-122"/>
                <a:cs typeface="맑은 고딕" pitchFamily="34" charset="-120"/>
              </a:rPr>
              <a:t>6~12개월</a:t>
            </a:r>
            <a:endParaRPr lang="en-US" sz="1150" dirty="0"/>
          </a:p>
        </p:txBody>
      </p:sp>
      <p:sp>
        <p:nvSpPr>
          <p:cNvPr id="17" name="Text 15"/>
          <p:cNvSpPr/>
          <p:nvPr/>
        </p:nvSpPr>
        <p:spPr>
          <a:xfrm>
            <a:off x="4645152" y="2651760"/>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춘천시 담당자용 폭염 취약 정류장 대시보드</a:t>
            </a:r>
            <a:endParaRPr lang="en-US" sz="1050" dirty="0"/>
          </a:p>
        </p:txBody>
      </p:sp>
      <p:sp>
        <p:nvSpPr>
          <p:cNvPr id="18" name="Text 16"/>
          <p:cNvSpPr/>
          <p:nvPr/>
        </p:nvSpPr>
        <p:spPr>
          <a:xfrm>
            <a:off x="4645152" y="3218688"/>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예산 우선순위 추천 모델 (가중치는 춘천시와 공동 설계)</a:t>
            </a:r>
            <a:endParaRPr lang="en-US" sz="1050" dirty="0"/>
          </a:p>
        </p:txBody>
      </p:sp>
      <p:sp>
        <p:nvSpPr>
          <p:cNvPr id="19" name="Text 17"/>
          <p:cNvSpPr/>
          <p:nvPr/>
        </p:nvSpPr>
        <p:spPr>
          <a:xfrm>
            <a:off x="4645152" y="3785616"/>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쉼터 신규 지정 후보 추천 (취약 구역 기반)</a:t>
            </a:r>
            <a:endParaRPr lang="en-US" sz="1050" dirty="0"/>
          </a:p>
        </p:txBody>
      </p:sp>
      <p:sp>
        <p:nvSpPr>
          <p:cNvPr id="20" name="Text 18"/>
          <p:cNvSpPr/>
          <p:nvPr/>
        </p:nvSpPr>
        <p:spPr>
          <a:xfrm>
            <a:off x="4645152" y="4352544"/>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수리 완료 Before/After 피드백</a:t>
            </a:r>
            <a:endParaRPr lang="en-US" sz="1050" dirty="0"/>
          </a:p>
        </p:txBody>
      </p:sp>
      <p:sp>
        <p:nvSpPr>
          <p:cNvPr id="21" name="Shape 19"/>
          <p:cNvSpPr/>
          <p:nvPr/>
        </p:nvSpPr>
        <p:spPr>
          <a:xfrm>
            <a:off x="8174736" y="1874520"/>
            <a:ext cx="3566160" cy="3200400"/>
          </a:xfrm>
          <a:prstGeom prst="roundRect">
            <a:avLst>
              <a:gd name="adj" fmla="val 4000"/>
            </a:avLst>
          </a:prstGeom>
          <a:solidFill>
            <a:srgbClr val="FFFFFF"/>
          </a:solidFill>
          <a:ln w="12700">
            <a:solidFill>
              <a:srgbClr val="D4DAEE"/>
            </a:solidFill>
            <a:prstDash val="solid"/>
          </a:ln>
          <a:effectLst>
            <a:outerShdw sx="100000" sy="100000" kx="0" ky="0" algn="bl" rotWithShape="0" blurRad="101600" dist="25400" dir="5400000">
              <a:srgbClr val="001871">
                <a:alpha val="7000"/>
              </a:srgbClr>
            </a:outerShdw>
          </a:effectLst>
        </p:spPr>
      </p:sp>
      <p:sp>
        <p:nvSpPr>
          <p:cNvPr id="22" name="Shape 20"/>
          <p:cNvSpPr/>
          <p:nvPr/>
        </p:nvSpPr>
        <p:spPr>
          <a:xfrm>
            <a:off x="8449056" y="2103120"/>
            <a:ext cx="777240" cy="365760"/>
          </a:xfrm>
          <a:prstGeom prst="roundRect">
            <a:avLst>
              <a:gd name="adj" fmla="val 25000"/>
            </a:avLst>
          </a:prstGeom>
          <a:solidFill>
            <a:srgbClr val="E8751A"/>
          </a:solidFill>
          <a:ln w="12700">
            <a:solidFill>
              <a:srgbClr val="E8751A"/>
            </a:solidFill>
            <a:prstDash val="solid"/>
          </a:ln>
        </p:spPr>
      </p:sp>
      <p:sp>
        <p:nvSpPr>
          <p:cNvPr id="23" name="Text 21"/>
          <p:cNvSpPr/>
          <p:nvPr/>
        </p:nvSpPr>
        <p:spPr>
          <a:xfrm>
            <a:off x="8449056" y="2103120"/>
            <a:ext cx="7772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장기</a:t>
            </a:r>
            <a:endParaRPr lang="en-US" sz="1200" dirty="0"/>
          </a:p>
        </p:txBody>
      </p:sp>
      <p:sp>
        <p:nvSpPr>
          <p:cNvPr id="24" name="Text 22"/>
          <p:cNvSpPr/>
          <p:nvPr/>
        </p:nvSpPr>
        <p:spPr>
          <a:xfrm>
            <a:off x="9317736" y="2103120"/>
            <a:ext cx="2103120" cy="365760"/>
          </a:xfrm>
          <a:prstGeom prst="rect">
            <a:avLst/>
          </a:prstGeom>
          <a:noFill/>
          <a:ln/>
        </p:spPr>
        <p:txBody>
          <a:bodyPr wrap="square" lIns="0" tIns="0" rIns="0" bIns="0" rtlCol="0" anchor="ctr"/>
          <a:lstStyle/>
          <a:p>
            <a:pPr indent="0" marL="0">
              <a:buNone/>
            </a:pPr>
            <a:r>
              <a:rPr lang="en-US" sz="1150" b="1" dirty="0">
                <a:solidFill>
                  <a:srgbClr val="6E7796"/>
                </a:solidFill>
                <a:latin typeface="맑은 고딕" pitchFamily="34" charset="0"/>
                <a:ea typeface="맑은 고딕" pitchFamily="34" charset="-122"/>
                <a:cs typeface="맑은 고딕" pitchFamily="34" charset="-120"/>
              </a:rPr>
              <a:t>1년 이후</a:t>
            </a:r>
            <a:endParaRPr lang="en-US" sz="1150" dirty="0"/>
          </a:p>
        </p:txBody>
      </p:sp>
      <p:sp>
        <p:nvSpPr>
          <p:cNvPr id="25" name="Text 23"/>
          <p:cNvSpPr/>
          <p:nvPr/>
        </p:nvSpPr>
        <p:spPr>
          <a:xfrm>
            <a:off x="8449056" y="2651760"/>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고령자 대기시간 분석 (통신·교통카드 결합)</a:t>
            </a:r>
            <a:endParaRPr lang="en-US" sz="1050" dirty="0"/>
          </a:p>
        </p:txBody>
      </p:sp>
      <p:sp>
        <p:nvSpPr>
          <p:cNvPr id="26" name="Text 24"/>
          <p:cNvSpPr/>
          <p:nvPr/>
        </p:nvSpPr>
        <p:spPr>
          <a:xfrm>
            <a:off x="8449056" y="3218688"/>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 통신사·카드사·춘천시 협력이 전제</a:t>
            </a:r>
            <a:endParaRPr lang="en-US" sz="1050" dirty="0"/>
          </a:p>
        </p:txBody>
      </p:sp>
      <p:sp>
        <p:nvSpPr>
          <p:cNvPr id="27" name="Text 25"/>
          <p:cNvSpPr/>
          <p:nvPr/>
        </p:nvSpPr>
        <p:spPr>
          <a:xfrm>
            <a:off x="8449056" y="3785616"/>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강원 시·군 확산 — 데이터만 교체해 이식</a:t>
            </a:r>
            <a:endParaRPr lang="en-US" sz="1050" dirty="0"/>
          </a:p>
        </p:txBody>
      </p:sp>
      <p:sp>
        <p:nvSpPr>
          <p:cNvPr id="28" name="Text 26"/>
          <p:cNvSpPr/>
          <p:nvPr/>
        </p:nvSpPr>
        <p:spPr>
          <a:xfrm>
            <a:off x="8449056" y="4352544"/>
            <a:ext cx="3063240" cy="530352"/>
          </a:xfrm>
          <a:prstGeom prst="rect">
            <a:avLst/>
          </a:prstGeom>
          <a:noFill/>
          <a:ln/>
        </p:spPr>
        <p:txBody>
          <a:bodyPr wrap="square" lIns="0" tIns="0" rIns="0" bIns="0" rtlCol="0" anchor="t"/>
          <a:lstStyle/>
          <a:p>
            <a:pPr indent="0" marL="0">
              <a:lnSpc>
                <a:spcPct val="122000"/>
              </a:lnSpc>
              <a:buNone/>
            </a:pPr>
            <a:r>
              <a:rPr lang="en-US" sz="1050" dirty="0">
                <a:solidFill>
                  <a:srgbClr val="3A4160"/>
                </a:solidFill>
                <a:latin typeface="맑은 고딕" pitchFamily="34" charset="0"/>
                <a:ea typeface="맑은 고딕" pitchFamily="34" charset="-122"/>
                <a:cs typeface="맑은 고딕" pitchFamily="34" charset="-120"/>
              </a:rPr>
              <a:t>·  실태 데이터를 춘천시 공공데이터로 재개방</a:t>
            </a:r>
            <a:endParaRPr lang="en-US" sz="1050" dirty="0"/>
          </a:p>
        </p:txBody>
      </p:sp>
      <p:sp>
        <p:nvSpPr>
          <p:cNvPr id="29" name="Shape 27"/>
          <p:cNvSpPr/>
          <p:nvPr/>
        </p:nvSpPr>
        <p:spPr>
          <a:xfrm>
            <a:off x="566928" y="5230368"/>
            <a:ext cx="11057839" cy="566928"/>
          </a:xfrm>
          <a:prstGeom prst="roundRect">
            <a:avLst>
              <a:gd name="adj" fmla="val 22581"/>
            </a:avLst>
          </a:prstGeom>
          <a:solidFill>
            <a:srgbClr val="F4F6FC"/>
          </a:solidFill>
          <a:ln w="12700">
            <a:solidFill>
              <a:srgbClr val="D4DAEE"/>
            </a:solidFill>
            <a:prstDash val="solid"/>
          </a:ln>
        </p:spPr>
      </p:sp>
      <p:sp>
        <p:nvSpPr>
          <p:cNvPr id="30" name="Text 28"/>
          <p:cNvSpPr/>
          <p:nvPr/>
        </p:nvSpPr>
        <p:spPr>
          <a:xfrm>
            <a:off x="841248" y="5230368"/>
            <a:ext cx="10509199" cy="566928"/>
          </a:xfrm>
          <a:prstGeom prst="rect">
            <a:avLst/>
          </a:prstGeom>
          <a:noFill/>
          <a:ln/>
        </p:spPr>
        <p:txBody>
          <a:bodyPr wrap="square" lIns="0" tIns="0" rIns="0" bIns="0" rtlCol="0" anchor="ctr"/>
          <a:lstStyle/>
          <a:p>
            <a:pPr indent="0" marL="0">
              <a:buNone/>
            </a:pPr>
            <a:r>
              <a:rPr lang="en-US" sz="1150" b="1" dirty="0">
                <a:solidFill>
                  <a:srgbClr val="001871"/>
                </a:solidFill>
                <a:latin typeface="맑은 고딕" pitchFamily="34" charset="0"/>
                <a:ea typeface="맑은 고딕" pitchFamily="34" charset="-122"/>
                <a:cs typeface="맑은 고딕" pitchFamily="34" charset="-120"/>
              </a:rPr>
              <a:t>미구현 항목은 목업 화면으로 만들지 않았습니다. 데모에서 보여드린 것은 전부 실제로 동작하는 기능입니다.</a:t>
            </a:r>
            <a:endParaRPr lang="en-US" sz="1150" dirty="0"/>
          </a:p>
        </p:txBody>
      </p:sp>
      <p:sp>
        <p:nvSpPr>
          <p:cNvPr id="31" name="Text 29"/>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2" name="Text 30"/>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40"/>
        </a:solidFill>
      </p:bgPr>
    </p:bg>
    <p:spTree>
      <p:nvGrpSpPr>
        <p:cNvPr id="1" name=""/>
        <p:cNvGrpSpPr/>
        <p:nvPr/>
      </p:nvGrpSpPr>
      <p:grpSpPr>
        <a:xfrm>
          <a:off x="0" y="0"/>
          <a:ext cx="0" cy="0"/>
          <a:chOff x="0" y="0"/>
          <a:chExt cx="0" cy="0"/>
        </a:xfrm>
      </p:grpSpPr>
      <p:sp>
        <p:nvSpPr>
          <p:cNvPr id="2" name="Text 0"/>
          <p:cNvSpPr/>
          <p:nvPr/>
        </p:nvSpPr>
        <p:spPr>
          <a:xfrm>
            <a:off x="566928" y="2148840"/>
            <a:ext cx="11057839"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맑은 고딕" pitchFamily="34" charset="0"/>
                <a:ea typeface="맑은 고딕" pitchFamily="34" charset="-122"/>
                <a:cs typeface="맑은 고딕" pitchFamily="34" charset="-120"/>
              </a:rPr>
              <a:t>버스를 기다리는 시간, 어르신을 그늘 아래로.</a:t>
            </a:r>
            <a:endParaRPr lang="en-US" sz="3400" dirty="0"/>
          </a:p>
        </p:txBody>
      </p:sp>
      <p:sp>
        <p:nvSpPr>
          <p:cNvPr id="3" name="Text 1"/>
          <p:cNvSpPr/>
          <p:nvPr/>
        </p:nvSpPr>
        <p:spPr>
          <a:xfrm>
            <a:off x="566928" y="3063240"/>
            <a:ext cx="11057839" cy="914400"/>
          </a:xfrm>
          <a:prstGeom prst="rect">
            <a:avLst/>
          </a:prstGeom>
          <a:noFill/>
          <a:ln/>
        </p:spPr>
        <p:txBody>
          <a:bodyPr wrap="square" lIns="0" tIns="0" rIns="0" bIns="0" rtlCol="0" anchor="t"/>
          <a:lstStyle/>
          <a:p>
            <a:pPr algn="ctr" indent="0" marL="0">
              <a:lnSpc>
                <a:spcPct val="150000"/>
              </a:lnSpc>
              <a:buNone/>
            </a:pPr>
            <a:r>
              <a:rPr lang="en-US" sz="1600" dirty="0">
                <a:solidFill>
                  <a:srgbClr val="C7D0EE"/>
                </a:solidFill>
                <a:latin typeface="맑은 고딕" pitchFamily="34" charset="0"/>
                <a:ea typeface="맑은 고딕" pitchFamily="34" charset="-122"/>
                <a:cs typeface="맑은 고딕" pitchFamily="34" charset="-120"/>
              </a:rPr>
              <a:t>춘천에 이미 있는 무더위쉼터 226곳을,</a:t>
            </a:r>
            <a:endParaRPr lang="en-US" sz="1600" dirty="0"/>
          </a:p>
          <a:p>
            <a:pPr algn="ctr" indent="0" marL="0">
              <a:lnSpc>
                <a:spcPct val="150000"/>
              </a:lnSpc>
              <a:buNone/>
            </a:pPr>
            <a:r>
              <a:rPr lang="en-US" sz="1600" dirty="0">
                <a:solidFill>
                  <a:srgbClr val="C7D0EE"/>
                </a:solidFill>
                <a:latin typeface="맑은 고딕" pitchFamily="34" charset="0"/>
                <a:ea typeface="맑은 고딕" pitchFamily="34" charset="-122"/>
                <a:cs typeface="맑은 고딕" pitchFamily="34" charset="-120"/>
              </a:rPr>
              <a:t>정류장에 서 있는 어르신에게 연결합니다.</a:t>
            </a:r>
            <a:endParaRPr lang="en-US" sz="1600" dirty="0"/>
          </a:p>
        </p:txBody>
      </p:sp>
      <p:sp>
        <p:nvSpPr>
          <p:cNvPr id="4" name="Shape 2"/>
          <p:cNvSpPr/>
          <p:nvPr/>
        </p:nvSpPr>
        <p:spPr>
          <a:xfrm>
            <a:off x="3032608" y="4206240"/>
            <a:ext cx="1211580" cy="457200"/>
          </a:xfrm>
          <a:prstGeom prst="roundRect">
            <a:avLst>
              <a:gd name="adj" fmla="val 24000"/>
            </a:avLst>
          </a:prstGeom>
          <a:solidFill>
            <a:srgbClr val="16205C"/>
          </a:solidFill>
          <a:ln w="12700">
            <a:solidFill>
              <a:srgbClr val="8B9CDD"/>
            </a:solidFill>
            <a:prstDash val="solid"/>
          </a:ln>
        </p:spPr>
      </p:sp>
      <p:sp>
        <p:nvSpPr>
          <p:cNvPr id="5" name="Text 3"/>
          <p:cNvSpPr/>
          <p:nvPr/>
        </p:nvSpPr>
        <p:spPr>
          <a:xfrm>
            <a:off x="3032608" y="4206240"/>
            <a:ext cx="1211580" cy="457200"/>
          </a:xfrm>
          <a:prstGeom prst="rect">
            <a:avLst/>
          </a:prstGeom>
          <a:noFill/>
          <a:ln/>
        </p:spPr>
        <p:txBody>
          <a:bodyPr wrap="square" lIns="0" tIns="0" rIns="0" bIns="0" rtlCol="0" anchor="ctr"/>
          <a:lstStyle/>
          <a:p>
            <a:pPr algn="ctr" indent="0" marL="0">
              <a:buNone/>
            </a:pPr>
            <a:r>
              <a:rPr lang="en-US" sz="1200" b="1" dirty="0">
                <a:solidFill>
                  <a:srgbClr val="8B9CDD"/>
                </a:solidFill>
                <a:latin typeface="맑은 고딕" pitchFamily="34" charset="0"/>
                <a:ea typeface="맑은 고딕" pitchFamily="34" charset="-122"/>
                <a:cs typeface="맑은 고딕" pitchFamily="34" charset="-120"/>
              </a:rPr>
              <a:t>지붕 없음</a:t>
            </a:r>
            <a:endParaRPr lang="en-US" sz="1200" dirty="0"/>
          </a:p>
        </p:txBody>
      </p:sp>
      <p:sp>
        <p:nvSpPr>
          <p:cNvPr id="6" name="Shape 4"/>
          <p:cNvSpPr/>
          <p:nvPr/>
        </p:nvSpPr>
        <p:spPr>
          <a:xfrm>
            <a:off x="4500220" y="4206240"/>
            <a:ext cx="2487168" cy="457200"/>
          </a:xfrm>
          <a:prstGeom prst="roundRect">
            <a:avLst>
              <a:gd name="adj" fmla="val 24000"/>
            </a:avLst>
          </a:prstGeom>
          <a:solidFill>
            <a:srgbClr val="16205C"/>
          </a:solidFill>
          <a:ln w="12700">
            <a:solidFill>
              <a:srgbClr val="E8751A"/>
            </a:solidFill>
            <a:prstDash val="solid"/>
          </a:ln>
        </p:spPr>
      </p:sp>
      <p:sp>
        <p:nvSpPr>
          <p:cNvPr id="7" name="Text 5"/>
          <p:cNvSpPr/>
          <p:nvPr/>
        </p:nvSpPr>
        <p:spPr>
          <a:xfrm>
            <a:off x="4500220" y="4206240"/>
            <a:ext cx="2487168" cy="457200"/>
          </a:xfrm>
          <a:prstGeom prst="rect">
            <a:avLst/>
          </a:prstGeom>
          <a:noFill/>
          <a:ln/>
        </p:spPr>
        <p:txBody>
          <a:bodyPr wrap="square" lIns="0" tIns="0" rIns="0" bIns="0" rtlCol="0" anchor="ctr"/>
          <a:lstStyle/>
          <a:p>
            <a:pPr algn="ctr" indent="0" marL="0">
              <a:buNone/>
            </a:pPr>
            <a:r>
              <a:rPr lang="en-US" sz="1200" b="1" dirty="0">
                <a:solidFill>
                  <a:srgbClr val="E8751A"/>
                </a:solidFill>
                <a:latin typeface="맑은 고딕" pitchFamily="34" charset="0"/>
                <a:ea typeface="맑은 고딕" pitchFamily="34" charset="-122"/>
                <a:cs typeface="맑은 고딕" pitchFamily="34" charset="-120"/>
              </a:rPr>
              <a:t>가장 가까운 쉼터 240m</a:t>
            </a:r>
            <a:endParaRPr lang="en-US" sz="1200" dirty="0"/>
          </a:p>
        </p:txBody>
      </p:sp>
      <p:sp>
        <p:nvSpPr>
          <p:cNvPr id="8" name="Shape 6"/>
          <p:cNvSpPr/>
          <p:nvPr/>
        </p:nvSpPr>
        <p:spPr>
          <a:xfrm>
            <a:off x="7243420" y="4206240"/>
            <a:ext cx="1211580" cy="457200"/>
          </a:xfrm>
          <a:prstGeom prst="roundRect">
            <a:avLst>
              <a:gd name="adj" fmla="val 24000"/>
            </a:avLst>
          </a:prstGeom>
          <a:solidFill>
            <a:srgbClr val="16205C"/>
          </a:solidFill>
          <a:ln w="12700">
            <a:solidFill>
              <a:srgbClr val="8B9CDD"/>
            </a:solidFill>
            <a:prstDash val="solid"/>
          </a:ln>
        </p:spPr>
      </p:sp>
      <p:sp>
        <p:nvSpPr>
          <p:cNvPr id="9" name="Text 7"/>
          <p:cNvSpPr/>
          <p:nvPr/>
        </p:nvSpPr>
        <p:spPr>
          <a:xfrm>
            <a:off x="7243420" y="4206240"/>
            <a:ext cx="1211580" cy="457200"/>
          </a:xfrm>
          <a:prstGeom prst="rect">
            <a:avLst/>
          </a:prstGeom>
          <a:noFill/>
          <a:ln/>
        </p:spPr>
        <p:txBody>
          <a:bodyPr wrap="square" lIns="0" tIns="0" rIns="0" bIns="0" rtlCol="0" anchor="ctr"/>
          <a:lstStyle/>
          <a:p>
            <a:pPr algn="ctr" indent="0" marL="0">
              <a:buNone/>
            </a:pPr>
            <a:r>
              <a:rPr lang="en-US" sz="1200" b="1" dirty="0">
                <a:solidFill>
                  <a:srgbClr val="8B9CDD"/>
                </a:solidFill>
                <a:latin typeface="맑은 고딕" pitchFamily="34" charset="0"/>
                <a:ea typeface="맑은 고딕" pitchFamily="34" charset="-122"/>
                <a:cs typeface="맑은 고딕" pitchFamily="34" charset="-120"/>
              </a:rPr>
              <a:t>도보 4분</a:t>
            </a:r>
            <a:endParaRPr lang="en-US" sz="1200" dirty="0"/>
          </a:p>
        </p:txBody>
      </p:sp>
      <p:sp>
        <p:nvSpPr>
          <p:cNvPr id="10" name="Text 8"/>
          <p:cNvSpPr/>
          <p:nvPr/>
        </p:nvSpPr>
        <p:spPr>
          <a:xfrm>
            <a:off x="566928" y="5029200"/>
            <a:ext cx="11057839"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맑은 고딕" pitchFamily="34" charset="0"/>
                <a:ea typeface="맑은 고딕" pitchFamily="34" charset="-122"/>
                <a:cs typeface="맑은 고딕" pitchFamily="34" charset="-120"/>
              </a:rPr>
              <a:t>쉼표정류장</a:t>
            </a:r>
            <a:endParaRPr lang="en-US" sz="2600" dirty="0"/>
          </a:p>
        </p:txBody>
      </p:sp>
      <p:sp>
        <p:nvSpPr>
          <p:cNvPr id="11" name="Text 9"/>
          <p:cNvSpPr/>
          <p:nvPr/>
        </p:nvSpPr>
        <p:spPr>
          <a:xfrm>
            <a:off x="566928" y="5532120"/>
            <a:ext cx="11057839" cy="347472"/>
          </a:xfrm>
          <a:prstGeom prst="rect">
            <a:avLst/>
          </a:prstGeom>
          <a:noFill/>
          <a:ln/>
        </p:spPr>
        <p:txBody>
          <a:bodyPr wrap="square" lIns="0" tIns="0" rIns="0" bIns="0" rtlCol="0" anchor="ctr"/>
          <a:lstStyle/>
          <a:p>
            <a:pPr algn="ctr" indent="0" marL="0">
              <a:buNone/>
            </a:pPr>
            <a:r>
              <a:rPr lang="en-US" sz="1300" dirty="0">
                <a:solidFill>
                  <a:srgbClr val="A6B3E6"/>
                </a:solidFill>
                <a:latin typeface="맑은 고딕" pitchFamily="34" charset="0"/>
                <a:ea typeface="맑은 고딕" pitchFamily="34" charset="-122"/>
                <a:cs typeface="맑은 고딕" pitchFamily="34" charset="-120"/>
              </a:rPr>
              <a:t>팀 오댕국 (13번 팀)  ·  감사합니다</a:t>
            </a:r>
            <a:endParaRPr lang="en-US" sz="1300" dirty="0"/>
          </a:p>
        </p:txBody>
      </p:sp>
      <p:sp>
        <p:nvSpPr>
          <p:cNvPr id="12" name="Text 10"/>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8B9CDD"/>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3" name="Text 11"/>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8B9CDD"/>
                </a:solidFill>
                <a:latin typeface="맑은 고딕" pitchFamily="34" charset="0"/>
                <a:ea typeface="맑은 고딕" pitchFamily="34" charset="-122"/>
                <a:cs typeface="맑은 고딕"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별첨</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 데이터 및 외부 자료</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활용 데이터 출처 ① 공공데이터</a:t>
            </a:r>
            <a:endParaRPr lang="en-US" sz="2700" dirty="0"/>
          </a:p>
        </p:txBody>
      </p:sp>
      <p:sp>
        <p:nvSpPr>
          <p:cNvPr id="4" name="Text 2"/>
          <p:cNvSpPr/>
          <p:nvPr/>
        </p:nvSpPr>
        <p:spPr>
          <a:xfrm>
            <a:off x="566928" y="1335024"/>
            <a:ext cx="11057839" cy="310896"/>
          </a:xfrm>
          <a:prstGeom prst="rect">
            <a:avLst/>
          </a:prstGeom>
          <a:noFill/>
          <a:ln/>
        </p:spPr>
        <p:txBody>
          <a:bodyPr wrap="square" lIns="0" tIns="0" rIns="0" bIns="0" rtlCol="0" anchor="ctr"/>
          <a:lstStyle/>
          <a:p>
            <a:pPr indent="0" marL="0">
              <a:buNone/>
            </a:pPr>
            <a:r>
              <a:rPr lang="en-US" sz="1300" dirty="0">
                <a:solidFill>
                  <a:srgbClr val="6E7796"/>
                </a:solidFill>
                <a:latin typeface="맑은 고딕" pitchFamily="34" charset="0"/>
                <a:ea typeface="맑은 고딕" pitchFamily="34" charset="-122"/>
                <a:cs typeface="맑은 고딕" pitchFamily="34" charset="-120"/>
              </a:rPr>
              <a:t>모두 공공데이터포털(www.data.go.kr) 및 춘천시가 공개한 데이터입니다</a:t>
            </a:r>
            <a:endParaRPr lang="en-US" sz="1300" dirty="0"/>
          </a:p>
        </p:txBody>
      </p:sp>
      <p:sp>
        <p:nvSpPr>
          <p:cNvPr id="5" name="Text 3"/>
          <p:cNvSpPr/>
          <p:nvPr/>
        </p:nvSpPr>
        <p:spPr>
          <a:xfrm>
            <a:off x="566928" y="1847088"/>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공공데이터 9종</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200400"/>
                <a:gridCol w="1737360"/>
                <a:gridCol w="4480560"/>
                <a:gridCol w="1655064"/>
              </a:tblGrid>
              <a:tr h="219456">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데이터명</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제공기관</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내용</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기준시점</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무더위쉼터 (228개소)</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좌표 100% — 근처 쉼터 안내, 지도 레이어, 폭염 취약 판정(300m)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 공개분</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폭염저감시설 (319개소)</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그늘막 281·스마트그늘막 25·쿨링포그 13 → 정류장 반경 그늘 보정</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2026-06-10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버스정류장 위치정보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정류장 1,890개의 좌표·정류장번호·관리번호 — 전 서비스의 기준 마스터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2026-03-26</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버스정류장 노선정보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정류장-노선 16,168행, 223개 노선의 경유 순서 → 경로 탐색 알고리즘</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2026-03-26</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벤치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정류장 벤치 681건 → 시설 정보(의자) 819개 정류장 시딩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2026-06-01</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버스정보안내단말기(BIT)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안내단말기 345건 → 시설 정보(도착안내기) 307개 정류장 시딩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2025-11-14</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가로등정보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가로등 13,713건 → 정류장 30m 반경 존재 여부로 조명 시딩 778곳(추정값, 출처 라벨 표기)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2026-06-10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버스노선별 시간대별 승하차 인원</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정류장별 24시간 이용량 산출(1,595곳 매칭) → 우선순위 판단의 이용량 축</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2025-12-09 공개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국토교통부 정류장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국토교통부</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승차자료 정류장ID ↔ 춘천시 정류장번호 대응(법정동 기준)</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2025-06-13</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219456">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 2026년 6월 인구통계(연령별)</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65세 이상 66,488명 / 23.3%, 읍면별 고령 비율 — 문제 정의 수치</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50" dirty="0">
                          <a:solidFill>
                            <a:srgbClr val="141B33"/>
                          </a:solidFill>
                          <a:latin typeface="맑은 고딕" pitchFamily="34" charset="0"/>
                          <a:ea typeface="맑은 고딕" pitchFamily="34" charset="-122"/>
                          <a:cs typeface="맑은 고딕" pitchFamily="34" charset="-120"/>
                        </a:rPr>
                        <a:t>2026-06</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 각 데이터셋은 공공데이터포털에서 위 데이터명으로 검색하여 확인할 수 있습니다.</a:t>
            </a:r>
            <a:endParaRPr lang="en-US" sz="850" dirty="0"/>
          </a:p>
        </p:txBody>
      </p:sp>
      <p:sp>
        <p:nvSpPr>
          <p:cNvPr id="8" name="Text 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9" name="Text 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별첨</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 데이터 및 외부 자료</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활용 데이터 출처 ② 외부 API · 자체 구축 · 참고 자료</a:t>
            </a:r>
            <a:endParaRPr lang="en-US" sz="2700" dirty="0"/>
          </a:p>
        </p:txBody>
      </p:sp>
      <p:sp>
        <p:nvSpPr>
          <p:cNvPr id="4" name="Text 2"/>
          <p:cNvSpPr/>
          <p:nvPr/>
        </p:nvSpPr>
        <p:spPr>
          <a:xfrm>
            <a:off x="566928" y="1700784"/>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외부 API 4종</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993392"/>
          <a:ext cx="11057839" cy="914400"/>
        </p:xfrm>
        <a:graphic>
          <a:graphicData uri="http://schemas.openxmlformats.org/drawingml/2006/table">
            <a:tbl>
              <a:tblPr/>
              <a:tblGrid>
                <a:gridCol w="3200400"/>
                <a:gridCol w="2194560"/>
                <a:gridCol w="2377440"/>
                <a:gridCol w="3300984"/>
              </a:tblGrid>
              <a:tr h="182880">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API명</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제공기관</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출처</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내용</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TAGO 버스도착정보 조회 서비스</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국토교통부</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www.data.go.kr</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실시간 버스 도착 예정 정보 (서버 프록시 경유)</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TAGO 버스정류소정보 조회 서비스</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국토교통부</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www.data.go.kr</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정류장 nodeId 대응 1,845곳 및 경유 노선 확인</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카카오맵 JavaScript SDK</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카카오</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apis.map.kakao.com</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지도 표시 · 장소 검색 · 좌표→주소 역지오코딩</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카카오맵 로드뷰</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카카오</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map.kakao.com</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시설 육안 조사 시 참조 (이미지 재배포 없음)</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305556"/>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자체 구축 데이터 3종</a:t>
            </a:r>
            <a:endParaRPr lang="en-US" sz="115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566928" y="3598164"/>
          <a:ext cx="11057839" cy="914400"/>
        </p:xfrm>
        <a:graphic>
          <a:graphicData uri="http://schemas.openxmlformats.org/drawingml/2006/table">
            <a:tbl>
              <a:tblPr/>
              <a:tblGrid>
                <a:gridCol w="3200400"/>
                <a:gridCol w="2926080"/>
                <a:gridCol w="1645920"/>
                <a:gridCol w="3300984"/>
              </a:tblGrid>
              <a:tr h="182880">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데이터명</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구축 방법</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규모</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내용</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정류장 시설 현황 조사</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카카오맵 로드뷰 육안 판독 + 라벨링</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161개 정류장</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그늘·의자·쉘터·안내기 있음/없음 판정</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정류장 ID 대응 테이블</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정류장명·법정동·좌표 기반 4단계 매칭</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4개 ID 체계</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승차ID ↔ 정류장번호 ↔ 관리번호 ↔ nodeId</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시민 사진 제보 + AI 판독</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사진 1장 → VLM 민원 분류·시설 판독</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런타임 생성</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미확인 구간 보완('AI 판독' 출처), 민원 피드</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4695444"/>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보도자료 · 참고 자료</a:t>
            </a:r>
            <a:endParaRPr lang="en-US" sz="1150" dirty="0"/>
          </a:p>
        </p:txBody>
      </p:sp>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566928" y="4988052"/>
          <a:ext cx="11057839" cy="914400"/>
        </p:xfrm>
        <a:graphic>
          <a:graphicData uri="http://schemas.openxmlformats.org/drawingml/2006/table">
            <a:tbl>
              <a:tblPr/>
              <a:tblGrid>
                <a:gridCol w="3794760"/>
                <a:gridCol w="1143000"/>
                <a:gridCol w="2971800"/>
                <a:gridCol w="3163824"/>
              </a:tblGrid>
              <a:tr h="182880">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자료명</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출처</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URL</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내용</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도내 버스정류장 표지판이 '대부분' (2026-02-05)</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강원일보</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m.kwnews.co.kr/article/202602042093714</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표지판형 1,200곳(63.5%) — 문제 정의 수치</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초고령사회 진입한 춘천시 2,545억원 투입 (2025-02-25)</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강원일보</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m.kwnews.co.kr/article/202502250064262</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2023년 7월 진입 · 61,370명(21.4%)</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춘천시, 친환경 시내버스 전량 교체 (2024-07-03)</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전자신문</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www.etnews.com/20240703000135</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유개식 승강장 716→980곳 확대 계획</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10" name="Text 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1" name="Text 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274320"/>
          </a:xfrm>
          <a:prstGeom prst="rect">
            <a:avLst/>
          </a:prstGeom>
          <a:noFill/>
          <a:ln/>
        </p:spPr>
        <p:txBody>
          <a:bodyPr wrap="square" lIns="0" tIns="0" rIns="0" bIns="0" rtlCol="0" anchor="ctr"/>
          <a:lstStyle/>
          <a:p>
            <a:pPr indent="0" marL="0">
              <a:buNone/>
            </a:pPr>
            <a:r>
              <a:rPr lang="en-US" sz="1100" b="1" dirty="0">
                <a:solidFill>
                  <a:srgbClr val="E8751A"/>
                </a:solidFill>
                <a:latin typeface="맑은 고딕" pitchFamily="34" charset="0"/>
                <a:ea typeface="맑은 고딕" pitchFamily="34" charset="-122"/>
                <a:cs typeface="맑은 고딕" pitchFamily="34" charset="-120"/>
              </a:rPr>
              <a:t>별첨</a:t>
            </a:r>
            <a:pPr indent="0" marL="0">
              <a:buNone/>
            </a:pPr>
            <a:r>
              <a:rPr lang="en-US" sz="1100" b="1" dirty="0">
                <a:solidFill>
                  <a:srgbClr val="6E7796"/>
                </a:solidFill>
                <a:latin typeface="맑은 고딕" pitchFamily="34" charset="0"/>
                <a:ea typeface="맑은 고딕" pitchFamily="34" charset="-122"/>
                <a:cs typeface="맑은 고딕" pitchFamily="34" charset="-120"/>
              </a:rPr>
              <a:t>   활용 데이터 및 외부 자료</a:t>
            </a:r>
            <a:endParaRPr lang="en-US" sz="1100" dirty="0"/>
          </a:p>
        </p:txBody>
      </p:sp>
      <p:sp>
        <p:nvSpPr>
          <p:cNvPr id="3" name="Text 1"/>
          <p:cNvSpPr/>
          <p:nvPr/>
        </p:nvSpPr>
        <p:spPr>
          <a:xfrm>
            <a:off x="566928" y="749808"/>
            <a:ext cx="11057839" cy="566928"/>
          </a:xfrm>
          <a:prstGeom prst="rect">
            <a:avLst/>
          </a:prstGeom>
          <a:noFill/>
          <a:ln/>
        </p:spPr>
        <p:txBody>
          <a:bodyPr wrap="square" lIns="0" tIns="0" rIns="0" bIns="0" rtlCol="0" anchor="ctr"/>
          <a:lstStyle/>
          <a:p>
            <a:pPr indent="0" marL="0">
              <a:buNone/>
            </a:pPr>
            <a:r>
              <a:rPr lang="en-US" sz="2700" b="1" dirty="0">
                <a:solidFill>
                  <a:srgbClr val="141B33"/>
                </a:solidFill>
                <a:latin typeface="맑은 고딕" pitchFamily="34" charset="0"/>
                <a:ea typeface="맑은 고딕" pitchFamily="34" charset="-122"/>
                <a:cs typeface="맑은 고딕" pitchFamily="34" charset="-120"/>
              </a:rPr>
              <a:t>활용 데이터 출처 ③ 오픈소스 라이브러리 · 생성형 AI</a:t>
            </a:r>
            <a:endParaRPr lang="en-US" sz="2700" dirty="0"/>
          </a:p>
        </p:txBody>
      </p:sp>
      <p:sp>
        <p:nvSpPr>
          <p:cNvPr id="4" name="Text 2"/>
          <p:cNvSpPr/>
          <p:nvPr/>
        </p:nvSpPr>
        <p:spPr>
          <a:xfrm>
            <a:off x="566928" y="1700784"/>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오픈소스 라이브러리</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93392"/>
          <a:ext cx="11057839" cy="914400"/>
        </p:xfrm>
        <a:graphic>
          <a:graphicData uri="http://schemas.openxmlformats.org/drawingml/2006/table">
            <a:tbl>
              <a:tblPr/>
              <a:tblGrid>
                <a:gridCol w="2377440"/>
                <a:gridCol w="1645920"/>
                <a:gridCol w="2743200"/>
                <a:gridCol w="4306824"/>
              </a:tblGrid>
              <a:tr h="182880">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이름</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라이선스</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출처</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내용</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Next.js</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MIT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nextjs.org</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웹 프레임워크 (App Router)</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React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MIT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react.dev</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UI 렌더링</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TypeScript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Apache-2.0</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typescriptlang.org</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정적 타입</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Tailwind CSS</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MIT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tailwindcss.com</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스타일링</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Supabase JS</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MIT</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supabase.com</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제보 사진 저장 · 판독 결과 기록</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520440"/>
            <a:ext cx="11057839" cy="256032"/>
          </a:xfrm>
          <a:prstGeom prst="rect">
            <a:avLst/>
          </a:prstGeom>
          <a:noFill/>
          <a:ln/>
        </p:spPr>
        <p:txBody>
          <a:bodyPr wrap="square" lIns="0" tIns="0" rIns="0" bIns="0" rtlCol="0" anchor="ctr"/>
          <a:lstStyle/>
          <a:p>
            <a:pPr indent="0" marL="0">
              <a:buNone/>
            </a:pPr>
            <a:r>
              <a:rPr lang="en-US" sz="1150" b="1" dirty="0">
                <a:solidFill>
                  <a:srgbClr val="E8751A"/>
                </a:solidFill>
                <a:latin typeface="맑은 고딕" pitchFamily="34" charset="0"/>
                <a:ea typeface="맑은 고딕" pitchFamily="34" charset="-122"/>
                <a:cs typeface="맑은 고딕" pitchFamily="34" charset="-120"/>
              </a:rPr>
              <a:t>생성형 AI</a:t>
            </a:r>
            <a:endParaRPr lang="en-US" sz="115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566928" y="3813048"/>
          <a:ext cx="11057839" cy="914400"/>
        </p:xfrm>
        <a:graphic>
          <a:graphicData uri="http://schemas.openxmlformats.org/drawingml/2006/table">
            <a:tbl>
              <a:tblPr/>
              <a:tblGrid>
                <a:gridCol w="2743200"/>
                <a:gridCol w="8330184"/>
              </a:tblGrid>
              <a:tr h="182880">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도구</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indent="0" marL="0">
                        <a:buNone/>
                      </a:pPr>
                      <a:r>
                        <a:rPr lang="en-US" sz="850" b="1" dirty="0">
                          <a:solidFill>
                            <a:srgbClr val="6E7796"/>
                          </a:solidFill>
                          <a:latin typeface="맑은 고딕" pitchFamily="34" charset="0"/>
                          <a:ea typeface="맑은 고딕" pitchFamily="34" charset="-122"/>
                          <a:cs typeface="맑은 고딕" pitchFamily="34" charset="-120"/>
                        </a:rPr>
                        <a:t>활용 범위</a:t>
                      </a:r>
                      <a:endParaRPr lang="en-US" sz="8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Claude Code (Anthropic)</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코드 작성 보조, 데이터 구조 분석 보조, 기획 검토 보조</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OpenRouter 경유 VLM</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① 사전 준비 : 로드뷰 이미지의 시설 유무 초안 라벨 생성 (최종 라벨은 사람이 검수·확정)</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r h="182880">
                <a:tc>
                  <a:txBody>
                    <a:bodyPr/>
                    <a:lstStyle/>
                    <a:p>
                      <a:pPr indent="0" marL="0">
                        <a:buNone/>
                      </a:pP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indent="0" marL="0">
                        <a:buNone/>
                      </a:pPr>
                      <a:r>
                        <a:rPr lang="en-US" sz="900" dirty="0">
                          <a:solidFill>
                            <a:srgbClr val="141B33"/>
                          </a:solidFill>
                          <a:latin typeface="맑은 고딕" pitchFamily="34" charset="0"/>
                          <a:ea typeface="맑은 고딕" pitchFamily="34" charset="-122"/>
                          <a:cs typeface="맑은 고딕" pitchFamily="34" charset="-120"/>
                        </a:rPr>
                        <a:t>② 서비스 런타임 : 시민 제보 사진의 시설 유무 판독 및 민원 자동 분류 (서버에서 호출, 'AI 판독' 출처 표기)</a:t>
                      </a:r>
                      <a:endParaRPr lang="en-US" sz="9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5961888"/>
            <a:ext cx="11057839" cy="310896"/>
          </a:xfrm>
          <a:prstGeom prst="rect">
            <a:avLst/>
          </a:prstGeom>
          <a:noFill/>
          <a:ln/>
        </p:spPr>
        <p:txBody>
          <a:bodyPr wrap="square" lIns="0" tIns="0" rIns="0" bIns="0" rtlCol="0" anchor="ctr"/>
          <a:lstStyle/>
          <a:p>
            <a:pPr indent="0" marL="0">
              <a:buNone/>
            </a:pPr>
            <a:r>
              <a:rPr lang="en-US" sz="850" dirty="0">
                <a:solidFill>
                  <a:srgbClr val="6E7796"/>
                </a:solidFill>
                <a:latin typeface="맑은 고딕" pitchFamily="34" charset="0"/>
                <a:ea typeface="맑은 고딕" pitchFamily="34" charset="-122"/>
                <a:cs typeface="맑은 고딕" pitchFamily="34" charset="-120"/>
              </a:rPr>
              <a:t>개인정보 미수집 :  제보 기능은 닉네임·연락처 등 식별정보를 받지 않으며, reports 테이블에도 개인정보 필드가 없습니다.</a:t>
            </a:r>
            <a:endParaRPr lang="en-US" sz="850" dirty="0"/>
          </a:p>
        </p:txBody>
      </p:sp>
      <p:sp>
        <p:nvSpPr>
          <p:cNvPr id="9" name="Text 5"/>
          <p:cNvSpPr/>
          <p:nvPr/>
        </p:nvSpPr>
        <p:spPr>
          <a:xfrm>
            <a:off x="566928" y="6327648"/>
            <a:ext cx="4572000" cy="274320"/>
          </a:xfrm>
          <a:prstGeom prst="rect">
            <a:avLst/>
          </a:prstGeom>
          <a:noFill/>
          <a:ln/>
        </p:spPr>
        <p:txBody>
          <a:bodyPr wrap="square" lIns="0" tIns="0" rIns="0" bIns="0" rtlCol="0" anchor="ctr"/>
          <a:lstStyle/>
          <a:p>
            <a:pPr algn="l" indent="0" marL="0">
              <a:buNone/>
            </a:pPr>
            <a:r>
              <a:rPr lang="en-US" sz="900" dirty="0">
                <a:solidFill>
                  <a:srgbClr val="6E7796"/>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0" name="Text 6"/>
          <p:cNvSpPr/>
          <p:nvPr/>
        </p:nvSpPr>
        <p:spPr>
          <a:xfrm>
            <a:off x="10710367" y="6327648"/>
            <a:ext cx="914400" cy="274320"/>
          </a:xfrm>
          <a:prstGeom prst="rect">
            <a:avLst/>
          </a:prstGeom>
          <a:noFill/>
          <a:ln/>
        </p:spPr>
        <p:txBody>
          <a:bodyPr wrap="square" lIns="0" tIns="0" rIns="0" bIns="0" rtlCol="0" anchor="ctr"/>
          <a:lstStyle/>
          <a:p>
            <a:pPr algn="r" indent="0" marL="0">
              <a:buNone/>
            </a:pPr>
            <a:r>
              <a:rPr lang="en-US" sz="900" dirty="0">
                <a:solidFill>
                  <a:srgbClr val="6E7796"/>
                </a:solidFill>
                <a:latin typeface="맑은 고딕" pitchFamily="34" charset="0"/>
                <a:ea typeface="맑은 고딕" pitchFamily="34" charset="-122"/>
                <a:cs typeface="맑은 고딕"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쉼표정류장 — 2026 춘천시 공공데이터 활용 해커톤</dc:title>
  <dc:subject>PptxGenJS Presentation</dc:subject>
  <dc:creator>팀 오댕국</dc:creator>
  <cp:lastModifiedBy>팀 오댕국</cp:lastModifiedBy>
  <cp:revision>1</cp:revision>
  <dcterms:created xsi:type="dcterms:W3CDTF">2026-07-31T22:51:32Z</dcterms:created>
  <dcterms:modified xsi:type="dcterms:W3CDTF">2026-07-31T22:51:32Z</dcterms:modified>
</cp:coreProperties>
</file>